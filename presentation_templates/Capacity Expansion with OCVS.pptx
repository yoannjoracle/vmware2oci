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8" r:id="rId3"/>
    <p:sldId id="266" r:id="rId4"/>
    <p:sldId id="265" r:id="rId5"/>
    <p:sldId id="2076137198" r:id="rId6"/>
    <p:sldId id="2076137197" r:id="rId7"/>
  </p:sldIdLst>
  <p:sldSz cx="12192000" cy="6858000"/>
  <p:notesSz cx="6858000" cy="9144000"/>
  <p:defaultTextStyle>
    <a:defPPr>
      <a:defRPr lang="en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061704-218D-CC41-BF47-79F10EE29469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2EF61A-0131-274F-8E12-552CDA8853D5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513964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14A29-1465-B988-2211-9D2FF950BE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B68DF6-88E2-6A88-95DE-D846756E4D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6BF0D4-CC22-A69C-B9BF-96A2EDED5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9FDFAA-5652-7A5B-36EE-FEA8B75A7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121EBA-B5C6-93F3-D02E-8E7C1ED09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9744264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3757F-7F7F-7FBE-E514-0AAC80E14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57D34D-8499-0A8A-2B8E-DD11B27481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37880-282A-DF77-0DE5-6FE593E0F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43668D-9E28-EE33-7F04-B90D4374A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468ED-31B8-3805-2BED-D015C70F0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502074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92EA2-DFE0-FAB8-4815-2E2354899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DCDA1E-B23F-A0FD-5DF6-5ED1893133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6827A5-99CE-B188-9E84-2FCE879FE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A29DBC-C081-7356-71DA-2A05E4982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DBA1C-9578-C060-1A2F-251A33A77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916229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43002-264F-FCBE-F7DE-2D50FD6A7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CD2BB6-B7BB-CC89-C6A7-6B9AEB2777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DC0E91-E65C-0D9D-0A71-55F6BB82E5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1D0F90-DA0F-3D52-C908-06C1178CA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4B277-E942-0F30-A94D-3A2FBCDF3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83607B-0107-2FAE-6F4B-F74E0AB54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4007320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15ED9-8D1E-2F9C-C3BA-13953C102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523A57-F597-36E8-592C-BFAE16427B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483115-90C5-D515-9338-AC2428A71F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5A382E-15B8-728B-B70C-61DF3146DD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CE6ED6-CDB6-F4D1-AA4D-8A440F4FCF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918E96-3C1B-1AE5-3270-CA49099D75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BE317B-8E61-3ADB-D4FF-528922AFF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943B73-EEEB-3184-3A97-3330D532A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9759525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0E818-0C5D-2058-CCF6-12CB9550B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FA8522-908C-A684-D56F-A43E06B22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5A259F-FCDF-7D6A-DBF4-05C3C3D63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44AB13-8121-3487-8774-E3569BDA8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9833928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8A7032-072D-D520-9238-DD5CE1728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B70046-ED4D-2427-8621-678EC60A56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FEFB9-DFE2-0676-6FCB-F15FD29B0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6515841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392D8-3BD9-5C06-D433-B76658D10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5B7202-6768-9ACB-0F7C-E47598F786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E15E59-BB4A-E954-68D4-090726FF4E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4F4172-00CE-7DFD-A2F3-74E056A90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70EA84-6699-D257-6319-D472CE778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6D7A50-04AA-21BC-645E-32B0D793A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493052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D212F-DED1-8EA1-E6A0-D3FA230FE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975340-EEE5-9660-B295-DBD24F2FFE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8A2527-D466-53B6-B8F3-DD9C4A050A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2E3C19-A951-E6A1-AB83-BC0348830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A58D-F98A-8618-D66C-AAB5834E3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CF58B5-FE1C-5ECE-33A1-4EDB998CA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455631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FF9BC-C1F7-4F0F-0836-DE59F0E21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6B03E9-F962-311C-6397-F7F14A18F0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C4EFBE-A2AA-C0B0-6252-C37EADAC2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46D41B-AA22-8F12-558E-BF609EE54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CD12E6-4B03-852B-CB91-44576CDAB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304685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126D32-738E-A190-C021-226EFE1638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8F5845-0159-A3A6-639D-B4495EB98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EA3F3-AB01-2E67-D16A-7274BFBFD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B825CA-9B8D-82F9-7D37-1D710AEA5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92995-FB02-9B4B-E5B4-8194846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5114934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58560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Light - Closing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racle Logo" descr="Oracle Logo">
            <a:extLst>
              <a:ext uri="{FF2B5EF4-FFF2-40B4-BE49-F238E27FC236}">
                <a16:creationId xmlns:a16="http://schemas.microsoft.com/office/drawing/2014/main" id="{65E5B106-857C-3950-B28D-EF7037F216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invGray">
          <a:xfrm>
            <a:off x="4043835" y="2998299"/>
            <a:ext cx="4104330" cy="861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7765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101121-F120-54AF-BF64-567768919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9B9018-EBCA-EFDF-B83D-79B300FD4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EAE447-6B95-A3FA-827D-3728A88470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96745C-5EE5-F9D2-3AB2-C5377A3557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326D54-2E5D-92CF-C622-E81270AB88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BA2A4E-7733-F916-5C5B-64615851A172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27098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FR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Confidential - Oracle Restricted \Employees Only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DEECDC-44FB-F9FD-C2E3-4CB3B94894A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27098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FR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Confidential - Oracle Restricted \Employees Only</a:t>
            </a:r>
          </a:p>
        </p:txBody>
      </p:sp>
    </p:spTree>
    <p:extLst>
      <p:ext uri="{BB962C8B-B14F-4D97-AF65-F5344CB8AC3E}">
        <p14:creationId xmlns:p14="http://schemas.microsoft.com/office/powerpoint/2010/main" val="3634328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editable-customer-label">
            <a:extLst>
              <a:ext uri="{FF2B5EF4-FFF2-40B4-BE49-F238E27FC236}">
                <a16:creationId xmlns:a16="http://schemas.microsoft.com/office/drawing/2014/main" id="{DF646CCF-3A1F-4065-8A93-2025C340C6C6}"/>
              </a:ext>
            </a:extLst>
          </p:cNvPr>
          <p:cNvSpPr>
            <a:spLocks noGrp="1"/>
          </p:cNvSpPr>
          <p:nvPr/>
        </p:nvSpPr>
        <p:spPr>
          <a:xfrm>
            <a:off x="1193800" y="4521200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900" b="1">
                <a:solidFill>
                  <a:srgbClr val="003F1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3F1E"/>
                </a:solidFill>
                <a:latin typeface="Arial"/>
                <a:ea typeface="Arial"/>
                <a:cs typeface="Arial"/>
              </a:rPr>
              <a:t>Customer</a:t>
            </a:r>
          </a:p>
        </p:txBody>
      </p:sp>
      <p:sp>
        <p:nvSpPr>
          <p:cNvPr id="3" name="editable-customer-value">
            <a:extLst>
              <a:ext uri="{FF2B5EF4-FFF2-40B4-BE49-F238E27FC236}">
                <a16:creationId xmlns:a16="http://schemas.microsoft.com/office/drawing/2014/main" id="{4643D87D-9EAA-43DD-B2DB-E73A0E53AE71}"/>
              </a:ext>
            </a:extLst>
          </p:cNvPr>
          <p:cNvSpPr>
            <a:spLocks noGrp="1"/>
          </p:cNvSpPr>
          <p:nvPr/>
        </p:nvSpPr>
        <p:spPr>
          <a:xfrm>
            <a:off x="1193800" y="4787900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8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0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CLIENT</a:t>
            </a:r>
          </a:p>
        </p:txBody>
      </p:sp>
      <p:sp>
        <p:nvSpPr>
          <p:cNvPr id="4" name="editable-date-label">
            <a:extLst>
              <a:ext uri="{FF2B5EF4-FFF2-40B4-BE49-F238E27FC236}">
                <a16:creationId xmlns:a16="http://schemas.microsoft.com/office/drawing/2014/main" id="{37AD4677-6D0B-4367-ADFA-67FFCFE19F71}"/>
              </a:ext>
            </a:extLst>
          </p:cNvPr>
          <p:cNvSpPr>
            <a:spLocks noGrp="1"/>
          </p:cNvSpPr>
          <p:nvPr/>
        </p:nvSpPr>
        <p:spPr>
          <a:xfrm>
            <a:off x="1193800" y="5143500"/>
            <a:ext cx="965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900" b="1">
                <a:solidFill>
                  <a:srgbClr val="003F1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003F1E"/>
                </a:solidFill>
                <a:latin typeface="Arial"/>
                <a:ea typeface="Arial"/>
                <a:cs typeface="Arial"/>
              </a:rPr>
              <a:t>Date</a:t>
            </a:r>
          </a:p>
        </p:txBody>
      </p:sp>
      <p:sp>
        <p:nvSpPr>
          <p:cNvPr id="5" name="editable-date-value">
            <a:extLst>
              <a:ext uri="{FF2B5EF4-FFF2-40B4-BE49-F238E27FC236}">
                <a16:creationId xmlns:a16="http://schemas.microsoft.com/office/drawing/2014/main" id="{690AC361-DF89-4A06-B374-5D4BC3B0D079}"/>
              </a:ext>
            </a:extLst>
          </p:cNvPr>
          <p:cNvSpPr>
            <a:spLocks noGrp="1"/>
          </p:cNvSpPr>
          <p:nvPr/>
        </p:nvSpPr>
        <p:spPr>
          <a:xfrm>
            <a:off x="1193800" y="5410200"/>
            <a:ext cx="1320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8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0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May 2025</a:t>
            </a:r>
          </a:p>
        </p:txBody>
      </p:sp>
      <p:sp>
        <p:nvSpPr>
          <p:cNvPr id="6" name="editable-prepared-by-label">
            <a:extLst>
              <a:ext uri="{FF2B5EF4-FFF2-40B4-BE49-F238E27FC236}">
                <a16:creationId xmlns:a16="http://schemas.microsoft.com/office/drawing/2014/main" id="{586E3F4E-FE1B-4E4B-9457-753C244B6C38}"/>
              </a:ext>
            </a:extLst>
          </p:cNvPr>
          <p:cNvSpPr>
            <a:spLocks noGrp="1"/>
          </p:cNvSpPr>
          <p:nvPr/>
        </p:nvSpPr>
        <p:spPr>
          <a:xfrm>
            <a:off x="1193800" y="5778500"/>
            <a:ext cx="1625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900" b="1">
                <a:solidFill>
                  <a:srgbClr val="003F1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003F1E"/>
                </a:solidFill>
                <a:latin typeface="Arial"/>
                <a:ea typeface="Arial"/>
                <a:cs typeface="Arial"/>
              </a:rPr>
              <a:t>Prepared By</a:t>
            </a:r>
          </a:p>
        </p:txBody>
      </p:sp>
      <p:sp>
        <p:nvSpPr>
          <p:cNvPr id="7" name="editable-prepared-by-value">
            <a:extLst>
              <a:ext uri="{FF2B5EF4-FFF2-40B4-BE49-F238E27FC236}">
                <a16:creationId xmlns:a16="http://schemas.microsoft.com/office/drawing/2014/main" id="{0981C711-18AE-41E0-8879-23B245097B3F}"/>
              </a:ext>
            </a:extLst>
          </p:cNvPr>
          <p:cNvSpPr>
            <a:spLocks noGrp="1"/>
          </p:cNvSpPr>
          <p:nvPr/>
        </p:nvSpPr>
        <p:spPr>
          <a:xfrm>
            <a:off x="1193800" y="6057900"/>
            <a:ext cx="292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8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0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Oracle Cloud VMware Specialist</a:t>
            </a:r>
          </a:p>
        </p:txBody>
      </p:sp>
    </p:spTree>
    <p:extLst>
      <p:ext uri="{BB962C8B-B14F-4D97-AF65-F5344CB8AC3E}">
        <p14:creationId xmlns:p14="http://schemas.microsoft.com/office/powerpoint/2010/main" val="10526305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7A9D28E-4969-B59A-F53D-9DF67B613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854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6893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239" y="1"/>
            <a:ext cx="12185522" cy="6858000"/>
          </a:xfrm>
          <a:prstGeom prst="rect">
            <a:avLst/>
          </a:prstGeom>
        </p:spPr>
      </p:pic>
      <p:sp>
        <p:nvSpPr>
          <p:cNvPr id="2" name="editable-top-vms">
            <a:extLst>
              <a:ext uri="{FF2B5EF4-FFF2-40B4-BE49-F238E27FC236}">
                <a16:creationId xmlns:a16="http://schemas.microsoft.com/office/drawing/2014/main" id="{02229A28-F4F1-460F-ACD3-318DFC505590}"/>
              </a:ext>
            </a:extLst>
          </p:cNvPr>
          <p:cNvSpPr>
            <a:spLocks noGrp="1"/>
          </p:cNvSpPr>
          <p:nvPr/>
        </p:nvSpPr>
        <p:spPr>
          <a:xfrm>
            <a:off x="1475413" y="3534676"/>
            <a:ext cx="772527" cy="2988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defRPr sz="2175" b="1">
                <a:solidFill>
                  <a:srgbClr val="0E351A"/>
                </a:solidFill>
                <a:latin typeface="Arial"/>
                <a:ea typeface="Arial"/>
                <a:cs typeface="Arial"/>
              </a:defRPr>
            </a:pPr>
            <a:r>
              <a:rPr sz="1664" b="1" dirty="0">
                <a:solidFill>
                  <a:srgbClr val="0E351A"/>
                </a:solidFill>
                <a:latin typeface="Arial"/>
                <a:ea typeface="Arial"/>
                <a:cs typeface="Arial"/>
              </a:rPr>
              <a:t>20,100</a:t>
            </a:r>
          </a:p>
        </p:txBody>
      </p:sp>
      <p:sp>
        <p:nvSpPr>
          <p:cNvPr id="3" name="editable-top-vms-powered-on">
            <a:extLst>
              <a:ext uri="{FF2B5EF4-FFF2-40B4-BE49-F238E27FC236}">
                <a16:creationId xmlns:a16="http://schemas.microsoft.com/office/drawing/2014/main" id="{05801E8A-CE7A-4ECC-8AB9-C209AE7FCD5E}"/>
              </a:ext>
            </a:extLst>
          </p:cNvPr>
          <p:cNvSpPr>
            <a:spLocks noGrp="1"/>
          </p:cNvSpPr>
          <p:nvPr/>
        </p:nvSpPr>
        <p:spPr>
          <a:xfrm>
            <a:off x="1315077" y="3818908"/>
            <a:ext cx="408128" cy="182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200" b="0">
                <a:solidFill>
                  <a:srgbClr val="1B2F23"/>
                </a:solidFill>
                <a:latin typeface="Arial"/>
                <a:ea typeface="Arial"/>
                <a:cs typeface="Arial"/>
              </a:defRPr>
            </a:pPr>
            <a:r>
              <a:rPr sz="918" dirty="0">
                <a:solidFill>
                  <a:srgbClr val="1B2F23"/>
                </a:solidFill>
                <a:latin typeface="Arial"/>
                <a:ea typeface="Arial"/>
                <a:cs typeface="Arial"/>
              </a:rPr>
              <a:t>18,400</a:t>
            </a:r>
          </a:p>
        </p:txBody>
      </p:sp>
      <p:sp>
        <p:nvSpPr>
          <p:cNvPr id="4" name="editable-top-vms-powered-off">
            <a:extLst>
              <a:ext uri="{FF2B5EF4-FFF2-40B4-BE49-F238E27FC236}">
                <a16:creationId xmlns:a16="http://schemas.microsoft.com/office/drawing/2014/main" id="{84D6EE59-1425-494F-A899-5A57003DB8D5}"/>
              </a:ext>
            </a:extLst>
          </p:cNvPr>
          <p:cNvSpPr>
            <a:spLocks noGrp="1"/>
          </p:cNvSpPr>
          <p:nvPr/>
        </p:nvSpPr>
        <p:spPr>
          <a:xfrm>
            <a:off x="1351518" y="4008396"/>
            <a:ext cx="342536" cy="1749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200" b="0">
                <a:solidFill>
                  <a:srgbClr val="1B2F23"/>
                </a:solidFill>
                <a:latin typeface="Arial"/>
                <a:ea typeface="Arial"/>
                <a:cs typeface="Arial"/>
              </a:defRPr>
            </a:pPr>
            <a:r>
              <a:rPr sz="918">
                <a:solidFill>
                  <a:srgbClr val="1B2F23"/>
                </a:solidFill>
                <a:latin typeface="Arial"/>
                <a:ea typeface="Arial"/>
                <a:cs typeface="Arial"/>
              </a:rPr>
              <a:t>1,700</a:t>
            </a:r>
          </a:p>
        </p:txBody>
      </p:sp>
      <p:sp>
        <p:nvSpPr>
          <p:cNvPr id="5" name="editable-top-vcpus">
            <a:extLst>
              <a:ext uri="{FF2B5EF4-FFF2-40B4-BE49-F238E27FC236}">
                <a16:creationId xmlns:a16="http://schemas.microsoft.com/office/drawing/2014/main" id="{979430D8-316D-4868-BD69-CA78FC48F062}"/>
              </a:ext>
            </a:extLst>
          </p:cNvPr>
          <p:cNvSpPr>
            <a:spLocks noGrp="1"/>
          </p:cNvSpPr>
          <p:nvPr/>
        </p:nvSpPr>
        <p:spPr>
          <a:xfrm>
            <a:off x="4288579" y="3534676"/>
            <a:ext cx="663207" cy="2988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defRPr sz="2175" b="1">
                <a:solidFill>
                  <a:srgbClr val="0E351A"/>
                </a:solidFill>
                <a:latin typeface="Arial"/>
                <a:ea typeface="Arial"/>
                <a:cs typeface="Arial"/>
              </a:defRPr>
            </a:pPr>
            <a:r>
              <a:rPr sz="1664" b="1" dirty="0">
                <a:solidFill>
                  <a:srgbClr val="0E351A"/>
                </a:solidFill>
                <a:latin typeface="Arial"/>
                <a:ea typeface="Arial"/>
                <a:cs typeface="Arial"/>
              </a:rPr>
              <a:t>3,000</a:t>
            </a:r>
          </a:p>
        </p:txBody>
      </p:sp>
      <p:sp>
        <p:nvSpPr>
          <p:cNvPr id="6" name="editable-top-vram">
            <a:extLst>
              <a:ext uri="{FF2B5EF4-FFF2-40B4-BE49-F238E27FC236}">
                <a16:creationId xmlns:a16="http://schemas.microsoft.com/office/drawing/2014/main" id="{7FEB8ABE-123C-496C-9E5F-735AD96C9A9B}"/>
              </a:ext>
            </a:extLst>
          </p:cNvPr>
          <p:cNvSpPr>
            <a:spLocks noGrp="1"/>
          </p:cNvSpPr>
          <p:nvPr/>
        </p:nvSpPr>
        <p:spPr>
          <a:xfrm>
            <a:off x="6926831" y="3534676"/>
            <a:ext cx="845407" cy="2988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defRPr sz="2175" b="1">
                <a:solidFill>
                  <a:srgbClr val="0E351A"/>
                </a:solidFill>
                <a:latin typeface="Arial"/>
                <a:ea typeface="Arial"/>
                <a:cs typeface="Arial"/>
              </a:defRPr>
            </a:pPr>
            <a:r>
              <a:rPr sz="1664" b="1">
                <a:solidFill>
                  <a:srgbClr val="0E351A"/>
                </a:solidFill>
                <a:latin typeface="Arial"/>
                <a:ea typeface="Arial"/>
                <a:cs typeface="Arial"/>
              </a:rPr>
              <a:t>30,000</a:t>
            </a:r>
          </a:p>
        </p:txBody>
      </p:sp>
      <p:sp>
        <p:nvSpPr>
          <p:cNvPr id="7" name="editable-top-storage">
            <a:extLst>
              <a:ext uri="{FF2B5EF4-FFF2-40B4-BE49-F238E27FC236}">
                <a16:creationId xmlns:a16="http://schemas.microsoft.com/office/drawing/2014/main" id="{9FA7664A-41B5-45BC-AFB4-A145D4E4AECE}"/>
              </a:ext>
            </a:extLst>
          </p:cNvPr>
          <p:cNvSpPr>
            <a:spLocks noGrp="1"/>
          </p:cNvSpPr>
          <p:nvPr/>
        </p:nvSpPr>
        <p:spPr>
          <a:xfrm>
            <a:off x="9900332" y="3534676"/>
            <a:ext cx="466431" cy="2769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defRPr sz="2175" b="1">
                <a:solidFill>
                  <a:srgbClr val="0E351A"/>
                </a:solidFill>
                <a:latin typeface="Arial"/>
                <a:ea typeface="Arial"/>
                <a:cs typeface="Arial"/>
              </a:defRPr>
            </a:pPr>
            <a:r>
              <a:rPr sz="1664" b="1">
                <a:solidFill>
                  <a:srgbClr val="0E351A"/>
                </a:solidFill>
                <a:latin typeface="Arial"/>
                <a:ea typeface="Arial"/>
                <a:cs typeface="Arial"/>
              </a:rPr>
              <a:t>210</a:t>
            </a:r>
          </a:p>
        </p:txBody>
      </p:sp>
      <p:sp>
        <p:nvSpPr>
          <p:cNvPr id="8" name="editable-total-vms">
            <a:extLst>
              <a:ext uri="{FF2B5EF4-FFF2-40B4-BE49-F238E27FC236}">
                <a16:creationId xmlns:a16="http://schemas.microsoft.com/office/drawing/2014/main" id="{9F42D9DA-0EC4-4344-9B7E-339AE81D5984}"/>
              </a:ext>
            </a:extLst>
          </p:cNvPr>
          <p:cNvSpPr>
            <a:spLocks noGrp="1"/>
          </p:cNvSpPr>
          <p:nvPr/>
        </p:nvSpPr>
        <p:spPr>
          <a:xfrm>
            <a:off x="3319275" y="4897531"/>
            <a:ext cx="816255" cy="2988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defRPr sz="2325" b="1">
                <a:solidFill>
                  <a:srgbClr val="0E351A"/>
                </a:solidFill>
                <a:latin typeface="Arial"/>
                <a:ea typeface="Arial"/>
                <a:cs typeface="Arial"/>
              </a:defRPr>
            </a:pPr>
            <a:r>
              <a:rPr sz="1779" b="1" dirty="0">
                <a:solidFill>
                  <a:srgbClr val="0E351A"/>
                </a:solidFill>
                <a:latin typeface="Arial"/>
                <a:ea typeface="Arial"/>
                <a:cs typeface="Arial"/>
              </a:rPr>
              <a:t>20,100</a:t>
            </a:r>
          </a:p>
        </p:txBody>
      </p:sp>
      <p:sp>
        <p:nvSpPr>
          <p:cNvPr id="9" name="editable-total-vms-powered-on">
            <a:extLst>
              <a:ext uri="{FF2B5EF4-FFF2-40B4-BE49-F238E27FC236}">
                <a16:creationId xmlns:a16="http://schemas.microsoft.com/office/drawing/2014/main" id="{F4C30DD5-D876-433F-B0A2-424FD32061A9}"/>
              </a:ext>
            </a:extLst>
          </p:cNvPr>
          <p:cNvSpPr>
            <a:spLocks noGrp="1"/>
          </p:cNvSpPr>
          <p:nvPr/>
        </p:nvSpPr>
        <p:spPr>
          <a:xfrm>
            <a:off x="3282835" y="5181762"/>
            <a:ext cx="393552" cy="1749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2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918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18,400</a:t>
            </a:r>
          </a:p>
        </p:txBody>
      </p:sp>
      <p:sp>
        <p:nvSpPr>
          <p:cNvPr id="10" name="editable-total-vms-powered-off">
            <a:extLst>
              <a:ext uri="{FF2B5EF4-FFF2-40B4-BE49-F238E27FC236}">
                <a16:creationId xmlns:a16="http://schemas.microsoft.com/office/drawing/2014/main" id="{FE437F68-204F-4FF4-B34A-1D2BE0CFFD46}"/>
              </a:ext>
            </a:extLst>
          </p:cNvPr>
          <p:cNvSpPr>
            <a:spLocks noGrp="1"/>
          </p:cNvSpPr>
          <p:nvPr/>
        </p:nvSpPr>
        <p:spPr>
          <a:xfrm>
            <a:off x="3326563" y="5363962"/>
            <a:ext cx="327960" cy="1749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2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918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1,700</a:t>
            </a:r>
          </a:p>
        </p:txBody>
      </p:sp>
      <p:sp>
        <p:nvSpPr>
          <p:cNvPr id="11" name="editable-total-vcpus">
            <a:extLst>
              <a:ext uri="{FF2B5EF4-FFF2-40B4-BE49-F238E27FC236}">
                <a16:creationId xmlns:a16="http://schemas.microsoft.com/office/drawing/2014/main" id="{90B1AA73-C6E8-4E42-AD1F-3B3623D76754}"/>
              </a:ext>
            </a:extLst>
          </p:cNvPr>
          <p:cNvSpPr>
            <a:spLocks noGrp="1"/>
          </p:cNvSpPr>
          <p:nvPr/>
        </p:nvSpPr>
        <p:spPr>
          <a:xfrm>
            <a:off x="5680585" y="4926683"/>
            <a:ext cx="787103" cy="2842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defRPr sz="2325" b="1">
                <a:solidFill>
                  <a:srgbClr val="0E351A"/>
                </a:solidFill>
                <a:latin typeface="Arial"/>
                <a:ea typeface="Arial"/>
                <a:cs typeface="Arial"/>
              </a:defRPr>
            </a:pPr>
            <a:r>
              <a:rPr sz="1779" b="1">
                <a:solidFill>
                  <a:srgbClr val="0E351A"/>
                </a:solidFill>
                <a:latin typeface="Arial"/>
                <a:ea typeface="Arial"/>
                <a:cs typeface="Arial"/>
              </a:rPr>
              <a:t>3,000</a:t>
            </a:r>
          </a:p>
        </p:txBody>
      </p:sp>
      <p:sp>
        <p:nvSpPr>
          <p:cNvPr id="12" name="editable-total-vram">
            <a:extLst>
              <a:ext uri="{FF2B5EF4-FFF2-40B4-BE49-F238E27FC236}">
                <a16:creationId xmlns:a16="http://schemas.microsoft.com/office/drawing/2014/main" id="{946C54F3-DC70-4C82-8CDA-4FB8216FEB35}"/>
              </a:ext>
            </a:extLst>
          </p:cNvPr>
          <p:cNvSpPr>
            <a:spLocks noGrp="1"/>
          </p:cNvSpPr>
          <p:nvPr/>
        </p:nvSpPr>
        <p:spPr>
          <a:xfrm>
            <a:off x="8027318" y="4926683"/>
            <a:ext cx="947439" cy="2842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defRPr sz="2325" b="1">
                <a:solidFill>
                  <a:srgbClr val="0E351A"/>
                </a:solidFill>
                <a:latin typeface="Arial"/>
                <a:ea typeface="Arial"/>
                <a:cs typeface="Arial"/>
              </a:defRPr>
            </a:pPr>
            <a:r>
              <a:rPr sz="1779" b="1">
                <a:solidFill>
                  <a:srgbClr val="0E351A"/>
                </a:solidFill>
                <a:latin typeface="Arial"/>
                <a:ea typeface="Arial"/>
                <a:cs typeface="Arial"/>
              </a:rPr>
              <a:t>30,000</a:t>
            </a:r>
          </a:p>
        </p:txBody>
      </p:sp>
      <p:sp>
        <p:nvSpPr>
          <p:cNvPr id="13" name="editable-total-storage">
            <a:extLst>
              <a:ext uri="{FF2B5EF4-FFF2-40B4-BE49-F238E27FC236}">
                <a16:creationId xmlns:a16="http://schemas.microsoft.com/office/drawing/2014/main" id="{3E58FE38-7A8F-4F94-9F41-A63F7C0F92EB}"/>
              </a:ext>
            </a:extLst>
          </p:cNvPr>
          <p:cNvSpPr>
            <a:spLocks noGrp="1"/>
          </p:cNvSpPr>
          <p:nvPr/>
        </p:nvSpPr>
        <p:spPr>
          <a:xfrm>
            <a:off x="10417779" y="4926682"/>
            <a:ext cx="481007" cy="2769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defRPr sz="2325" b="1">
                <a:solidFill>
                  <a:srgbClr val="0E351A"/>
                </a:solidFill>
                <a:latin typeface="Arial"/>
                <a:ea typeface="Arial"/>
                <a:cs typeface="Arial"/>
              </a:defRPr>
            </a:pPr>
            <a:r>
              <a:rPr sz="1779" b="1">
                <a:solidFill>
                  <a:srgbClr val="0E351A"/>
                </a:solidFill>
                <a:latin typeface="Arial"/>
                <a:ea typeface="Arial"/>
                <a:cs typeface="Arial"/>
              </a:rPr>
              <a:t>210</a:t>
            </a:r>
          </a:p>
        </p:txBody>
      </p:sp>
    </p:spTree>
    <p:extLst>
      <p:ext uri="{BB962C8B-B14F-4D97-AF65-F5344CB8AC3E}">
        <p14:creationId xmlns:p14="http://schemas.microsoft.com/office/powerpoint/2010/main" val="52891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editable-analysis-day">
            <a:extLst>
              <a:ext uri="{FF2B5EF4-FFF2-40B4-BE49-F238E27FC236}">
                <a16:creationId xmlns:a16="http://schemas.microsoft.com/office/drawing/2014/main" id="{E0B06D0E-3C0D-44EE-9250-750430731176}"/>
              </a:ext>
            </a:extLst>
          </p:cNvPr>
          <p:cNvSpPr>
            <a:spLocks noGrp="1"/>
          </p:cNvSpPr>
          <p:nvPr/>
        </p:nvSpPr>
        <p:spPr>
          <a:xfrm>
            <a:off x="5678424" y="3068575"/>
            <a:ext cx="217932" cy="2514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20">
                <a:solidFill>
                  <a:srgbClr val="111111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editable-analysis-year">
            <a:extLst>
              <a:ext uri="{FF2B5EF4-FFF2-40B4-BE49-F238E27FC236}">
                <a16:creationId xmlns:a16="http://schemas.microsoft.com/office/drawing/2014/main" id="{ACDB453B-0765-440E-B351-8F4FA6810321}"/>
              </a:ext>
            </a:extLst>
          </p:cNvPr>
          <p:cNvSpPr>
            <a:spLocks noGrp="1"/>
          </p:cNvSpPr>
          <p:nvPr/>
        </p:nvSpPr>
        <p:spPr>
          <a:xfrm>
            <a:off x="5955031" y="3060192"/>
            <a:ext cx="419100" cy="2514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20">
                <a:solidFill>
                  <a:srgbClr val="111111"/>
                </a:solidFill>
                <a:latin typeface="Arial"/>
                <a:ea typeface="Arial"/>
                <a:cs typeface="Arial"/>
              </a:rPr>
              <a:t>2025</a:t>
            </a:r>
          </a:p>
        </p:txBody>
      </p:sp>
      <p:sp>
        <p:nvSpPr>
          <p:cNvPr id="4" name="editable-cpu-contention-ratio">
            <a:extLst>
              <a:ext uri="{FF2B5EF4-FFF2-40B4-BE49-F238E27FC236}">
                <a16:creationId xmlns:a16="http://schemas.microsoft.com/office/drawing/2014/main" id="{D1AEDFA2-87A2-4029-AFC2-40E199A7A7FA}"/>
              </a:ext>
            </a:extLst>
          </p:cNvPr>
          <p:cNvSpPr>
            <a:spLocks noGrp="1"/>
          </p:cNvSpPr>
          <p:nvPr/>
        </p:nvSpPr>
        <p:spPr>
          <a:xfrm>
            <a:off x="4245103" y="4040887"/>
            <a:ext cx="318516" cy="2514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81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52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1:6</a:t>
            </a:r>
          </a:p>
        </p:txBody>
      </p:sp>
      <p:sp>
        <p:nvSpPr>
          <p:cNvPr id="5" name="editable-vcpu-utilization">
            <a:extLst>
              <a:ext uri="{FF2B5EF4-FFF2-40B4-BE49-F238E27FC236}">
                <a16:creationId xmlns:a16="http://schemas.microsoft.com/office/drawing/2014/main" id="{013A863C-68BC-4024-8E3B-2A1A02F5C588}"/>
              </a:ext>
            </a:extLst>
          </p:cNvPr>
          <p:cNvSpPr>
            <a:spLocks noGrp="1"/>
          </p:cNvSpPr>
          <p:nvPr/>
        </p:nvSpPr>
        <p:spPr>
          <a:xfrm>
            <a:off x="4781550" y="4636008"/>
            <a:ext cx="435864" cy="22631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81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52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6" name="editable-vmem-utilization">
            <a:extLst>
              <a:ext uri="{FF2B5EF4-FFF2-40B4-BE49-F238E27FC236}">
                <a16:creationId xmlns:a16="http://schemas.microsoft.com/office/drawing/2014/main" id="{7A42F2AA-6D70-4624-94B4-943141977A2C}"/>
              </a:ext>
            </a:extLst>
          </p:cNvPr>
          <p:cNvSpPr>
            <a:spLocks noGrp="1"/>
          </p:cNvSpPr>
          <p:nvPr/>
        </p:nvSpPr>
        <p:spPr>
          <a:xfrm>
            <a:off x="4815078" y="4845558"/>
            <a:ext cx="435864" cy="22631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81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52">
                <a:solidFill>
                  <a:srgbClr val="111111"/>
                </a:solidFill>
                <a:latin typeface="Arial"/>
                <a:ea typeface="Arial"/>
                <a:cs typeface="Arial"/>
              </a:rPr>
              <a:t>60%</a:t>
            </a:r>
          </a:p>
        </p:txBody>
      </p:sp>
      <p:sp>
        <p:nvSpPr>
          <p:cNvPr id="7" name="editable-target-utilization">
            <a:extLst>
              <a:ext uri="{FF2B5EF4-FFF2-40B4-BE49-F238E27FC236}">
                <a16:creationId xmlns:a16="http://schemas.microsoft.com/office/drawing/2014/main" id="{6AF3BCA1-8F88-4198-A527-FEC5AB6A5217}"/>
              </a:ext>
            </a:extLst>
          </p:cNvPr>
          <p:cNvSpPr>
            <a:spLocks noGrp="1"/>
          </p:cNvSpPr>
          <p:nvPr/>
        </p:nvSpPr>
        <p:spPr>
          <a:xfrm>
            <a:off x="4253484" y="5214367"/>
            <a:ext cx="452628" cy="24307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81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52">
                <a:solidFill>
                  <a:srgbClr val="111111"/>
                </a:solidFill>
                <a:latin typeface="Arial"/>
                <a:ea typeface="Arial"/>
                <a:cs typeface="Arial"/>
              </a:rPr>
              <a:t>80%</a:t>
            </a:r>
          </a:p>
        </p:txBody>
      </p:sp>
      <p:sp>
        <p:nvSpPr>
          <p:cNvPr id="8" name="editable-storage-type">
            <a:extLst>
              <a:ext uri="{FF2B5EF4-FFF2-40B4-BE49-F238E27FC236}">
                <a16:creationId xmlns:a16="http://schemas.microsoft.com/office/drawing/2014/main" id="{111009D7-0E15-4F0A-BCE3-C02100505A32}"/>
              </a:ext>
            </a:extLst>
          </p:cNvPr>
          <p:cNvSpPr>
            <a:spLocks noGrp="1"/>
          </p:cNvSpPr>
          <p:nvPr/>
        </p:nvSpPr>
        <p:spPr>
          <a:xfrm>
            <a:off x="4253484" y="5809488"/>
            <a:ext cx="1844040" cy="5196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20">
                <a:solidFill>
                  <a:srgbClr val="111111"/>
                </a:solidFill>
                <a:latin typeface="Arial"/>
                <a:ea typeface="Arial"/>
                <a:cs typeface="Arial"/>
              </a:rPr>
              <a:t>OCI Block Volume</a:t>
            </a:r>
          </a:p>
          <a:p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20">
                <a:solidFill>
                  <a:srgbClr val="111111"/>
                </a:solidFill>
                <a:latin typeface="Arial"/>
                <a:ea typeface="Arial"/>
                <a:cs typeface="Arial"/>
              </a:rPr>
              <a:t>(Block Storage)</a:t>
            </a:r>
          </a:p>
        </p:txBody>
      </p:sp>
    </p:spTree>
    <p:extLst>
      <p:ext uri="{BB962C8B-B14F-4D97-AF65-F5344CB8AC3E}">
        <p14:creationId xmlns:p14="http://schemas.microsoft.com/office/powerpoint/2010/main" val="1678330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editable-left-sddcs">
            <a:extLst>
              <a:ext uri="{FF2B5EF4-FFF2-40B4-BE49-F238E27FC236}">
                <a16:creationId xmlns:a16="http://schemas.microsoft.com/office/drawing/2014/main" id="{6AAAA4B1-E652-4A9D-A563-3BE71E846C6B}"/>
              </a:ext>
            </a:extLst>
          </p:cNvPr>
          <p:cNvSpPr>
            <a:spLocks noGrp="1"/>
          </p:cNvSpPr>
          <p:nvPr/>
        </p:nvSpPr>
        <p:spPr>
          <a:xfrm>
            <a:off x="2674620" y="3124200"/>
            <a:ext cx="175260" cy="198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editable-left-clusters">
            <a:extLst>
              <a:ext uri="{FF2B5EF4-FFF2-40B4-BE49-F238E27FC236}">
                <a16:creationId xmlns:a16="http://schemas.microsoft.com/office/drawing/2014/main" id="{66291D14-CE22-4D6C-B0E9-4A659EBDBBC8}"/>
              </a:ext>
            </a:extLst>
          </p:cNvPr>
          <p:cNvSpPr>
            <a:spLocks noGrp="1"/>
          </p:cNvSpPr>
          <p:nvPr/>
        </p:nvSpPr>
        <p:spPr>
          <a:xfrm>
            <a:off x="2667000" y="3497580"/>
            <a:ext cx="198120" cy="198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11111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editable-left-hosts">
            <a:extLst>
              <a:ext uri="{FF2B5EF4-FFF2-40B4-BE49-F238E27FC236}">
                <a16:creationId xmlns:a16="http://schemas.microsoft.com/office/drawing/2014/main" id="{6AF55251-51F1-4570-A230-1267469C6592}"/>
              </a:ext>
            </a:extLst>
          </p:cNvPr>
          <p:cNvSpPr>
            <a:spLocks noGrp="1"/>
          </p:cNvSpPr>
          <p:nvPr/>
        </p:nvSpPr>
        <p:spPr>
          <a:xfrm>
            <a:off x="2674620" y="3878580"/>
            <a:ext cx="190500" cy="198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111111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1" name="editable-left-shape">
            <a:extLst>
              <a:ext uri="{FF2B5EF4-FFF2-40B4-BE49-F238E27FC236}">
                <a16:creationId xmlns:a16="http://schemas.microsoft.com/office/drawing/2014/main" id="{B4265F0F-0A03-43DF-85FB-47822649AFDB}"/>
              </a:ext>
            </a:extLst>
          </p:cNvPr>
          <p:cNvSpPr>
            <a:spLocks noGrp="1"/>
          </p:cNvSpPr>
          <p:nvPr/>
        </p:nvSpPr>
        <p:spPr>
          <a:xfrm>
            <a:off x="2712720" y="4251960"/>
            <a:ext cx="731520" cy="2209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AMD E4</a:t>
            </a:r>
          </a:p>
        </p:txBody>
      </p:sp>
      <p:sp>
        <p:nvSpPr>
          <p:cNvPr id="12" name="editable-left-storage">
            <a:extLst>
              <a:ext uri="{FF2B5EF4-FFF2-40B4-BE49-F238E27FC236}">
                <a16:creationId xmlns:a16="http://schemas.microsoft.com/office/drawing/2014/main" id="{79E0CFC9-6259-47BE-ABCC-CE24C4A0087C}"/>
              </a:ext>
            </a:extLst>
          </p:cNvPr>
          <p:cNvSpPr>
            <a:spLocks noGrp="1"/>
          </p:cNvSpPr>
          <p:nvPr/>
        </p:nvSpPr>
        <p:spPr>
          <a:xfrm>
            <a:off x="2659380" y="4640580"/>
            <a:ext cx="396240" cy="2057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3" name="editable-left-storage-type">
            <a:extLst>
              <a:ext uri="{FF2B5EF4-FFF2-40B4-BE49-F238E27FC236}">
                <a16:creationId xmlns:a16="http://schemas.microsoft.com/office/drawing/2014/main" id="{4D7E7304-CAA2-41C5-B5C4-EC64C9703925}"/>
              </a:ext>
            </a:extLst>
          </p:cNvPr>
          <p:cNvSpPr>
            <a:spLocks noGrp="1"/>
          </p:cNvSpPr>
          <p:nvPr/>
        </p:nvSpPr>
        <p:spPr>
          <a:xfrm>
            <a:off x="2712720" y="5006340"/>
            <a:ext cx="16002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OCI Block Volume</a:t>
            </a:r>
          </a:p>
        </p:txBody>
      </p:sp>
      <p:sp>
        <p:nvSpPr>
          <p:cNvPr id="14" name="editable-production-hosts">
            <a:extLst>
              <a:ext uri="{FF2B5EF4-FFF2-40B4-BE49-F238E27FC236}">
                <a16:creationId xmlns:a16="http://schemas.microsoft.com/office/drawing/2014/main" id="{9914F4F4-AEA1-4B6E-A15A-17B981BB9537}"/>
              </a:ext>
            </a:extLst>
          </p:cNvPr>
          <p:cNvSpPr>
            <a:spLocks noGrp="1"/>
          </p:cNvSpPr>
          <p:nvPr/>
        </p:nvSpPr>
        <p:spPr>
          <a:xfrm>
            <a:off x="7894320" y="4152900"/>
            <a:ext cx="2971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2625" b="1">
                <a:solidFill>
                  <a:srgbClr val="0A3A1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A3A1C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editable-production-shape">
            <a:extLst>
              <a:ext uri="{FF2B5EF4-FFF2-40B4-BE49-F238E27FC236}">
                <a16:creationId xmlns:a16="http://schemas.microsoft.com/office/drawing/2014/main" id="{B0E75DA7-C032-40D3-8BAA-00C6C282B968}"/>
              </a:ext>
            </a:extLst>
          </p:cNvPr>
          <p:cNvSpPr>
            <a:spLocks noGrp="1"/>
          </p:cNvSpPr>
          <p:nvPr/>
        </p:nvSpPr>
        <p:spPr>
          <a:xfrm>
            <a:off x="8382000" y="4206240"/>
            <a:ext cx="7620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20">
                <a:solidFill>
                  <a:srgbClr val="111111"/>
                </a:solidFill>
                <a:latin typeface="Arial"/>
                <a:ea typeface="Arial"/>
                <a:cs typeface="Arial"/>
              </a:rPr>
              <a:t>AMD E4</a:t>
            </a:r>
          </a:p>
        </p:txBody>
      </p:sp>
      <p:sp>
        <p:nvSpPr>
          <p:cNvPr id="16" name="editable-production-storage">
            <a:extLst>
              <a:ext uri="{FF2B5EF4-FFF2-40B4-BE49-F238E27FC236}">
                <a16:creationId xmlns:a16="http://schemas.microsoft.com/office/drawing/2014/main" id="{620B2E01-05F4-4B25-BFCE-8ED7B7C67EB5}"/>
              </a:ext>
            </a:extLst>
          </p:cNvPr>
          <p:cNvSpPr>
            <a:spLocks noGrp="1"/>
          </p:cNvSpPr>
          <p:nvPr/>
        </p:nvSpPr>
        <p:spPr>
          <a:xfrm>
            <a:off x="7894320" y="4754880"/>
            <a:ext cx="6400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2625" b="1">
                <a:solidFill>
                  <a:srgbClr val="0A3A1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A3A1C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21" name="editable-cluster-production-name">
            <a:extLst>
              <a:ext uri="{FF2B5EF4-FFF2-40B4-BE49-F238E27FC236}">
                <a16:creationId xmlns:a16="http://schemas.microsoft.com/office/drawing/2014/main" id="{CF6CA722-4DF4-466E-9E30-1F89B6760B2F}"/>
              </a:ext>
            </a:extLst>
          </p:cNvPr>
          <p:cNvSpPr>
            <a:spLocks noGrp="1"/>
          </p:cNvSpPr>
          <p:nvPr/>
        </p:nvSpPr>
        <p:spPr>
          <a:xfrm>
            <a:off x="7940040" y="3398520"/>
            <a:ext cx="128016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800" b="1">
                <a:solidFill>
                  <a:srgbClr val="0A3A1C"/>
                </a:solidFill>
                <a:latin typeface="Arial"/>
                <a:ea typeface="Arial"/>
                <a:cs typeface="Arial"/>
              </a:defRPr>
            </a:pPr>
            <a:r>
              <a:rPr sz="1440" b="1">
                <a:solidFill>
                  <a:srgbClr val="0A3A1C"/>
                </a:solidFill>
                <a:latin typeface="Arial"/>
                <a:ea typeface="Arial"/>
                <a:cs typeface="Arial"/>
              </a:rPr>
              <a:t>Production</a:t>
            </a:r>
          </a:p>
        </p:txBody>
      </p:sp>
    </p:spTree>
    <p:extLst>
      <p:ext uri="{BB962C8B-B14F-4D97-AF65-F5344CB8AC3E}">
        <p14:creationId xmlns:p14="http://schemas.microsoft.com/office/powerpoint/2010/main" val="6495750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A99CF-BC59-F860-CE0E-14FEA4C5408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68875" y="-822960"/>
            <a:ext cx="10671048" cy="822960"/>
          </a:xfrm>
        </p:spPr>
        <p:txBody>
          <a:bodyPr vert="horz" lIns="0" tIns="0" rIns="0" bIns="0" rtlCol="0" anchor="b">
            <a:noAutofit/>
          </a:bodyPr>
          <a:lstStyle/>
          <a:p>
            <a:r>
              <a:rPr lang="en-US" dirty="0">
                <a:noFill/>
              </a:rPr>
              <a:t>An end slide on light showing an Oracle logo</a:t>
            </a:r>
          </a:p>
        </p:txBody>
      </p:sp>
    </p:spTree>
    <p:extLst>
      <p:ext uri="{BB962C8B-B14F-4D97-AF65-F5344CB8AC3E}">
        <p14:creationId xmlns:p14="http://schemas.microsoft.com/office/powerpoint/2010/main" val="3957586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25c952f-1947-4719-99e7-7bc5a76060a8}" enabled="1" method="Standard" siteId="{4e2c6054-71cb-48f1-bd6c-3a9705aca71b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62</Words>
  <Application>Microsoft Macintosh PowerPoint</Application>
  <PresentationFormat>Widescreen</PresentationFormat>
  <Paragraphs>37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An end slide on light showing an Oracle logo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Yoann JOSPITRE</dc:creator>
  <cp:lastModifiedBy>Yoann JOSPITRE</cp:lastModifiedBy>
  <cp:revision>6</cp:revision>
  <dcterms:created xsi:type="dcterms:W3CDTF">2026-06-19T08:12:49Z</dcterms:created>
  <dcterms:modified xsi:type="dcterms:W3CDTF">2026-07-20T13:15:33Z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Theme:10</vt:lpwstr>
  </property>
  <property fmtid="{D5CDD505-2E9C-101B-9397-08002B2CF9AE}" pid="3" name="ClassificationContentMarkingFooterText">
    <vt:lpwstr>Confidential - Oracle Restricted \Employees Only</vt:lpwstr>
  </property>
  <property fmtid="{D5CDD505-2E9C-101B-9397-08002B2CF9AE}" pid="4" name="ClassificationContentMarkingHeaderLocations">
    <vt:lpwstr>Office Theme:9</vt:lpwstr>
  </property>
  <property fmtid="{D5CDD505-2E9C-101B-9397-08002B2CF9AE}" pid="5" name="ClassificationContentMarkingHeaderText">
    <vt:lpwstr>Confidential - Oracle Restricted \Employees Only</vt:lpwstr>
  </property>
</Properties>
</file>