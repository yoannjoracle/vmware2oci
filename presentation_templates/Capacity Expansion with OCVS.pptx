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d239097bfef41f9" /><Relationship Type="http://schemas.openxmlformats.org/officeDocument/2006/relationships/extended-properties" Target="/docProps/app.xml" Id="R83796889c2814f84" /><Relationship Type="http://schemas.openxmlformats.org/officeDocument/2006/relationships/officeDocument" Target="/ppt/presentation.xml" Id="Rea5ade754a37403b" /></Relationships>
</file>

<file path=ppt/presentation.xml><?xml version="1.0" encoding="utf-8"?>
<p:presentation xmlns:p="http://schemas.openxmlformats.org/presentationml/2006/main">
  <p:sldMasterIdLst>
    <p:sldMasterId xmlns:r="http://schemas.openxmlformats.org/officeDocument/2006/relationships" id="2147483648" r:id="R55808e86e3664a3f"/>
  </p:sldMasterIdLst>
  <p:notesMasterIdLst>
    <p:notesMasterId xmlns:r="http://schemas.openxmlformats.org/officeDocument/2006/relationships" r:id="Rc043520393f84dbb"/>
  </p:notesMasterIdLst>
  <p:sldIdLst>
    <p:sldId xmlns:r="http://schemas.openxmlformats.org/officeDocument/2006/relationships" id="256" r:id="R8f275acbc56740c7"/>
    <p:sldId xmlns:r="http://schemas.openxmlformats.org/officeDocument/2006/relationships" id="257" r:id="R32cd1ef87cef4b24"/>
    <p:sldId xmlns:r="http://schemas.openxmlformats.org/officeDocument/2006/relationships" id="258" r:id="Re89f941d485047fd"/>
    <p:sldId xmlns:r="http://schemas.openxmlformats.org/officeDocument/2006/relationships" id="259" r:id="R62a42341627e470e"/>
    <p:sldId xmlns:r="http://schemas.openxmlformats.org/officeDocument/2006/relationships" id="260" r:id="R0ebd29862db44ed8"/>
    <p:sldId xmlns:r="http://schemas.openxmlformats.org/officeDocument/2006/relationships" id="261" r:id="R2c21651b8529412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fe348c3f67984dd4" /><Relationship Type="http://schemas.openxmlformats.org/officeDocument/2006/relationships/slideMaster" Target="/ppt/slideMasters/slideMaster1.xml" Id="R55808e86e3664a3f" /><Relationship Type="http://schemas.openxmlformats.org/officeDocument/2006/relationships/notesMaster" Target="/ppt/notesMasters/notesMaster1.xml" Id="Rc043520393f84dbb" /><Relationship Type="http://schemas.openxmlformats.org/officeDocument/2006/relationships/presProps" Target="/ppt/presProps.xml" Id="R103b156ff236442f" /><Relationship Type="http://schemas.openxmlformats.org/officeDocument/2006/relationships/viewProps" Target="/ppt/viewProps.xml" Id="R62fe3af873a14acb" /><Relationship Type="http://schemas.openxmlformats.org/officeDocument/2006/relationships/tableStyles" Target="/ppt/tableStyles.xml" Id="Rbf1cac86b8be47b0" /><Relationship Type="http://schemas.openxmlformats.org/officeDocument/2006/relationships/slide" Target="/ppt/slides/slide1.xml" Id="R8f275acbc56740c7" /><Relationship Type="http://schemas.openxmlformats.org/officeDocument/2006/relationships/slide" Target="/ppt/slides/slide2.xml" Id="R32cd1ef87cef4b24" /><Relationship Type="http://schemas.openxmlformats.org/officeDocument/2006/relationships/slide" Target="/ppt/slides/slide3.xml" Id="Re89f941d485047fd" /><Relationship Type="http://schemas.openxmlformats.org/officeDocument/2006/relationships/slide" Target="/ppt/slides/slide4.xml" Id="R62a42341627e470e" /><Relationship Type="http://schemas.openxmlformats.org/officeDocument/2006/relationships/slide" Target="/ppt/slides/slide5.xml" Id="R0ebd29862db44ed8" /><Relationship Type="http://schemas.openxmlformats.org/officeDocument/2006/relationships/slide" Target="/ppt/slides/slide6.xml" Id="R2c21651b8529412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eb3e93e14fc449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072dddec0af4f33" /><Relationship Type="http://schemas.openxmlformats.org/officeDocument/2006/relationships/notesMaster" Target="/ppt/notesMasters/notesMaster1.xml" Id="R0b1672564bcd44cb" /></Relationships>
</file>

<file path=ppt/notesSlides/_rels/notesSlide2.xml.rels>&#65279;<?xml version="1.0" encoding="utf-8"?><Relationships xmlns="http://schemas.openxmlformats.org/package/2006/relationships"><Relationship Type="http://schemas.openxmlformats.org/officeDocument/2006/relationships/slide" Target="/ppt/slides/slide2.xml" Id="Rdbca20e4a6004321" /><Relationship Type="http://schemas.openxmlformats.org/officeDocument/2006/relationships/notesMaster" Target="/ppt/notesMasters/notesMaster1.xml" Id="Rce675ee9e38448f9" /></Relationships>
</file>

<file path=ppt/notesSlides/_rels/notesSlide3.xml.rels>&#65279;<?xml version="1.0" encoding="utf-8"?><Relationships xmlns="http://schemas.openxmlformats.org/package/2006/relationships"><Relationship Type="http://schemas.openxmlformats.org/officeDocument/2006/relationships/slide" Target="/ppt/slides/slide3.xml" Id="R2663b83940424358" /><Relationship Type="http://schemas.openxmlformats.org/officeDocument/2006/relationships/notesMaster" Target="/ppt/notesMasters/notesMaster1.xml" Id="R0992558d39c447ff" /></Relationships>
</file>

<file path=ppt/notesSlides/_rels/notesSlide4.xml.rels>&#65279;<?xml version="1.0" encoding="utf-8"?><Relationships xmlns="http://schemas.openxmlformats.org/package/2006/relationships"><Relationship Type="http://schemas.openxmlformats.org/officeDocument/2006/relationships/slide" Target="/ppt/slides/slide4.xml" Id="Re0ee54d43c154483" /><Relationship Type="http://schemas.openxmlformats.org/officeDocument/2006/relationships/notesMaster" Target="/ppt/notesMasters/notesMaster1.xml" Id="Ra7c9d832ea0b492d" /></Relationships>
</file>

<file path=ppt/notesSlides/_rels/notesSlide5.xml.rels>&#65279;<?xml version="1.0" encoding="utf-8"?><Relationships xmlns="http://schemas.openxmlformats.org/package/2006/relationships"><Relationship Type="http://schemas.openxmlformats.org/officeDocument/2006/relationships/slide" Target="/ppt/slides/slide5.xml" Id="R7807ca30bc4f44e3" /><Relationship Type="http://schemas.openxmlformats.org/officeDocument/2006/relationships/notesMaster" Target="/ppt/notesMasters/notesMaster1.xml" Id="Rb2175808abcc4c95" /></Relationships>
</file>

<file path=ppt/notesSlides/_rels/notesSlide6.xml.rels>&#65279;<?xml version="1.0" encoding="utf-8"?><Relationships xmlns="http://schemas.openxmlformats.org/package/2006/relationships"><Relationship Type="http://schemas.openxmlformats.org/officeDocument/2006/relationships/slide" Target="/ppt/slides/slide6.xml" Id="R5bda32de8a3f4335" /><Relationship Type="http://schemas.openxmlformats.org/officeDocument/2006/relationships/notesMaster" Target="/ppt/notesMasters/notesMaster1.xml" Id="R904ce216923e495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Source: slide 1 of the provided PowerPoint. Oracle logo, Oracle mark, row icons, and the right-side Oracle Cloud VMware Solution illustration are kept as cropped image assets from the source. Visible title, sizing label, and customer/date/prepared-by text are editable PowerPoint objects.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Source: user-provided screenshot. Oracle/OCI logo, VMware cloud logo, top benefit icons, on-premises icons, capacity expansion icons, target-card icons, business-outcome icons, and bottom target icon are retained as cropped image assets from the screenshot. Title, subtitle, panels, arrows, labels, descriptions, callout and footer are recreated as editable PowerPoint objects.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Source image: user-provided screenshot "Current Environment". Oracle logo, Oracle mark, datacenter icon, metric icons, total-environment icon, and information icon are embedded as cropped image assets from that screenshot. The visible title, subtitle, panel headers, labels, metric values, notes, footer, cards, separators, and decorative background elements are recreated as editable PowerPoint objects.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Source: slide 3 of the provided PowerPoint. Oracle logo, Oracle mark, and all metric/panel icons are kept as cropped image assets from the source. Title, explanatory text, architecture table, cluster card, values, callout, footer, panels, and separators are recreated as editable PowerPoint objects.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Source: slide 4 of the provided PowerPoint. Oracle logo is kept as a cropped image asset from the source; confidentiality labels and grey background are editable PowerPoint objects.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83dcf15457141b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acf30ad81b04ebc" /><Relationship Type="http://schemas.openxmlformats.org/officeDocument/2006/relationships/slideLayout" Target="/ppt/slideLayouts/slideLayout1.xml" Id="Ra5492fd7aaa24c9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5492fd7aaa24c9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c9239cb7c9a4a15" /><Relationship Type="http://schemas.openxmlformats.org/officeDocument/2006/relationships/image" Target="/ppt/media/image.png" Id="R4bee5f96c1454d8b" /><Relationship Type="http://schemas.openxmlformats.org/officeDocument/2006/relationships/image" Target="/ppt/media/image2.png" Id="R8b5518feaad440c2" /><Relationship Type="http://schemas.openxmlformats.org/officeDocument/2006/relationships/image" Target="/ppt/media/image3.png" Id="R5e2f943f5617445b" /><Relationship Type="http://schemas.openxmlformats.org/officeDocument/2006/relationships/image" Target="/ppt/media/image4.png" Id="R781da9717db04367" /><Relationship Type="http://schemas.openxmlformats.org/officeDocument/2006/relationships/image" Target="/ppt/media/image5.png" Id="Rd4e1e25f80c54b10" /><Relationship Type="http://schemas.openxmlformats.org/officeDocument/2006/relationships/image" Target="/ppt/media/image6.png" Id="Rd939d3b1074d4d51" /><Relationship Type="http://schemas.openxmlformats.org/officeDocument/2006/relationships/notesSlide" Target="/ppt/notesSlides/notesSlide1.xml" Id="Ra33d8fe928a1421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9cfb72ebfba4d26" /><Relationship Type="http://schemas.openxmlformats.org/officeDocument/2006/relationships/image" Target="/ppt/media/image7.png" Id="Ra91b96133b144f73" /><Relationship Type="http://schemas.openxmlformats.org/officeDocument/2006/relationships/image" Target="/ppt/media/image8.png" Id="R92283992dffd4bb3" /><Relationship Type="http://schemas.openxmlformats.org/officeDocument/2006/relationships/image" Target="/ppt/media/image9.png" Id="R8a5e77d654f649fd" /><Relationship Type="http://schemas.openxmlformats.org/officeDocument/2006/relationships/image" Target="/ppt/media/image10.png" Id="Rf219af381f9144d1" /><Relationship Type="http://schemas.openxmlformats.org/officeDocument/2006/relationships/image" Target="/ppt/media/image11.png" Id="Rcb5611ba635b4987" /><Relationship Type="http://schemas.openxmlformats.org/officeDocument/2006/relationships/image" Target="/ppt/media/image12.png" Id="R633e35ab348245a9" /><Relationship Type="http://schemas.openxmlformats.org/officeDocument/2006/relationships/image" Target="/ppt/media/image13.png" Id="R6572671e665948b6" /><Relationship Type="http://schemas.openxmlformats.org/officeDocument/2006/relationships/image" Target="/ppt/media/image14.png" Id="R06dc10251a684ef8" /><Relationship Type="http://schemas.openxmlformats.org/officeDocument/2006/relationships/image" Target="/ppt/media/image15.png" Id="R58cbf7749c794295" /><Relationship Type="http://schemas.openxmlformats.org/officeDocument/2006/relationships/image" Target="/ppt/media/image16.png" Id="R714900036a8a4f8a" /><Relationship Type="http://schemas.openxmlformats.org/officeDocument/2006/relationships/image" Target="/ppt/media/image17.png" Id="Rceb6fb0b6e514d4e" /><Relationship Type="http://schemas.openxmlformats.org/officeDocument/2006/relationships/image" Target="/ppt/media/image18.png" Id="R11a2c83da24f496b" /><Relationship Type="http://schemas.openxmlformats.org/officeDocument/2006/relationships/image" Target="/ppt/media/image19.png" Id="Rbfb0f5936bd341cc" /><Relationship Type="http://schemas.openxmlformats.org/officeDocument/2006/relationships/image" Target="/ppt/media/image20.png" Id="R6c80fca8e8254af0" /><Relationship Type="http://schemas.openxmlformats.org/officeDocument/2006/relationships/image" Target="/ppt/media/image21.png" Id="R9bba8a6bc2d348a9" /><Relationship Type="http://schemas.openxmlformats.org/officeDocument/2006/relationships/image" Target="/ppt/media/image22.png" Id="R8b4e1b543ec54eb7" /><Relationship Type="http://schemas.openxmlformats.org/officeDocument/2006/relationships/image" Target="/ppt/media/image23.png" Id="R2567edb90a1a4412" /><Relationship Type="http://schemas.openxmlformats.org/officeDocument/2006/relationships/image" Target="/ppt/media/image24.png" Id="R4296bb3d28c049cd" /><Relationship Type="http://schemas.openxmlformats.org/officeDocument/2006/relationships/image" Target="/ppt/media/image25.png" Id="R92f28a5e880e4a21" /><Relationship Type="http://schemas.openxmlformats.org/officeDocument/2006/relationships/image" Target="/ppt/media/image26.png" Id="Ra659bad0a89545ca" /><Relationship Type="http://schemas.openxmlformats.org/officeDocument/2006/relationships/image" Target="/ppt/media/image27.png" Id="R18cea8bc3ccc4b56" /><Relationship Type="http://schemas.openxmlformats.org/officeDocument/2006/relationships/image" Target="/ppt/media/image28.png" Id="R60c7478e06c04a08" /><Relationship Type="http://schemas.openxmlformats.org/officeDocument/2006/relationships/image" Target="/ppt/media/image29.png" Id="R5914d0d0aabb4f28" /><Relationship Type="http://schemas.openxmlformats.org/officeDocument/2006/relationships/image" Target="/ppt/media/image30.png" Id="Rd0bb27b0d14f4c88" /><Relationship Type="http://schemas.openxmlformats.org/officeDocument/2006/relationships/image" Target="/ppt/media/image31.png" Id="R8d37857dce944f77" /><Relationship Type="http://schemas.openxmlformats.org/officeDocument/2006/relationships/image" Target="/ppt/media/image32.png" Id="R40a4644c289c481f" /><Relationship Type="http://schemas.openxmlformats.org/officeDocument/2006/relationships/image" Target="/ppt/media/image33.png" Id="R2846c245dc7e4df5" /><Relationship Type="http://schemas.openxmlformats.org/officeDocument/2006/relationships/image" Target="/ppt/media/image34.png" Id="R4dec64e06e8e4a08" /><Relationship Type="http://schemas.openxmlformats.org/officeDocument/2006/relationships/image" Target="/ppt/media/image35.png" Id="Rba698b1b678b4ca4" /><Relationship Type="http://schemas.openxmlformats.org/officeDocument/2006/relationships/image" Target="/ppt/media/image36.png" Id="Rc4d145e437574a18" /><Relationship Type="http://schemas.openxmlformats.org/officeDocument/2006/relationships/notesSlide" Target="/ppt/notesSlides/notesSlide2.xml" Id="Rc9e2687e22a0463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91b167c430c4dba" /><Relationship Type="http://schemas.openxmlformats.org/officeDocument/2006/relationships/image" Target="/ppt/media/image37.png" Id="R6b729865d68f47b9" /><Relationship Type="http://schemas.openxmlformats.org/officeDocument/2006/relationships/image" Target="/ppt/media/image38.png" Id="Re059d9775c5f452d" /><Relationship Type="http://schemas.openxmlformats.org/officeDocument/2006/relationships/image" Target="/ppt/media/image39.png" Id="R721fca4b66774544" /><Relationship Type="http://schemas.openxmlformats.org/officeDocument/2006/relationships/image" Target="/ppt/media/image40.png" Id="R4760cd0dbc1844b3" /><Relationship Type="http://schemas.openxmlformats.org/officeDocument/2006/relationships/image" Target="/ppt/media/image41.png" Id="R794f5dec3c6d46a8" /><Relationship Type="http://schemas.openxmlformats.org/officeDocument/2006/relationships/image" Target="/ppt/media/image42.png" Id="Rdcf9814cc3b64f9b" /><Relationship Type="http://schemas.openxmlformats.org/officeDocument/2006/relationships/image" Target="/ppt/media/image43.png" Id="R7d216677ce784142" /><Relationship Type="http://schemas.openxmlformats.org/officeDocument/2006/relationships/image" Target="/ppt/media/image44.png" Id="R281f8f4190dc4212" /><Relationship Type="http://schemas.openxmlformats.org/officeDocument/2006/relationships/image" Target="/ppt/media/image45.png" Id="R911d174e732e4b7c" /><Relationship Type="http://schemas.openxmlformats.org/officeDocument/2006/relationships/image" Target="/ppt/media/image46.png" Id="R46817d86d43c4757" /><Relationship Type="http://schemas.openxmlformats.org/officeDocument/2006/relationships/image" Target="/ppt/media/image47.png" Id="Rc5485ba0934b44bd" /><Relationship Type="http://schemas.openxmlformats.org/officeDocument/2006/relationships/image" Target="/ppt/media/image48.png" Id="Rb5c8780a95fc4843" /><Relationship Type="http://schemas.openxmlformats.org/officeDocument/2006/relationships/image" Target="/ppt/media/image49.png" Id="R5db116708ca64d5d" /><Relationship Type="http://schemas.openxmlformats.org/officeDocument/2006/relationships/notesSlide" Target="/ppt/notesSlides/notesSlide3.xml" Id="R7004c55598774c5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c49942f48944403" /><Relationship Type="http://schemas.openxmlformats.org/officeDocument/2006/relationships/image" Target="/ppt/media/image50.png" Id="Rec7f3d0b1d1b429d" /><Relationship Type="http://schemas.openxmlformats.org/officeDocument/2006/relationships/image" Target="/ppt/media/image51.png" Id="Rfea8cb80a61d4023" /><Relationship Type="http://schemas.openxmlformats.org/officeDocument/2006/relationships/image" Target="/ppt/media/image52.png" Id="R0187da0b75d7422a" /><Relationship Type="http://schemas.openxmlformats.org/officeDocument/2006/relationships/image" Target="/ppt/media/image53.png" Id="Rb3e2888c262045e0" /><Relationship Type="http://schemas.openxmlformats.org/officeDocument/2006/relationships/image" Target="/ppt/media/image54.png" Id="R36d9b793c5154871" /><Relationship Type="http://schemas.openxmlformats.org/officeDocument/2006/relationships/image" Target="/ppt/media/image55.png" Id="R9bb97be539414ae9" /><Relationship Type="http://schemas.openxmlformats.org/officeDocument/2006/relationships/image" Target="/ppt/media/image56.png" Id="R900baf9035214bc4" /><Relationship Type="http://schemas.openxmlformats.org/officeDocument/2006/relationships/image" Target="/ppt/media/image57.png" Id="Re570999aff414470" /><Relationship Type="http://schemas.openxmlformats.org/officeDocument/2006/relationships/image" Target="/ppt/media/image58.png" Id="R8f7bc71e66b6432f" /><Relationship Type="http://schemas.openxmlformats.org/officeDocument/2006/relationships/notesSlide" Target="/ppt/notesSlides/notesSlide4.xml" Id="Rf55d27c619354bc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85e09fe07c64b48" /><Relationship Type="http://schemas.openxmlformats.org/officeDocument/2006/relationships/image" Target="/ppt/media/image59.png" Id="R44865aa95ff74a14" /><Relationship Type="http://schemas.openxmlformats.org/officeDocument/2006/relationships/image" Target="/ppt/media/image60.png" Id="R6825d7f6db3f44d2" /><Relationship Type="http://schemas.openxmlformats.org/officeDocument/2006/relationships/image" Target="/ppt/media/image61.png" Id="Re5b45127a2844e24" /><Relationship Type="http://schemas.openxmlformats.org/officeDocument/2006/relationships/image" Target="/ppt/media/image62.png" Id="R06075da9f0264214" /><Relationship Type="http://schemas.openxmlformats.org/officeDocument/2006/relationships/image" Target="/ppt/media/image63.png" Id="Rf8ae91d76cd54f64" /><Relationship Type="http://schemas.openxmlformats.org/officeDocument/2006/relationships/image" Target="/ppt/media/image64.png" Id="R4acb0181e38f49fd" /><Relationship Type="http://schemas.openxmlformats.org/officeDocument/2006/relationships/image" Target="/ppt/media/image65.png" Id="R4f3923b518a541eb" /><Relationship Type="http://schemas.openxmlformats.org/officeDocument/2006/relationships/image" Target="/ppt/media/image66.png" Id="Re4b57b42c4c64a21" /><Relationship Type="http://schemas.openxmlformats.org/officeDocument/2006/relationships/image" Target="/ppt/media/image67.png" Id="R7a67164f4c154a51" /><Relationship Type="http://schemas.openxmlformats.org/officeDocument/2006/relationships/image" Target="/ppt/media/image68.png" Id="R2bdc39d155dd4f8a" /><Relationship Type="http://schemas.openxmlformats.org/officeDocument/2006/relationships/image" Target="/ppt/media/image69.png" Id="Rb6d57d87f93545dc" /><Relationship Type="http://schemas.openxmlformats.org/officeDocument/2006/relationships/image" Target="/ppt/media/image70.png" Id="R704f84f9c3954214" /><Relationship Type="http://schemas.openxmlformats.org/officeDocument/2006/relationships/image" Target="/ppt/media/image71.png" Id="R7b994a5205714a00" /><Relationship Type="http://schemas.openxmlformats.org/officeDocument/2006/relationships/image" Target="/ppt/media/image6.png" Id="R1ee78c23a1b246bb" /><Relationship Type="http://schemas.openxmlformats.org/officeDocument/2006/relationships/notesSlide" Target="/ppt/notesSlides/notesSlide5.xml" Id="Rc4054fd63e0146e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da02fd444a9434d" /><Relationship Type="http://schemas.openxmlformats.org/officeDocument/2006/relationships/image" Target="/ppt/media/image72.png" Id="R38c12c5cd140434b" /><Relationship Type="http://schemas.openxmlformats.org/officeDocument/2006/relationships/notesSlide" Target="/ppt/notesSlides/notesSlide6.xml" Id="Ree9e374d30834301" /></Relationships>
</file>

<file path=ppt/slides/slide1.xml><?xml version="1.0" encoding="utf-8"?>
<p:sld xmlns:p="http://schemas.openxmlformats.org/presentationml/2006/main">
  <p:cSld>
    <p:bg>
      <p:bgPr>
        <a:solidFill xmlns:a="http://schemas.openxmlformats.org/drawingml/2006/main">
          <a:srgbClr val="FBFAF8"/>
        </a:solidFill>
      </p:bgPr>
    </p:bg>
    <p:spTree>
      <p:nvGrpSpPr>
        <p:cNvPr id="1" name=""/>
        <p:cNvGrpSpPr/>
        <p:nvPr/>
      </p:nvGrpSpPr>
      <p:grpSpPr>
        <a:xfrm xmlns:a="http://schemas.openxmlformats.org/drawingml/2006/main"/>
      </p:grpSpPr>
      <p:sp>
        <p:nvSpPr>
          <p:cNvPr id="29" name="Oval 28">
            <a:extLst xmlns:a="http://schemas.openxmlformats.org/drawingml/2006/main">
              <a:ext uri="{FF2B5EF4-FFF2-40B4-BE49-F238E27FC236}">
                <a16:creationId xmlns:a16="http://schemas.microsoft.com/office/drawing/2014/main" id="{4696C5B5-BCFA-4425-B931-C6A2F4CF4A25}"/>
              </a:ext>
            </a:extLst>
          </p:cNvPr>
          <p:cNvSpPr>
            <a:spLocks xmlns:a="http://schemas.openxmlformats.org/drawingml/2006/main" noGrp="1"/>
          </p:cNvSpPr>
          <p:nvPr/>
        </p:nvSpPr>
        <p:spPr>
          <a:xfrm xmlns:a="http://schemas.openxmlformats.org/drawingml/2006/main">
            <a:off x="7239000" y="371475"/>
            <a:ext cx="66675" cy="66675"/>
          </a:xfrm>
          <a:prstGeom xmlns:a="http://schemas.openxmlformats.org/drawingml/2006/main" prst="ellipse">
            <a:avLst/>
          </a:prstGeom>
          <a:solidFill xmlns:a="http://schemas.openxmlformats.org/drawingml/2006/main">
            <a:srgbClr val="E7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Oval 1">
            <a:extLst xmlns:a="http://schemas.openxmlformats.org/drawingml/2006/main">
              <a:ext uri="{FF2B5EF4-FFF2-40B4-BE49-F238E27FC236}">
                <a16:creationId xmlns:a16="http://schemas.microsoft.com/office/drawing/2014/main" id="{375AA658-C774-489C-98AA-71460C4C75DC}"/>
              </a:ext>
            </a:extLst>
          </p:cNvPr>
          <p:cNvSpPr>
            <a:spLocks xmlns:a="http://schemas.openxmlformats.org/drawingml/2006/main" noGrp="1"/>
          </p:cNvSpPr>
          <p:nvPr/>
        </p:nvSpPr>
        <p:spPr>
          <a:xfrm xmlns:a="http://schemas.openxmlformats.org/drawingml/2006/main">
            <a:off x="4486275" y="981075"/>
            <a:ext cx="47625" cy="47625"/>
          </a:xfrm>
          <a:prstGeom xmlns:a="http://schemas.openxmlformats.org/drawingml/2006/main" prst="ellipse">
            <a:avLst/>
          </a:prstGeom>
          <a:solidFill xmlns:a="http://schemas.openxmlformats.org/drawingml/2006/main">
            <a:srgbClr val="E7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3" name="Oval 2">
            <a:extLst xmlns:a="http://schemas.openxmlformats.org/drawingml/2006/main">
              <a:ext uri="{FF2B5EF4-FFF2-40B4-BE49-F238E27FC236}">
                <a16:creationId xmlns:a16="http://schemas.microsoft.com/office/drawing/2014/main" id="{1F6E5068-3122-4247-9AB7-38EBFA209EEF}"/>
              </a:ext>
            </a:extLst>
          </p:cNvPr>
          <p:cNvSpPr>
            <a:spLocks xmlns:a="http://schemas.openxmlformats.org/drawingml/2006/main" noGrp="1"/>
          </p:cNvSpPr>
          <p:nvPr/>
        </p:nvSpPr>
        <p:spPr>
          <a:xfrm xmlns:a="http://schemas.openxmlformats.org/drawingml/2006/main">
            <a:off x="5143500" y="561975"/>
            <a:ext cx="38100" cy="38100"/>
          </a:xfrm>
          <a:prstGeom xmlns:a="http://schemas.openxmlformats.org/drawingml/2006/main" prst="ellipse">
            <a:avLst/>
          </a:prstGeom>
          <a:solidFill xmlns:a="http://schemas.openxmlformats.org/drawingml/2006/main">
            <a:srgbClr val="E7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4" name="Oval 3">
            <a:extLst xmlns:a="http://schemas.openxmlformats.org/drawingml/2006/main">
              <a:ext uri="{FF2B5EF4-FFF2-40B4-BE49-F238E27FC236}">
                <a16:creationId xmlns:a16="http://schemas.microsoft.com/office/drawing/2014/main" id="{7BF01C8E-6137-4231-8D77-A754E49C2571}"/>
              </a:ext>
            </a:extLst>
          </p:cNvPr>
          <p:cNvSpPr>
            <a:spLocks xmlns:a="http://schemas.openxmlformats.org/drawingml/2006/main" noGrp="1"/>
          </p:cNvSpPr>
          <p:nvPr/>
        </p:nvSpPr>
        <p:spPr>
          <a:xfrm xmlns:a="http://schemas.openxmlformats.org/drawingml/2006/main">
            <a:off x="6210300" y="3714750"/>
            <a:ext cx="47625" cy="47625"/>
          </a:xfrm>
          <a:prstGeom xmlns:a="http://schemas.openxmlformats.org/drawingml/2006/main" prst="ellipse">
            <a:avLst/>
          </a:prstGeom>
          <a:solidFill xmlns:a="http://schemas.openxmlformats.org/drawingml/2006/main">
            <a:srgbClr val="E7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 name="Oval 4">
            <a:extLst xmlns:a="http://schemas.openxmlformats.org/drawingml/2006/main">
              <a:ext uri="{FF2B5EF4-FFF2-40B4-BE49-F238E27FC236}">
                <a16:creationId xmlns:a16="http://schemas.microsoft.com/office/drawing/2014/main" id="{F10343F5-2252-4F30-81D6-73B33763131E}"/>
              </a:ext>
            </a:extLst>
          </p:cNvPr>
          <p:cNvSpPr>
            <a:spLocks xmlns:a="http://schemas.openxmlformats.org/drawingml/2006/main" noGrp="1"/>
          </p:cNvSpPr>
          <p:nvPr/>
        </p:nvSpPr>
        <p:spPr>
          <a:xfrm xmlns:a="http://schemas.openxmlformats.org/drawingml/2006/main">
            <a:off x="11315700" y="704850"/>
            <a:ext cx="28575" cy="28575"/>
          </a:xfrm>
          <a:prstGeom xmlns:a="http://schemas.openxmlformats.org/drawingml/2006/main" prst="ellipse">
            <a:avLst/>
          </a:prstGeom>
          <a:solidFill xmlns:a="http://schemas.openxmlformats.org/drawingml/2006/main">
            <a:srgbClr val="E7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6" name="Oval 5">
            <a:extLst xmlns:a="http://schemas.openxmlformats.org/drawingml/2006/main">
              <a:ext uri="{FF2B5EF4-FFF2-40B4-BE49-F238E27FC236}">
                <a16:creationId xmlns:a16="http://schemas.microsoft.com/office/drawing/2014/main" id="{46BA590D-5274-475F-AEBD-A987F53BBD38}"/>
              </a:ext>
            </a:extLst>
          </p:cNvPr>
          <p:cNvSpPr>
            <a:spLocks xmlns:a="http://schemas.openxmlformats.org/drawingml/2006/main" noGrp="1"/>
          </p:cNvSpPr>
          <p:nvPr/>
        </p:nvSpPr>
        <p:spPr>
          <a:xfrm xmlns:a="http://schemas.openxmlformats.org/drawingml/2006/main">
            <a:off x="11811000" y="704850"/>
            <a:ext cx="28575" cy="28575"/>
          </a:xfrm>
          <a:prstGeom xmlns:a="http://schemas.openxmlformats.org/drawingml/2006/main" prst="ellipse">
            <a:avLst/>
          </a:prstGeom>
          <a:solidFill xmlns:a="http://schemas.openxmlformats.org/drawingml/2006/main">
            <a:srgbClr val="E7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7" name="Oval 6">
            <a:extLst xmlns:a="http://schemas.openxmlformats.org/drawingml/2006/main">
              <a:ext uri="{FF2B5EF4-FFF2-40B4-BE49-F238E27FC236}">
                <a16:creationId xmlns:a16="http://schemas.microsoft.com/office/drawing/2014/main" id="{2F11CAD1-90ED-4491-A3BE-A83AEE7C6506}"/>
              </a:ext>
            </a:extLst>
          </p:cNvPr>
          <p:cNvSpPr>
            <a:spLocks xmlns:a="http://schemas.openxmlformats.org/drawingml/2006/main" noGrp="1"/>
          </p:cNvSpPr>
          <p:nvPr/>
        </p:nvSpPr>
        <p:spPr>
          <a:xfrm xmlns:a="http://schemas.openxmlformats.org/drawingml/2006/main">
            <a:off x="4486275" y="3876675"/>
            <a:ext cx="47625" cy="47625"/>
          </a:xfrm>
          <a:prstGeom xmlns:a="http://schemas.openxmlformats.org/drawingml/2006/main" prst="ellipse">
            <a:avLst/>
          </a:prstGeom>
          <a:solidFill xmlns:a="http://schemas.openxmlformats.org/drawingml/2006/main">
            <a:srgbClr val="E7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8" name="Oval 7">
            <a:extLst xmlns:a="http://schemas.openxmlformats.org/drawingml/2006/main">
              <a:ext uri="{FF2B5EF4-FFF2-40B4-BE49-F238E27FC236}">
                <a16:creationId xmlns:a16="http://schemas.microsoft.com/office/drawing/2014/main" id="{17FB2515-F71F-4A18-8796-33CCAB489220}"/>
              </a:ext>
            </a:extLst>
          </p:cNvPr>
          <p:cNvSpPr>
            <a:spLocks xmlns:a="http://schemas.openxmlformats.org/drawingml/2006/main" noGrp="1"/>
          </p:cNvSpPr>
          <p:nvPr/>
        </p:nvSpPr>
        <p:spPr>
          <a:xfrm xmlns:a="http://schemas.openxmlformats.org/drawingml/2006/main">
            <a:off x="0" y="3714750"/>
            <a:ext cx="1381125" cy="1714500"/>
          </a:xfrm>
          <a:prstGeom xmlns:a="http://schemas.openxmlformats.org/drawingml/2006/main" prst="ellipse">
            <a:avLst/>
          </a:prstGeom>
          <a:solidFill xmlns:a="http://schemas.openxmlformats.org/drawingml/2006/main">
            <a:srgbClr val="F7FAF8"/>
          </a:solidFill>
          <a:ln xmlns:a="http://schemas.openxmlformats.org/drawingml/2006/main" w="9525">
            <a:solidFill>
              <a:srgbClr val="E0E6E2"/>
            </a:solidFill>
            <a:prstDash val="dot"/>
          </a:ln>
        </p:spPr>
        <p:txBody>
          <a:bodyPr xmlns:a="http://schemas.openxmlformats.org/drawingml/2006/main"/>
          <a:lstStyle xmlns:a="http://schemas.openxmlformats.org/drawingml/2006/main"/>
          <a:p xmlns:a="http://schemas.openxmlformats.org/drawingml/2006/main">
            <a:endParaRPr/>
          </a:p>
        </p:txBody>
      </p:sp>
      <p:sp>
        <p:nvSpPr>
          <p:cNvPr id="9" name="Oval 8">
            <a:extLst xmlns:a="http://schemas.openxmlformats.org/drawingml/2006/main">
              <a:ext uri="{FF2B5EF4-FFF2-40B4-BE49-F238E27FC236}">
                <a16:creationId xmlns:a16="http://schemas.microsoft.com/office/drawing/2014/main" id="{752F6077-993B-4744-8476-4A5DEA11BC42}"/>
              </a:ext>
            </a:extLst>
          </p:cNvPr>
          <p:cNvSpPr>
            <a:spLocks xmlns:a="http://schemas.openxmlformats.org/drawingml/2006/main" noGrp="1"/>
          </p:cNvSpPr>
          <p:nvPr/>
        </p:nvSpPr>
        <p:spPr>
          <a:xfrm xmlns:a="http://schemas.openxmlformats.org/drawingml/2006/main">
            <a:off x="0" y="5762625"/>
            <a:ext cx="2952750" cy="1095375"/>
          </a:xfrm>
          <a:prstGeom xmlns:a="http://schemas.openxmlformats.org/drawingml/2006/main" prst="ellipse">
            <a:avLst/>
          </a:prstGeom>
          <a:solidFill xmlns:a="http://schemas.openxmlformats.org/drawingml/2006/main">
            <a:srgbClr val="F7FAF8"/>
          </a:solidFill>
          <a:ln xmlns:a="http://schemas.openxmlformats.org/drawingml/2006/main" w="9525">
            <a:solidFill>
              <a:srgbClr val="E0E6E2"/>
            </a:solidFill>
            <a:prstDash val="dot"/>
          </a:ln>
        </p:spPr>
        <p:txBody>
          <a:bodyPr xmlns:a="http://schemas.openxmlformats.org/drawingml/2006/main"/>
          <a:lstStyle xmlns:a="http://schemas.openxmlformats.org/drawingml/2006/main"/>
          <a:p xmlns:a="http://schemas.openxmlformats.org/drawingml/2006/main">
            <a:endParaRPr/>
          </a:p>
        </p:txBody>
      </p:sp>
      <p:pic>
        <p:nvPicPr>
          <p:cNvPr id="45" name="Picture 37"/>
          <p:cNvPicPr>
            <a:picLocks xmlns:a="http://schemas.openxmlformats.org/drawingml/2006/main" noChangeAspect="1"/>
          </p:cNvPicPr>
          <p:nvPr/>
        </p:nvPicPr>
        <p:blipFill>
          <a:blip xmlns:r="http://schemas.openxmlformats.org/officeDocument/2006/relationships" xmlns:a="http://schemas.openxmlformats.org/drawingml/2006/main" r:embed="R4bee5f96c1454d8b"/>
          <a:stretch xmlns:a="http://schemas.openxmlformats.org/drawingml/2006/main"/>
        </p:blipFill>
        <p:spPr>
          <a:xfrm xmlns:a="http://schemas.openxmlformats.org/drawingml/2006/main">
            <a:off x="333375" y="295275"/>
            <a:ext cx="2152650" cy="704850"/>
          </a:xfrm>
          <a:prstGeom xmlns:a="http://schemas.openxmlformats.org/drawingml/2006/main" prst="rect">
            <a:avLst/>
          </a:prstGeom>
        </p:spPr>
      </p:pic>
      <p:pic>
        <p:nvPicPr>
          <p:cNvPr id="46" name="Picture 38"/>
          <p:cNvPicPr>
            <a:picLocks xmlns:a="http://schemas.openxmlformats.org/drawingml/2006/main" noChangeAspect="1"/>
          </p:cNvPicPr>
          <p:nvPr/>
        </p:nvPicPr>
        <p:blipFill>
          <a:blip xmlns:r="http://schemas.openxmlformats.org/officeDocument/2006/relationships" xmlns:a="http://schemas.openxmlformats.org/drawingml/2006/main" r:embed="R8b5518feaad440c2"/>
          <a:stretch xmlns:a="http://schemas.openxmlformats.org/drawingml/2006/main"/>
        </p:blipFill>
        <p:spPr>
          <a:xfrm xmlns:a="http://schemas.openxmlformats.org/drawingml/2006/main">
            <a:off x="6096000" y="476250"/>
            <a:ext cx="5524500" cy="5000625"/>
          </a:xfrm>
          <a:prstGeom xmlns:a="http://schemas.openxmlformats.org/drawingml/2006/main" prst="rect">
            <a:avLst/>
          </a:prstGeom>
        </p:spPr>
      </p:pic>
      <p:sp>
        <p:nvSpPr>
          <p:cNvPr id="12" name="Rectangle 11">
            <a:extLst xmlns:a="http://schemas.openxmlformats.org/drawingml/2006/main">
              <a:ext uri="{FF2B5EF4-FFF2-40B4-BE49-F238E27FC236}">
                <a16:creationId xmlns:a16="http://schemas.microsoft.com/office/drawing/2014/main" id="{BE18B706-8D3E-4081-9607-FAFE11CAC30D}"/>
              </a:ext>
            </a:extLst>
          </p:cNvPr>
          <p:cNvSpPr>
            <a:spLocks xmlns:a="http://schemas.openxmlformats.org/drawingml/2006/main" noGrp="1"/>
          </p:cNvSpPr>
          <p:nvPr/>
        </p:nvSpPr>
        <p:spPr>
          <a:xfrm xmlns:a="http://schemas.openxmlformats.org/drawingml/2006/main">
            <a:off x="361950" y="1733550"/>
            <a:ext cx="4572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4200" b="1" i="0">
                <a:solidFill>
                  <a:srgbClr val="003B25"/>
                </a:solidFill>
                <a:latin typeface="Arial"/>
                <a:ea typeface="Arial"/>
                <a:cs typeface="Arial"/>
              </a:defRPr>
            </a:pPr>
            <a:r>
              <a:rPr sz="4200" b="1" i="0">
                <a:solidFill>
                  <a:srgbClr val="003B25"/>
                </a:solidFill>
                <a:latin typeface="Arial"/>
                <a:ea typeface="Arial"/>
                <a:cs typeface="Arial"/>
              </a:rPr>
              <a:t>Oracle Cloud</a:t>
            </a:r>
          </a:p>
        </p:txBody>
      </p:sp>
      <p:sp>
        <p:nvSpPr>
          <p:cNvPr id="13" name="Rectangle 12">
            <a:extLst xmlns:a="http://schemas.openxmlformats.org/drawingml/2006/main">
              <a:ext uri="{FF2B5EF4-FFF2-40B4-BE49-F238E27FC236}">
                <a16:creationId xmlns:a16="http://schemas.microsoft.com/office/drawing/2014/main" id="{013ED40B-2727-41E5-9FA9-6767E03C6F90}"/>
              </a:ext>
            </a:extLst>
          </p:cNvPr>
          <p:cNvSpPr>
            <a:spLocks xmlns:a="http://schemas.openxmlformats.org/drawingml/2006/main" noGrp="1"/>
          </p:cNvSpPr>
          <p:nvPr/>
        </p:nvSpPr>
        <p:spPr>
          <a:xfrm xmlns:a="http://schemas.openxmlformats.org/drawingml/2006/main">
            <a:off x="361950" y="2400300"/>
            <a:ext cx="5905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4200" b="1" i="0">
                <a:solidFill>
                  <a:srgbClr val="003B25"/>
                </a:solidFill>
                <a:latin typeface="Arial"/>
                <a:ea typeface="Arial"/>
                <a:cs typeface="Arial"/>
              </a:defRPr>
            </a:pPr>
            <a:r>
              <a:rPr sz="4200" b="1" i="0">
                <a:solidFill>
                  <a:srgbClr val="003B25"/>
                </a:solidFill>
                <a:latin typeface="Arial"/>
                <a:ea typeface="Arial"/>
                <a:cs typeface="Arial"/>
              </a:rPr>
              <a:t>VMware Solution</a:t>
            </a:r>
          </a:p>
        </p:txBody>
      </p:sp>
      <p:sp>
        <p:nvSpPr>
          <p:cNvPr id="14" name="Rectangle 13">
            <a:extLst xmlns:a="http://schemas.openxmlformats.org/drawingml/2006/main">
              <a:ext uri="{FF2B5EF4-FFF2-40B4-BE49-F238E27FC236}">
                <a16:creationId xmlns:a16="http://schemas.microsoft.com/office/drawing/2014/main" id="{E87D35AF-65D4-4A89-A0BA-254325912F36}"/>
              </a:ext>
            </a:extLst>
          </p:cNvPr>
          <p:cNvSpPr>
            <a:spLocks xmlns:a="http://schemas.openxmlformats.org/drawingml/2006/main" noGrp="1"/>
          </p:cNvSpPr>
          <p:nvPr/>
        </p:nvSpPr>
        <p:spPr>
          <a:xfrm xmlns:a="http://schemas.openxmlformats.org/drawingml/2006/main">
            <a:off x="419100" y="3429000"/>
            <a:ext cx="514350" cy="38100"/>
          </a:xfrm>
          <a:prstGeom xmlns:a="http://schemas.openxmlformats.org/drawingml/2006/main" prst="rect">
            <a:avLst/>
          </a:prstGeom>
          <a:solidFill xmlns:a="http://schemas.openxmlformats.org/drawingml/2006/main">
            <a:srgbClr val="F0000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5" name="Rectangle 14">
            <a:extLst xmlns:a="http://schemas.openxmlformats.org/drawingml/2006/main">
              <a:ext uri="{FF2B5EF4-FFF2-40B4-BE49-F238E27FC236}">
                <a16:creationId xmlns:a16="http://schemas.microsoft.com/office/drawing/2014/main" id="{6DCC6015-522F-4A3D-A984-81E7C719726B}"/>
              </a:ext>
            </a:extLst>
          </p:cNvPr>
          <p:cNvSpPr>
            <a:spLocks xmlns:a="http://schemas.openxmlformats.org/drawingml/2006/main" noGrp="1"/>
          </p:cNvSpPr>
          <p:nvPr/>
        </p:nvSpPr>
        <p:spPr>
          <a:xfrm xmlns:a="http://schemas.openxmlformats.org/drawingml/2006/main">
            <a:off x="419100" y="3752850"/>
            <a:ext cx="28575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2250" b="0" i="0">
                <a:solidFill>
                  <a:srgbClr val="111111"/>
                </a:solidFill>
                <a:latin typeface="Arial"/>
                <a:ea typeface="Arial"/>
                <a:cs typeface="Arial"/>
              </a:defRPr>
            </a:pPr>
            <a:r>
              <a:rPr sz="2250" b="0" i="0">
                <a:solidFill>
                  <a:srgbClr val="111111"/>
                </a:solidFill>
                <a:latin typeface="Arial"/>
                <a:ea typeface="Arial"/>
                <a:cs typeface="Arial"/>
              </a:rPr>
              <a:t>Proposed Sizing</a:t>
            </a:r>
          </a:p>
        </p:txBody>
      </p:sp>
      <p:pic>
        <p:nvPicPr>
          <p:cNvPr id="51" name="Picture 43"/>
          <p:cNvPicPr>
            <a:picLocks xmlns:a="http://schemas.openxmlformats.org/drawingml/2006/main" noChangeAspect="1"/>
          </p:cNvPicPr>
          <p:nvPr/>
        </p:nvPicPr>
        <p:blipFill>
          <a:blip xmlns:r="http://schemas.openxmlformats.org/officeDocument/2006/relationships" xmlns:a="http://schemas.openxmlformats.org/drawingml/2006/main" r:embed="R5e2f943f5617445b"/>
          <a:stretch xmlns:a="http://schemas.openxmlformats.org/drawingml/2006/main"/>
        </p:blipFill>
        <p:spPr>
          <a:xfrm xmlns:a="http://schemas.openxmlformats.org/drawingml/2006/main">
            <a:off x="409575" y="4514850"/>
            <a:ext cx="466725" cy="466725"/>
          </a:xfrm>
          <a:prstGeom xmlns:a="http://schemas.openxmlformats.org/drawingml/2006/main" prst="rect">
            <a:avLst/>
          </a:prstGeom>
        </p:spPr>
      </p:pic>
      <p:sp>
        <p:nvSpPr>
          <p:cNvPr id="17" name="Straight Connector 16">
            <a:extLst xmlns:a="http://schemas.openxmlformats.org/drawingml/2006/main">
              <a:ext uri="{FF2B5EF4-FFF2-40B4-BE49-F238E27FC236}">
                <a16:creationId xmlns:a16="http://schemas.microsoft.com/office/drawing/2014/main" id="{766A464C-B41C-4A32-B41D-BFAE1B316D1B}"/>
              </a:ext>
            </a:extLst>
          </p:cNvPr>
          <p:cNvSpPr>
            <a:spLocks xmlns:a="http://schemas.openxmlformats.org/drawingml/2006/main" noGrp="1"/>
          </p:cNvSpPr>
          <p:nvPr/>
        </p:nvSpPr>
        <p:spPr>
          <a:xfrm xmlns:a="http://schemas.openxmlformats.org/drawingml/2006/main">
            <a:off x="1028700" y="4533900"/>
            <a:ext cx="0" cy="457200"/>
          </a:xfrm>
          <a:prstGeom xmlns:a="http://schemas.openxmlformats.org/drawingml/2006/main" prst="line">
            <a:avLst/>
          </a:prstGeom>
          <a:noFill xmlns:a="http://schemas.openxmlformats.org/drawingml/2006/main"/>
          <a:ln xmlns:a="http://schemas.openxmlformats.org/drawingml/2006/main" w="9525">
            <a:solidFill>
              <a:srgbClr val="7A827E"/>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Rectangle 17">
            <a:extLst xmlns:a="http://schemas.openxmlformats.org/drawingml/2006/main">
              <a:ext uri="{FF2B5EF4-FFF2-40B4-BE49-F238E27FC236}">
                <a16:creationId xmlns:a16="http://schemas.microsoft.com/office/drawing/2014/main" id="{94955B22-66CD-4132-A773-8F5CF23333EC}"/>
              </a:ext>
            </a:extLst>
          </p:cNvPr>
          <p:cNvSpPr>
            <a:spLocks xmlns:a="http://schemas.openxmlformats.org/drawingml/2006/main" noGrp="1"/>
          </p:cNvSpPr>
          <p:nvPr/>
        </p:nvSpPr>
        <p:spPr>
          <a:xfrm xmlns:a="http://schemas.openxmlformats.org/drawingml/2006/main">
            <a:off x="1190625" y="4581525"/>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200" b="1" i="0">
                <a:solidFill>
                  <a:srgbClr val="003B25"/>
                </a:solidFill>
                <a:latin typeface="Arial"/>
                <a:ea typeface="Arial"/>
                <a:cs typeface="Arial"/>
              </a:defRPr>
            </a:pPr>
            <a:r>
              <a:rPr sz="1200" b="1" i="0">
                <a:solidFill>
                  <a:srgbClr val="003B25"/>
                </a:solidFill>
                <a:latin typeface="Arial"/>
                <a:ea typeface="Arial"/>
                <a:cs typeface="Arial"/>
              </a:rPr>
              <a:t>Customer</a:t>
            </a:r>
          </a:p>
        </p:txBody>
      </p:sp>
      <p:sp>
        <p:nvSpPr>
          <p:cNvPr id="19" name="editable-customer-value">
            <a:extLst xmlns:a="http://schemas.openxmlformats.org/drawingml/2006/main">
              <a:ext uri="{FF2B5EF4-FFF2-40B4-BE49-F238E27FC236}">
                <a16:creationId xmlns:a16="http://schemas.microsoft.com/office/drawing/2014/main" id="{BE76D494-55F5-4B36-BA24-6D15C411EBCA}"/>
              </a:ext>
            </a:extLst>
          </p:cNvPr>
          <p:cNvSpPr>
            <a:spLocks xmlns:a="http://schemas.openxmlformats.org/drawingml/2006/main" noGrp="1"/>
          </p:cNvSpPr>
          <p:nvPr/>
        </p:nvSpPr>
        <p:spPr>
          <a:xfrm xmlns:a="http://schemas.openxmlformats.org/drawingml/2006/main">
            <a:off x="1190625" y="483870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975" b="0" i="0">
                <a:solidFill>
                  <a:srgbClr val="111111"/>
                </a:solidFill>
                <a:latin typeface="Arial"/>
                <a:ea typeface="Arial"/>
                <a:cs typeface="Arial"/>
              </a:defRPr>
            </a:pPr>
            <a:r>
              <a:rPr sz="975" b="0" i="0">
                <a:solidFill>
                  <a:srgbClr val="111111"/>
                </a:solidFill>
                <a:latin typeface="Arial"/>
                <a:ea typeface="Arial"/>
                <a:cs typeface="Arial"/>
              </a:rPr>
              <a:t>CLIENT</a:t>
            </a:r>
          </a:p>
        </p:txBody>
      </p:sp>
      <p:pic>
        <p:nvPicPr>
          <p:cNvPr id="55" name="Picture 47"/>
          <p:cNvPicPr>
            <a:picLocks xmlns:a="http://schemas.openxmlformats.org/drawingml/2006/main" noChangeAspect="1"/>
          </p:cNvPicPr>
          <p:nvPr/>
        </p:nvPicPr>
        <p:blipFill>
          <a:blip xmlns:r="http://schemas.openxmlformats.org/officeDocument/2006/relationships" xmlns:a="http://schemas.openxmlformats.org/drawingml/2006/main" r:embed="R781da9717db04367"/>
          <a:stretch xmlns:a="http://schemas.openxmlformats.org/drawingml/2006/main"/>
        </p:blipFill>
        <p:spPr>
          <a:xfrm xmlns:a="http://schemas.openxmlformats.org/drawingml/2006/main">
            <a:off x="409575" y="5133975"/>
            <a:ext cx="466725" cy="466725"/>
          </a:xfrm>
          <a:prstGeom xmlns:a="http://schemas.openxmlformats.org/drawingml/2006/main" prst="rect">
            <a:avLst/>
          </a:prstGeom>
        </p:spPr>
      </p:pic>
      <p:sp>
        <p:nvSpPr>
          <p:cNvPr id="21" name="Straight Connector 20">
            <a:extLst xmlns:a="http://schemas.openxmlformats.org/drawingml/2006/main">
              <a:ext uri="{FF2B5EF4-FFF2-40B4-BE49-F238E27FC236}">
                <a16:creationId xmlns:a16="http://schemas.microsoft.com/office/drawing/2014/main" id="{2C0F680F-8892-4F5E-9A05-8BE56BC3CA23}"/>
              </a:ext>
            </a:extLst>
          </p:cNvPr>
          <p:cNvSpPr>
            <a:spLocks xmlns:a="http://schemas.openxmlformats.org/drawingml/2006/main" noGrp="1"/>
          </p:cNvSpPr>
          <p:nvPr/>
        </p:nvSpPr>
        <p:spPr>
          <a:xfrm xmlns:a="http://schemas.openxmlformats.org/drawingml/2006/main">
            <a:off x="1028700" y="5153025"/>
            <a:ext cx="0" cy="457200"/>
          </a:xfrm>
          <a:prstGeom xmlns:a="http://schemas.openxmlformats.org/drawingml/2006/main" prst="line">
            <a:avLst/>
          </a:prstGeom>
          <a:noFill xmlns:a="http://schemas.openxmlformats.org/drawingml/2006/main"/>
          <a:ln xmlns:a="http://schemas.openxmlformats.org/drawingml/2006/main" w="9525">
            <a:solidFill>
              <a:srgbClr val="7A827E"/>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Rectangle 21">
            <a:extLst xmlns:a="http://schemas.openxmlformats.org/drawingml/2006/main">
              <a:ext uri="{FF2B5EF4-FFF2-40B4-BE49-F238E27FC236}">
                <a16:creationId xmlns:a16="http://schemas.microsoft.com/office/drawing/2014/main" id="{772916E2-4478-4F86-A366-DBB47E53E5DB}"/>
              </a:ext>
            </a:extLst>
          </p:cNvPr>
          <p:cNvSpPr>
            <a:spLocks xmlns:a="http://schemas.openxmlformats.org/drawingml/2006/main" noGrp="1"/>
          </p:cNvSpPr>
          <p:nvPr/>
        </p:nvSpPr>
        <p:spPr>
          <a:xfrm xmlns:a="http://schemas.openxmlformats.org/drawingml/2006/main">
            <a:off x="1190625" y="520065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200" b="1" i="0">
                <a:solidFill>
                  <a:srgbClr val="003B25"/>
                </a:solidFill>
                <a:latin typeface="Arial"/>
                <a:ea typeface="Arial"/>
                <a:cs typeface="Arial"/>
              </a:defRPr>
            </a:pPr>
            <a:r>
              <a:rPr sz="1200" b="1" i="0">
                <a:solidFill>
                  <a:srgbClr val="003B25"/>
                </a:solidFill>
                <a:latin typeface="Arial"/>
                <a:ea typeface="Arial"/>
                <a:cs typeface="Arial"/>
              </a:rPr>
              <a:t>Date</a:t>
            </a:r>
          </a:p>
        </p:txBody>
      </p:sp>
      <p:sp>
        <p:nvSpPr>
          <p:cNvPr id="23" name="editable-date-value">
            <a:extLst xmlns:a="http://schemas.openxmlformats.org/drawingml/2006/main">
              <a:ext uri="{FF2B5EF4-FFF2-40B4-BE49-F238E27FC236}">
                <a16:creationId xmlns:a16="http://schemas.microsoft.com/office/drawing/2014/main" id="{DD2D484A-CE83-4CF9-B570-03AA9C51BC3C}"/>
              </a:ext>
            </a:extLst>
          </p:cNvPr>
          <p:cNvSpPr>
            <a:spLocks xmlns:a="http://schemas.openxmlformats.org/drawingml/2006/main" noGrp="1"/>
          </p:cNvSpPr>
          <p:nvPr/>
        </p:nvSpPr>
        <p:spPr>
          <a:xfrm xmlns:a="http://schemas.openxmlformats.org/drawingml/2006/main">
            <a:off x="1190625" y="5457825"/>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975" b="0" i="0">
                <a:solidFill>
                  <a:srgbClr val="111111"/>
                </a:solidFill>
                <a:latin typeface="Arial"/>
                <a:ea typeface="Arial"/>
                <a:cs typeface="Arial"/>
              </a:defRPr>
            </a:pPr>
            <a:r>
              <a:rPr sz="975" b="0" i="0">
                <a:solidFill>
                  <a:srgbClr val="111111"/>
                </a:solidFill>
                <a:latin typeface="Arial"/>
                <a:ea typeface="Arial"/>
                <a:cs typeface="Arial"/>
              </a:rPr>
              <a:t>May 2025</a:t>
            </a:r>
          </a:p>
        </p:txBody>
      </p:sp>
      <p:pic>
        <p:nvPicPr>
          <p:cNvPr id="59" name="Picture 51"/>
          <p:cNvPicPr>
            <a:picLocks xmlns:a="http://schemas.openxmlformats.org/drawingml/2006/main" noChangeAspect="1"/>
          </p:cNvPicPr>
          <p:nvPr/>
        </p:nvPicPr>
        <p:blipFill>
          <a:blip xmlns:r="http://schemas.openxmlformats.org/officeDocument/2006/relationships" xmlns:a="http://schemas.openxmlformats.org/drawingml/2006/main" r:embed="Rd4e1e25f80c54b10"/>
          <a:stretch xmlns:a="http://schemas.openxmlformats.org/drawingml/2006/main"/>
        </p:blipFill>
        <p:spPr>
          <a:xfrm xmlns:a="http://schemas.openxmlformats.org/drawingml/2006/main">
            <a:off x="409575" y="5753100"/>
            <a:ext cx="466725" cy="466725"/>
          </a:xfrm>
          <a:prstGeom xmlns:a="http://schemas.openxmlformats.org/drawingml/2006/main" prst="rect">
            <a:avLst/>
          </a:prstGeom>
        </p:spPr>
      </p:pic>
      <p:sp>
        <p:nvSpPr>
          <p:cNvPr id="25" name="Straight Connector 24">
            <a:extLst xmlns:a="http://schemas.openxmlformats.org/drawingml/2006/main">
              <a:ext uri="{FF2B5EF4-FFF2-40B4-BE49-F238E27FC236}">
                <a16:creationId xmlns:a16="http://schemas.microsoft.com/office/drawing/2014/main" id="{B3390FB1-CD6B-41FD-9B09-6D5983025783}"/>
              </a:ext>
            </a:extLst>
          </p:cNvPr>
          <p:cNvSpPr>
            <a:spLocks xmlns:a="http://schemas.openxmlformats.org/drawingml/2006/main" noGrp="1"/>
          </p:cNvSpPr>
          <p:nvPr/>
        </p:nvSpPr>
        <p:spPr>
          <a:xfrm xmlns:a="http://schemas.openxmlformats.org/drawingml/2006/main">
            <a:off x="1028700" y="5772150"/>
            <a:ext cx="0" cy="457200"/>
          </a:xfrm>
          <a:prstGeom xmlns:a="http://schemas.openxmlformats.org/drawingml/2006/main" prst="line">
            <a:avLst/>
          </a:prstGeom>
          <a:noFill xmlns:a="http://schemas.openxmlformats.org/drawingml/2006/main"/>
          <a:ln xmlns:a="http://schemas.openxmlformats.org/drawingml/2006/main" w="9525">
            <a:solidFill>
              <a:srgbClr val="7A827E"/>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Rectangle 25">
            <a:extLst xmlns:a="http://schemas.openxmlformats.org/drawingml/2006/main">
              <a:ext uri="{FF2B5EF4-FFF2-40B4-BE49-F238E27FC236}">
                <a16:creationId xmlns:a16="http://schemas.microsoft.com/office/drawing/2014/main" id="{5530C77E-C4B2-416C-9770-1B40B5930109}"/>
              </a:ext>
            </a:extLst>
          </p:cNvPr>
          <p:cNvSpPr>
            <a:spLocks xmlns:a="http://schemas.openxmlformats.org/drawingml/2006/main" noGrp="1"/>
          </p:cNvSpPr>
          <p:nvPr/>
        </p:nvSpPr>
        <p:spPr>
          <a:xfrm xmlns:a="http://schemas.openxmlformats.org/drawingml/2006/main">
            <a:off x="1190625" y="5819775"/>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200" b="1" i="0">
                <a:solidFill>
                  <a:srgbClr val="003B25"/>
                </a:solidFill>
                <a:latin typeface="Arial"/>
                <a:ea typeface="Arial"/>
                <a:cs typeface="Arial"/>
              </a:defRPr>
            </a:pPr>
            <a:r>
              <a:rPr sz="1200" b="1" i="0">
                <a:solidFill>
                  <a:srgbClr val="003B25"/>
                </a:solidFill>
                <a:latin typeface="Arial"/>
                <a:ea typeface="Arial"/>
                <a:cs typeface="Arial"/>
              </a:rPr>
              <a:t>Prepared By</a:t>
            </a:r>
          </a:p>
        </p:txBody>
      </p:sp>
      <p:sp>
        <p:nvSpPr>
          <p:cNvPr id="27" name="Rectangle 26">
            <a:extLst xmlns:a="http://schemas.openxmlformats.org/drawingml/2006/main">
              <a:ext uri="{FF2B5EF4-FFF2-40B4-BE49-F238E27FC236}">
                <a16:creationId xmlns:a16="http://schemas.microsoft.com/office/drawing/2014/main" id="{6AA52625-B2E2-4958-9002-F06DCF489D85}"/>
              </a:ext>
            </a:extLst>
          </p:cNvPr>
          <p:cNvSpPr>
            <a:spLocks xmlns:a="http://schemas.openxmlformats.org/drawingml/2006/main" noGrp="1"/>
          </p:cNvSpPr>
          <p:nvPr/>
        </p:nvSpPr>
        <p:spPr>
          <a:xfrm xmlns:a="http://schemas.openxmlformats.org/drawingml/2006/main">
            <a:off x="1190625" y="607695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975" b="0" i="0">
                <a:solidFill>
                  <a:srgbClr val="111111"/>
                </a:solidFill>
                <a:latin typeface="Arial"/>
                <a:ea typeface="Arial"/>
                <a:cs typeface="Arial"/>
              </a:defRPr>
            </a:pPr>
            <a:r>
              <a:rPr sz="975" b="0" i="0">
                <a:solidFill>
                  <a:srgbClr val="111111"/>
                </a:solidFill>
                <a:latin typeface="Arial"/>
                <a:ea typeface="Arial"/>
                <a:cs typeface="Arial"/>
              </a:rPr>
              <a:t>Oracle Cloud VMware Specialist</a:t>
            </a:r>
          </a:p>
        </p:txBody>
      </p:sp>
      <p:pic>
        <p:nvPicPr>
          <p:cNvPr id="63" name="Picture 55"/>
          <p:cNvPicPr>
            <a:picLocks xmlns:a="http://schemas.openxmlformats.org/drawingml/2006/main" noChangeAspect="1"/>
          </p:cNvPicPr>
          <p:nvPr/>
        </p:nvPicPr>
        <p:blipFill>
          <a:blip xmlns:r="http://schemas.openxmlformats.org/officeDocument/2006/relationships" xmlns:a="http://schemas.openxmlformats.org/drawingml/2006/main" r:embed="Rd939d3b1074d4d51"/>
          <a:stretch xmlns:a="http://schemas.openxmlformats.org/drawingml/2006/main"/>
        </p:blipFill>
        <p:spPr>
          <a:xfrm xmlns:a="http://schemas.openxmlformats.org/drawingml/2006/main">
            <a:off x="11401979" y="6457950"/>
            <a:ext cx="446567" cy="400050"/>
          </a:xfrm>
          <a:prstGeom xmlns:a="http://schemas.openxmlformats.org/drawingml/2006/main" prst="rect">
            <a:avLst/>
          </a:prstGeom>
        </p:spPr>
      </p:pic>
    </p:spTree>
    <p:extLst>
      <p:ext uri="{BB962C8B-B14F-4D97-AF65-F5344CB8AC3E}">
        <p14:creationId xmlns:p14="http://schemas.microsoft.com/office/powerpoint/2010/main" val="1245070656"/>
      </p:ext>
    </p:extLst>
  </p:cSld>
</p:sld>
</file>

<file path=ppt/slides/slide2.xml><?xml version="1.0" encoding="utf-8"?>
<p:sld xmlns:p="http://schemas.openxmlformats.org/presentationml/2006/main">
  <p:cSld>
    <p:bg>
      <p:bgPr>
        <a:solidFill xmlns:a="http://schemas.openxmlformats.org/drawingml/2006/main">
          <a:srgbClr val="FCFBF9"/>
        </a:solidFill>
      </p:bgPr>
    </p:bg>
    <p:spTree>
      <p:nvGrpSpPr>
        <p:cNvPr id="1" name=""/>
        <p:cNvGrpSpPr/>
        <p:nvPr/>
      </p:nvGrpSpPr>
      <p:grpSpPr>
        <a:xfrm xmlns:a="http://schemas.openxmlformats.org/drawingml/2006/main"/>
      </p:grpSpPr>
      <p:sp>
        <p:nvSpPr>
          <p:cNvPr id="113" name="Oval 112">
            <a:extLst xmlns:a="http://schemas.openxmlformats.org/drawingml/2006/main">
              <a:ext uri="{FF2B5EF4-FFF2-40B4-BE49-F238E27FC236}">
                <a16:creationId xmlns:a16="http://schemas.microsoft.com/office/drawing/2014/main" id="{4312A446-4D80-4FBE-8949-A6BF6F7B6E5B}"/>
              </a:ext>
            </a:extLst>
          </p:cNvPr>
          <p:cNvSpPr>
            <a:spLocks xmlns:a="http://schemas.openxmlformats.org/drawingml/2006/main" noGrp="1"/>
          </p:cNvSpPr>
          <p:nvPr/>
        </p:nvSpPr>
        <p:spPr>
          <a:xfrm xmlns:a="http://schemas.openxmlformats.org/drawingml/2006/main">
            <a:off x="10725150" y="847725"/>
            <a:ext cx="28575" cy="28575"/>
          </a:xfrm>
          <a:prstGeom xmlns:a="http://schemas.openxmlformats.org/drawingml/2006/main" prst="ellipse">
            <a:avLst/>
          </a:prstGeom>
          <a:solidFill xmlns:a="http://schemas.openxmlformats.org/drawingml/2006/main">
            <a:srgbClr val="E7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Oval 1">
            <a:extLst xmlns:a="http://schemas.openxmlformats.org/drawingml/2006/main">
              <a:ext uri="{FF2B5EF4-FFF2-40B4-BE49-F238E27FC236}">
                <a16:creationId xmlns:a16="http://schemas.microsoft.com/office/drawing/2014/main" id="{CF9255A7-9156-4B62-84A0-5E1A413D14DE}"/>
              </a:ext>
            </a:extLst>
          </p:cNvPr>
          <p:cNvSpPr>
            <a:spLocks xmlns:a="http://schemas.openxmlformats.org/drawingml/2006/main" noGrp="1"/>
          </p:cNvSpPr>
          <p:nvPr/>
        </p:nvSpPr>
        <p:spPr>
          <a:xfrm xmlns:a="http://schemas.openxmlformats.org/drawingml/2006/main">
            <a:off x="11049000" y="1123950"/>
            <a:ext cx="38100" cy="38100"/>
          </a:xfrm>
          <a:prstGeom xmlns:a="http://schemas.openxmlformats.org/drawingml/2006/main" prst="ellipse">
            <a:avLst/>
          </a:prstGeom>
          <a:solidFill xmlns:a="http://schemas.openxmlformats.org/drawingml/2006/main">
            <a:srgbClr val="E7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3" name="Oval 2">
            <a:extLst xmlns:a="http://schemas.openxmlformats.org/drawingml/2006/main">
              <a:ext uri="{FF2B5EF4-FFF2-40B4-BE49-F238E27FC236}">
                <a16:creationId xmlns:a16="http://schemas.microsoft.com/office/drawing/2014/main" id="{1AFFEA11-B2B1-4536-85DE-D7C62C5F4D93}"/>
              </a:ext>
            </a:extLst>
          </p:cNvPr>
          <p:cNvSpPr>
            <a:spLocks xmlns:a="http://schemas.openxmlformats.org/drawingml/2006/main" noGrp="1"/>
          </p:cNvSpPr>
          <p:nvPr/>
        </p:nvSpPr>
        <p:spPr>
          <a:xfrm xmlns:a="http://schemas.openxmlformats.org/drawingml/2006/main">
            <a:off x="11372850" y="1590675"/>
            <a:ext cx="28575" cy="28575"/>
          </a:xfrm>
          <a:prstGeom xmlns:a="http://schemas.openxmlformats.org/drawingml/2006/main" prst="ellipse">
            <a:avLst/>
          </a:prstGeom>
          <a:solidFill xmlns:a="http://schemas.openxmlformats.org/drawingml/2006/main">
            <a:srgbClr val="E7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4" name="Oval 3">
            <a:extLst xmlns:a="http://schemas.openxmlformats.org/drawingml/2006/main">
              <a:ext uri="{FF2B5EF4-FFF2-40B4-BE49-F238E27FC236}">
                <a16:creationId xmlns:a16="http://schemas.microsoft.com/office/drawing/2014/main" id="{8D2619A9-4420-4682-A5FD-F17DBEC04854}"/>
              </a:ext>
            </a:extLst>
          </p:cNvPr>
          <p:cNvSpPr>
            <a:spLocks xmlns:a="http://schemas.openxmlformats.org/drawingml/2006/main" noGrp="1"/>
          </p:cNvSpPr>
          <p:nvPr/>
        </p:nvSpPr>
        <p:spPr>
          <a:xfrm xmlns:a="http://schemas.openxmlformats.org/drawingml/2006/main">
            <a:off x="11782425" y="5162550"/>
            <a:ext cx="28575" cy="28575"/>
          </a:xfrm>
          <a:prstGeom xmlns:a="http://schemas.openxmlformats.org/drawingml/2006/main" prst="ellipse">
            <a:avLst/>
          </a:prstGeom>
          <a:solidFill xmlns:a="http://schemas.openxmlformats.org/drawingml/2006/main">
            <a:srgbClr val="E7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 name="Oval 4">
            <a:extLst xmlns:a="http://schemas.openxmlformats.org/drawingml/2006/main">
              <a:ext uri="{FF2B5EF4-FFF2-40B4-BE49-F238E27FC236}">
                <a16:creationId xmlns:a16="http://schemas.microsoft.com/office/drawing/2014/main" id="{8A617DEA-CB83-476C-8D66-2962BAD6B68A}"/>
              </a:ext>
            </a:extLst>
          </p:cNvPr>
          <p:cNvSpPr>
            <a:spLocks xmlns:a="http://schemas.openxmlformats.org/drawingml/2006/main" noGrp="1"/>
          </p:cNvSpPr>
          <p:nvPr/>
        </p:nvSpPr>
        <p:spPr>
          <a:xfrm xmlns:a="http://schemas.openxmlformats.org/drawingml/2006/main">
            <a:off x="8867775" y="542925"/>
            <a:ext cx="38100" cy="38100"/>
          </a:xfrm>
          <a:prstGeom xmlns:a="http://schemas.openxmlformats.org/drawingml/2006/main" prst="ellipse">
            <a:avLst/>
          </a:prstGeom>
          <a:solidFill xmlns:a="http://schemas.openxmlformats.org/drawingml/2006/main">
            <a:srgbClr val="E7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6" name="Oval 5">
            <a:extLst xmlns:a="http://schemas.openxmlformats.org/drawingml/2006/main">
              <a:ext uri="{FF2B5EF4-FFF2-40B4-BE49-F238E27FC236}">
                <a16:creationId xmlns:a16="http://schemas.microsoft.com/office/drawing/2014/main" id="{ADE2353B-F3E6-4C49-AB10-90CF7D2FCA33}"/>
              </a:ext>
            </a:extLst>
          </p:cNvPr>
          <p:cNvSpPr>
            <a:spLocks xmlns:a="http://schemas.openxmlformats.org/drawingml/2006/main" noGrp="1"/>
          </p:cNvSpPr>
          <p:nvPr/>
        </p:nvSpPr>
        <p:spPr>
          <a:xfrm xmlns:a="http://schemas.openxmlformats.org/drawingml/2006/main">
            <a:off x="5562600" y="600075"/>
            <a:ext cx="28575" cy="28575"/>
          </a:xfrm>
          <a:prstGeom xmlns:a="http://schemas.openxmlformats.org/drawingml/2006/main" prst="ellipse">
            <a:avLst/>
          </a:prstGeom>
          <a:solidFill xmlns:a="http://schemas.openxmlformats.org/drawingml/2006/main">
            <a:srgbClr val="E7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7" name="Oval 6">
            <a:extLst xmlns:a="http://schemas.openxmlformats.org/drawingml/2006/main">
              <a:ext uri="{FF2B5EF4-FFF2-40B4-BE49-F238E27FC236}">
                <a16:creationId xmlns:a16="http://schemas.microsoft.com/office/drawing/2014/main" id="{89877804-3293-4682-A803-CCCEC19D8272}"/>
              </a:ext>
            </a:extLst>
          </p:cNvPr>
          <p:cNvSpPr>
            <a:spLocks xmlns:a="http://schemas.openxmlformats.org/drawingml/2006/main" noGrp="1"/>
          </p:cNvSpPr>
          <p:nvPr/>
        </p:nvSpPr>
        <p:spPr>
          <a:xfrm xmlns:a="http://schemas.openxmlformats.org/drawingml/2006/main">
            <a:off x="10839450" y="5572125"/>
            <a:ext cx="1428750" cy="1219200"/>
          </a:xfrm>
          <a:prstGeom xmlns:a="http://schemas.openxmlformats.org/drawingml/2006/main" prst="ellipse">
            <a:avLst/>
          </a:prstGeom>
          <a:noFill xmlns:a="http://schemas.openxmlformats.org/drawingml/2006/main"/>
          <a:ln xmlns:a="http://schemas.openxmlformats.org/drawingml/2006/main" w="7620">
            <a:solidFill>
              <a:srgbClr val="E2E8E4"/>
            </a:solidFill>
            <a:prstDash val="dot"/>
          </a:ln>
        </p:spPr>
        <p:txBody>
          <a:bodyPr xmlns:a="http://schemas.openxmlformats.org/drawingml/2006/main"/>
          <a:lstStyle xmlns:a="http://schemas.openxmlformats.org/drawingml/2006/main"/>
          <a:p xmlns:a="http://schemas.openxmlformats.org/drawingml/2006/main">
            <a:endParaRPr/>
          </a:p>
        </p:txBody>
      </p:sp>
      <p:sp>
        <p:nvSpPr>
          <p:cNvPr id="8" name="Oval 7">
            <a:extLst xmlns:a="http://schemas.openxmlformats.org/drawingml/2006/main">
              <a:ext uri="{FF2B5EF4-FFF2-40B4-BE49-F238E27FC236}">
                <a16:creationId xmlns:a16="http://schemas.microsoft.com/office/drawing/2014/main" id="{F1613DEF-A5BA-4220-9BC5-4A70A4CC7444}"/>
              </a:ext>
            </a:extLst>
          </p:cNvPr>
          <p:cNvSpPr>
            <a:spLocks xmlns:a="http://schemas.openxmlformats.org/drawingml/2006/main" noGrp="1"/>
          </p:cNvSpPr>
          <p:nvPr/>
        </p:nvSpPr>
        <p:spPr>
          <a:xfrm xmlns:a="http://schemas.openxmlformats.org/drawingml/2006/main">
            <a:off x="0" y="3733800"/>
            <a:ext cx="1381125" cy="1638300"/>
          </a:xfrm>
          <a:prstGeom xmlns:a="http://schemas.openxmlformats.org/drawingml/2006/main" prst="ellipse">
            <a:avLst/>
          </a:prstGeom>
          <a:solidFill xmlns:a="http://schemas.openxmlformats.org/drawingml/2006/main">
            <a:srgbClr val="F7FAF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9" name="Rectangle 8">
            <a:extLst xmlns:a="http://schemas.openxmlformats.org/drawingml/2006/main">
              <a:ext uri="{FF2B5EF4-FFF2-40B4-BE49-F238E27FC236}">
                <a16:creationId xmlns:a16="http://schemas.microsoft.com/office/drawing/2014/main" id="{315570F9-1FDB-4BD3-8966-0644BF1E82B4}"/>
              </a:ext>
            </a:extLst>
          </p:cNvPr>
          <p:cNvSpPr>
            <a:spLocks xmlns:a="http://schemas.openxmlformats.org/drawingml/2006/main" noGrp="1"/>
          </p:cNvSpPr>
          <p:nvPr/>
        </p:nvSpPr>
        <p:spPr>
          <a:xfrm xmlns:a="http://schemas.openxmlformats.org/drawingml/2006/main">
            <a:off x="333375" y="428625"/>
            <a:ext cx="8572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2850" b="1" i="0">
                <a:solidFill>
                  <a:srgbClr val="111111"/>
                </a:solidFill>
                <a:latin typeface="Arial"/>
                <a:ea typeface="Arial"/>
                <a:cs typeface="Arial"/>
              </a:defRPr>
            </a:pPr>
            <a:r>
              <a:rPr sz="2850" b="1" i="0">
                <a:solidFill>
                  <a:srgbClr val="111111"/>
                </a:solidFill>
                <a:latin typeface="Arial"/>
                <a:ea typeface="Arial"/>
                <a:cs typeface="Arial"/>
              </a:rPr>
              <a:t>Capacity Expansion with Oracle Cloud VMware Solution</a:t>
            </a:r>
          </a:p>
        </p:txBody>
      </p:sp>
      <p:sp>
        <p:nvSpPr>
          <p:cNvPr id="10" name="Rectangle 9">
            <a:extLst xmlns:a="http://schemas.openxmlformats.org/drawingml/2006/main">
              <a:ext uri="{FF2B5EF4-FFF2-40B4-BE49-F238E27FC236}">
                <a16:creationId xmlns:a16="http://schemas.microsoft.com/office/drawing/2014/main" id="{C621306E-B327-4108-B613-64C35D76A26F}"/>
              </a:ext>
            </a:extLst>
          </p:cNvPr>
          <p:cNvSpPr>
            <a:spLocks xmlns:a="http://schemas.openxmlformats.org/drawingml/2006/main" noGrp="1"/>
          </p:cNvSpPr>
          <p:nvPr/>
        </p:nvSpPr>
        <p:spPr>
          <a:xfrm xmlns:a="http://schemas.openxmlformats.org/drawingml/2006/main">
            <a:off x="333375" y="971550"/>
            <a:ext cx="485775" cy="47625"/>
          </a:xfrm>
          <a:prstGeom xmlns:a="http://schemas.openxmlformats.org/drawingml/2006/main" prst="rect">
            <a:avLst/>
          </a:prstGeom>
          <a:solidFill xmlns:a="http://schemas.openxmlformats.org/drawingml/2006/main">
            <a:srgbClr val="E6000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1" name="Rectangle 10">
            <a:extLst xmlns:a="http://schemas.openxmlformats.org/drawingml/2006/main">
              <a:ext uri="{FF2B5EF4-FFF2-40B4-BE49-F238E27FC236}">
                <a16:creationId xmlns:a16="http://schemas.microsoft.com/office/drawing/2014/main" id="{07DF412A-6197-4873-88F8-92ED023BE529}"/>
              </a:ext>
            </a:extLst>
          </p:cNvPr>
          <p:cNvSpPr>
            <a:spLocks xmlns:a="http://schemas.openxmlformats.org/drawingml/2006/main" noGrp="1"/>
          </p:cNvSpPr>
          <p:nvPr/>
        </p:nvSpPr>
        <p:spPr>
          <a:xfrm xmlns:a="http://schemas.openxmlformats.org/drawingml/2006/main">
            <a:off x="333375" y="1152525"/>
            <a:ext cx="6667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350" b="1" i="0">
                <a:solidFill>
                  <a:srgbClr val="6B6B6B"/>
                </a:solidFill>
                <a:latin typeface="Arial"/>
                <a:ea typeface="Arial"/>
                <a:cs typeface="Arial"/>
              </a:defRPr>
            </a:pPr>
            <a:r>
              <a:rPr sz="1350" b="1" i="0">
                <a:solidFill>
                  <a:srgbClr val="6B6B6B"/>
                </a:solidFill>
                <a:latin typeface="Arial"/>
                <a:ea typeface="Arial"/>
                <a:cs typeface="Arial"/>
              </a:rPr>
              <a:t>Extend VMware capacity on demand while maintaining operational consistency.</a:t>
            </a:r>
          </a:p>
        </p:txBody>
      </p:sp>
      <p:pic>
        <p:nvPicPr>
          <p:cNvPr id="155" name="Picture 123"/>
          <p:cNvPicPr>
            <a:picLocks xmlns:a="http://schemas.openxmlformats.org/drawingml/2006/main" noChangeAspect="1"/>
          </p:cNvPicPr>
          <p:nvPr/>
        </p:nvPicPr>
        <p:blipFill>
          <a:blip xmlns:r="http://schemas.openxmlformats.org/officeDocument/2006/relationships" xmlns:a="http://schemas.openxmlformats.org/drawingml/2006/main" r:embed="Ra91b96133b144f73"/>
          <a:stretch xmlns:a="http://schemas.openxmlformats.org/drawingml/2006/main"/>
        </p:blipFill>
        <p:spPr>
          <a:xfrm xmlns:a="http://schemas.openxmlformats.org/drawingml/2006/main">
            <a:off x="9477375" y="221673"/>
            <a:ext cx="2476500" cy="337705"/>
          </a:xfrm>
          <a:prstGeom xmlns:a="http://schemas.openxmlformats.org/drawingml/2006/main" prst="rect">
            <a:avLst/>
          </a:prstGeom>
        </p:spPr>
      </p:pic>
      <p:sp>
        <p:nvSpPr>
          <p:cNvPr id="13" name="Rounded Rectangle 12">
            <a:extLst xmlns:a="http://schemas.openxmlformats.org/drawingml/2006/main">
              <a:ext uri="{FF2B5EF4-FFF2-40B4-BE49-F238E27FC236}">
                <a16:creationId xmlns:a16="http://schemas.microsoft.com/office/drawing/2014/main" id="{96CBE9DE-B639-4BCC-93A2-F345FBE97B9B}"/>
              </a:ext>
            </a:extLst>
          </p:cNvPr>
          <p:cNvSpPr>
            <a:spLocks xmlns:a="http://schemas.openxmlformats.org/drawingml/2006/main" noGrp="1"/>
          </p:cNvSpPr>
          <p:nvPr/>
        </p:nvSpPr>
        <p:spPr>
          <a:xfrm xmlns:a="http://schemas.openxmlformats.org/drawingml/2006/main">
            <a:off x="323850" y="1485900"/>
            <a:ext cx="9496425" cy="657225"/>
          </a:xfrm>
          <a:prstGeom xmlns:a="http://schemas.openxmlformats.org/drawingml/2006/main" prst="roundRect">
            <a:avLst>
              <a:gd name="adj" fmla="val 10145"/>
            </a:avLst>
          </a:prstGeom>
          <a:solidFill xmlns:a="http://schemas.openxmlformats.org/drawingml/2006/main">
            <a:srgbClr val="FFFFFF"/>
          </a:solidFill>
          <a:ln xmlns:a="http://schemas.openxmlformats.org/drawingml/2006/main" w="9525">
            <a:solidFill>
              <a:srgbClr val="D3DAD6"/>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pic>
        <p:nvPicPr>
          <p:cNvPr id="157" name="Picture 125"/>
          <p:cNvPicPr>
            <a:picLocks xmlns:a="http://schemas.openxmlformats.org/drawingml/2006/main" noChangeAspect="1"/>
          </p:cNvPicPr>
          <p:nvPr/>
        </p:nvPicPr>
        <p:blipFill>
          <a:blip xmlns:r="http://schemas.openxmlformats.org/officeDocument/2006/relationships" xmlns:a="http://schemas.openxmlformats.org/drawingml/2006/main" r:embed="R92283992dffd4bb3"/>
          <a:stretch xmlns:a="http://schemas.openxmlformats.org/drawingml/2006/main"/>
        </p:blipFill>
        <p:spPr>
          <a:xfrm xmlns:a="http://schemas.openxmlformats.org/drawingml/2006/main">
            <a:off x="495300" y="1600200"/>
            <a:ext cx="419100" cy="419100"/>
          </a:xfrm>
          <a:prstGeom xmlns:a="http://schemas.openxmlformats.org/drawingml/2006/main" prst="rect">
            <a:avLst/>
          </a:prstGeom>
        </p:spPr>
      </p:pic>
      <p:sp>
        <p:nvSpPr>
          <p:cNvPr id="15" name="Rectangle 14">
            <a:extLst xmlns:a="http://schemas.openxmlformats.org/drawingml/2006/main">
              <a:ext uri="{FF2B5EF4-FFF2-40B4-BE49-F238E27FC236}">
                <a16:creationId xmlns:a16="http://schemas.microsoft.com/office/drawing/2014/main" id="{4924D998-C7EF-4132-9BF1-690AC1DB13FF}"/>
              </a:ext>
            </a:extLst>
          </p:cNvPr>
          <p:cNvSpPr>
            <a:spLocks xmlns:a="http://schemas.openxmlformats.org/drawingml/2006/main" noGrp="1"/>
          </p:cNvSpPr>
          <p:nvPr/>
        </p:nvSpPr>
        <p:spPr>
          <a:xfrm xmlns:a="http://schemas.openxmlformats.org/drawingml/2006/main">
            <a:off x="1028700" y="169545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05000"/>
              </a:lnSpc>
              <a:buNone/>
              <a:defRPr sz="788" b="1" i="0">
                <a:solidFill>
                  <a:srgbClr val="111111"/>
                </a:solidFill>
                <a:latin typeface="Arial"/>
                <a:ea typeface="Arial"/>
                <a:cs typeface="Arial"/>
              </a:defRPr>
            </a:pPr>
            <a:r>
              <a:rPr sz="788" b="1" i="0">
                <a:solidFill>
                  <a:srgbClr val="111111"/>
                </a:solidFill>
                <a:latin typeface="Arial"/>
                <a:ea typeface="Arial"/>
                <a:cs typeface="Arial"/>
              </a:rPr>
              <a:t>Business continuity for</a:t>
            </a:r>
          </a:p>
          <a:p xmlns:a="http://schemas.openxmlformats.org/drawingml/2006/main">
            <a:pPr algn="l">
              <a:lnSpc>
                <a:spcPct val="105000"/>
              </a:lnSpc>
              <a:buNone/>
              <a:defRPr sz="788" b="1" i="0">
                <a:solidFill>
                  <a:srgbClr val="111111"/>
                </a:solidFill>
                <a:latin typeface="Arial"/>
                <a:ea typeface="Arial"/>
                <a:cs typeface="Arial"/>
              </a:defRPr>
            </a:pPr>
            <a:r>
              <a:rPr sz="788" b="1" i="0">
                <a:solidFill>
                  <a:srgbClr val="111111"/>
                </a:solidFill>
                <a:latin typeface="Arial"/>
                <a:ea typeface="Arial"/>
                <a:cs typeface="Arial"/>
              </a:rPr>
              <a:t>mission-critical applications</a:t>
            </a:r>
          </a:p>
        </p:txBody>
      </p:sp>
      <p:pic>
        <p:nvPicPr>
          <p:cNvPr id="159" name="Picture 127"/>
          <p:cNvPicPr>
            <a:picLocks xmlns:a="http://schemas.openxmlformats.org/drawingml/2006/main" noChangeAspect="1"/>
          </p:cNvPicPr>
          <p:nvPr/>
        </p:nvPicPr>
        <p:blipFill>
          <a:blip xmlns:r="http://schemas.openxmlformats.org/officeDocument/2006/relationships" xmlns:a="http://schemas.openxmlformats.org/drawingml/2006/main" r:embed="R8a5e77d654f649fd"/>
          <a:stretch xmlns:a="http://schemas.openxmlformats.org/drawingml/2006/main"/>
        </p:blipFill>
        <p:spPr>
          <a:xfrm xmlns:a="http://schemas.openxmlformats.org/drawingml/2006/main">
            <a:off x="2975830" y="1600200"/>
            <a:ext cx="411040" cy="419100"/>
          </a:xfrm>
          <a:prstGeom xmlns:a="http://schemas.openxmlformats.org/drawingml/2006/main" prst="rect">
            <a:avLst/>
          </a:prstGeom>
        </p:spPr>
      </p:pic>
      <p:sp>
        <p:nvSpPr>
          <p:cNvPr id="17" name="Rectangle 16">
            <a:extLst xmlns:a="http://schemas.openxmlformats.org/drawingml/2006/main">
              <a:ext uri="{FF2B5EF4-FFF2-40B4-BE49-F238E27FC236}">
                <a16:creationId xmlns:a16="http://schemas.microsoft.com/office/drawing/2014/main" id="{65EB64D5-974B-4DB8-99A9-B9D87FD72CEF}"/>
              </a:ext>
            </a:extLst>
          </p:cNvPr>
          <p:cNvSpPr>
            <a:spLocks xmlns:a="http://schemas.openxmlformats.org/drawingml/2006/main" noGrp="1"/>
          </p:cNvSpPr>
          <p:nvPr/>
        </p:nvSpPr>
        <p:spPr>
          <a:xfrm xmlns:a="http://schemas.openxmlformats.org/drawingml/2006/main">
            <a:off x="3486150" y="169545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05000"/>
              </a:lnSpc>
              <a:buNone/>
              <a:defRPr sz="788" b="1" i="0">
                <a:solidFill>
                  <a:srgbClr val="111111"/>
                </a:solidFill>
                <a:latin typeface="Arial"/>
                <a:ea typeface="Arial"/>
                <a:cs typeface="Arial"/>
              </a:defRPr>
            </a:pPr>
            <a:r>
              <a:rPr sz="788" b="1" i="0">
                <a:solidFill>
                  <a:srgbClr val="111111"/>
                </a:solidFill>
                <a:latin typeface="Arial"/>
                <a:ea typeface="Arial"/>
                <a:cs typeface="Arial"/>
              </a:rPr>
              <a:t>Maintain systems without</a:t>
            </a:r>
          </a:p>
          <a:p xmlns:a="http://schemas.openxmlformats.org/drawingml/2006/main">
            <a:pPr algn="l">
              <a:lnSpc>
                <a:spcPct val="105000"/>
              </a:lnSpc>
              <a:buNone/>
              <a:defRPr sz="788" b="1" i="0">
                <a:solidFill>
                  <a:srgbClr val="111111"/>
                </a:solidFill>
                <a:latin typeface="Arial"/>
                <a:ea typeface="Arial"/>
                <a:cs typeface="Arial"/>
              </a:defRPr>
            </a:pPr>
            <a:r>
              <a:rPr sz="788" b="1" i="0">
                <a:solidFill>
                  <a:srgbClr val="111111"/>
                </a:solidFill>
                <a:latin typeface="Arial"/>
                <a:ea typeface="Arial"/>
                <a:cs typeface="Arial"/>
              </a:rPr>
              <a:t>service disruption</a:t>
            </a:r>
          </a:p>
        </p:txBody>
      </p:sp>
      <p:pic>
        <p:nvPicPr>
          <p:cNvPr id="161" name="Picture 129"/>
          <p:cNvPicPr>
            <a:picLocks xmlns:a="http://schemas.openxmlformats.org/drawingml/2006/main" noChangeAspect="1"/>
          </p:cNvPicPr>
          <p:nvPr/>
        </p:nvPicPr>
        <p:blipFill>
          <a:blip xmlns:r="http://schemas.openxmlformats.org/officeDocument/2006/relationships" xmlns:a="http://schemas.openxmlformats.org/drawingml/2006/main" r:embed="Rf219af381f9144d1"/>
          <a:stretch xmlns:a="http://schemas.openxmlformats.org/drawingml/2006/main"/>
        </p:blipFill>
        <p:spPr>
          <a:xfrm xmlns:a="http://schemas.openxmlformats.org/drawingml/2006/main">
            <a:off x="5391150" y="1604154"/>
            <a:ext cx="419100" cy="411192"/>
          </a:xfrm>
          <a:prstGeom xmlns:a="http://schemas.openxmlformats.org/drawingml/2006/main" prst="rect">
            <a:avLst/>
          </a:prstGeom>
        </p:spPr>
      </p:pic>
      <p:sp>
        <p:nvSpPr>
          <p:cNvPr id="19" name="Rectangle 18">
            <a:extLst xmlns:a="http://schemas.openxmlformats.org/drawingml/2006/main">
              <a:ext uri="{FF2B5EF4-FFF2-40B4-BE49-F238E27FC236}">
                <a16:creationId xmlns:a16="http://schemas.microsoft.com/office/drawing/2014/main" id="{3CA027F7-407B-4856-A9AB-29E5858D940A}"/>
              </a:ext>
            </a:extLst>
          </p:cNvPr>
          <p:cNvSpPr>
            <a:spLocks xmlns:a="http://schemas.openxmlformats.org/drawingml/2006/main" noGrp="1"/>
          </p:cNvSpPr>
          <p:nvPr/>
        </p:nvSpPr>
        <p:spPr>
          <a:xfrm xmlns:a="http://schemas.openxmlformats.org/drawingml/2006/main">
            <a:off x="5905500" y="169545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05000"/>
              </a:lnSpc>
              <a:buNone/>
              <a:defRPr sz="788" b="1" i="0">
                <a:solidFill>
                  <a:srgbClr val="111111"/>
                </a:solidFill>
                <a:latin typeface="Arial"/>
                <a:ea typeface="Arial"/>
                <a:cs typeface="Arial"/>
              </a:defRPr>
            </a:pPr>
            <a:r>
              <a:rPr sz="788" b="1" i="0">
                <a:solidFill>
                  <a:srgbClr val="111111"/>
                </a:solidFill>
                <a:latin typeface="Arial"/>
                <a:ea typeface="Arial"/>
                <a:cs typeface="Arial"/>
              </a:rPr>
              <a:t>Ensure recovery from</a:t>
            </a:r>
          </a:p>
          <a:p xmlns:a="http://schemas.openxmlformats.org/drawingml/2006/main">
            <a:pPr algn="l">
              <a:lnSpc>
                <a:spcPct val="105000"/>
              </a:lnSpc>
              <a:buNone/>
              <a:defRPr sz="788" b="1" i="0">
                <a:solidFill>
                  <a:srgbClr val="111111"/>
                </a:solidFill>
                <a:latin typeface="Arial"/>
                <a:ea typeface="Arial"/>
                <a:cs typeface="Arial"/>
              </a:defRPr>
            </a:pPr>
            <a:r>
              <a:rPr sz="788" b="1" i="0">
                <a:solidFill>
                  <a:srgbClr val="111111"/>
                </a:solidFill>
                <a:latin typeface="Arial"/>
                <a:ea typeface="Arial"/>
                <a:cs typeface="Arial"/>
              </a:rPr>
              <a:t>data corruption &amp; cyberattacks</a:t>
            </a:r>
          </a:p>
        </p:txBody>
      </p:sp>
      <p:pic>
        <p:nvPicPr>
          <p:cNvPr id="163" name="Picture 131"/>
          <p:cNvPicPr>
            <a:picLocks xmlns:a="http://schemas.openxmlformats.org/drawingml/2006/main" noChangeAspect="1"/>
          </p:cNvPicPr>
          <p:nvPr/>
        </p:nvPicPr>
        <p:blipFill>
          <a:blip xmlns:r="http://schemas.openxmlformats.org/officeDocument/2006/relationships" xmlns:a="http://schemas.openxmlformats.org/drawingml/2006/main" r:embed="Rcb5611ba635b4987"/>
          <a:stretch xmlns:a="http://schemas.openxmlformats.org/drawingml/2006/main"/>
        </p:blipFill>
        <p:spPr>
          <a:xfrm xmlns:a="http://schemas.openxmlformats.org/drawingml/2006/main">
            <a:off x="7924800" y="1604081"/>
            <a:ext cx="419100" cy="411339"/>
          </a:xfrm>
          <a:prstGeom xmlns:a="http://schemas.openxmlformats.org/drawingml/2006/main" prst="rect">
            <a:avLst/>
          </a:prstGeom>
        </p:spPr>
      </p:pic>
      <p:sp>
        <p:nvSpPr>
          <p:cNvPr id="21" name="Rectangle 20">
            <a:extLst xmlns:a="http://schemas.openxmlformats.org/drawingml/2006/main">
              <a:ext uri="{FF2B5EF4-FFF2-40B4-BE49-F238E27FC236}">
                <a16:creationId xmlns:a16="http://schemas.microsoft.com/office/drawing/2014/main" id="{5BE8293C-2C7E-4CFB-AA73-4FB0F6A5192B}"/>
              </a:ext>
            </a:extLst>
          </p:cNvPr>
          <p:cNvSpPr>
            <a:spLocks xmlns:a="http://schemas.openxmlformats.org/drawingml/2006/main" noGrp="1"/>
          </p:cNvSpPr>
          <p:nvPr/>
        </p:nvSpPr>
        <p:spPr>
          <a:xfrm xmlns:a="http://schemas.openxmlformats.org/drawingml/2006/main">
            <a:off x="8448675" y="169545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05000"/>
              </a:lnSpc>
              <a:buNone/>
              <a:defRPr sz="788" b="1" i="0">
                <a:solidFill>
                  <a:srgbClr val="111111"/>
                </a:solidFill>
                <a:latin typeface="Arial"/>
                <a:ea typeface="Arial"/>
                <a:cs typeface="Arial"/>
              </a:defRPr>
            </a:pPr>
            <a:r>
              <a:rPr sz="788" b="1" i="0">
                <a:solidFill>
                  <a:srgbClr val="111111"/>
                </a:solidFill>
                <a:latin typeface="Arial"/>
                <a:ea typeface="Arial"/>
                <a:cs typeface="Arial"/>
              </a:rPr>
              <a:t>Meet defined RTO &amp; RPO</a:t>
            </a:r>
          </a:p>
          <a:p xmlns:a="http://schemas.openxmlformats.org/drawingml/2006/main">
            <a:pPr algn="l">
              <a:lnSpc>
                <a:spcPct val="105000"/>
              </a:lnSpc>
              <a:buNone/>
              <a:defRPr sz="788" b="1" i="0">
                <a:solidFill>
                  <a:srgbClr val="111111"/>
                </a:solidFill>
                <a:latin typeface="Arial"/>
                <a:ea typeface="Arial"/>
                <a:cs typeface="Arial"/>
              </a:defRPr>
            </a:pPr>
            <a:r>
              <a:rPr sz="788" b="1" i="0">
                <a:solidFill>
                  <a:srgbClr val="111111"/>
                </a:solidFill>
                <a:latin typeface="Arial"/>
                <a:ea typeface="Arial"/>
                <a:cs typeface="Arial"/>
              </a:rPr>
              <a:t>with backups &amp; restores</a:t>
            </a:r>
          </a:p>
        </p:txBody>
      </p:sp>
      <p:sp>
        <p:nvSpPr>
          <p:cNvPr id="22" name="Straight Connector 21">
            <a:extLst xmlns:a="http://schemas.openxmlformats.org/drawingml/2006/main">
              <a:ext uri="{FF2B5EF4-FFF2-40B4-BE49-F238E27FC236}">
                <a16:creationId xmlns:a16="http://schemas.microsoft.com/office/drawing/2014/main" id="{F55E7EAD-7F48-49FD-B7E9-69D833854AD6}"/>
              </a:ext>
            </a:extLst>
          </p:cNvPr>
          <p:cNvSpPr>
            <a:spLocks xmlns:a="http://schemas.openxmlformats.org/drawingml/2006/main" noGrp="1"/>
          </p:cNvSpPr>
          <p:nvPr/>
        </p:nvSpPr>
        <p:spPr>
          <a:xfrm xmlns:a="http://schemas.openxmlformats.org/drawingml/2006/main">
            <a:off x="2743200" y="1600200"/>
            <a:ext cx="0" cy="438150"/>
          </a:xfrm>
          <a:prstGeom xmlns:a="http://schemas.openxmlformats.org/drawingml/2006/main" prst="line">
            <a:avLst/>
          </a:prstGeom>
          <a:noFill xmlns:a="http://schemas.openxmlformats.org/drawingml/2006/main"/>
          <a:ln xmlns:a="http://schemas.openxmlformats.org/drawingml/2006/main" w="9525">
            <a:solidFill>
              <a:srgbClr val="D8DEDA"/>
            </a:solidFill>
            <a:prstDash val="solid"/>
          </a:ln>
        </p:spPr>
        <p:txBody>
          <a:bodyPr xmlns:a="http://schemas.openxmlformats.org/drawingml/2006/main"/>
          <a:lstStyle xmlns:a="http://schemas.openxmlformats.org/drawingml/2006/main"/>
          <a:p xmlns:a="http://schemas.openxmlformats.org/drawingml/2006/main">
            <a:endParaRPr/>
          </a:p>
        </p:txBody>
      </p:sp>
      <p:sp>
        <p:nvSpPr>
          <p:cNvPr id="23" name="Straight Connector 22">
            <a:extLst xmlns:a="http://schemas.openxmlformats.org/drawingml/2006/main">
              <a:ext uri="{FF2B5EF4-FFF2-40B4-BE49-F238E27FC236}">
                <a16:creationId xmlns:a16="http://schemas.microsoft.com/office/drawing/2014/main" id="{E5F1F181-19F4-4C17-AA22-215949045B58}"/>
              </a:ext>
            </a:extLst>
          </p:cNvPr>
          <p:cNvSpPr>
            <a:spLocks xmlns:a="http://schemas.openxmlformats.org/drawingml/2006/main" noGrp="1"/>
          </p:cNvSpPr>
          <p:nvPr/>
        </p:nvSpPr>
        <p:spPr>
          <a:xfrm xmlns:a="http://schemas.openxmlformats.org/drawingml/2006/main">
            <a:off x="5143500" y="1600200"/>
            <a:ext cx="0" cy="438150"/>
          </a:xfrm>
          <a:prstGeom xmlns:a="http://schemas.openxmlformats.org/drawingml/2006/main" prst="line">
            <a:avLst/>
          </a:prstGeom>
          <a:noFill xmlns:a="http://schemas.openxmlformats.org/drawingml/2006/main"/>
          <a:ln xmlns:a="http://schemas.openxmlformats.org/drawingml/2006/main" w="9525">
            <a:solidFill>
              <a:srgbClr val="D8DEDA"/>
            </a:solidFill>
            <a:prstDash val="solid"/>
          </a:ln>
        </p:spPr>
        <p:txBody>
          <a:bodyPr xmlns:a="http://schemas.openxmlformats.org/drawingml/2006/main"/>
          <a:lstStyle xmlns:a="http://schemas.openxmlformats.org/drawingml/2006/main"/>
          <a:p xmlns:a="http://schemas.openxmlformats.org/drawingml/2006/main">
            <a:endParaRPr/>
          </a:p>
        </p:txBody>
      </p:sp>
      <p:sp>
        <p:nvSpPr>
          <p:cNvPr id="24" name="Straight Connector 23">
            <a:extLst xmlns:a="http://schemas.openxmlformats.org/drawingml/2006/main">
              <a:ext uri="{FF2B5EF4-FFF2-40B4-BE49-F238E27FC236}">
                <a16:creationId xmlns:a16="http://schemas.microsoft.com/office/drawing/2014/main" id="{9EE21C57-E902-4B55-882B-D399BEBDF9AB}"/>
              </a:ext>
            </a:extLst>
          </p:cNvPr>
          <p:cNvSpPr>
            <a:spLocks xmlns:a="http://schemas.openxmlformats.org/drawingml/2006/main" noGrp="1"/>
          </p:cNvSpPr>
          <p:nvPr/>
        </p:nvSpPr>
        <p:spPr>
          <a:xfrm xmlns:a="http://schemas.openxmlformats.org/drawingml/2006/main">
            <a:off x="7677150" y="1600200"/>
            <a:ext cx="0" cy="438150"/>
          </a:xfrm>
          <a:prstGeom xmlns:a="http://schemas.openxmlformats.org/drawingml/2006/main" prst="line">
            <a:avLst/>
          </a:prstGeom>
          <a:noFill xmlns:a="http://schemas.openxmlformats.org/drawingml/2006/main"/>
          <a:ln xmlns:a="http://schemas.openxmlformats.org/drawingml/2006/main" w="9525">
            <a:solidFill>
              <a:srgbClr val="D8DEDA"/>
            </a:solidFill>
            <a:prstDash val="solid"/>
          </a:ln>
        </p:spPr>
        <p:txBody>
          <a:bodyPr xmlns:a="http://schemas.openxmlformats.org/drawingml/2006/main"/>
          <a:lstStyle xmlns:a="http://schemas.openxmlformats.org/drawingml/2006/main"/>
          <a:p xmlns:a="http://schemas.openxmlformats.org/drawingml/2006/main">
            <a:endParaRPr/>
          </a:p>
        </p:txBody>
      </p:sp>
      <p:sp>
        <p:nvSpPr>
          <p:cNvPr id="25" name="Rounded Rectangle 24">
            <a:extLst xmlns:a="http://schemas.openxmlformats.org/drawingml/2006/main">
              <a:ext uri="{FF2B5EF4-FFF2-40B4-BE49-F238E27FC236}">
                <a16:creationId xmlns:a16="http://schemas.microsoft.com/office/drawing/2014/main" id="{7973EA43-CCF5-445F-9F55-ECA6BCCCA8C6}"/>
              </a:ext>
            </a:extLst>
          </p:cNvPr>
          <p:cNvSpPr>
            <a:spLocks xmlns:a="http://schemas.openxmlformats.org/drawingml/2006/main" noGrp="1"/>
          </p:cNvSpPr>
          <p:nvPr/>
        </p:nvSpPr>
        <p:spPr>
          <a:xfrm xmlns:a="http://schemas.openxmlformats.org/drawingml/2006/main">
            <a:off x="323850" y="2266950"/>
            <a:ext cx="2686050" cy="3448050"/>
          </a:xfrm>
          <a:prstGeom xmlns:a="http://schemas.openxmlformats.org/drawingml/2006/main" prst="roundRect">
            <a:avLst>
              <a:gd name="adj" fmla="val 2482"/>
            </a:avLst>
          </a:prstGeom>
          <a:solidFill xmlns:a="http://schemas.openxmlformats.org/drawingml/2006/main">
            <a:srgbClr val="FFFFFF"/>
          </a:solidFill>
          <a:ln xmlns:a="http://schemas.openxmlformats.org/drawingml/2006/main" w="9525">
            <a:solidFill>
              <a:srgbClr val="2A4594"/>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26" name="Rounded Rectangle 25">
            <a:extLst xmlns:a="http://schemas.openxmlformats.org/drawingml/2006/main">
              <a:ext uri="{FF2B5EF4-FFF2-40B4-BE49-F238E27FC236}">
                <a16:creationId xmlns:a16="http://schemas.microsoft.com/office/drawing/2014/main" id="{05048F20-513B-413A-AFE3-20F4F0ECA2DA}"/>
              </a:ext>
            </a:extLst>
          </p:cNvPr>
          <p:cNvSpPr>
            <a:spLocks xmlns:a="http://schemas.openxmlformats.org/drawingml/2006/main" noGrp="1"/>
          </p:cNvSpPr>
          <p:nvPr/>
        </p:nvSpPr>
        <p:spPr>
          <a:xfrm xmlns:a="http://schemas.openxmlformats.org/drawingml/2006/main">
            <a:off x="323850" y="2266950"/>
            <a:ext cx="2686050" cy="314325"/>
          </a:xfrm>
          <a:prstGeom xmlns:a="http://schemas.openxmlformats.org/drawingml/2006/main" prst="roundRect">
            <a:avLst>
              <a:gd name="adj" fmla="val 21212"/>
            </a:avLst>
          </a:prstGeom>
          <a:solidFill xmlns:a="http://schemas.openxmlformats.org/drawingml/2006/main">
            <a:srgbClr val="0B2B7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7" name="Rectangle 26">
            <a:extLst xmlns:a="http://schemas.openxmlformats.org/drawingml/2006/main">
              <a:ext uri="{FF2B5EF4-FFF2-40B4-BE49-F238E27FC236}">
                <a16:creationId xmlns:a16="http://schemas.microsoft.com/office/drawing/2014/main" id="{3E8CE7E5-42E1-439F-B71F-AC66FA0B53A5}"/>
              </a:ext>
            </a:extLst>
          </p:cNvPr>
          <p:cNvSpPr>
            <a:spLocks xmlns:a="http://schemas.openxmlformats.org/drawingml/2006/main" noGrp="1"/>
          </p:cNvSpPr>
          <p:nvPr/>
        </p:nvSpPr>
        <p:spPr>
          <a:xfrm xmlns:a="http://schemas.openxmlformats.org/drawingml/2006/main">
            <a:off x="323850" y="2514600"/>
            <a:ext cx="2686050" cy="76200"/>
          </a:xfrm>
          <a:prstGeom xmlns:a="http://schemas.openxmlformats.org/drawingml/2006/main" prst="rect">
            <a:avLst/>
          </a:prstGeom>
          <a:solidFill xmlns:a="http://schemas.openxmlformats.org/drawingml/2006/main">
            <a:srgbClr val="0B2B7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8" name="Rectangle 27">
            <a:extLst xmlns:a="http://schemas.openxmlformats.org/drawingml/2006/main">
              <a:ext uri="{FF2B5EF4-FFF2-40B4-BE49-F238E27FC236}">
                <a16:creationId xmlns:a16="http://schemas.microsoft.com/office/drawing/2014/main" id="{753056BE-C3D4-4151-AFCD-FF4694340C0F}"/>
              </a:ext>
            </a:extLst>
          </p:cNvPr>
          <p:cNvSpPr>
            <a:spLocks xmlns:a="http://schemas.openxmlformats.org/drawingml/2006/main" noGrp="1"/>
          </p:cNvSpPr>
          <p:nvPr/>
        </p:nvSpPr>
        <p:spPr>
          <a:xfrm xmlns:a="http://schemas.openxmlformats.org/drawingml/2006/main">
            <a:off x="762000" y="2371725"/>
            <a:ext cx="1809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975" b="1" i="0">
                <a:solidFill>
                  <a:srgbClr val="FFFFFF"/>
                </a:solidFill>
                <a:latin typeface="Arial"/>
                <a:ea typeface="Arial"/>
                <a:cs typeface="Arial"/>
              </a:defRPr>
            </a:pPr>
            <a:r>
              <a:rPr sz="975" b="1" i="0">
                <a:solidFill>
                  <a:srgbClr val="FFFFFF"/>
                </a:solidFill>
                <a:latin typeface="Arial"/>
                <a:ea typeface="Arial"/>
                <a:cs typeface="Arial"/>
              </a:rPr>
              <a:t>ON-PREMISES ENVIRONMENT</a:t>
            </a:r>
          </a:p>
        </p:txBody>
      </p:sp>
      <p:pic>
        <p:nvPicPr>
          <p:cNvPr id="172" name="Picture 140"/>
          <p:cNvPicPr>
            <a:picLocks xmlns:a="http://schemas.openxmlformats.org/drawingml/2006/main" noChangeAspect="1"/>
          </p:cNvPicPr>
          <p:nvPr/>
        </p:nvPicPr>
        <p:blipFill>
          <a:blip xmlns:r="http://schemas.openxmlformats.org/officeDocument/2006/relationships" xmlns:a="http://schemas.openxmlformats.org/drawingml/2006/main" r:embed="R633e35ab348245a9"/>
          <a:stretch xmlns:a="http://schemas.openxmlformats.org/drawingml/2006/main"/>
        </p:blipFill>
        <p:spPr>
          <a:xfrm xmlns:a="http://schemas.openxmlformats.org/drawingml/2006/main">
            <a:off x="1323975" y="2718068"/>
            <a:ext cx="638175" cy="507464"/>
          </a:xfrm>
          <a:prstGeom xmlns:a="http://schemas.openxmlformats.org/drawingml/2006/main" prst="rect">
            <a:avLst/>
          </a:prstGeom>
        </p:spPr>
      </p:pic>
      <p:sp>
        <p:nvSpPr>
          <p:cNvPr id="30" name="Rectangle 29">
            <a:extLst xmlns:a="http://schemas.openxmlformats.org/drawingml/2006/main">
              <a:ext uri="{FF2B5EF4-FFF2-40B4-BE49-F238E27FC236}">
                <a16:creationId xmlns:a16="http://schemas.microsoft.com/office/drawing/2014/main" id="{3647673D-63F2-4FC9-BC5C-B29DC029603D}"/>
              </a:ext>
            </a:extLst>
          </p:cNvPr>
          <p:cNvSpPr>
            <a:spLocks xmlns:a="http://schemas.openxmlformats.org/drawingml/2006/main" noGrp="1"/>
          </p:cNvSpPr>
          <p:nvPr/>
        </p:nvSpPr>
        <p:spPr>
          <a:xfrm xmlns:a="http://schemas.openxmlformats.org/drawingml/2006/main">
            <a:off x="942975" y="3314700"/>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ctr">
              <a:lnSpc>
                <a:spcPct val="115000"/>
              </a:lnSpc>
              <a:buNone/>
              <a:defRPr sz="975" b="1" i="0">
                <a:solidFill>
                  <a:srgbClr val="0B2B78"/>
                </a:solidFill>
                <a:latin typeface="Arial"/>
                <a:ea typeface="Arial"/>
                <a:cs typeface="Arial"/>
              </a:defRPr>
            </a:pPr>
            <a:r>
              <a:rPr sz="975" b="1" i="0">
                <a:solidFill>
                  <a:srgbClr val="0B2B78"/>
                </a:solidFill>
                <a:latin typeface="Arial"/>
                <a:ea typeface="Arial"/>
                <a:cs typeface="Arial"/>
              </a:rPr>
              <a:t>Your Existing</a:t>
            </a:r>
          </a:p>
          <a:p xmlns:a="http://schemas.openxmlformats.org/drawingml/2006/main">
            <a:pPr algn="ctr">
              <a:lnSpc>
                <a:spcPct val="115000"/>
              </a:lnSpc>
              <a:buNone/>
              <a:defRPr sz="975" b="1" i="0">
                <a:solidFill>
                  <a:srgbClr val="0B2B78"/>
                </a:solidFill>
                <a:latin typeface="Arial"/>
                <a:ea typeface="Arial"/>
                <a:cs typeface="Arial"/>
              </a:defRPr>
            </a:pPr>
            <a:r>
              <a:rPr sz="975" b="1" i="0">
                <a:solidFill>
                  <a:srgbClr val="0B2B78"/>
                </a:solidFill>
                <a:latin typeface="Arial"/>
                <a:ea typeface="Arial"/>
                <a:cs typeface="Arial"/>
              </a:rPr>
              <a:t>VMware Environment</a:t>
            </a:r>
          </a:p>
        </p:txBody>
      </p:sp>
      <p:sp>
        <p:nvSpPr>
          <p:cNvPr id="31" name="Straight Connector 30">
            <a:extLst xmlns:a="http://schemas.openxmlformats.org/drawingml/2006/main">
              <a:ext uri="{FF2B5EF4-FFF2-40B4-BE49-F238E27FC236}">
                <a16:creationId xmlns:a16="http://schemas.microsoft.com/office/drawing/2014/main" id="{9CC89340-2ABE-49CC-8B09-08E9C659823B}"/>
              </a:ext>
            </a:extLst>
          </p:cNvPr>
          <p:cNvSpPr>
            <a:spLocks xmlns:a="http://schemas.openxmlformats.org/drawingml/2006/main" noGrp="1"/>
          </p:cNvSpPr>
          <p:nvPr/>
        </p:nvSpPr>
        <p:spPr>
          <a:xfrm xmlns:a="http://schemas.openxmlformats.org/drawingml/2006/main">
            <a:off x="504825" y="3771900"/>
            <a:ext cx="2305050" cy="0"/>
          </a:xfrm>
          <a:prstGeom xmlns:a="http://schemas.openxmlformats.org/drawingml/2006/main" prst="line">
            <a:avLst/>
          </a:prstGeom>
          <a:noFill xmlns:a="http://schemas.openxmlformats.org/drawingml/2006/main"/>
          <a:ln xmlns:a="http://schemas.openxmlformats.org/drawingml/2006/main" w="9525">
            <a:solidFill>
              <a:srgbClr val="D8DEDA"/>
            </a:solidFill>
            <a:prstDash val="solid"/>
          </a:ln>
        </p:spPr>
        <p:txBody>
          <a:bodyPr xmlns:a="http://schemas.openxmlformats.org/drawingml/2006/main"/>
          <a:lstStyle xmlns:a="http://schemas.openxmlformats.org/drawingml/2006/main"/>
          <a:p xmlns:a="http://schemas.openxmlformats.org/drawingml/2006/main">
            <a:endParaRPr/>
          </a:p>
        </p:txBody>
      </p:sp>
      <p:pic>
        <p:nvPicPr>
          <p:cNvPr id="175" name="Picture 143"/>
          <p:cNvPicPr>
            <a:picLocks xmlns:a="http://schemas.openxmlformats.org/drawingml/2006/main" noChangeAspect="1"/>
          </p:cNvPicPr>
          <p:nvPr/>
        </p:nvPicPr>
        <p:blipFill>
          <a:blip xmlns:r="http://schemas.openxmlformats.org/officeDocument/2006/relationships" xmlns:a="http://schemas.openxmlformats.org/drawingml/2006/main" r:embed="R6572671e665948b6"/>
          <a:stretch xmlns:a="http://schemas.openxmlformats.org/drawingml/2006/main"/>
        </p:blipFill>
        <p:spPr>
          <a:xfrm xmlns:a="http://schemas.openxmlformats.org/drawingml/2006/main">
            <a:off x="533400" y="3914775"/>
            <a:ext cx="266700" cy="266700"/>
          </a:xfrm>
          <a:prstGeom xmlns:a="http://schemas.openxmlformats.org/drawingml/2006/main" prst="rect">
            <a:avLst/>
          </a:prstGeom>
        </p:spPr>
      </p:pic>
      <p:sp>
        <p:nvSpPr>
          <p:cNvPr id="33" name="Rectangle 32">
            <a:extLst xmlns:a="http://schemas.openxmlformats.org/drawingml/2006/main">
              <a:ext uri="{FF2B5EF4-FFF2-40B4-BE49-F238E27FC236}">
                <a16:creationId xmlns:a16="http://schemas.microsoft.com/office/drawing/2014/main" id="{F11E5987-8311-43F1-87A2-4E3E03D47C43}"/>
              </a:ext>
            </a:extLst>
          </p:cNvPr>
          <p:cNvSpPr>
            <a:spLocks xmlns:a="http://schemas.openxmlformats.org/drawingml/2006/main" noGrp="1"/>
          </p:cNvSpPr>
          <p:nvPr/>
        </p:nvSpPr>
        <p:spPr>
          <a:xfrm xmlns:a="http://schemas.openxmlformats.org/drawingml/2006/main">
            <a:off x="1028700" y="3962400"/>
            <a:ext cx="1809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900" b="0" i="0">
                <a:solidFill>
                  <a:srgbClr val="111111"/>
                </a:solidFill>
                <a:latin typeface="Arial"/>
                <a:ea typeface="Arial"/>
                <a:cs typeface="Arial"/>
              </a:defRPr>
            </a:pPr>
            <a:r>
              <a:rPr sz="900" b="0" i="0">
                <a:solidFill>
                  <a:srgbClr val="111111"/>
                </a:solidFill>
                <a:latin typeface="Arial"/>
                <a:ea typeface="Arial"/>
                <a:cs typeface="Arial"/>
              </a:rPr>
              <a:t>Capacity constraints</a:t>
            </a:r>
          </a:p>
        </p:txBody>
      </p:sp>
      <p:pic>
        <p:nvPicPr>
          <p:cNvPr id="177" name="Picture 145"/>
          <p:cNvPicPr>
            <a:picLocks xmlns:a="http://schemas.openxmlformats.org/drawingml/2006/main" noChangeAspect="1"/>
          </p:cNvPicPr>
          <p:nvPr/>
        </p:nvPicPr>
        <p:blipFill>
          <a:blip xmlns:r="http://schemas.openxmlformats.org/officeDocument/2006/relationships" xmlns:a="http://schemas.openxmlformats.org/drawingml/2006/main" r:embed="R06dc10251a684ef8"/>
          <a:stretch xmlns:a="http://schemas.openxmlformats.org/drawingml/2006/main"/>
        </p:blipFill>
        <p:spPr>
          <a:xfrm xmlns:a="http://schemas.openxmlformats.org/drawingml/2006/main">
            <a:off x="536734" y="4324350"/>
            <a:ext cx="260033" cy="266700"/>
          </a:xfrm>
          <a:prstGeom xmlns:a="http://schemas.openxmlformats.org/drawingml/2006/main" prst="rect">
            <a:avLst/>
          </a:prstGeom>
        </p:spPr>
      </p:pic>
      <p:sp>
        <p:nvSpPr>
          <p:cNvPr id="35" name="Rectangle 34">
            <a:extLst xmlns:a="http://schemas.openxmlformats.org/drawingml/2006/main">
              <a:ext uri="{FF2B5EF4-FFF2-40B4-BE49-F238E27FC236}">
                <a16:creationId xmlns:a16="http://schemas.microsoft.com/office/drawing/2014/main" id="{96D4BA2B-BA7F-4225-B660-59998EB92B72}"/>
              </a:ext>
            </a:extLst>
          </p:cNvPr>
          <p:cNvSpPr>
            <a:spLocks xmlns:a="http://schemas.openxmlformats.org/drawingml/2006/main" noGrp="1"/>
          </p:cNvSpPr>
          <p:nvPr/>
        </p:nvSpPr>
        <p:spPr>
          <a:xfrm xmlns:a="http://schemas.openxmlformats.org/drawingml/2006/main">
            <a:off x="1028700" y="4371975"/>
            <a:ext cx="1809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900" b="0" i="0">
                <a:solidFill>
                  <a:srgbClr val="111111"/>
                </a:solidFill>
                <a:latin typeface="Arial"/>
                <a:ea typeface="Arial"/>
                <a:cs typeface="Arial"/>
              </a:defRPr>
            </a:pPr>
            <a:r>
              <a:rPr sz="900" b="0" i="0">
                <a:solidFill>
                  <a:srgbClr val="111111"/>
                </a:solidFill>
                <a:latin typeface="Arial"/>
                <a:ea typeface="Arial"/>
                <a:cs typeface="Arial"/>
              </a:rPr>
              <a:t>Seasonal demand</a:t>
            </a:r>
          </a:p>
        </p:txBody>
      </p:sp>
      <p:pic>
        <p:nvPicPr>
          <p:cNvPr id="179" name="Picture 147"/>
          <p:cNvPicPr>
            <a:picLocks xmlns:a="http://schemas.openxmlformats.org/drawingml/2006/main" noChangeAspect="1"/>
          </p:cNvPicPr>
          <p:nvPr/>
        </p:nvPicPr>
        <p:blipFill>
          <a:blip xmlns:r="http://schemas.openxmlformats.org/officeDocument/2006/relationships" xmlns:a="http://schemas.openxmlformats.org/drawingml/2006/main" r:embed="R58cbf7749c794295"/>
          <a:stretch xmlns:a="http://schemas.openxmlformats.org/drawingml/2006/main"/>
        </p:blipFill>
        <p:spPr>
          <a:xfrm xmlns:a="http://schemas.openxmlformats.org/drawingml/2006/main">
            <a:off x="533400" y="4724632"/>
            <a:ext cx="266700" cy="247185"/>
          </a:xfrm>
          <a:prstGeom xmlns:a="http://schemas.openxmlformats.org/drawingml/2006/main" prst="rect">
            <a:avLst/>
          </a:prstGeom>
        </p:spPr>
      </p:pic>
      <p:sp>
        <p:nvSpPr>
          <p:cNvPr id="37" name="Rectangle 36">
            <a:extLst xmlns:a="http://schemas.openxmlformats.org/drawingml/2006/main">
              <a:ext uri="{FF2B5EF4-FFF2-40B4-BE49-F238E27FC236}">
                <a16:creationId xmlns:a16="http://schemas.microsoft.com/office/drawing/2014/main" id="{09B6A96D-4732-4E31-B5C7-F8A665382EB9}"/>
              </a:ext>
            </a:extLst>
          </p:cNvPr>
          <p:cNvSpPr>
            <a:spLocks xmlns:a="http://schemas.openxmlformats.org/drawingml/2006/main" noGrp="1"/>
          </p:cNvSpPr>
          <p:nvPr/>
        </p:nvSpPr>
        <p:spPr>
          <a:xfrm xmlns:a="http://schemas.openxmlformats.org/drawingml/2006/main">
            <a:off x="1028700" y="4762500"/>
            <a:ext cx="1809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900" b="0" i="0">
                <a:solidFill>
                  <a:srgbClr val="111111"/>
                </a:solidFill>
                <a:latin typeface="Arial"/>
                <a:ea typeface="Arial"/>
                <a:cs typeface="Arial"/>
              </a:defRPr>
            </a:pPr>
            <a:r>
              <a:rPr sz="900" b="0" i="0">
                <a:solidFill>
                  <a:srgbClr val="111111"/>
                </a:solidFill>
                <a:latin typeface="Arial"/>
                <a:ea typeface="Arial"/>
                <a:cs typeface="Arial"/>
              </a:rPr>
              <a:t>Business growth</a:t>
            </a:r>
          </a:p>
        </p:txBody>
      </p:sp>
      <p:pic>
        <p:nvPicPr>
          <p:cNvPr id="181" name="Picture 149"/>
          <p:cNvPicPr>
            <a:picLocks xmlns:a="http://schemas.openxmlformats.org/drawingml/2006/main" noChangeAspect="1"/>
          </p:cNvPicPr>
          <p:nvPr/>
        </p:nvPicPr>
        <p:blipFill>
          <a:blip xmlns:r="http://schemas.openxmlformats.org/officeDocument/2006/relationships" xmlns:a="http://schemas.openxmlformats.org/drawingml/2006/main" r:embed="R714900036a8a4f8a"/>
          <a:stretch xmlns:a="http://schemas.openxmlformats.org/drawingml/2006/main"/>
        </p:blipFill>
        <p:spPr>
          <a:xfrm xmlns:a="http://schemas.openxmlformats.org/drawingml/2006/main">
            <a:off x="536734" y="5124450"/>
            <a:ext cx="260033" cy="266700"/>
          </a:xfrm>
          <a:prstGeom xmlns:a="http://schemas.openxmlformats.org/drawingml/2006/main" prst="rect">
            <a:avLst/>
          </a:prstGeom>
        </p:spPr>
      </p:pic>
      <p:sp>
        <p:nvSpPr>
          <p:cNvPr id="39" name="Rectangle 38">
            <a:extLst xmlns:a="http://schemas.openxmlformats.org/drawingml/2006/main">
              <a:ext uri="{FF2B5EF4-FFF2-40B4-BE49-F238E27FC236}">
                <a16:creationId xmlns:a16="http://schemas.microsoft.com/office/drawing/2014/main" id="{B230E844-1895-481F-9645-32A255F504E7}"/>
              </a:ext>
            </a:extLst>
          </p:cNvPr>
          <p:cNvSpPr>
            <a:spLocks xmlns:a="http://schemas.openxmlformats.org/drawingml/2006/main" noGrp="1"/>
          </p:cNvSpPr>
          <p:nvPr/>
        </p:nvSpPr>
        <p:spPr>
          <a:xfrm xmlns:a="http://schemas.openxmlformats.org/drawingml/2006/main">
            <a:off x="1028700" y="5172075"/>
            <a:ext cx="1809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900" b="0" i="0">
                <a:solidFill>
                  <a:srgbClr val="111111"/>
                </a:solidFill>
                <a:latin typeface="Arial"/>
                <a:ea typeface="Arial"/>
                <a:cs typeface="Arial"/>
              </a:defRPr>
            </a:pPr>
            <a:r>
              <a:rPr sz="900" b="0" i="0">
                <a:solidFill>
                  <a:srgbClr val="111111"/>
                </a:solidFill>
                <a:latin typeface="Arial"/>
                <a:ea typeface="Arial"/>
                <a:cs typeface="Arial"/>
              </a:rPr>
              <a:t>Hardware procurement delays</a:t>
            </a:r>
          </a:p>
        </p:txBody>
      </p:sp>
      <p:sp>
        <p:nvSpPr>
          <p:cNvPr id="40" name="Right Arrow 39">
            <a:extLst xmlns:a="http://schemas.openxmlformats.org/drawingml/2006/main">
              <a:ext uri="{FF2B5EF4-FFF2-40B4-BE49-F238E27FC236}">
                <a16:creationId xmlns:a16="http://schemas.microsoft.com/office/drawing/2014/main" id="{695C5D88-4368-408C-8C23-D7F0FF33EAC7}"/>
              </a:ext>
            </a:extLst>
          </p:cNvPr>
          <p:cNvSpPr>
            <a:spLocks xmlns:a="http://schemas.openxmlformats.org/drawingml/2006/main" noGrp="1"/>
          </p:cNvSpPr>
          <p:nvPr/>
        </p:nvSpPr>
        <p:spPr>
          <a:xfrm xmlns:a="http://schemas.openxmlformats.org/drawingml/2006/main">
            <a:off x="3371850" y="2276475"/>
            <a:ext cx="2333625" cy="600075"/>
          </a:xfrm>
          <a:prstGeom xmlns:a="http://schemas.openxmlformats.org/drawingml/2006/main" prst="rightArrow">
            <a:avLst/>
          </a:prstGeom>
          <a:gradFill xmlns:a="http://schemas.openxmlformats.org/drawingml/2006/main">
            <a:gsLst>
              <a:gs pos="0">
                <a:srgbClr val="003B25"/>
              </a:gs>
              <a:gs pos="100000">
                <a:srgbClr val="075231"/>
              </a:gs>
            </a:gsLst>
            <a:lin ang="5400000"/>
          </a:gra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41" name="Rectangle 40">
            <a:extLst xmlns:a="http://schemas.openxmlformats.org/drawingml/2006/main">
              <a:ext uri="{FF2B5EF4-FFF2-40B4-BE49-F238E27FC236}">
                <a16:creationId xmlns:a16="http://schemas.microsoft.com/office/drawing/2014/main" id="{0D2658B0-9CA1-4BC9-982D-C649B1CCD4BE}"/>
              </a:ext>
            </a:extLst>
          </p:cNvPr>
          <p:cNvSpPr>
            <a:spLocks xmlns:a="http://schemas.openxmlformats.org/drawingml/2006/main" noGrp="1"/>
          </p:cNvSpPr>
          <p:nvPr/>
        </p:nvSpPr>
        <p:spPr>
          <a:xfrm xmlns:a="http://schemas.openxmlformats.org/drawingml/2006/main">
            <a:off x="3752850" y="2524125"/>
            <a:ext cx="157162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1125" b="1" i="0">
                <a:solidFill>
                  <a:srgbClr val="FFFFFF"/>
                </a:solidFill>
                <a:latin typeface="Arial"/>
                <a:ea typeface="Arial"/>
                <a:cs typeface="Arial"/>
              </a:defRPr>
            </a:pPr>
            <a:r>
              <a:rPr sz="1125" b="1" i="0">
                <a:solidFill>
                  <a:srgbClr val="FFFFFF"/>
                </a:solidFill>
                <a:latin typeface="Arial"/>
                <a:ea typeface="Arial"/>
                <a:cs typeface="Arial"/>
              </a:rPr>
              <a:t>CAPACITY EXPANSION</a:t>
            </a:r>
          </a:p>
        </p:txBody>
      </p:sp>
      <p:sp>
        <p:nvSpPr>
          <p:cNvPr id="42" name="Straight Connector 41">
            <a:extLst xmlns:a="http://schemas.openxmlformats.org/drawingml/2006/main">
              <a:ext uri="{FF2B5EF4-FFF2-40B4-BE49-F238E27FC236}">
                <a16:creationId xmlns:a16="http://schemas.microsoft.com/office/drawing/2014/main" id="{D300C9FE-9136-4998-BA0D-2386DEF78628}"/>
              </a:ext>
            </a:extLst>
          </p:cNvPr>
          <p:cNvSpPr>
            <a:spLocks xmlns:a="http://schemas.openxmlformats.org/drawingml/2006/main" noGrp="1"/>
          </p:cNvSpPr>
          <p:nvPr/>
        </p:nvSpPr>
        <p:spPr>
          <a:xfrm xmlns:a="http://schemas.openxmlformats.org/drawingml/2006/main">
            <a:off x="3171825" y="3324225"/>
            <a:ext cx="2705100" cy="0"/>
          </a:xfrm>
          <a:prstGeom xmlns:a="http://schemas.openxmlformats.org/drawingml/2006/main" prst="line">
            <a:avLst/>
          </a:prstGeom>
          <a:noFill xmlns:a="http://schemas.openxmlformats.org/drawingml/2006/main"/>
          <a:ln xmlns:a="http://schemas.openxmlformats.org/drawingml/2006/main" w="14288">
            <a:solidFill>
              <a:srgbClr val="1B3D8E"/>
            </a:solidFill>
            <a:prstDash val="dash"/>
          </a:ln>
        </p:spPr>
        <p:txBody>
          <a:bodyPr xmlns:a="http://schemas.openxmlformats.org/drawingml/2006/main"/>
          <a:lstStyle xmlns:a="http://schemas.openxmlformats.org/drawingml/2006/main"/>
          <a:p xmlns:a="http://schemas.openxmlformats.org/drawingml/2006/main">
            <a:endParaRPr/>
          </a:p>
        </p:txBody>
      </p:sp>
      <p:sp>
        <p:nvSpPr>
          <p:cNvPr id="43" name="Straight Connector 42">
            <a:extLst xmlns:a="http://schemas.openxmlformats.org/drawingml/2006/main">
              <a:ext uri="{FF2B5EF4-FFF2-40B4-BE49-F238E27FC236}">
                <a16:creationId xmlns:a16="http://schemas.microsoft.com/office/drawing/2014/main" id="{49146D5C-209F-4613-95EE-3346681DB60B}"/>
              </a:ext>
            </a:extLst>
          </p:cNvPr>
          <p:cNvSpPr>
            <a:spLocks xmlns:a="http://schemas.openxmlformats.org/drawingml/2006/main" noGrp="1"/>
          </p:cNvSpPr>
          <p:nvPr/>
        </p:nvSpPr>
        <p:spPr>
          <a:xfrm xmlns:a="http://schemas.openxmlformats.org/drawingml/2006/main">
            <a:off x="3800475" y="3324225"/>
            <a:ext cx="1428750" cy="0"/>
          </a:xfrm>
          <a:prstGeom xmlns:a="http://schemas.openxmlformats.org/drawingml/2006/main" prst="line">
            <a:avLst/>
          </a:prstGeom>
          <a:noFill xmlns:a="http://schemas.openxmlformats.org/drawingml/2006/main"/>
          <a:ln xmlns:a="http://schemas.openxmlformats.org/drawingml/2006/main" w="14288">
            <a:solidFill>
              <a:srgbClr val="2D7A5A"/>
            </a:solidFill>
            <a:prstDash val="dash"/>
          </a:ln>
        </p:spPr>
        <p:txBody>
          <a:bodyPr xmlns:a="http://schemas.openxmlformats.org/drawingml/2006/main"/>
          <a:lstStyle xmlns:a="http://schemas.openxmlformats.org/drawingml/2006/main"/>
          <a:p xmlns:a="http://schemas.openxmlformats.org/drawingml/2006/main">
            <a:endParaRPr/>
          </a:p>
        </p:txBody>
      </p:sp>
      <p:sp>
        <p:nvSpPr>
          <p:cNvPr id="44" name="Straight Connector 43">
            <a:extLst xmlns:a="http://schemas.openxmlformats.org/drawingml/2006/main">
              <a:ext uri="{FF2B5EF4-FFF2-40B4-BE49-F238E27FC236}">
                <a16:creationId xmlns:a16="http://schemas.microsoft.com/office/drawing/2014/main" id="{36FFCFAC-AC17-453A-AFAD-566629589E62}"/>
              </a:ext>
            </a:extLst>
          </p:cNvPr>
          <p:cNvSpPr>
            <a:spLocks xmlns:a="http://schemas.openxmlformats.org/drawingml/2006/main" noGrp="1"/>
          </p:cNvSpPr>
          <p:nvPr/>
        </p:nvSpPr>
        <p:spPr>
          <a:xfrm xmlns:a="http://schemas.openxmlformats.org/drawingml/2006/main">
            <a:off x="5572125" y="3324225"/>
            <a:ext cx="304800" cy="0"/>
          </a:xfrm>
          <a:prstGeom xmlns:a="http://schemas.openxmlformats.org/drawingml/2006/main" prst="line">
            <a:avLst/>
          </a:prstGeom>
          <a:noFill xmlns:a="http://schemas.openxmlformats.org/drawingml/2006/main"/>
          <a:ln xmlns:a="http://schemas.openxmlformats.org/drawingml/2006/main" w="14288">
            <a:solidFill>
              <a:srgbClr val="E60000"/>
            </a:solidFill>
            <a:prstDash val="dash"/>
          </a:ln>
        </p:spPr>
        <p:txBody>
          <a:bodyPr xmlns:a="http://schemas.openxmlformats.org/drawingml/2006/main"/>
          <a:lstStyle xmlns:a="http://schemas.openxmlformats.org/drawingml/2006/main"/>
          <a:p xmlns:a="http://schemas.openxmlformats.org/drawingml/2006/main">
            <a:endParaRPr/>
          </a:p>
        </p:txBody>
      </p:sp>
      <p:pic>
        <p:nvPicPr>
          <p:cNvPr id="188" name="Picture 156"/>
          <p:cNvPicPr>
            <a:picLocks xmlns:a="http://schemas.openxmlformats.org/drawingml/2006/main" noChangeAspect="1"/>
          </p:cNvPicPr>
          <p:nvPr/>
        </p:nvPicPr>
        <p:blipFill>
          <a:blip xmlns:r="http://schemas.openxmlformats.org/officeDocument/2006/relationships" xmlns:a="http://schemas.openxmlformats.org/drawingml/2006/main" r:embed="Rceb6fb0b6e514d4e"/>
          <a:stretch xmlns:a="http://schemas.openxmlformats.org/drawingml/2006/main"/>
        </p:blipFill>
        <p:spPr>
          <a:xfrm xmlns:a="http://schemas.openxmlformats.org/drawingml/2006/main">
            <a:off x="3390900" y="3108993"/>
            <a:ext cx="438150" cy="430463"/>
          </a:xfrm>
          <a:prstGeom xmlns:a="http://schemas.openxmlformats.org/drawingml/2006/main" prst="rect">
            <a:avLst/>
          </a:prstGeom>
        </p:spPr>
      </p:pic>
      <p:pic>
        <p:nvPicPr>
          <p:cNvPr id="189" name="Picture 157"/>
          <p:cNvPicPr>
            <a:picLocks xmlns:a="http://schemas.openxmlformats.org/drawingml/2006/main" noChangeAspect="1"/>
          </p:cNvPicPr>
          <p:nvPr/>
        </p:nvPicPr>
        <p:blipFill>
          <a:blip xmlns:r="http://schemas.openxmlformats.org/officeDocument/2006/relationships" xmlns:a="http://schemas.openxmlformats.org/drawingml/2006/main" r:embed="R11a2c83da24f496b"/>
          <a:stretch xmlns:a="http://schemas.openxmlformats.org/drawingml/2006/main"/>
        </p:blipFill>
        <p:spPr>
          <a:xfrm xmlns:a="http://schemas.openxmlformats.org/drawingml/2006/main">
            <a:off x="4171950" y="3036715"/>
            <a:ext cx="714375" cy="698845"/>
          </a:xfrm>
          <a:prstGeom xmlns:a="http://schemas.openxmlformats.org/drawingml/2006/main" prst="rect">
            <a:avLst/>
          </a:prstGeom>
        </p:spPr>
      </p:pic>
      <p:pic>
        <p:nvPicPr>
          <p:cNvPr id="190" name="Picture 158"/>
          <p:cNvPicPr>
            <a:picLocks xmlns:a="http://schemas.openxmlformats.org/drawingml/2006/main" noChangeAspect="1"/>
          </p:cNvPicPr>
          <p:nvPr/>
        </p:nvPicPr>
        <p:blipFill>
          <a:blip xmlns:r="http://schemas.openxmlformats.org/officeDocument/2006/relationships" xmlns:a="http://schemas.openxmlformats.org/drawingml/2006/main" r:embed="Rbfb0f5936bd341cc"/>
          <a:stretch xmlns:a="http://schemas.openxmlformats.org/drawingml/2006/main"/>
        </p:blipFill>
        <p:spPr>
          <a:xfrm xmlns:a="http://schemas.openxmlformats.org/drawingml/2006/main">
            <a:off x="5143500" y="3112704"/>
            <a:ext cx="438150" cy="423041"/>
          </a:xfrm>
          <a:prstGeom xmlns:a="http://schemas.openxmlformats.org/drawingml/2006/main" prst="rect">
            <a:avLst/>
          </a:prstGeom>
        </p:spPr>
      </p:pic>
      <p:sp>
        <p:nvSpPr>
          <p:cNvPr id="48" name="Rectangle 47">
            <a:extLst xmlns:a="http://schemas.openxmlformats.org/drawingml/2006/main">
              <a:ext uri="{FF2B5EF4-FFF2-40B4-BE49-F238E27FC236}">
                <a16:creationId xmlns:a16="http://schemas.microsoft.com/office/drawing/2014/main" id="{74106D65-BBDC-4A3F-AC44-59B002D9C1EA}"/>
              </a:ext>
            </a:extLst>
          </p:cNvPr>
          <p:cNvSpPr>
            <a:spLocks xmlns:a="http://schemas.openxmlformats.org/drawingml/2006/main" noGrp="1"/>
          </p:cNvSpPr>
          <p:nvPr/>
        </p:nvSpPr>
        <p:spPr>
          <a:xfrm xmlns:a="http://schemas.openxmlformats.org/drawingml/2006/main">
            <a:off x="4038600" y="3781425"/>
            <a:ext cx="12382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1200" b="1" i="0">
                <a:solidFill>
                  <a:srgbClr val="003B25"/>
                </a:solidFill>
                <a:latin typeface="Arial"/>
                <a:ea typeface="Arial"/>
                <a:cs typeface="Arial"/>
              </a:defRPr>
            </a:pPr>
            <a:r>
              <a:rPr sz="1200" b="1" i="0">
                <a:solidFill>
                  <a:srgbClr val="003B25"/>
                </a:solidFill>
                <a:latin typeface="Arial"/>
                <a:ea typeface="Arial"/>
                <a:cs typeface="Arial"/>
              </a:rPr>
              <a:t>HCX Mobility</a:t>
            </a:r>
          </a:p>
        </p:txBody>
      </p:sp>
      <p:sp>
        <p:nvSpPr>
          <p:cNvPr id="49" name="Rectangle 48">
            <a:extLst xmlns:a="http://schemas.openxmlformats.org/drawingml/2006/main">
              <a:ext uri="{FF2B5EF4-FFF2-40B4-BE49-F238E27FC236}">
                <a16:creationId xmlns:a16="http://schemas.microsoft.com/office/drawing/2014/main" id="{7AEB9F87-8322-40C9-9583-9173535444CC}"/>
              </a:ext>
            </a:extLst>
          </p:cNvPr>
          <p:cNvSpPr>
            <a:spLocks xmlns:a="http://schemas.openxmlformats.org/drawingml/2006/main" noGrp="1"/>
          </p:cNvSpPr>
          <p:nvPr/>
        </p:nvSpPr>
        <p:spPr>
          <a:xfrm xmlns:a="http://schemas.openxmlformats.org/drawingml/2006/main">
            <a:off x="3714750" y="4010025"/>
            <a:ext cx="1952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ctr">
              <a:lnSpc>
                <a:spcPct val="115000"/>
              </a:lnSpc>
              <a:buNone/>
              <a:defRPr sz="900" b="0" i="0">
                <a:solidFill>
                  <a:srgbClr val="111111"/>
                </a:solidFill>
                <a:latin typeface="Arial"/>
                <a:ea typeface="Arial"/>
                <a:cs typeface="Arial"/>
              </a:defRPr>
            </a:pPr>
            <a:r>
              <a:rPr sz="900" b="0" i="0">
                <a:solidFill>
                  <a:srgbClr val="111111"/>
                </a:solidFill>
                <a:latin typeface="Arial"/>
                <a:ea typeface="Arial"/>
                <a:cs typeface="Arial"/>
              </a:rPr>
              <a:t>Secure workload mobility over</a:t>
            </a:r>
          </a:p>
          <a:p xmlns:a="http://schemas.openxmlformats.org/drawingml/2006/main">
            <a:pPr algn="ctr">
              <a:lnSpc>
                <a:spcPct val="115000"/>
              </a:lnSpc>
              <a:buNone/>
              <a:defRPr sz="900" b="0" i="0">
                <a:solidFill>
                  <a:srgbClr val="111111"/>
                </a:solidFill>
                <a:latin typeface="Arial"/>
                <a:ea typeface="Arial"/>
                <a:cs typeface="Arial"/>
              </a:defRPr>
            </a:pPr>
            <a:r>
              <a:rPr sz="900" b="0" i="0">
                <a:solidFill>
                  <a:srgbClr val="111111"/>
                </a:solidFill>
                <a:latin typeface="Arial"/>
                <a:ea typeface="Arial"/>
                <a:cs typeface="Arial"/>
              </a:rPr>
              <a:t>Internet, VPN, or FastConnect</a:t>
            </a:r>
          </a:p>
        </p:txBody>
      </p:sp>
      <p:pic>
        <p:nvPicPr>
          <p:cNvPr id="193" name="Picture 161"/>
          <p:cNvPicPr>
            <a:picLocks xmlns:a="http://schemas.openxmlformats.org/drawingml/2006/main" noChangeAspect="1"/>
          </p:cNvPicPr>
          <p:nvPr/>
        </p:nvPicPr>
        <p:blipFill>
          <a:blip xmlns:r="http://schemas.openxmlformats.org/officeDocument/2006/relationships" xmlns:a="http://schemas.openxmlformats.org/drawingml/2006/main" r:embed="R6c80fca8e8254af0"/>
          <a:stretch xmlns:a="http://schemas.openxmlformats.org/drawingml/2006/main"/>
        </p:blipFill>
        <p:spPr>
          <a:xfrm xmlns:a="http://schemas.openxmlformats.org/drawingml/2006/main">
            <a:off x="3414227" y="4438650"/>
            <a:ext cx="410547" cy="419100"/>
          </a:xfrm>
          <a:prstGeom xmlns:a="http://schemas.openxmlformats.org/drawingml/2006/main" prst="rect">
            <a:avLst/>
          </a:prstGeom>
        </p:spPr>
      </p:pic>
      <p:sp>
        <p:nvSpPr>
          <p:cNvPr id="51" name="Rectangle 50">
            <a:extLst xmlns:a="http://schemas.openxmlformats.org/drawingml/2006/main">
              <a:ext uri="{FF2B5EF4-FFF2-40B4-BE49-F238E27FC236}">
                <a16:creationId xmlns:a16="http://schemas.microsoft.com/office/drawing/2014/main" id="{AED6C53B-6398-479B-9072-581D58285A42}"/>
              </a:ext>
            </a:extLst>
          </p:cNvPr>
          <p:cNvSpPr>
            <a:spLocks xmlns:a="http://schemas.openxmlformats.org/drawingml/2006/main" noGrp="1"/>
          </p:cNvSpPr>
          <p:nvPr/>
        </p:nvSpPr>
        <p:spPr>
          <a:xfrm xmlns:a="http://schemas.openxmlformats.org/drawingml/2006/main">
            <a:off x="3352800" y="4895850"/>
            <a:ext cx="619125"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750" b="0" i="0">
                <a:solidFill>
                  <a:srgbClr val="111111"/>
                </a:solidFill>
                <a:latin typeface="Arial"/>
                <a:ea typeface="Arial"/>
                <a:cs typeface="Arial"/>
              </a:defRPr>
            </a:pPr>
            <a:r>
              <a:rPr sz="750" b="0" i="0">
                <a:solidFill>
                  <a:srgbClr val="111111"/>
                </a:solidFill>
                <a:latin typeface="Arial"/>
                <a:ea typeface="Arial"/>
                <a:cs typeface="Arial"/>
              </a:rPr>
              <a:t>Internet</a:t>
            </a:r>
          </a:p>
        </p:txBody>
      </p:sp>
      <p:pic>
        <p:nvPicPr>
          <p:cNvPr id="195" name="Picture 163"/>
          <p:cNvPicPr>
            <a:picLocks xmlns:a="http://schemas.openxmlformats.org/drawingml/2006/main" noChangeAspect="1"/>
          </p:cNvPicPr>
          <p:nvPr/>
        </p:nvPicPr>
        <p:blipFill>
          <a:blip xmlns:r="http://schemas.openxmlformats.org/officeDocument/2006/relationships" xmlns:a="http://schemas.openxmlformats.org/drawingml/2006/main" r:embed="R9bba8a6bc2d348a9"/>
          <a:stretch xmlns:a="http://schemas.openxmlformats.org/drawingml/2006/main"/>
        </p:blipFill>
        <p:spPr>
          <a:xfrm xmlns:a="http://schemas.openxmlformats.org/drawingml/2006/main">
            <a:off x="4290527" y="4438650"/>
            <a:ext cx="410547" cy="419100"/>
          </a:xfrm>
          <a:prstGeom xmlns:a="http://schemas.openxmlformats.org/drawingml/2006/main" prst="rect">
            <a:avLst/>
          </a:prstGeom>
        </p:spPr>
      </p:pic>
      <p:sp>
        <p:nvSpPr>
          <p:cNvPr id="53" name="Rectangle 52">
            <a:extLst xmlns:a="http://schemas.openxmlformats.org/drawingml/2006/main">
              <a:ext uri="{FF2B5EF4-FFF2-40B4-BE49-F238E27FC236}">
                <a16:creationId xmlns:a16="http://schemas.microsoft.com/office/drawing/2014/main" id="{F4CA365B-FF03-49FC-B69B-63AE26276631}"/>
              </a:ext>
            </a:extLst>
          </p:cNvPr>
          <p:cNvSpPr>
            <a:spLocks xmlns:a="http://schemas.openxmlformats.org/drawingml/2006/main" noGrp="1"/>
          </p:cNvSpPr>
          <p:nvPr/>
        </p:nvSpPr>
        <p:spPr>
          <a:xfrm xmlns:a="http://schemas.openxmlformats.org/drawingml/2006/main">
            <a:off x="4157773" y="4907480"/>
            <a:ext cx="619125"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750" b="0" i="0">
                <a:solidFill>
                  <a:srgbClr val="111111"/>
                </a:solidFill>
                <a:latin typeface="Arial"/>
                <a:ea typeface="Arial"/>
                <a:cs typeface="Arial"/>
              </a:defRPr>
            </a:pPr>
            <a:r>
              <a:rPr sz="750" b="0" i="0">
                <a:solidFill>
                  <a:srgbClr val="111111"/>
                </a:solidFill>
                <a:latin typeface="Arial"/>
                <a:ea typeface="Arial"/>
                <a:cs typeface="Arial"/>
              </a:rPr>
              <a:t>VPN</a:t>
            </a:r>
          </a:p>
        </p:txBody>
      </p:sp>
      <p:pic>
        <p:nvPicPr>
          <p:cNvPr id="197" name="Picture 165"/>
          <p:cNvPicPr>
            <a:picLocks xmlns:a="http://schemas.openxmlformats.org/drawingml/2006/main" noChangeAspect="1"/>
          </p:cNvPicPr>
          <p:nvPr/>
        </p:nvPicPr>
        <p:blipFill>
          <a:blip xmlns:r="http://schemas.openxmlformats.org/officeDocument/2006/relationships" xmlns:a="http://schemas.openxmlformats.org/drawingml/2006/main" r:embed="R8b4e1b543ec54eb7"/>
          <a:stretch xmlns:a="http://schemas.openxmlformats.org/drawingml/2006/main"/>
        </p:blipFill>
        <p:spPr>
          <a:xfrm xmlns:a="http://schemas.openxmlformats.org/drawingml/2006/main">
            <a:off x="5181600" y="4438650"/>
            <a:ext cx="419100" cy="419100"/>
          </a:xfrm>
          <a:prstGeom xmlns:a="http://schemas.openxmlformats.org/drawingml/2006/main" prst="rect">
            <a:avLst/>
          </a:prstGeom>
        </p:spPr>
      </p:pic>
      <p:sp>
        <p:nvSpPr>
          <p:cNvPr id="55" name="Rectangle 54">
            <a:extLst xmlns:a="http://schemas.openxmlformats.org/drawingml/2006/main">
              <a:ext uri="{FF2B5EF4-FFF2-40B4-BE49-F238E27FC236}">
                <a16:creationId xmlns:a16="http://schemas.microsoft.com/office/drawing/2014/main" id="{FE307725-A700-4C9A-BAF8-B753C5BDB258}"/>
              </a:ext>
            </a:extLst>
          </p:cNvPr>
          <p:cNvSpPr>
            <a:spLocks xmlns:a="http://schemas.openxmlformats.org/drawingml/2006/main" noGrp="1"/>
          </p:cNvSpPr>
          <p:nvPr/>
        </p:nvSpPr>
        <p:spPr>
          <a:xfrm xmlns:a="http://schemas.openxmlformats.org/drawingml/2006/main">
            <a:off x="5124450" y="4895850"/>
            <a:ext cx="619125"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750" b="0" i="0">
                <a:solidFill>
                  <a:srgbClr val="111111"/>
                </a:solidFill>
                <a:latin typeface="Arial"/>
                <a:ea typeface="Arial"/>
                <a:cs typeface="Arial"/>
              </a:defRPr>
            </a:pPr>
            <a:r>
              <a:rPr sz="750" b="0" i="0">
                <a:solidFill>
                  <a:srgbClr val="111111"/>
                </a:solidFill>
                <a:latin typeface="Arial"/>
                <a:ea typeface="Arial"/>
                <a:cs typeface="Arial"/>
              </a:rPr>
              <a:t>FastConnect</a:t>
            </a:r>
          </a:p>
        </p:txBody>
      </p:sp>
      <p:sp>
        <p:nvSpPr>
          <p:cNvPr id="56" name="Straight Connector 55">
            <a:extLst xmlns:a="http://schemas.openxmlformats.org/drawingml/2006/main">
              <a:ext uri="{FF2B5EF4-FFF2-40B4-BE49-F238E27FC236}">
                <a16:creationId xmlns:a16="http://schemas.microsoft.com/office/drawing/2014/main" id="{461CE8BA-D873-43C8-AE90-32516CD9FA89}"/>
              </a:ext>
            </a:extLst>
          </p:cNvPr>
          <p:cNvSpPr>
            <a:spLocks xmlns:a="http://schemas.openxmlformats.org/drawingml/2006/main" noGrp="1"/>
          </p:cNvSpPr>
          <p:nvPr/>
        </p:nvSpPr>
        <p:spPr>
          <a:xfrm xmlns:a="http://schemas.openxmlformats.org/drawingml/2006/main">
            <a:off x="3181350" y="5076825"/>
            <a:ext cx="2667000" cy="0"/>
          </a:xfrm>
          <a:prstGeom xmlns:a="http://schemas.openxmlformats.org/drawingml/2006/main" prst="line">
            <a:avLst/>
          </a:prstGeom>
          <a:noFill xmlns:a="http://schemas.openxmlformats.org/drawingml/2006/main"/>
          <a:ln xmlns:a="http://schemas.openxmlformats.org/drawingml/2006/main" w="9525">
            <a:solidFill>
              <a:srgbClr val="D8DEDA"/>
            </a:solidFill>
            <a:prstDash val="solid"/>
          </a:ln>
        </p:spPr>
        <p:txBody>
          <a:bodyPr xmlns:a="http://schemas.openxmlformats.org/drawingml/2006/main"/>
          <a:lstStyle xmlns:a="http://schemas.openxmlformats.org/drawingml/2006/main"/>
          <a:p xmlns:a="http://schemas.openxmlformats.org/drawingml/2006/main">
            <a:endParaRPr/>
          </a:p>
        </p:txBody>
      </p:sp>
      <p:pic>
        <p:nvPicPr>
          <p:cNvPr id="200" name="Picture 168"/>
          <p:cNvPicPr>
            <a:picLocks xmlns:a="http://schemas.openxmlformats.org/drawingml/2006/main" noChangeAspect="1"/>
          </p:cNvPicPr>
          <p:nvPr/>
        </p:nvPicPr>
        <p:blipFill>
          <a:blip xmlns:r="http://schemas.openxmlformats.org/officeDocument/2006/relationships" xmlns:a="http://schemas.openxmlformats.org/drawingml/2006/main" r:embed="R2567edb90a1a4412"/>
          <a:stretch xmlns:a="http://schemas.openxmlformats.org/drawingml/2006/main"/>
        </p:blipFill>
        <p:spPr>
          <a:xfrm xmlns:a="http://schemas.openxmlformats.org/drawingml/2006/main">
            <a:off x="3381375" y="5200650"/>
            <a:ext cx="342900" cy="342900"/>
          </a:xfrm>
          <a:prstGeom xmlns:a="http://schemas.openxmlformats.org/drawingml/2006/main" prst="rect">
            <a:avLst/>
          </a:prstGeom>
        </p:spPr>
      </p:pic>
      <p:sp>
        <p:nvSpPr>
          <p:cNvPr id="58" name="Rectangle 57">
            <a:extLst xmlns:a="http://schemas.openxmlformats.org/drawingml/2006/main">
              <a:ext uri="{FF2B5EF4-FFF2-40B4-BE49-F238E27FC236}">
                <a16:creationId xmlns:a16="http://schemas.microsoft.com/office/drawing/2014/main" id="{F0744A58-D89A-485D-AEDC-154E1A939AB8}"/>
              </a:ext>
            </a:extLst>
          </p:cNvPr>
          <p:cNvSpPr>
            <a:spLocks xmlns:a="http://schemas.openxmlformats.org/drawingml/2006/main" noGrp="1"/>
          </p:cNvSpPr>
          <p:nvPr/>
        </p:nvSpPr>
        <p:spPr>
          <a:xfrm xmlns:a="http://schemas.openxmlformats.org/drawingml/2006/main">
            <a:off x="3143250" y="5595936"/>
            <a:ext cx="809625"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750" b="0" i="0">
                <a:solidFill>
                  <a:srgbClr val="111111"/>
                </a:solidFill>
                <a:latin typeface="Arial"/>
                <a:ea typeface="Arial"/>
                <a:cs typeface="Arial"/>
              </a:defRPr>
            </a:pPr>
            <a:r>
              <a:rPr sz="750" b="0" i="0">
                <a:solidFill>
                  <a:srgbClr val="111111"/>
                </a:solidFill>
                <a:latin typeface="Arial"/>
                <a:ea typeface="Arial"/>
                <a:cs typeface="Arial"/>
              </a:rPr>
              <a:t>Secure</a:t>
            </a:r>
          </a:p>
        </p:txBody>
      </p:sp>
      <p:pic>
        <p:nvPicPr>
          <p:cNvPr id="202" name="Picture 170"/>
          <p:cNvPicPr>
            <a:picLocks xmlns:a="http://schemas.openxmlformats.org/drawingml/2006/main" noChangeAspect="1"/>
          </p:cNvPicPr>
          <p:nvPr/>
        </p:nvPicPr>
        <p:blipFill>
          <a:blip xmlns:r="http://schemas.openxmlformats.org/officeDocument/2006/relationships" xmlns:a="http://schemas.openxmlformats.org/drawingml/2006/main" r:embed="R4296bb3d28c049cd"/>
          <a:stretch xmlns:a="http://schemas.openxmlformats.org/drawingml/2006/main"/>
        </p:blipFill>
        <p:spPr>
          <a:xfrm xmlns:a="http://schemas.openxmlformats.org/drawingml/2006/main">
            <a:off x="4248150" y="5205162"/>
            <a:ext cx="342900" cy="333876"/>
          </a:xfrm>
          <a:prstGeom xmlns:a="http://schemas.openxmlformats.org/drawingml/2006/main" prst="rect">
            <a:avLst/>
          </a:prstGeom>
        </p:spPr>
      </p:pic>
      <p:sp>
        <p:nvSpPr>
          <p:cNvPr id="60" name="Rectangle 59">
            <a:extLst xmlns:a="http://schemas.openxmlformats.org/drawingml/2006/main">
              <a:ext uri="{FF2B5EF4-FFF2-40B4-BE49-F238E27FC236}">
                <a16:creationId xmlns:a16="http://schemas.microsoft.com/office/drawing/2014/main" id="{CC8880FD-4A4B-4750-AE37-D4FFB0350FB1}"/>
              </a:ext>
            </a:extLst>
          </p:cNvPr>
          <p:cNvSpPr>
            <a:spLocks xmlns:a="http://schemas.openxmlformats.org/drawingml/2006/main" noGrp="1"/>
          </p:cNvSpPr>
          <p:nvPr/>
        </p:nvSpPr>
        <p:spPr>
          <a:xfrm xmlns:a="http://schemas.openxmlformats.org/drawingml/2006/main">
            <a:off x="4000501" y="5572124"/>
            <a:ext cx="809625"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750" b="0" i="0">
                <a:solidFill>
                  <a:srgbClr val="111111"/>
                </a:solidFill>
                <a:latin typeface="Arial"/>
                <a:ea typeface="Arial"/>
                <a:cs typeface="Arial"/>
              </a:defRPr>
            </a:pPr>
            <a:r>
              <a:rPr sz="750" b="0" i="0">
                <a:solidFill>
                  <a:srgbClr val="111111"/>
                </a:solidFill>
                <a:latin typeface="Arial"/>
                <a:ea typeface="Arial"/>
                <a:cs typeface="Arial"/>
              </a:rPr>
              <a:t>High Performance</a:t>
            </a:r>
          </a:p>
        </p:txBody>
      </p:sp>
      <p:pic>
        <p:nvPicPr>
          <p:cNvPr id="204" name="Picture 172"/>
          <p:cNvPicPr>
            <a:picLocks xmlns:a="http://schemas.openxmlformats.org/drawingml/2006/main" noChangeAspect="1"/>
          </p:cNvPicPr>
          <p:nvPr/>
        </p:nvPicPr>
        <p:blipFill>
          <a:blip xmlns:r="http://schemas.openxmlformats.org/officeDocument/2006/relationships" xmlns:a="http://schemas.openxmlformats.org/drawingml/2006/main" r:embed="R92f28a5e880e4a21"/>
          <a:stretch xmlns:a="http://schemas.openxmlformats.org/drawingml/2006/main"/>
        </p:blipFill>
        <p:spPr>
          <a:xfrm xmlns:a="http://schemas.openxmlformats.org/drawingml/2006/main">
            <a:off x="5229225" y="5205162"/>
            <a:ext cx="342900" cy="333876"/>
          </a:xfrm>
          <a:prstGeom xmlns:a="http://schemas.openxmlformats.org/drawingml/2006/main" prst="rect">
            <a:avLst/>
          </a:prstGeom>
        </p:spPr>
      </p:pic>
      <p:sp>
        <p:nvSpPr>
          <p:cNvPr id="62" name="Rectangle 61">
            <a:extLst xmlns:a="http://schemas.openxmlformats.org/drawingml/2006/main">
              <a:ext uri="{FF2B5EF4-FFF2-40B4-BE49-F238E27FC236}">
                <a16:creationId xmlns:a16="http://schemas.microsoft.com/office/drawing/2014/main" id="{ADDE7C56-561F-48F6-8455-46B1E9B652D6}"/>
              </a:ext>
            </a:extLst>
          </p:cNvPr>
          <p:cNvSpPr>
            <a:spLocks xmlns:a="http://schemas.openxmlformats.org/drawingml/2006/main" noGrp="1"/>
          </p:cNvSpPr>
          <p:nvPr/>
        </p:nvSpPr>
        <p:spPr>
          <a:xfrm xmlns:a="http://schemas.openxmlformats.org/drawingml/2006/main">
            <a:off x="5095875" y="5572125"/>
            <a:ext cx="809625"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750" b="0" i="0">
                <a:solidFill>
                  <a:srgbClr val="111111"/>
                </a:solidFill>
                <a:latin typeface="Arial"/>
                <a:ea typeface="Arial"/>
                <a:cs typeface="Arial"/>
              </a:defRPr>
            </a:pPr>
            <a:r>
              <a:rPr sz="750" b="0" i="0">
                <a:solidFill>
                  <a:srgbClr val="111111"/>
                </a:solidFill>
                <a:latin typeface="Arial"/>
                <a:ea typeface="Arial"/>
                <a:cs typeface="Arial"/>
              </a:rPr>
              <a:t>Private Connectivity</a:t>
            </a:r>
          </a:p>
        </p:txBody>
      </p:sp>
      <p:sp>
        <p:nvSpPr>
          <p:cNvPr id="63" name="Straight Connector 62">
            <a:extLst xmlns:a="http://schemas.openxmlformats.org/drawingml/2006/main">
              <a:ext uri="{FF2B5EF4-FFF2-40B4-BE49-F238E27FC236}">
                <a16:creationId xmlns:a16="http://schemas.microsoft.com/office/drawing/2014/main" id="{2FAF5588-F34B-49A2-B33E-F56981A0B641}"/>
              </a:ext>
            </a:extLst>
          </p:cNvPr>
          <p:cNvSpPr>
            <a:spLocks xmlns:a="http://schemas.openxmlformats.org/drawingml/2006/main" noGrp="1"/>
          </p:cNvSpPr>
          <p:nvPr/>
        </p:nvSpPr>
        <p:spPr>
          <a:xfrm xmlns:a="http://schemas.openxmlformats.org/drawingml/2006/main">
            <a:off x="3867150" y="5200650"/>
            <a:ext cx="0" cy="504825"/>
          </a:xfrm>
          <a:prstGeom xmlns:a="http://schemas.openxmlformats.org/drawingml/2006/main" prst="line">
            <a:avLst/>
          </a:prstGeom>
          <a:noFill xmlns:a="http://schemas.openxmlformats.org/drawingml/2006/main"/>
          <a:ln xmlns:a="http://schemas.openxmlformats.org/drawingml/2006/main" w="9525">
            <a:solidFill>
              <a:srgbClr val="D8DEDA"/>
            </a:solidFill>
            <a:prstDash val="solid"/>
          </a:ln>
        </p:spPr>
        <p:txBody>
          <a:bodyPr xmlns:a="http://schemas.openxmlformats.org/drawingml/2006/main"/>
          <a:lstStyle xmlns:a="http://schemas.openxmlformats.org/drawingml/2006/main"/>
          <a:p xmlns:a="http://schemas.openxmlformats.org/drawingml/2006/main">
            <a:endParaRPr/>
          </a:p>
        </p:txBody>
      </p:sp>
      <p:sp>
        <p:nvSpPr>
          <p:cNvPr id="64" name="Straight Connector 63">
            <a:extLst xmlns:a="http://schemas.openxmlformats.org/drawingml/2006/main">
              <a:ext uri="{FF2B5EF4-FFF2-40B4-BE49-F238E27FC236}">
                <a16:creationId xmlns:a16="http://schemas.microsoft.com/office/drawing/2014/main" id="{E9ABF822-5D52-47E5-82D8-1996325719FD}"/>
              </a:ext>
            </a:extLst>
          </p:cNvPr>
          <p:cNvSpPr>
            <a:spLocks xmlns:a="http://schemas.openxmlformats.org/drawingml/2006/main" noGrp="1"/>
          </p:cNvSpPr>
          <p:nvPr/>
        </p:nvSpPr>
        <p:spPr>
          <a:xfrm xmlns:a="http://schemas.openxmlformats.org/drawingml/2006/main">
            <a:off x="4944361" y="5174733"/>
            <a:ext cx="0" cy="504825"/>
          </a:xfrm>
          <a:prstGeom xmlns:a="http://schemas.openxmlformats.org/drawingml/2006/main" prst="line">
            <a:avLst/>
          </a:prstGeom>
          <a:noFill xmlns:a="http://schemas.openxmlformats.org/drawingml/2006/main"/>
          <a:ln xmlns:a="http://schemas.openxmlformats.org/drawingml/2006/main" w="9525">
            <a:solidFill>
              <a:srgbClr val="D8DEDA"/>
            </a:solidFill>
            <a:prstDash val="solid"/>
          </a:ln>
        </p:spPr>
        <p:txBody>
          <a:bodyPr xmlns:a="http://schemas.openxmlformats.org/drawingml/2006/main"/>
          <a:lstStyle xmlns:a="http://schemas.openxmlformats.org/drawingml/2006/main"/>
          <a:p xmlns:a="http://schemas.openxmlformats.org/drawingml/2006/main">
            <a:endParaRPr/>
          </a:p>
        </p:txBody>
      </p:sp>
      <p:sp>
        <p:nvSpPr>
          <p:cNvPr id="65" name="Rounded Rectangle 64">
            <a:extLst xmlns:a="http://schemas.openxmlformats.org/drawingml/2006/main">
              <a:ext uri="{FF2B5EF4-FFF2-40B4-BE49-F238E27FC236}">
                <a16:creationId xmlns:a16="http://schemas.microsoft.com/office/drawing/2014/main" id="{15E35943-770E-4E69-A8A0-AFB0A1C16128}"/>
              </a:ext>
            </a:extLst>
          </p:cNvPr>
          <p:cNvSpPr>
            <a:spLocks xmlns:a="http://schemas.openxmlformats.org/drawingml/2006/main" noGrp="1"/>
          </p:cNvSpPr>
          <p:nvPr/>
        </p:nvSpPr>
        <p:spPr>
          <a:xfrm xmlns:a="http://schemas.openxmlformats.org/drawingml/2006/main">
            <a:off x="6038850" y="2266950"/>
            <a:ext cx="3400425" cy="3448050"/>
          </a:xfrm>
          <a:prstGeom xmlns:a="http://schemas.openxmlformats.org/drawingml/2006/main" prst="roundRect">
            <a:avLst>
              <a:gd name="adj" fmla="val 1961"/>
            </a:avLst>
          </a:prstGeom>
          <a:solidFill xmlns:a="http://schemas.openxmlformats.org/drawingml/2006/main">
            <a:srgbClr val="FFFFFF"/>
          </a:solidFill>
          <a:ln xmlns:a="http://schemas.openxmlformats.org/drawingml/2006/main" w="9525">
            <a:solidFill>
              <a:srgbClr val="E6000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66" name="Rounded Rectangle 65">
            <a:extLst xmlns:a="http://schemas.openxmlformats.org/drawingml/2006/main">
              <a:ext uri="{FF2B5EF4-FFF2-40B4-BE49-F238E27FC236}">
                <a16:creationId xmlns:a16="http://schemas.microsoft.com/office/drawing/2014/main" id="{832FEC8D-6412-414D-A1AF-A830E54C34ED}"/>
              </a:ext>
            </a:extLst>
          </p:cNvPr>
          <p:cNvSpPr>
            <a:spLocks xmlns:a="http://schemas.openxmlformats.org/drawingml/2006/main" noGrp="1"/>
          </p:cNvSpPr>
          <p:nvPr/>
        </p:nvSpPr>
        <p:spPr>
          <a:xfrm xmlns:a="http://schemas.openxmlformats.org/drawingml/2006/main">
            <a:off x="6038850" y="2266950"/>
            <a:ext cx="3400425" cy="314325"/>
          </a:xfrm>
          <a:prstGeom xmlns:a="http://schemas.openxmlformats.org/drawingml/2006/main" prst="roundRect">
            <a:avLst>
              <a:gd name="adj" fmla="val 21212"/>
            </a:avLst>
          </a:prstGeom>
          <a:gradFill xmlns:a="http://schemas.openxmlformats.org/drawingml/2006/main">
            <a:gsLst>
              <a:gs pos="0">
                <a:srgbClr val="D60000"/>
              </a:gs>
              <a:gs pos="100000">
                <a:srgbClr val="E00000"/>
              </a:gs>
            </a:gsLst>
            <a:lin ang="5400000"/>
          </a:gra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67" name="Rectangle 66">
            <a:extLst xmlns:a="http://schemas.openxmlformats.org/drawingml/2006/main">
              <a:ext uri="{FF2B5EF4-FFF2-40B4-BE49-F238E27FC236}">
                <a16:creationId xmlns:a16="http://schemas.microsoft.com/office/drawing/2014/main" id="{01A33433-6356-4362-8955-320E4C1E596A}"/>
              </a:ext>
            </a:extLst>
          </p:cNvPr>
          <p:cNvSpPr>
            <a:spLocks xmlns:a="http://schemas.openxmlformats.org/drawingml/2006/main" noGrp="1"/>
          </p:cNvSpPr>
          <p:nvPr/>
        </p:nvSpPr>
        <p:spPr>
          <a:xfrm xmlns:a="http://schemas.openxmlformats.org/drawingml/2006/main">
            <a:off x="6038850" y="2514600"/>
            <a:ext cx="3400425" cy="76200"/>
          </a:xfrm>
          <a:prstGeom xmlns:a="http://schemas.openxmlformats.org/drawingml/2006/main" prst="rect">
            <a:avLst/>
          </a:prstGeom>
          <a:solidFill xmlns:a="http://schemas.openxmlformats.org/drawingml/2006/main">
            <a:srgbClr val="E0000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68" name="Rectangle 67">
            <a:extLst xmlns:a="http://schemas.openxmlformats.org/drawingml/2006/main">
              <a:ext uri="{FF2B5EF4-FFF2-40B4-BE49-F238E27FC236}">
                <a16:creationId xmlns:a16="http://schemas.microsoft.com/office/drawing/2014/main" id="{97444AAE-3FFE-41A9-B95D-375281A40DC0}"/>
              </a:ext>
            </a:extLst>
          </p:cNvPr>
          <p:cNvSpPr>
            <a:spLocks xmlns:a="http://schemas.openxmlformats.org/drawingml/2006/main" noGrp="1"/>
          </p:cNvSpPr>
          <p:nvPr/>
        </p:nvSpPr>
        <p:spPr>
          <a:xfrm xmlns:a="http://schemas.openxmlformats.org/drawingml/2006/main">
            <a:off x="6410325" y="2381250"/>
            <a:ext cx="2667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900" b="1" i="0">
                <a:solidFill>
                  <a:srgbClr val="FFFFFF"/>
                </a:solidFill>
                <a:latin typeface="Arial"/>
                <a:ea typeface="Arial"/>
                <a:cs typeface="Arial"/>
              </a:defRPr>
            </a:pPr>
            <a:r>
              <a:rPr sz="900" b="1" i="0">
                <a:solidFill>
                  <a:srgbClr val="FFFFFF"/>
                </a:solidFill>
                <a:latin typeface="Arial"/>
                <a:ea typeface="Arial"/>
                <a:cs typeface="Arial"/>
              </a:rPr>
              <a:t>ORACLE CLOUD VMWARE SOLUTION (OCVS)</a:t>
            </a:r>
          </a:p>
        </p:txBody>
      </p:sp>
      <p:pic>
        <p:nvPicPr>
          <p:cNvPr id="212" name="Picture 180"/>
          <p:cNvPicPr>
            <a:picLocks xmlns:a="http://schemas.openxmlformats.org/drawingml/2006/main" noChangeAspect="1"/>
          </p:cNvPicPr>
          <p:nvPr/>
        </p:nvPicPr>
        <p:blipFill>
          <a:blip xmlns:r="http://schemas.openxmlformats.org/officeDocument/2006/relationships" xmlns:a="http://schemas.openxmlformats.org/drawingml/2006/main" r:embed="Ra659bad0a89545ca"/>
          <a:stretch xmlns:a="http://schemas.openxmlformats.org/drawingml/2006/main"/>
        </p:blipFill>
        <p:spPr>
          <a:xfrm xmlns:a="http://schemas.openxmlformats.org/drawingml/2006/main">
            <a:off x="7219950" y="2698955"/>
            <a:ext cx="952500" cy="583790"/>
          </a:xfrm>
          <a:prstGeom xmlns:a="http://schemas.openxmlformats.org/drawingml/2006/main" prst="rect">
            <a:avLst/>
          </a:prstGeom>
        </p:spPr>
      </p:pic>
      <p:sp>
        <p:nvSpPr>
          <p:cNvPr id="70" name="Rectangle 69">
            <a:extLst xmlns:a="http://schemas.openxmlformats.org/drawingml/2006/main">
              <a:ext uri="{FF2B5EF4-FFF2-40B4-BE49-F238E27FC236}">
                <a16:creationId xmlns:a16="http://schemas.microsoft.com/office/drawing/2014/main" id="{90E5D9A3-120E-434E-AA87-D4228E402F87}"/>
              </a:ext>
            </a:extLst>
          </p:cNvPr>
          <p:cNvSpPr>
            <a:spLocks xmlns:a="http://schemas.openxmlformats.org/drawingml/2006/main" noGrp="1"/>
          </p:cNvSpPr>
          <p:nvPr/>
        </p:nvSpPr>
        <p:spPr>
          <a:xfrm xmlns:a="http://schemas.openxmlformats.org/drawingml/2006/main">
            <a:off x="6743700" y="3333750"/>
            <a:ext cx="2047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ctr">
              <a:lnSpc>
                <a:spcPct val="115000"/>
              </a:lnSpc>
              <a:buNone/>
              <a:defRPr sz="975" b="1" i="0">
                <a:solidFill>
                  <a:srgbClr val="111111"/>
                </a:solidFill>
                <a:latin typeface="Arial"/>
                <a:ea typeface="Arial"/>
                <a:cs typeface="Arial"/>
              </a:defRPr>
            </a:pPr>
            <a:r>
              <a:rPr sz="975" b="1" i="0">
                <a:solidFill>
                  <a:srgbClr val="111111"/>
                </a:solidFill>
                <a:latin typeface="Arial"/>
                <a:ea typeface="Arial"/>
                <a:cs typeface="Arial"/>
              </a:rPr>
              <a:t>Extend your VMware environment</a:t>
            </a:r>
          </a:p>
          <a:p xmlns:a="http://schemas.openxmlformats.org/drawingml/2006/main">
            <a:pPr algn="ctr">
              <a:lnSpc>
                <a:spcPct val="115000"/>
              </a:lnSpc>
              <a:buNone/>
              <a:defRPr sz="975" b="1" i="0">
                <a:solidFill>
                  <a:srgbClr val="111111"/>
                </a:solidFill>
                <a:latin typeface="Arial"/>
                <a:ea typeface="Arial"/>
                <a:cs typeface="Arial"/>
              </a:defRPr>
            </a:pPr>
            <a:r>
              <a:rPr sz="975" b="1" i="0">
                <a:solidFill>
                  <a:srgbClr val="111111"/>
                </a:solidFill>
                <a:latin typeface="Arial"/>
                <a:ea typeface="Arial"/>
                <a:cs typeface="Arial"/>
              </a:rPr>
              <a:t>on Oracle Cloud Infrastructure</a:t>
            </a:r>
          </a:p>
        </p:txBody>
      </p:sp>
      <p:sp>
        <p:nvSpPr>
          <p:cNvPr id="71" name="Straight Connector 70">
            <a:extLst xmlns:a="http://schemas.openxmlformats.org/drawingml/2006/main">
              <a:ext uri="{FF2B5EF4-FFF2-40B4-BE49-F238E27FC236}">
                <a16:creationId xmlns:a16="http://schemas.microsoft.com/office/drawing/2014/main" id="{8F7263F0-E526-404F-8D96-C720966F73C2}"/>
              </a:ext>
            </a:extLst>
          </p:cNvPr>
          <p:cNvSpPr>
            <a:spLocks xmlns:a="http://schemas.openxmlformats.org/drawingml/2006/main" noGrp="1"/>
          </p:cNvSpPr>
          <p:nvPr/>
        </p:nvSpPr>
        <p:spPr>
          <a:xfrm xmlns:a="http://schemas.openxmlformats.org/drawingml/2006/main">
            <a:off x="6210300" y="3762375"/>
            <a:ext cx="3057525" cy="0"/>
          </a:xfrm>
          <a:prstGeom xmlns:a="http://schemas.openxmlformats.org/drawingml/2006/main" prst="line">
            <a:avLst/>
          </a:prstGeom>
          <a:noFill xmlns:a="http://schemas.openxmlformats.org/drawingml/2006/main"/>
          <a:ln xmlns:a="http://schemas.openxmlformats.org/drawingml/2006/main" w="9525">
            <a:solidFill>
              <a:srgbClr val="D8DEDA"/>
            </a:solidFill>
            <a:prstDash val="solid"/>
          </a:ln>
        </p:spPr>
        <p:txBody>
          <a:bodyPr xmlns:a="http://schemas.openxmlformats.org/drawingml/2006/main"/>
          <a:lstStyle xmlns:a="http://schemas.openxmlformats.org/drawingml/2006/main"/>
          <a:p xmlns:a="http://schemas.openxmlformats.org/drawingml/2006/main">
            <a:endParaRPr/>
          </a:p>
        </p:txBody>
      </p:sp>
      <p:sp>
        <p:nvSpPr>
          <p:cNvPr id="72" name="Rounded Rectangle 71">
            <a:extLst xmlns:a="http://schemas.openxmlformats.org/drawingml/2006/main">
              <a:ext uri="{FF2B5EF4-FFF2-40B4-BE49-F238E27FC236}">
                <a16:creationId xmlns:a16="http://schemas.microsoft.com/office/drawing/2014/main" id="{1024878C-6420-4312-8E46-49CBD6ECD19A}"/>
              </a:ext>
            </a:extLst>
          </p:cNvPr>
          <p:cNvSpPr>
            <a:spLocks xmlns:a="http://schemas.openxmlformats.org/drawingml/2006/main" noGrp="1"/>
          </p:cNvSpPr>
          <p:nvPr/>
        </p:nvSpPr>
        <p:spPr>
          <a:xfrm xmlns:a="http://schemas.openxmlformats.org/drawingml/2006/main">
            <a:off x="6219825" y="3905250"/>
            <a:ext cx="914400" cy="790575"/>
          </a:xfrm>
          <a:prstGeom xmlns:a="http://schemas.openxmlformats.org/drawingml/2006/main" prst="roundRect">
            <a:avLst>
              <a:gd name="adj" fmla="val 6024"/>
            </a:avLst>
          </a:prstGeom>
          <a:solidFill xmlns:a="http://schemas.openxmlformats.org/drawingml/2006/main">
            <a:srgbClr val="FDEEEE"/>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pic>
        <p:nvPicPr>
          <p:cNvPr id="216" name="Picture 184"/>
          <p:cNvPicPr>
            <a:picLocks xmlns:a="http://schemas.openxmlformats.org/drawingml/2006/main" noChangeAspect="1"/>
          </p:cNvPicPr>
          <p:nvPr/>
        </p:nvPicPr>
        <p:blipFill>
          <a:blip xmlns:r="http://schemas.openxmlformats.org/officeDocument/2006/relationships" xmlns:a="http://schemas.openxmlformats.org/drawingml/2006/main" r:embed="R18cea8bc3ccc4b56"/>
          <a:stretch xmlns:a="http://schemas.openxmlformats.org/drawingml/2006/main"/>
        </p:blipFill>
        <p:spPr>
          <a:xfrm xmlns:a="http://schemas.openxmlformats.org/drawingml/2006/main">
            <a:off x="6524625" y="4040019"/>
            <a:ext cx="314325" cy="321013"/>
          </a:xfrm>
          <a:prstGeom xmlns:a="http://schemas.openxmlformats.org/drawingml/2006/main" prst="rect">
            <a:avLst/>
          </a:prstGeom>
        </p:spPr>
      </p:pic>
      <p:sp>
        <p:nvSpPr>
          <p:cNvPr id="74" name="Rectangle 73">
            <a:extLst xmlns:a="http://schemas.openxmlformats.org/drawingml/2006/main">
              <a:ext uri="{FF2B5EF4-FFF2-40B4-BE49-F238E27FC236}">
                <a16:creationId xmlns:a16="http://schemas.microsoft.com/office/drawing/2014/main" id="{BFD337C6-24DF-4025-82D7-32901B862419}"/>
              </a:ext>
            </a:extLst>
          </p:cNvPr>
          <p:cNvSpPr>
            <a:spLocks xmlns:a="http://schemas.openxmlformats.org/drawingml/2006/main" noGrp="1"/>
          </p:cNvSpPr>
          <p:nvPr/>
        </p:nvSpPr>
        <p:spPr>
          <a:xfrm xmlns:a="http://schemas.openxmlformats.org/drawingml/2006/main">
            <a:off x="6410325" y="4476750"/>
            <a:ext cx="5334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750" b="1" i="0">
                <a:solidFill>
                  <a:srgbClr val="111111"/>
                </a:solidFill>
                <a:latin typeface="Arial"/>
                <a:ea typeface="Arial"/>
                <a:cs typeface="Arial"/>
              </a:defRPr>
            </a:pPr>
            <a:r>
              <a:rPr sz="750" b="1" i="0">
                <a:solidFill>
                  <a:srgbClr val="111111"/>
                </a:solidFill>
                <a:latin typeface="Arial"/>
                <a:ea typeface="Arial"/>
                <a:cs typeface="Arial"/>
              </a:rPr>
              <a:t>Compute</a:t>
            </a:r>
          </a:p>
        </p:txBody>
      </p:sp>
      <p:sp>
        <p:nvSpPr>
          <p:cNvPr id="75" name="Rounded Rectangle 74">
            <a:extLst xmlns:a="http://schemas.openxmlformats.org/drawingml/2006/main">
              <a:ext uri="{FF2B5EF4-FFF2-40B4-BE49-F238E27FC236}">
                <a16:creationId xmlns:a16="http://schemas.microsoft.com/office/drawing/2014/main" id="{1604921D-74E6-4BDD-BE35-268A5F1E93B1}"/>
              </a:ext>
            </a:extLst>
          </p:cNvPr>
          <p:cNvSpPr>
            <a:spLocks xmlns:a="http://schemas.openxmlformats.org/drawingml/2006/main" noGrp="1"/>
          </p:cNvSpPr>
          <p:nvPr/>
        </p:nvSpPr>
        <p:spPr>
          <a:xfrm xmlns:a="http://schemas.openxmlformats.org/drawingml/2006/main">
            <a:off x="7267575" y="3905250"/>
            <a:ext cx="914400" cy="790575"/>
          </a:xfrm>
          <a:prstGeom xmlns:a="http://schemas.openxmlformats.org/drawingml/2006/main" prst="roundRect">
            <a:avLst>
              <a:gd name="adj" fmla="val 6024"/>
            </a:avLst>
          </a:prstGeom>
          <a:solidFill xmlns:a="http://schemas.openxmlformats.org/drawingml/2006/main">
            <a:srgbClr val="FDEEEE"/>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pic>
        <p:nvPicPr>
          <p:cNvPr id="219" name="Picture 187"/>
          <p:cNvPicPr>
            <a:picLocks xmlns:a="http://schemas.openxmlformats.org/drawingml/2006/main" noChangeAspect="1"/>
          </p:cNvPicPr>
          <p:nvPr/>
        </p:nvPicPr>
        <p:blipFill>
          <a:blip xmlns:r="http://schemas.openxmlformats.org/officeDocument/2006/relationships" xmlns:a="http://schemas.openxmlformats.org/drawingml/2006/main" r:embed="R60c7478e06c04a08"/>
          <a:stretch xmlns:a="http://schemas.openxmlformats.org/drawingml/2006/main"/>
        </p:blipFill>
        <p:spPr>
          <a:xfrm xmlns:a="http://schemas.openxmlformats.org/drawingml/2006/main">
            <a:off x="7574359" y="4038600"/>
            <a:ext cx="310356" cy="323850"/>
          </a:xfrm>
          <a:prstGeom xmlns:a="http://schemas.openxmlformats.org/drawingml/2006/main" prst="rect">
            <a:avLst/>
          </a:prstGeom>
        </p:spPr>
      </p:pic>
      <p:sp>
        <p:nvSpPr>
          <p:cNvPr id="77" name="Rectangle 76">
            <a:extLst xmlns:a="http://schemas.openxmlformats.org/drawingml/2006/main">
              <a:ext uri="{FF2B5EF4-FFF2-40B4-BE49-F238E27FC236}">
                <a16:creationId xmlns:a16="http://schemas.microsoft.com/office/drawing/2014/main" id="{2F37EFEC-1F59-4245-8CF6-D4F97E31D607}"/>
              </a:ext>
            </a:extLst>
          </p:cNvPr>
          <p:cNvSpPr>
            <a:spLocks xmlns:a="http://schemas.openxmlformats.org/drawingml/2006/main" noGrp="1"/>
          </p:cNvSpPr>
          <p:nvPr/>
        </p:nvSpPr>
        <p:spPr>
          <a:xfrm xmlns:a="http://schemas.openxmlformats.org/drawingml/2006/main">
            <a:off x="7458075" y="4476750"/>
            <a:ext cx="5334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750" b="1" i="0">
                <a:solidFill>
                  <a:srgbClr val="111111"/>
                </a:solidFill>
                <a:latin typeface="Arial"/>
                <a:ea typeface="Arial"/>
                <a:cs typeface="Arial"/>
              </a:defRPr>
            </a:pPr>
            <a:r>
              <a:rPr sz="750" b="1" i="0">
                <a:solidFill>
                  <a:srgbClr val="111111"/>
                </a:solidFill>
                <a:latin typeface="Arial"/>
                <a:ea typeface="Arial"/>
                <a:cs typeface="Arial"/>
              </a:rPr>
              <a:t>Storage</a:t>
            </a:r>
          </a:p>
        </p:txBody>
      </p:sp>
      <p:sp>
        <p:nvSpPr>
          <p:cNvPr id="78" name="Rounded Rectangle 77">
            <a:extLst xmlns:a="http://schemas.openxmlformats.org/drawingml/2006/main">
              <a:ext uri="{FF2B5EF4-FFF2-40B4-BE49-F238E27FC236}">
                <a16:creationId xmlns:a16="http://schemas.microsoft.com/office/drawing/2014/main" id="{4B888AEA-DFFE-4B44-B348-BF0AC6222FC7}"/>
              </a:ext>
            </a:extLst>
          </p:cNvPr>
          <p:cNvSpPr>
            <a:spLocks xmlns:a="http://schemas.openxmlformats.org/drawingml/2006/main" noGrp="1"/>
          </p:cNvSpPr>
          <p:nvPr/>
        </p:nvSpPr>
        <p:spPr>
          <a:xfrm xmlns:a="http://schemas.openxmlformats.org/drawingml/2006/main">
            <a:off x="8305800" y="3905250"/>
            <a:ext cx="914400" cy="790575"/>
          </a:xfrm>
          <a:prstGeom xmlns:a="http://schemas.openxmlformats.org/drawingml/2006/main" prst="roundRect">
            <a:avLst>
              <a:gd name="adj" fmla="val 6024"/>
            </a:avLst>
          </a:prstGeom>
          <a:solidFill xmlns:a="http://schemas.openxmlformats.org/drawingml/2006/main">
            <a:srgbClr val="FDEEEE"/>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pic>
        <p:nvPicPr>
          <p:cNvPr id="222" name="Picture 190"/>
          <p:cNvPicPr>
            <a:picLocks xmlns:a="http://schemas.openxmlformats.org/drawingml/2006/main" noChangeAspect="1"/>
          </p:cNvPicPr>
          <p:nvPr/>
        </p:nvPicPr>
        <p:blipFill>
          <a:blip xmlns:r="http://schemas.openxmlformats.org/officeDocument/2006/relationships" xmlns:a="http://schemas.openxmlformats.org/drawingml/2006/main" r:embed="R5914d0d0aabb4f28"/>
          <a:stretch xmlns:a="http://schemas.openxmlformats.org/drawingml/2006/main"/>
        </p:blipFill>
        <p:spPr>
          <a:xfrm xmlns:a="http://schemas.openxmlformats.org/drawingml/2006/main">
            <a:off x="8610600" y="4040019"/>
            <a:ext cx="314325" cy="321013"/>
          </a:xfrm>
          <a:prstGeom xmlns:a="http://schemas.openxmlformats.org/drawingml/2006/main" prst="rect">
            <a:avLst/>
          </a:prstGeom>
        </p:spPr>
      </p:pic>
      <p:sp>
        <p:nvSpPr>
          <p:cNvPr id="80" name="Rectangle 79">
            <a:extLst xmlns:a="http://schemas.openxmlformats.org/drawingml/2006/main">
              <a:ext uri="{FF2B5EF4-FFF2-40B4-BE49-F238E27FC236}">
                <a16:creationId xmlns:a16="http://schemas.microsoft.com/office/drawing/2014/main" id="{932BCA88-F17D-43E4-87E7-F778CA021C3B}"/>
              </a:ext>
            </a:extLst>
          </p:cNvPr>
          <p:cNvSpPr>
            <a:spLocks xmlns:a="http://schemas.openxmlformats.org/drawingml/2006/main" noGrp="1"/>
          </p:cNvSpPr>
          <p:nvPr/>
        </p:nvSpPr>
        <p:spPr>
          <a:xfrm xmlns:a="http://schemas.openxmlformats.org/drawingml/2006/main">
            <a:off x="8496300" y="4476750"/>
            <a:ext cx="5334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750" b="1" i="0">
                <a:solidFill>
                  <a:srgbClr val="111111"/>
                </a:solidFill>
                <a:latin typeface="Arial"/>
                <a:ea typeface="Arial"/>
                <a:cs typeface="Arial"/>
              </a:defRPr>
            </a:pPr>
            <a:r>
              <a:rPr sz="750" b="1" i="0">
                <a:solidFill>
                  <a:srgbClr val="111111"/>
                </a:solidFill>
                <a:latin typeface="Arial"/>
                <a:ea typeface="Arial"/>
                <a:cs typeface="Arial"/>
              </a:rPr>
              <a:t>Network</a:t>
            </a:r>
          </a:p>
        </p:txBody>
      </p:sp>
      <p:sp>
        <p:nvSpPr>
          <p:cNvPr id="81" name="Rounded Rectangle 80">
            <a:extLst xmlns:a="http://schemas.openxmlformats.org/drawingml/2006/main">
              <a:ext uri="{FF2B5EF4-FFF2-40B4-BE49-F238E27FC236}">
                <a16:creationId xmlns:a16="http://schemas.microsoft.com/office/drawing/2014/main" id="{2E0F2901-4374-42BD-A410-7E2855868C05}"/>
              </a:ext>
            </a:extLst>
          </p:cNvPr>
          <p:cNvSpPr>
            <a:spLocks xmlns:a="http://schemas.openxmlformats.org/drawingml/2006/main" noGrp="1"/>
          </p:cNvSpPr>
          <p:nvPr/>
        </p:nvSpPr>
        <p:spPr>
          <a:xfrm xmlns:a="http://schemas.openxmlformats.org/drawingml/2006/main">
            <a:off x="6219825" y="4886325"/>
            <a:ext cx="3038475" cy="657225"/>
          </a:xfrm>
          <a:prstGeom xmlns:a="http://schemas.openxmlformats.org/drawingml/2006/main" prst="roundRect">
            <a:avLst>
              <a:gd name="adj" fmla="val 8696"/>
            </a:avLst>
          </a:prstGeom>
          <a:solidFill xmlns:a="http://schemas.openxmlformats.org/drawingml/2006/main">
            <a:srgbClr val="F3F3F3"/>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pic>
        <p:nvPicPr>
          <p:cNvPr id="225" name="Picture 193"/>
          <p:cNvPicPr>
            <a:picLocks xmlns:a="http://schemas.openxmlformats.org/drawingml/2006/main" noChangeAspect="1"/>
          </p:cNvPicPr>
          <p:nvPr/>
        </p:nvPicPr>
        <p:blipFill>
          <a:blip xmlns:r="http://schemas.openxmlformats.org/officeDocument/2006/relationships" xmlns:a="http://schemas.openxmlformats.org/drawingml/2006/main" r:embed="Rd0bb27b0d14f4c88"/>
          <a:stretch xmlns:a="http://schemas.openxmlformats.org/drawingml/2006/main"/>
        </p:blipFill>
        <p:spPr>
          <a:xfrm xmlns:a="http://schemas.openxmlformats.org/drawingml/2006/main">
            <a:off x="6353175" y="5026223"/>
            <a:ext cx="400050" cy="425053"/>
          </a:xfrm>
          <a:prstGeom xmlns:a="http://schemas.openxmlformats.org/drawingml/2006/main" prst="rect">
            <a:avLst/>
          </a:prstGeom>
        </p:spPr>
      </p:pic>
      <p:sp>
        <p:nvSpPr>
          <p:cNvPr id="83" name="Rectangle 82">
            <a:extLst xmlns:a="http://schemas.openxmlformats.org/drawingml/2006/main">
              <a:ext uri="{FF2B5EF4-FFF2-40B4-BE49-F238E27FC236}">
                <a16:creationId xmlns:a16="http://schemas.microsoft.com/office/drawing/2014/main" id="{C7696096-D00C-4A20-BEF0-6CB23CFFF4D6}"/>
              </a:ext>
            </a:extLst>
          </p:cNvPr>
          <p:cNvSpPr>
            <a:spLocks xmlns:a="http://schemas.openxmlformats.org/drawingml/2006/main" noGrp="1"/>
          </p:cNvSpPr>
          <p:nvPr/>
        </p:nvSpPr>
        <p:spPr>
          <a:xfrm xmlns:a="http://schemas.openxmlformats.org/drawingml/2006/main">
            <a:off x="6791325" y="5076825"/>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12000"/>
              </a:lnSpc>
              <a:buNone/>
              <a:defRPr sz="900" b="0" i="0">
                <a:solidFill>
                  <a:srgbClr val="111111"/>
                </a:solidFill>
                <a:latin typeface="Arial"/>
                <a:ea typeface="Arial"/>
                <a:cs typeface="Arial"/>
              </a:defRPr>
            </a:pPr>
            <a:r>
              <a:rPr sz="900" b="0" i="0">
                <a:solidFill>
                  <a:srgbClr val="111111"/>
                </a:solidFill>
                <a:latin typeface="Arial"/>
                <a:ea typeface="Arial"/>
                <a:cs typeface="Arial"/>
              </a:rPr>
              <a:t>Customer-managed VMware Cloud Foundation</a:t>
            </a:r>
          </a:p>
          <a:p xmlns:a="http://schemas.openxmlformats.org/drawingml/2006/main">
            <a:pPr algn="l">
              <a:lnSpc>
                <a:spcPct val="112000"/>
              </a:lnSpc>
              <a:buNone/>
              <a:defRPr sz="900" b="0" i="0">
                <a:solidFill>
                  <a:srgbClr val="111111"/>
                </a:solidFill>
                <a:latin typeface="Arial"/>
                <a:ea typeface="Arial"/>
                <a:cs typeface="Arial"/>
              </a:defRPr>
            </a:pPr>
            <a:r>
              <a:rPr sz="900" b="0" i="0">
                <a:solidFill>
                  <a:srgbClr val="111111"/>
                </a:solidFill>
                <a:latin typeface="Arial"/>
                <a:ea typeface="Arial"/>
                <a:cs typeface="Arial"/>
              </a:rPr>
              <a:t>on native OCI infrastructure</a:t>
            </a:r>
          </a:p>
        </p:txBody>
      </p:sp>
      <p:sp>
        <p:nvSpPr>
          <p:cNvPr id="84" name="Straight Connector 83">
            <a:extLst xmlns:a="http://schemas.openxmlformats.org/drawingml/2006/main">
              <a:ext uri="{FF2B5EF4-FFF2-40B4-BE49-F238E27FC236}">
                <a16:creationId xmlns:a16="http://schemas.microsoft.com/office/drawing/2014/main" id="{3B3281E3-FDA6-4DB0-9246-9862880C7A88}"/>
              </a:ext>
            </a:extLst>
          </p:cNvPr>
          <p:cNvSpPr>
            <a:spLocks xmlns:a="http://schemas.openxmlformats.org/drawingml/2006/main" noGrp="1"/>
          </p:cNvSpPr>
          <p:nvPr/>
        </p:nvSpPr>
        <p:spPr>
          <a:xfrm xmlns:a="http://schemas.openxmlformats.org/drawingml/2006/main">
            <a:off x="9810750" y="1752600"/>
            <a:ext cx="0" cy="3962400"/>
          </a:xfrm>
          <a:prstGeom xmlns:a="http://schemas.openxmlformats.org/drawingml/2006/main" prst="line">
            <a:avLst/>
          </a:prstGeom>
          <a:noFill xmlns:a="http://schemas.openxmlformats.org/drawingml/2006/main"/>
          <a:ln xmlns:a="http://schemas.openxmlformats.org/drawingml/2006/main" w="9525">
            <a:solidFill>
              <a:srgbClr val="D8DEDA"/>
            </a:solidFill>
            <a:prstDash val="solid"/>
          </a:ln>
        </p:spPr>
        <p:txBody>
          <a:bodyPr xmlns:a="http://schemas.openxmlformats.org/drawingml/2006/main"/>
          <a:lstStyle xmlns:a="http://schemas.openxmlformats.org/drawingml/2006/main"/>
          <a:p xmlns:a="http://schemas.openxmlformats.org/drawingml/2006/main">
            <a:endParaRPr/>
          </a:p>
        </p:txBody>
      </p:sp>
      <p:sp>
        <p:nvSpPr>
          <p:cNvPr id="85" name="Rectangle 84">
            <a:extLst xmlns:a="http://schemas.openxmlformats.org/drawingml/2006/main">
              <a:ext uri="{FF2B5EF4-FFF2-40B4-BE49-F238E27FC236}">
                <a16:creationId xmlns:a16="http://schemas.microsoft.com/office/drawing/2014/main" id="{70A0EA1B-22F0-4316-B91C-9738F97287F6}"/>
              </a:ext>
            </a:extLst>
          </p:cNvPr>
          <p:cNvSpPr>
            <a:spLocks xmlns:a="http://schemas.openxmlformats.org/drawingml/2006/main" noGrp="1"/>
          </p:cNvSpPr>
          <p:nvPr/>
        </p:nvSpPr>
        <p:spPr>
          <a:xfrm xmlns:a="http://schemas.openxmlformats.org/drawingml/2006/main">
            <a:off x="10020300" y="1647825"/>
            <a:ext cx="1666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050" b="1" i="0">
                <a:solidFill>
                  <a:srgbClr val="003B25"/>
                </a:solidFill>
                <a:latin typeface="Arial"/>
                <a:ea typeface="Arial"/>
                <a:cs typeface="Arial"/>
              </a:defRPr>
            </a:pPr>
            <a:r>
              <a:rPr sz="1050" b="1" i="0">
                <a:solidFill>
                  <a:srgbClr val="003B25"/>
                </a:solidFill>
                <a:latin typeface="Arial"/>
                <a:ea typeface="Arial"/>
                <a:cs typeface="Arial"/>
              </a:rPr>
              <a:t>BUSINESS OUTCOMES</a:t>
            </a:r>
          </a:p>
        </p:txBody>
      </p:sp>
      <p:sp>
        <p:nvSpPr>
          <p:cNvPr id="86" name="Straight Connector 85">
            <a:extLst xmlns:a="http://schemas.openxmlformats.org/drawingml/2006/main">
              <a:ext uri="{FF2B5EF4-FFF2-40B4-BE49-F238E27FC236}">
                <a16:creationId xmlns:a16="http://schemas.microsoft.com/office/drawing/2014/main" id="{8B2881C5-7C26-4FAF-9316-E26657A2FC5E}"/>
              </a:ext>
            </a:extLst>
          </p:cNvPr>
          <p:cNvSpPr>
            <a:spLocks xmlns:a="http://schemas.openxmlformats.org/drawingml/2006/main" noGrp="1"/>
          </p:cNvSpPr>
          <p:nvPr/>
        </p:nvSpPr>
        <p:spPr>
          <a:xfrm xmlns:a="http://schemas.openxmlformats.org/drawingml/2006/main">
            <a:off x="10020300" y="1847850"/>
            <a:ext cx="1962150" cy="0"/>
          </a:xfrm>
          <a:prstGeom xmlns:a="http://schemas.openxmlformats.org/drawingml/2006/main" prst="line">
            <a:avLst/>
          </a:prstGeom>
          <a:noFill xmlns:a="http://schemas.openxmlformats.org/drawingml/2006/main"/>
          <a:ln xmlns:a="http://schemas.openxmlformats.org/drawingml/2006/main" w="9525">
            <a:solidFill>
              <a:srgbClr val="5B7F70"/>
            </a:solidFill>
            <a:prstDash val="solid"/>
          </a:ln>
        </p:spPr>
        <p:txBody>
          <a:bodyPr xmlns:a="http://schemas.openxmlformats.org/drawingml/2006/main"/>
          <a:lstStyle xmlns:a="http://schemas.openxmlformats.org/drawingml/2006/main"/>
          <a:p xmlns:a="http://schemas.openxmlformats.org/drawingml/2006/main">
            <a:endParaRPr/>
          </a:p>
        </p:txBody>
      </p:sp>
      <p:pic>
        <p:nvPicPr>
          <p:cNvPr id="230" name="Picture 198"/>
          <p:cNvPicPr>
            <a:picLocks xmlns:a="http://schemas.openxmlformats.org/drawingml/2006/main" noChangeAspect="1"/>
          </p:cNvPicPr>
          <p:nvPr/>
        </p:nvPicPr>
        <p:blipFill>
          <a:blip xmlns:r="http://schemas.openxmlformats.org/officeDocument/2006/relationships" xmlns:a="http://schemas.openxmlformats.org/drawingml/2006/main" r:embed="R8d37857dce944f77"/>
          <a:stretch xmlns:a="http://schemas.openxmlformats.org/drawingml/2006/main"/>
        </p:blipFill>
        <p:spPr>
          <a:xfrm xmlns:a="http://schemas.openxmlformats.org/drawingml/2006/main">
            <a:off x="10039350" y="2061976"/>
            <a:ext cx="466725" cy="457574"/>
          </a:xfrm>
          <a:prstGeom xmlns:a="http://schemas.openxmlformats.org/drawingml/2006/main" prst="rect">
            <a:avLst/>
          </a:prstGeom>
        </p:spPr>
      </p:pic>
      <p:sp>
        <p:nvSpPr>
          <p:cNvPr id="88" name="Rectangle 87">
            <a:extLst xmlns:a="http://schemas.openxmlformats.org/drawingml/2006/main">
              <a:ext uri="{FF2B5EF4-FFF2-40B4-BE49-F238E27FC236}">
                <a16:creationId xmlns:a16="http://schemas.microsoft.com/office/drawing/2014/main" id="{46478480-5C09-4C44-88F0-2D8DF1ABFDD0}"/>
              </a:ext>
            </a:extLst>
          </p:cNvPr>
          <p:cNvSpPr>
            <a:spLocks xmlns:a="http://schemas.openxmlformats.org/drawingml/2006/main" noGrp="1"/>
          </p:cNvSpPr>
          <p:nvPr/>
        </p:nvSpPr>
        <p:spPr>
          <a:xfrm xmlns:a="http://schemas.openxmlformats.org/drawingml/2006/main">
            <a:off x="10553700" y="2076450"/>
            <a:ext cx="13525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10000"/>
              </a:lnSpc>
              <a:buNone/>
              <a:defRPr sz="825" b="1" i="0">
                <a:solidFill>
                  <a:srgbClr val="003B25"/>
                </a:solidFill>
                <a:latin typeface="Arial"/>
                <a:ea typeface="Arial"/>
                <a:cs typeface="Arial"/>
              </a:defRPr>
            </a:pPr>
            <a:r>
              <a:rPr sz="825" b="1" i="0">
                <a:solidFill>
                  <a:srgbClr val="003B25"/>
                </a:solidFill>
                <a:latin typeface="Arial"/>
                <a:ea typeface="Arial"/>
                <a:cs typeface="Arial"/>
              </a:rPr>
              <a:t>On-demand capacity</a:t>
            </a:r>
          </a:p>
        </p:txBody>
      </p:sp>
      <p:sp>
        <p:nvSpPr>
          <p:cNvPr id="89" name="Rectangle 88">
            <a:extLst xmlns:a="http://schemas.openxmlformats.org/drawingml/2006/main">
              <a:ext uri="{FF2B5EF4-FFF2-40B4-BE49-F238E27FC236}">
                <a16:creationId xmlns:a16="http://schemas.microsoft.com/office/drawing/2014/main" id="{39B7B1A7-0648-4376-8204-67776E38B00B}"/>
              </a:ext>
            </a:extLst>
          </p:cNvPr>
          <p:cNvSpPr>
            <a:spLocks xmlns:a="http://schemas.openxmlformats.org/drawingml/2006/main" noGrp="1"/>
          </p:cNvSpPr>
          <p:nvPr/>
        </p:nvSpPr>
        <p:spPr>
          <a:xfrm xmlns:a="http://schemas.openxmlformats.org/drawingml/2006/main">
            <a:off x="10553700" y="228600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10000"/>
              </a:lnSpc>
              <a:buNone/>
              <a:defRPr sz="713" b="0" i="0">
                <a:solidFill>
                  <a:srgbClr val="111111"/>
                </a:solidFill>
                <a:latin typeface="Arial"/>
                <a:ea typeface="Arial"/>
                <a:cs typeface="Arial"/>
              </a:defRPr>
            </a:pPr>
            <a:r>
              <a:rPr sz="713" b="0" i="0">
                <a:solidFill>
                  <a:srgbClr val="111111"/>
                </a:solidFill>
                <a:latin typeface="Arial"/>
                <a:ea typeface="Arial"/>
                <a:cs typeface="Arial"/>
              </a:rPr>
              <a:t>Add resources as needed.</a:t>
            </a:r>
          </a:p>
        </p:txBody>
      </p:sp>
      <p:sp>
        <p:nvSpPr>
          <p:cNvPr id="90" name="Straight Connector 89">
            <a:extLst xmlns:a="http://schemas.openxmlformats.org/drawingml/2006/main">
              <a:ext uri="{FF2B5EF4-FFF2-40B4-BE49-F238E27FC236}">
                <a16:creationId xmlns:a16="http://schemas.microsoft.com/office/drawing/2014/main" id="{96857599-FA87-4340-9114-E0FEE6D8214E}"/>
              </a:ext>
            </a:extLst>
          </p:cNvPr>
          <p:cNvSpPr>
            <a:spLocks xmlns:a="http://schemas.openxmlformats.org/drawingml/2006/main" noGrp="1"/>
          </p:cNvSpPr>
          <p:nvPr/>
        </p:nvSpPr>
        <p:spPr>
          <a:xfrm xmlns:a="http://schemas.openxmlformats.org/drawingml/2006/main">
            <a:off x="10039350" y="2657475"/>
            <a:ext cx="1933575" cy="0"/>
          </a:xfrm>
          <a:prstGeom xmlns:a="http://schemas.openxmlformats.org/drawingml/2006/main" prst="line">
            <a:avLst/>
          </a:prstGeom>
          <a:noFill xmlns:a="http://schemas.openxmlformats.org/drawingml/2006/main"/>
          <a:ln xmlns:a="http://schemas.openxmlformats.org/drawingml/2006/main" w="9525">
            <a:solidFill>
              <a:srgbClr val="D8DEDA"/>
            </a:solidFill>
            <a:prstDash val="solid"/>
          </a:ln>
        </p:spPr>
        <p:txBody>
          <a:bodyPr xmlns:a="http://schemas.openxmlformats.org/drawingml/2006/main"/>
          <a:lstStyle xmlns:a="http://schemas.openxmlformats.org/drawingml/2006/main"/>
          <a:p xmlns:a="http://schemas.openxmlformats.org/drawingml/2006/main">
            <a:endParaRPr/>
          </a:p>
        </p:txBody>
      </p:sp>
      <p:pic>
        <p:nvPicPr>
          <p:cNvPr id="234" name="Picture 202"/>
          <p:cNvPicPr>
            <a:picLocks xmlns:a="http://schemas.openxmlformats.org/drawingml/2006/main" noChangeAspect="1"/>
          </p:cNvPicPr>
          <p:nvPr/>
        </p:nvPicPr>
        <p:blipFill>
          <a:blip xmlns:r="http://schemas.openxmlformats.org/officeDocument/2006/relationships" xmlns:a="http://schemas.openxmlformats.org/drawingml/2006/main" r:embed="R40a4644c289c481f"/>
          <a:stretch xmlns:a="http://schemas.openxmlformats.org/drawingml/2006/main"/>
        </p:blipFill>
        <p:spPr>
          <a:xfrm xmlns:a="http://schemas.openxmlformats.org/drawingml/2006/main">
            <a:off x="10043838" y="2819400"/>
            <a:ext cx="457750" cy="466725"/>
          </a:xfrm>
          <a:prstGeom xmlns:a="http://schemas.openxmlformats.org/drawingml/2006/main" prst="rect">
            <a:avLst/>
          </a:prstGeom>
        </p:spPr>
      </p:pic>
      <p:sp>
        <p:nvSpPr>
          <p:cNvPr id="92" name="Rectangle 91">
            <a:extLst xmlns:a="http://schemas.openxmlformats.org/drawingml/2006/main">
              <a:ext uri="{FF2B5EF4-FFF2-40B4-BE49-F238E27FC236}">
                <a16:creationId xmlns:a16="http://schemas.microsoft.com/office/drawing/2014/main" id="{91887D52-2486-4F8D-B5D0-7FABDCF572CC}"/>
              </a:ext>
            </a:extLst>
          </p:cNvPr>
          <p:cNvSpPr>
            <a:spLocks xmlns:a="http://schemas.openxmlformats.org/drawingml/2006/main" noGrp="1"/>
          </p:cNvSpPr>
          <p:nvPr/>
        </p:nvSpPr>
        <p:spPr>
          <a:xfrm xmlns:a="http://schemas.openxmlformats.org/drawingml/2006/main">
            <a:off x="10553700" y="2838450"/>
            <a:ext cx="1352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10000"/>
              </a:lnSpc>
              <a:buNone/>
              <a:defRPr sz="825" b="1" i="0">
                <a:solidFill>
                  <a:srgbClr val="003B25"/>
                </a:solidFill>
                <a:latin typeface="Arial"/>
                <a:ea typeface="Arial"/>
                <a:cs typeface="Arial"/>
              </a:defRPr>
            </a:pPr>
            <a:r>
              <a:rPr sz="825" b="1" i="0">
                <a:solidFill>
                  <a:srgbClr val="003B25"/>
                </a:solidFill>
                <a:latin typeface="Arial"/>
                <a:ea typeface="Arial"/>
                <a:cs typeface="Arial"/>
              </a:rPr>
              <a:t>No additional</a:t>
            </a:r>
          </a:p>
          <a:p xmlns:a="http://schemas.openxmlformats.org/drawingml/2006/main">
            <a:pPr algn="l">
              <a:lnSpc>
                <a:spcPct val="110000"/>
              </a:lnSpc>
              <a:buNone/>
              <a:defRPr sz="825" b="1" i="0">
                <a:solidFill>
                  <a:srgbClr val="003B25"/>
                </a:solidFill>
                <a:latin typeface="Arial"/>
                <a:ea typeface="Arial"/>
                <a:cs typeface="Arial"/>
              </a:defRPr>
            </a:pPr>
            <a:r>
              <a:rPr sz="825" b="1" i="0">
                <a:solidFill>
                  <a:srgbClr val="003B25"/>
                </a:solidFill>
                <a:latin typeface="Arial"/>
                <a:ea typeface="Arial"/>
                <a:cs typeface="Arial"/>
              </a:rPr>
              <a:t>data center hardware</a:t>
            </a:r>
          </a:p>
        </p:txBody>
      </p:sp>
      <p:sp>
        <p:nvSpPr>
          <p:cNvPr id="93" name="Rectangle 92">
            <a:extLst xmlns:a="http://schemas.openxmlformats.org/drawingml/2006/main">
              <a:ext uri="{FF2B5EF4-FFF2-40B4-BE49-F238E27FC236}">
                <a16:creationId xmlns:a16="http://schemas.microsoft.com/office/drawing/2014/main" id="{C409B384-733F-455B-AD45-714D77F61953}"/>
              </a:ext>
            </a:extLst>
          </p:cNvPr>
          <p:cNvSpPr>
            <a:spLocks xmlns:a="http://schemas.openxmlformats.org/drawingml/2006/main" noGrp="1"/>
          </p:cNvSpPr>
          <p:nvPr/>
        </p:nvSpPr>
        <p:spPr>
          <a:xfrm xmlns:a="http://schemas.openxmlformats.org/drawingml/2006/main">
            <a:off x="10553700" y="32194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10000"/>
              </a:lnSpc>
              <a:buNone/>
              <a:defRPr sz="713" b="0" i="0">
                <a:solidFill>
                  <a:srgbClr val="111111"/>
                </a:solidFill>
                <a:latin typeface="Arial"/>
                <a:ea typeface="Arial"/>
                <a:cs typeface="Arial"/>
              </a:defRPr>
            </a:pPr>
            <a:r>
              <a:rPr sz="713" b="0" i="0">
                <a:solidFill>
                  <a:srgbClr val="111111"/>
                </a:solidFill>
                <a:latin typeface="Arial"/>
                <a:ea typeface="Arial"/>
                <a:cs typeface="Arial"/>
              </a:rPr>
              <a:t>Avoid upfront capital investment.</a:t>
            </a:r>
          </a:p>
        </p:txBody>
      </p:sp>
      <p:sp>
        <p:nvSpPr>
          <p:cNvPr id="94" name="Straight Connector 93">
            <a:extLst xmlns:a="http://schemas.openxmlformats.org/drawingml/2006/main">
              <a:ext uri="{FF2B5EF4-FFF2-40B4-BE49-F238E27FC236}">
                <a16:creationId xmlns:a16="http://schemas.microsoft.com/office/drawing/2014/main" id="{9F45CE58-7082-441F-AB11-465F5306C7DB}"/>
              </a:ext>
            </a:extLst>
          </p:cNvPr>
          <p:cNvSpPr>
            <a:spLocks xmlns:a="http://schemas.openxmlformats.org/drawingml/2006/main" noGrp="1"/>
          </p:cNvSpPr>
          <p:nvPr/>
        </p:nvSpPr>
        <p:spPr>
          <a:xfrm xmlns:a="http://schemas.openxmlformats.org/drawingml/2006/main">
            <a:off x="10039350" y="3419475"/>
            <a:ext cx="1933575" cy="0"/>
          </a:xfrm>
          <a:prstGeom xmlns:a="http://schemas.openxmlformats.org/drawingml/2006/main" prst="line">
            <a:avLst/>
          </a:prstGeom>
          <a:noFill xmlns:a="http://schemas.openxmlformats.org/drawingml/2006/main"/>
          <a:ln xmlns:a="http://schemas.openxmlformats.org/drawingml/2006/main" w="9525">
            <a:solidFill>
              <a:srgbClr val="D8DEDA"/>
            </a:solidFill>
            <a:prstDash val="solid"/>
          </a:ln>
        </p:spPr>
        <p:txBody>
          <a:bodyPr xmlns:a="http://schemas.openxmlformats.org/drawingml/2006/main"/>
          <a:lstStyle xmlns:a="http://schemas.openxmlformats.org/drawingml/2006/main"/>
          <a:p xmlns:a="http://schemas.openxmlformats.org/drawingml/2006/main">
            <a:endParaRPr/>
          </a:p>
        </p:txBody>
      </p:sp>
      <p:pic>
        <p:nvPicPr>
          <p:cNvPr id="238" name="Picture 206"/>
          <p:cNvPicPr>
            <a:picLocks xmlns:a="http://schemas.openxmlformats.org/drawingml/2006/main" noChangeAspect="1"/>
          </p:cNvPicPr>
          <p:nvPr/>
        </p:nvPicPr>
        <p:blipFill>
          <a:blip xmlns:r="http://schemas.openxmlformats.org/officeDocument/2006/relationships" xmlns:a="http://schemas.openxmlformats.org/drawingml/2006/main" r:embed="R2846c245dc7e4df5"/>
          <a:stretch xmlns:a="http://schemas.openxmlformats.org/drawingml/2006/main"/>
        </p:blipFill>
        <p:spPr>
          <a:xfrm xmlns:a="http://schemas.openxmlformats.org/drawingml/2006/main">
            <a:off x="10039350" y="3600450"/>
            <a:ext cx="466725" cy="466725"/>
          </a:xfrm>
          <a:prstGeom xmlns:a="http://schemas.openxmlformats.org/drawingml/2006/main" prst="rect">
            <a:avLst/>
          </a:prstGeom>
        </p:spPr>
      </p:pic>
      <p:sp>
        <p:nvSpPr>
          <p:cNvPr id="96" name="Rectangle 95">
            <a:extLst xmlns:a="http://schemas.openxmlformats.org/drawingml/2006/main">
              <a:ext uri="{FF2B5EF4-FFF2-40B4-BE49-F238E27FC236}">
                <a16:creationId xmlns:a16="http://schemas.microsoft.com/office/drawing/2014/main" id="{9094161B-6339-43C1-9671-7E6FFCF0E4BB}"/>
              </a:ext>
            </a:extLst>
          </p:cNvPr>
          <p:cNvSpPr>
            <a:spLocks xmlns:a="http://schemas.openxmlformats.org/drawingml/2006/main" noGrp="1"/>
          </p:cNvSpPr>
          <p:nvPr/>
        </p:nvSpPr>
        <p:spPr>
          <a:xfrm xmlns:a="http://schemas.openxmlformats.org/drawingml/2006/main">
            <a:off x="10553700" y="3619500"/>
            <a:ext cx="1352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10000"/>
              </a:lnSpc>
              <a:buNone/>
              <a:defRPr sz="825" b="1" i="0">
                <a:solidFill>
                  <a:srgbClr val="003B25"/>
                </a:solidFill>
                <a:latin typeface="Arial"/>
                <a:ea typeface="Arial"/>
                <a:cs typeface="Arial"/>
              </a:defRPr>
            </a:pPr>
            <a:r>
              <a:rPr sz="825" b="1" i="0">
                <a:solidFill>
                  <a:srgbClr val="003B25"/>
                </a:solidFill>
                <a:latin typeface="Arial"/>
                <a:ea typeface="Arial"/>
                <a:cs typeface="Arial"/>
              </a:rPr>
              <a:t>Consistent VMware</a:t>
            </a:r>
          </a:p>
          <a:p xmlns:a="http://schemas.openxmlformats.org/drawingml/2006/main">
            <a:pPr algn="l">
              <a:lnSpc>
                <a:spcPct val="110000"/>
              </a:lnSpc>
              <a:buNone/>
              <a:defRPr sz="825" b="1" i="0">
                <a:solidFill>
                  <a:srgbClr val="003B25"/>
                </a:solidFill>
                <a:latin typeface="Arial"/>
                <a:ea typeface="Arial"/>
                <a:cs typeface="Arial"/>
              </a:defRPr>
            </a:pPr>
            <a:r>
              <a:rPr sz="825" b="1" i="0">
                <a:solidFill>
                  <a:srgbClr val="003B25"/>
                </a:solidFill>
                <a:latin typeface="Arial"/>
                <a:ea typeface="Arial"/>
                <a:cs typeface="Arial"/>
              </a:rPr>
              <a:t>operations</a:t>
            </a:r>
          </a:p>
        </p:txBody>
      </p:sp>
      <p:sp>
        <p:nvSpPr>
          <p:cNvPr id="97" name="Rectangle 96">
            <a:extLst xmlns:a="http://schemas.openxmlformats.org/drawingml/2006/main">
              <a:ext uri="{FF2B5EF4-FFF2-40B4-BE49-F238E27FC236}">
                <a16:creationId xmlns:a16="http://schemas.microsoft.com/office/drawing/2014/main" id="{7E1BA557-9BB9-41B3-B8A0-F332E8A6A4D5}"/>
              </a:ext>
            </a:extLst>
          </p:cNvPr>
          <p:cNvSpPr>
            <a:spLocks xmlns:a="http://schemas.openxmlformats.org/drawingml/2006/main" noGrp="1"/>
          </p:cNvSpPr>
          <p:nvPr/>
        </p:nvSpPr>
        <p:spPr>
          <a:xfrm xmlns:a="http://schemas.openxmlformats.org/drawingml/2006/main">
            <a:off x="10553700" y="400050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10000"/>
              </a:lnSpc>
              <a:buNone/>
              <a:defRPr sz="713" b="0" i="0">
                <a:solidFill>
                  <a:srgbClr val="111111"/>
                </a:solidFill>
                <a:latin typeface="Arial"/>
                <a:ea typeface="Arial"/>
                <a:cs typeface="Arial"/>
              </a:defRPr>
            </a:pPr>
            <a:r>
              <a:rPr sz="713" b="0" i="0">
                <a:solidFill>
                  <a:srgbClr val="111111"/>
                </a:solidFill>
                <a:latin typeface="Arial"/>
                <a:ea typeface="Arial"/>
                <a:cs typeface="Arial"/>
              </a:rPr>
              <a:t>Use the same tools and skills.</a:t>
            </a:r>
          </a:p>
        </p:txBody>
      </p:sp>
      <p:sp>
        <p:nvSpPr>
          <p:cNvPr id="98" name="Straight Connector 97">
            <a:extLst xmlns:a="http://schemas.openxmlformats.org/drawingml/2006/main">
              <a:ext uri="{FF2B5EF4-FFF2-40B4-BE49-F238E27FC236}">
                <a16:creationId xmlns:a16="http://schemas.microsoft.com/office/drawing/2014/main" id="{C8DD2F73-9CCB-4B70-9DD0-3BD907F80131}"/>
              </a:ext>
            </a:extLst>
          </p:cNvPr>
          <p:cNvSpPr>
            <a:spLocks xmlns:a="http://schemas.openxmlformats.org/drawingml/2006/main" noGrp="1"/>
          </p:cNvSpPr>
          <p:nvPr/>
        </p:nvSpPr>
        <p:spPr>
          <a:xfrm xmlns:a="http://schemas.openxmlformats.org/drawingml/2006/main">
            <a:off x="10039350" y="4200525"/>
            <a:ext cx="1933575" cy="0"/>
          </a:xfrm>
          <a:prstGeom xmlns:a="http://schemas.openxmlformats.org/drawingml/2006/main" prst="line">
            <a:avLst/>
          </a:prstGeom>
          <a:noFill xmlns:a="http://schemas.openxmlformats.org/drawingml/2006/main"/>
          <a:ln xmlns:a="http://schemas.openxmlformats.org/drawingml/2006/main" w="9525">
            <a:solidFill>
              <a:srgbClr val="D8DEDA"/>
            </a:solidFill>
            <a:prstDash val="solid"/>
          </a:ln>
        </p:spPr>
        <p:txBody>
          <a:bodyPr xmlns:a="http://schemas.openxmlformats.org/drawingml/2006/main"/>
          <a:lstStyle xmlns:a="http://schemas.openxmlformats.org/drawingml/2006/main"/>
          <a:p xmlns:a="http://schemas.openxmlformats.org/drawingml/2006/main">
            <a:endParaRPr/>
          </a:p>
        </p:txBody>
      </p:sp>
      <p:pic>
        <p:nvPicPr>
          <p:cNvPr id="242" name="Picture 210"/>
          <p:cNvPicPr>
            <a:picLocks xmlns:a="http://schemas.openxmlformats.org/drawingml/2006/main" noChangeAspect="1"/>
          </p:cNvPicPr>
          <p:nvPr/>
        </p:nvPicPr>
        <p:blipFill>
          <a:blip xmlns:r="http://schemas.openxmlformats.org/officeDocument/2006/relationships" xmlns:a="http://schemas.openxmlformats.org/drawingml/2006/main" r:embed="R4dec64e06e8e4a08"/>
          <a:stretch xmlns:a="http://schemas.openxmlformats.org/drawingml/2006/main"/>
        </p:blipFill>
        <p:spPr>
          <a:xfrm xmlns:a="http://schemas.openxmlformats.org/drawingml/2006/main">
            <a:off x="10039350" y="4381500"/>
            <a:ext cx="466725" cy="466725"/>
          </a:xfrm>
          <a:prstGeom xmlns:a="http://schemas.openxmlformats.org/drawingml/2006/main" prst="rect">
            <a:avLst/>
          </a:prstGeom>
        </p:spPr>
      </p:pic>
      <p:sp>
        <p:nvSpPr>
          <p:cNvPr id="100" name="Rectangle 99">
            <a:extLst xmlns:a="http://schemas.openxmlformats.org/drawingml/2006/main">
              <a:ext uri="{FF2B5EF4-FFF2-40B4-BE49-F238E27FC236}">
                <a16:creationId xmlns:a16="http://schemas.microsoft.com/office/drawing/2014/main" id="{C27593F3-05CA-4049-BED6-9A3F339B0037}"/>
              </a:ext>
            </a:extLst>
          </p:cNvPr>
          <p:cNvSpPr>
            <a:spLocks xmlns:a="http://schemas.openxmlformats.org/drawingml/2006/main" noGrp="1"/>
          </p:cNvSpPr>
          <p:nvPr/>
        </p:nvSpPr>
        <p:spPr>
          <a:xfrm xmlns:a="http://schemas.openxmlformats.org/drawingml/2006/main">
            <a:off x="10553700" y="4400550"/>
            <a:ext cx="1352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10000"/>
              </a:lnSpc>
              <a:buNone/>
              <a:defRPr sz="825" b="1" i="0">
                <a:solidFill>
                  <a:srgbClr val="003B25"/>
                </a:solidFill>
                <a:latin typeface="Arial"/>
                <a:ea typeface="Arial"/>
                <a:cs typeface="Arial"/>
              </a:defRPr>
            </a:pPr>
            <a:r>
              <a:rPr sz="825" b="1" i="0">
                <a:solidFill>
                  <a:srgbClr val="003B25"/>
                </a:solidFill>
                <a:latin typeface="Arial"/>
                <a:ea typeface="Arial"/>
                <a:cs typeface="Arial"/>
              </a:rPr>
              <a:t>Scale up and down</a:t>
            </a:r>
          </a:p>
          <a:p xmlns:a="http://schemas.openxmlformats.org/drawingml/2006/main">
            <a:pPr algn="l">
              <a:lnSpc>
                <a:spcPct val="110000"/>
              </a:lnSpc>
              <a:buNone/>
              <a:defRPr sz="825" b="1" i="0">
                <a:solidFill>
                  <a:srgbClr val="003B25"/>
                </a:solidFill>
                <a:latin typeface="Arial"/>
                <a:ea typeface="Arial"/>
                <a:cs typeface="Arial"/>
              </a:defRPr>
            </a:pPr>
            <a:r>
              <a:rPr sz="825" b="1" i="0">
                <a:solidFill>
                  <a:srgbClr val="003B25"/>
                </a:solidFill>
                <a:latin typeface="Arial"/>
                <a:ea typeface="Arial"/>
                <a:cs typeface="Arial"/>
              </a:rPr>
              <a:t>as needed</a:t>
            </a:r>
          </a:p>
        </p:txBody>
      </p:sp>
      <p:sp>
        <p:nvSpPr>
          <p:cNvPr id="101" name="Rectangle 100">
            <a:extLst xmlns:a="http://schemas.openxmlformats.org/drawingml/2006/main">
              <a:ext uri="{FF2B5EF4-FFF2-40B4-BE49-F238E27FC236}">
                <a16:creationId xmlns:a16="http://schemas.microsoft.com/office/drawing/2014/main" id="{2D5C8695-DA9C-400B-9EA2-0FEB6B6D962C}"/>
              </a:ext>
            </a:extLst>
          </p:cNvPr>
          <p:cNvSpPr>
            <a:spLocks xmlns:a="http://schemas.openxmlformats.org/drawingml/2006/main" noGrp="1"/>
          </p:cNvSpPr>
          <p:nvPr/>
        </p:nvSpPr>
        <p:spPr>
          <a:xfrm xmlns:a="http://schemas.openxmlformats.org/drawingml/2006/main">
            <a:off x="10553700" y="47815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10000"/>
              </a:lnSpc>
              <a:buNone/>
              <a:defRPr sz="713" b="0" i="0">
                <a:solidFill>
                  <a:srgbClr val="111111"/>
                </a:solidFill>
                <a:latin typeface="Arial"/>
                <a:ea typeface="Arial"/>
                <a:cs typeface="Arial"/>
              </a:defRPr>
            </a:pPr>
            <a:r>
              <a:rPr sz="713" b="0" i="0">
                <a:solidFill>
                  <a:srgbClr val="111111"/>
                </a:solidFill>
                <a:latin typeface="Arial"/>
                <a:ea typeface="Arial"/>
                <a:cs typeface="Arial"/>
              </a:rPr>
              <a:t>Elastic capacity for your business.</a:t>
            </a:r>
          </a:p>
        </p:txBody>
      </p:sp>
      <p:sp>
        <p:nvSpPr>
          <p:cNvPr id="102" name="Straight Connector 101">
            <a:extLst xmlns:a="http://schemas.openxmlformats.org/drawingml/2006/main">
              <a:ext uri="{FF2B5EF4-FFF2-40B4-BE49-F238E27FC236}">
                <a16:creationId xmlns:a16="http://schemas.microsoft.com/office/drawing/2014/main" id="{F81EDEE1-0D52-4F49-819E-E543DBDC003D}"/>
              </a:ext>
            </a:extLst>
          </p:cNvPr>
          <p:cNvSpPr>
            <a:spLocks xmlns:a="http://schemas.openxmlformats.org/drawingml/2006/main" noGrp="1"/>
          </p:cNvSpPr>
          <p:nvPr/>
        </p:nvSpPr>
        <p:spPr>
          <a:xfrm xmlns:a="http://schemas.openxmlformats.org/drawingml/2006/main">
            <a:off x="10039350" y="4981575"/>
            <a:ext cx="1933575" cy="0"/>
          </a:xfrm>
          <a:prstGeom xmlns:a="http://schemas.openxmlformats.org/drawingml/2006/main" prst="line">
            <a:avLst/>
          </a:prstGeom>
          <a:noFill xmlns:a="http://schemas.openxmlformats.org/drawingml/2006/main"/>
          <a:ln xmlns:a="http://schemas.openxmlformats.org/drawingml/2006/main" w="9525">
            <a:solidFill>
              <a:srgbClr val="D8DEDA"/>
            </a:solidFill>
            <a:prstDash val="solid"/>
          </a:ln>
        </p:spPr>
        <p:txBody>
          <a:bodyPr xmlns:a="http://schemas.openxmlformats.org/drawingml/2006/main"/>
          <a:lstStyle xmlns:a="http://schemas.openxmlformats.org/drawingml/2006/main"/>
          <a:p xmlns:a="http://schemas.openxmlformats.org/drawingml/2006/main">
            <a:endParaRPr/>
          </a:p>
        </p:txBody>
      </p:sp>
      <p:pic>
        <p:nvPicPr>
          <p:cNvPr id="246" name="Picture 214"/>
          <p:cNvPicPr>
            <a:picLocks xmlns:a="http://schemas.openxmlformats.org/drawingml/2006/main" noChangeAspect="1"/>
          </p:cNvPicPr>
          <p:nvPr/>
        </p:nvPicPr>
        <p:blipFill>
          <a:blip xmlns:r="http://schemas.openxmlformats.org/officeDocument/2006/relationships" xmlns:a="http://schemas.openxmlformats.org/drawingml/2006/main" r:embed="Rba698b1b678b4ca4"/>
          <a:stretch xmlns:a="http://schemas.openxmlformats.org/drawingml/2006/main"/>
        </p:blipFill>
        <p:spPr>
          <a:xfrm xmlns:a="http://schemas.openxmlformats.org/drawingml/2006/main">
            <a:off x="10039350" y="5176563"/>
            <a:ext cx="466725" cy="457750"/>
          </a:xfrm>
          <a:prstGeom xmlns:a="http://schemas.openxmlformats.org/drawingml/2006/main" prst="rect">
            <a:avLst/>
          </a:prstGeom>
        </p:spPr>
      </p:pic>
      <p:sp>
        <p:nvSpPr>
          <p:cNvPr id="104" name="Rectangle 103">
            <a:extLst xmlns:a="http://schemas.openxmlformats.org/drawingml/2006/main">
              <a:ext uri="{FF2B5EF4-FFF2-40B4-BE49-F238E27FC236}">
                <a16:creationId xmlns:a16="http://schemas.microsoft.com/office/drawing/2014/main" id="{AD20CDE3-2498-45E3-9C75-F2A4B69D50B7}"/>
              </a:ext>
            </a:extLst>
          </p:cNvPr>
          <p:cNvSpPr>
            <a:spLocks xmlns:a="http://schemas.openxmlformats.org/drawingml/2006/main" noGrp="1"/>
          </p:cNvSpPr>
          <p:nvPr/>
        </p:nvSpPr>
        <p:spPr>
          <a:xfrm xmlns:a="http://schemas.openxmlformats.org/drawingml/2006/main">
            <a:off x="10553700" y="5191125"/>
            <a:ext cx="1352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10000"/>
              </a:lnSpc>
              <a:buNone/>
              <a:defRPr sz="825" b="1" i="0">
                <a:solidFill>
                  <a:srgbClr val="003B25"/>
                </a:solidFill>
                <a:latin typeface="Arial"/>
                <a:ea typeface="Arial"/>
                <a:cs typeface="Arial"/>
              </a:defRPr>
            </a:pPr>
            <a:r>
              <a:rPr sz="825" b="1" i="0">
                <a:solidFill>
                  <a:srgbClr val="003B25"/>
                </a:solidFill>
                <a:latin typeface="Arial"/>
                <a:ea typeface="Arial"/>
                <a:cs typeface="Arial"/>
              </a:rPr>
              <a:t>Faster response</a:t>
            </a:r>
          </a:p>
          <a:p xmlns:a="http://schemas.openxmlformats.org/drawingml/2006/main">
            <a:pPr algn="l">
              <a:lnSpc>
                <a:spcPct val="110000"/>
              </a:lnSpc>
              <a:buNone/>
              <a:defRPr sz="825" b="1" i="0">
                <a:solidFill>
                  <a:srgbClr val="003B25"/>
                </a:solidFill>
                <a:latin typeface="Arial"/>
                <a:ea typeface="Arial"/>
                <a:cs typeface="Arial"/>
              </a:defRPr>
            </a:pPr>
            <a:r>
              <a:rPr sz="825" b="1" i="0">
                <a:solidFill>
                  <a:srgbClr val="003B25"/>
                </a:solidFill>
                <a:latin typeface="Arial"/>
                <a:ea typeface="Arial"/>
                <a:cs typeface="Arial"/>
              </a:rPr>
              <a:t>to business demand</a:t>
            </a:r>
          </a:p>
        </p:txBody>
      </p:sp>
      <p:sp>
        <p:nvSpPr>
          <p:cNvPr id="105" name="Rectangle 104">
            <a:extLst xmlns:a="http://schemas.openxmlformats.org/drawingml/2006/main">
              <a:ext uri="{FF2B5EF4-FFF2-40B4-BE49-F238E27FC236}">
                <a16:creationId xmlns:a16="http://schemas.microsoft.com/office/drawing/2014/main" id="{0410A441-8A6B-46D5-A884-16D17C1A4025}"/>
              </a:ext>
            </a:extLst>
          </p:cNvPr>
          <p:cNvSpPr>
            <a:spLocks xmlns:a="http://schemas.openxmlformats.org/drawingml/2006/main" noGrp="1"/>
          </p:cNvSpPr>
          <p:nvPr/>
        </p:nvSpPr>
        <p:spPr>
          <a:xfrm xmlns:a="http://schemas.openxmlformats.org/drawingml/2006/main">
            <a:off x="10553700" y="5572125"/>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10000"/>
              </a:lnSpc>
              <a:buNone/>
              <a:defRPr sz="713" b="0" i="0">
                <a:solidFill>
                  <a:srgbClr val="111111"/>
                </a:solidFill>
                <a:latin typeface="Arial"/>
                <a:ea typeface="Arial"/>
                <a:cs typeface="Arial"/>
              </a:defRPr>
            </a:pPr>
            <a:r>
              <a:rPr sz="713" b="0" i="0">
                <a:solidFill>
                  <a:srgbClr val="111111"/>
                </a:solidFill>
                <a:latin typeface="Arial"/>
                <a:ea typeface="Arial"/>
                <a:cs typeface="Arial"/>
              </a:rPr>
              <a:t>Reduce time to deliver capacity.</a:t>
            </a:r>
          </a:p>
        </p:txBody>
      </p:sp>
      <p:sp>
        <p:nvSpPr>
          <p:cNvPr id="106" name="Rounded Rectangle 105">
            <a:extLst xmlns:a="http://schemas.openxmlformats.org/drawingml/2006/main">
              <a:ext uri="{FF2B5EF4-FFF2-40B4-BE49-F238E27FC236}">
                <a16:creationId xmlns:a16="http://schemas.microsoft.com/office/drawing/2014/main" id="{24DD45FC-41F5-4049-BD6A-1CBA17DDFB5A}"/>
              </a:ext>
            </a:extLst>
          </p:cNvPr>
          <p:cNvSpPr>
            <a:spLocks xmlns:a="http://schemas.openxmlformats.org/drawingml/2006/main" noGrp="1"/>
          </p:cNvSpPr>
          <p:nvPr/>
        </p:nvSpPr>
        <p:spPr>
          <a:xfrm xmlns:a="http://schemas.openxmlformats.org/drawingml/2006/main">
            <a:off x="323850" y="5895975"/>
            <a:ext cx="9715500" cy="590550"/>
          </a:xfrm>
          <a:prstGeom xmlns:a="http://schemas.openxmlformats.org/drawingml/2006/main" prst="roundRect">
            <a:avLst>
              <a:gd name="adj" fmla="val 11290"/>
            </a:avLst>
          </a:prstGeom>
          <a:gradFill xmlns:a="http://schemas.openxmlformats.org/drawingml/2006/main">
            <a:gsLst>
              <a:gs pos="0">
                <a:srgbClr val="003B25"/>
              </a:gs>
              <a:gs pos="100000">
                <a:srgbClr val="06482D"/>
              </a:gs>
            </a:gsLst>
            <a:lin ang="5400000"/>
          </a:gradFill>
          <a:ln xmlns:a="http://schemas.openxmlformats.org/drawingml/2006/main" w="0">
            <a:no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pic>
        <p:nvPicPr>
          <p:cNvPr id="250" name="Picture 218"/>
          <p:cNvPicPr>
            <a:picLocks xmlns:a="http://schemas.openxmlformats.org/drawingml/2006/main" noChangeAspect="1"/>
          </p:cNvPicPr>
          <p:nvPr/>
        </p:nvPicPr>
        <p:blipFill>
          <a:blip xmlns:r="http://schemas.openxmlformats.org/officeDocument/2006/relationships" xmlns:a="http://schemas.openxmlformats.org/drawingml/2006/main" r:embed="Rc4d145e437574a18"/>
          <a:stretch xmlns:a="http://schemas.openxmlformats.org/drawingml/2006/main"/>
        </p:blipFill>
        <p:spPr>
          <a:xfrm xmlns:a="http://schemas.openxmlformats.org/drawingml/2006/main">
            <a:off x="537152" y="5953125"/>
            <a:ext cx="487795" cy="495300"/>
          </a:xfrm>
          <a:prstGeom xmlns:a="http://schemas.openxmlformats.org/drawingml/2006/main" prst="rect">
            <a:avLst/>
          </a:prstGeom>
        </p:spPr>
      </p:pic>
      <p:sp>
        <p:nvSpPr>
          <p:cNvPr id="108" name="Rectangle 107">
            <a:extLst xmlns:a="http://schemas.openxmlformats.org/drawingml/2006/main">
              <a:ext uri="{FF2B5EF4-FFF2-40B4-BE49-F238E27FC236}">
                <a16:creationId xmlns:a16="http://schemas.microsoft.com/office/drawing/2014/main" id="{244064FF-3FC5-4E96-B6EB-3F0B5192B5DD}"/>
              </a:ext>
            </a:extLst>
          </p:cNvPr>
          <p:cNvSpPr>
            <a:spLocks xmlns:a="http://schemas.openxmlformats.org/drawingml/2006/main" noGrp="1"/>
          </p:cNvSpPr>
          <p:nvPr/>
        </p:nvSpPr>
        <p:spPr>
          <a:xfrm xmlns:a="http://schemas.openxmlformats.org/drawingml/2006/main">
            <a:off x="1247775" y="6124575"/>
            <a:ext cx="8620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350" b="0" i="0">
                <a:solidFill>
                  <a:srgbClr val="FFFFFF"/>
                </a:solidFill>
                <a:latin typeface="Arial"/>
                <a:ea typeface="Arial"/>
                <a:cs typeface="Arial"/>
              </a:defRPr>
            </a:pPr>
            <a:r>
              <a:rPr sz="1350" b="0" i="0">
                <a:solidFill>
                  <a:srgbClr val="FFFFFF"/>
                </a:solidFill>
                <a:latin typeface="Arial"/>
                <a:ea typeface="Arial"/>
                <a:cs typeface="Arial"/>
              </a:rPr>
              <a:t>Expand capacity when needed while preserving the VMware tools, processes, and skills your teams already know.</a:t>
            </a:r>
          </a:p>
        </p:txBody>
      </p:sp>
      <p:sp>
        <p:nvSpPr>
          <p:cNvPr id="109" name="Rectangle 108">
            <a:extLst xmlns:a="http://schemas.openxmlformats.org/drawingml/2006/main">
              <a:ext uri="{FF2B5EF4-FFF2-40B4-BE49-F238E27FC236}">
                <a16:creationId xmlns:a16="http://schemas.microsoft.com/office/drawing/2014/main" id="{CF34C701-E041-4ADC-B78D-C9A7ED7C5CAF}"/>
              </a:ext>
            </a:extLst>
          </p:cNvPr>
          <p:cNvSpPr>
            <a:spLocks xmlns:a="http://schemas.openxmlformats.org/drawingml/2006/main" noGrp="1"/>
          </p:cNvSpPr>
          <p:nvPr/>
        </p:nvSpPr>
        <p:spPr>
          <a:xfrm xmlns:a="http://schemas.openxmlformats.org/drawingml/2006/main">
            <a:off x="304800" y="6638925"/>
            <a:ext cx="142875"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675" b="0" i="0">
                <a:solidFill>
                  <a:srgbClr val="666666"/>
                </a:solidFill>
                <a:latin typeface="Arial"/>
                <a:ea typeface="Arial"/>
                <a:cs typeface="Arial"/>
              </a:defRPr>
            </a:pPr>
            <a:r>
              <a:rPr sz="675" b="0" i="0">
                <a:solidFill>
                  <a:srgbClr val="666666"/>
                </a:solidFill>
                <a:latin typeface="Arial"/>
                <a:ea typeface="Arial"/>
                <a:cs typeface="Arial"/>
              </a:rPr>
              <a:t>1</a:t>
            </a:r>
          </a:p>
        </p:txBody>
      </p:sp>
      <p:sp>
        <p:nvSpPr>
          <p:cNvPr id="110" name="Rectangle 109">
            <a:extLst xmlns:a="http://schemas.openxmlformats.org/drawingml/2006/main">
              <a:ext uri="{FF2B5EF4-FFF2-40B4-BE49-F238E27FC236}">
                <a16:creationId xmlns:a16="http://schemas.microsoft.com/office/drawing/2014/main" id="{115D0D49-EC68-4DF9-A931-4CDFEEEAC475}"/>
              </a:ext>
            </a:extLst>
          </p:cNvPr>
          <p:cNvSpPr>
            <a:spLocks xmlns:a="http://schemas.openxmlformats.org/drawingml/2006/main" noGrp="1"/>
          </p:cNvSpPr>
          <p:nvPr/>
        </p:nvSpPr>
        <p:spPr>
          <a:xfrm xmlns:a="http://schemas.openxmlformats.org/drawingml/2006/main">
            <a:off x="466725" y="6638925"/>
            <a:ext cx="228600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675" b="0" i="0">
                <a:solidFill>
                  <a:srgbClr val="666666"/>
                </a:solidFill>
                <a:latin typeface="Arial"/>
                <a:ea typeface="Arial"/>
                <a:cs typeface="Arial"/>
              </a:defRPr>
            </a:pPr>
            <a:r>
              <a:rPr sz="675" b="0" i="0">
                <a:solidFill>
                  <a:srgbClr val="666666"/>
                </a:solidFill>
                <a:latin typeface="Arial"/>
                <a:ea typeface="Arial"/>
                <a:cs typeface="Arial"/>
              </a:rPr>
              <a:t>Copyright © 2026, Oracle and/or its affiliates.</a:t>
            </a:r>
          </a:p>
        </p:txBody>
      </p:sp>
      <p:sp>
        <p:nvSpPr>
          <p:cNvPr id="111" name="Straight Connector 110">
            <a:extLst xmlns:a="http://schemas.openxmlformats.org/drawingml/2006/main">
              <a:ext uri="{FF2B5EF4-FFF2-40B4-BE49-F238E27FC236}">
                <a16:creationId xmlns:a16="http://schemas.microsoft.com/office/drawing/2014/main" id="{F62EBB7D-1585-4951-BCFE-80EDD5784EC6}"/>
              </a:ext>
            </a:extLst>
          </p:cNvPr>
          <p:cNvSpPr>
            <a:spLocks xmlns:a="http://schemas.openxmlformats.org/drawingml/2006/main" noGrp="1"/>
          </p:cNvSpPr>
          <p:nvPr/>
        </p:nvSpPr>
        <p:spPr>
          <a:xfrm xmlns:a="http://schemas.openxmlformats.org/drawingml/2006/main">
            <a:off x="2571750" y="6629400"/>
            <a:ext cx="0" cy="133350"/>
          </a:xfrm>
          <a:prstGeom xmlns:a="http://schemas.openxmlformats.org/drawingml/2006/main" prst="line">
            <a:avLst/>
          </a:prstGeom>
          <a:noFill xmlns:a="http://schemas.openxmlformats.org/drawingml/2006/main"/>
          <a:ln xmlns:a="http://schemas.openxmlformats.org/drawingml/2006/main" w="9525">
            <a:solidFill>
              <a:srgbClr val="999999"/>
            </a:solidFill>
            <a:prstDash val="solid"/>
          </a:ln>
        </p:spPr>
        <p:txBody>
          <a:bodyPr xmlns:a="http://schemas.openxmlformats.org/drawingml/2006/main"/>
          <a:lstStyle xmlns:a="http://schemas.openxmlformats.org/drawingml/2006/main"/>
          <a:p xmlns:a="http://schemas.openxmlformats.org/drawingml/2006/main">
            <a:endParaRPr/>
          </a:p>
        </p:txBody>
      </p:sp>
      <p:sp>
        <p:nvSpPr>
          <p:cNvPr id="112" name="Rectangle 111">
            <a:extLst xmlns:a="http://schemas.openxmlformats.org/drawingml/2006/main">
              <a:ext uri="{FF2B5EF4-FFF2-40B4-BE49-F238E27FC236}">
                <a16:creationId xmlns:a16="http://schemas.microsoft.com/office/drawing/2014/main" id="{7311359F-0454-4729-8716-E601574CA280}"/>
              </a:ext>
            </a:extLst>
          </p:cNvPr>
          <p:cNvSpPr>
            <a:spLocks xmlns:a="http://schemas.openxmlformats.org/drawingml/2006/main" noGrp="1"/>
          </p:cNvSpPr>
          <p:nvPr/>
        </p:nvSpPr>
        <p:spPr>
          <a:xfrm xmlns:a="http://schemas.openxmlformats.org/drawingml/2006/main">
            <a:off x="2762250" y="6638925"/>
            <a:ext cx="31432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675" b="0" i="0">
                <a:solidFill>
                  <a:srgbClr val="E60000"/>
                </a:solidFill>
                <a:latin typeface="Arial"/>
                <a:ea typeface="Arial"/>
                <a:cs typeface="Arial"/>
              </a:defRPr>
            </a:pPr>
            <a:r>
              <a:rPr sz="675" b="0" i="0">
                <a:solidFill>
                  <a:srgbClr val="E60000"/>
                </a:solidFill>
                <a:latin typeface="Arial"/>
                <a:ea typeface="Arial"/>
                <a:cs typeface="Arial"/>
              </a:rPr>
              <a:t>Confidential: Internal/Restricted/Highly Restricted</a:t>
            </a:r>
          </a:p>
        </p:txBody>
      </p:sp>
    </p:spTree>
    <p:extLst>
      <p:ext uri="{BB962C8B-B14F-4D97-AF65-F5344CB8AC3E}">
        <p14:creationId xmlns:p14="http://schemas.microsoft.com/office/powerpoint/2010/main" val="1415061555"/>
      </p:ext>
    </p:extLst>
  </p:cSld>
</p:sld>
</file>

<file path=ppt/slides/slide3.xml><?xml version="1.0" encoding="utf-8"?>
<p:sld xmlns:p="http://schemas.openxmlformats.org/presentationml/2006/main">
  <p:cSld>
    <p:bg>
      <p:bgPr>
        <a:solidFill xmlns:a="http://schemas.openxmlformats.org/drawingml/2006/main">
          <a:srgbClr val="FBFAF8"/>
        </a:solidFill>
      </p:bgPr>
    </p:bg>
    <p:spTree>
      <p:nvGrpSpPr>
        <p:cNvPr id="1" name=""/>
        <p:cNvGrpSpPr/>
        <p:nvPr/>
      </p:nvGrpSpPr>
      <p:grpSpPr>
        <a:xfrm xmlns:a="http://schemas.openxmlformats.org/drawingml/2006/main"/>
      </p:grpSpPr>
      <p:sp>
        <p:nvSpPr>
          <p:cNvPr id="75" name="Oval 74">
            <a:extLst xmlns:a="http://schemas.openxmlformats.org/drawingml/2006/main">
              <a:ext uri="{FF2B5EF4-FFF2-40B4-BE49-F238E27FC236}">
                <a16:creationId xmlns:a16="http://schemas.microsoft.com/office/drawing/2014/main" id="{21F0DC85-8080-41CB-9F08-90BF24F47782}"/>
              </a:ext>
            </a:extLst>
          </p:cNvPr>
          <p:cNvSpPr>
            <a:spLocks xmlns:a="http://schemas.openxmlformats.org/drawingml/2006/main" noGrp="1"/>
          </p:cNvSpPr>
          <p:nvPr/>
        </p:nvSpPr>
        <p:spPr>
          <a:xfrm xmlns:a="http://schemas.openxmlformats.org/drawingml/2006/main">
            <a:off x="219075" y="2838450"/>
            <a:ext cx="47625" cy="47625"/>
          </a:xfrm>
          <a:prstGeom xmlns:a="http://schemas.openxmlformats.org/drawingml/2006/main" prst="ellipse">
            <a:avLst/>
          </a:prstGeom>
          <a:solidFill xmlns:a="http://schemas.openxmlformats.org/drawingml/2006/main">
            <a:srgbClr val="E6E8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Oval 1">
            <a:extLst xmlns:a="http://schemas.openxmlformats.org/drawingml/2006/main">
              <a:ext uri="{FF2B5EF4-FFF2-40B4-BE49-F238E27FC236}">
                <a16:creationId xmlns:a16="http://schemas.microsoft.com/office/drawing/2014/main" id="{2F83E7F2-4739-496D-AEA1-9C7E9AF7442A}"/>
              </a:ext>
            </a:extLst>
          </p:cNvPr>
          <p:cNvSpPr>
            <a:spLocks xmlns:a="http://schemas.openxmlformats.org/drawingml/2006/main" noGrp="1"/>
          </p:cNvSpPr>
          <p:nvPr/>
        </p:nvSpPr>
        <p:spPr>
          <a:xfrm xmlns:a="http://schemas.openxmlformats.org/drawingml/2006/main">
            <a:off x="5133975" y="552450"/>
            <a:ext cx="38100" cy="38100"/>
          </a:xfrm>
          <a:prstGeom xmlns:a="http://schemas.openxmlformats.org/drawingml/2006/main" prst="ellipse">
            <a:avLst/>
          </a:prstGeom>
          <a:solidFill xmlns:a="http://schemas.openxmlformats.org/drawingml/2006/main">
            <a:srgbClr val="E6E8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3" name="Oval 2">
            <a:extLst xmlns:a="http://schemas.openxmlformats.org/drawingml/2006/main">
              <a:ext uri="{FF2B5EF4-FFF2-40B4-BE49-F238E27FC236}">
                <a16:creationId xmlns:a16="http://schemas.microsoft.com/office/drawing/2014/main" id="{50365660-F790-4395-BCCA-A1B5A74443CB}"/>
              </a:ext>
            </a:extLst>
          </p:cNvPr>
          <p:cNvSpPr>
            <a:spLocks xmlns:a="http://schemas.openxmlformats.org/drawingml/2006/main" noGrp="1"/>
          </p:cNvSpPr>
          <p:nvPr/>
        </p:nvSpPr>
        <p:spPr>
          <a:xfrm xmlns:a="http://schemas.openxmlformats.org/drawingml/2006/main">
            <a:off x="5638800" y="933450"/>
            <a:ext cx="38100" cy="38100"/>
          </a:xfrm>
          <a:prstGeom xmlns:a="http://schemas.openxmlformats.org/drawingml/2006/main" prst="ellipse">
            <a:avLst/>
          </a:prstGeom>
          <a:solidFill xmlns:a="http://schemas.openxmlformats.org/drawingml/2006/main">
            <a:srgbClr val="E6E8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4" name="Oval 3">
            <a:extLst xmlns:a="http://schemas.openxmlformats.org/drawingml/2006/main">
              <a:ext uri="{FF2B5EF4-FFF2-40B4-BE49-F238E27FC236}">
                <a16:creationId xmlns:a16="http://schemas.microsoft.com/office/drawing/2014/main" id="{9375D8DC-CA5F-40B0-B7BF-056CF93CA4C9}"/>
              </a:ext>
            </a:extLst>
          </p:cNvPr>
          <p:cNvSpPr>
            <a:spLocks xmlns:a="http://schemas.openxmlformats.org/drawingml/2006/main" noGrp="1"/>
          </p:cNvSpPr>
          <p:nvPr/>
        </p:nvSpPr>
        <p:spPr>
          <a:xfrm xmlns:a="http://schemas.openxmlformats.org/drawingml/2006/main">
            <a:off x="5810250" y="552450"/>
            <a:ext cx="28575" cy="28575"/>
          </a:xfrm>
          <a:prstGeom xmlns:a="http://schemas.openxmlformats.org/drawingml/2006/main" prst="ellipse">
            <a:avLst/>
          </a:prstGeom>
          <a:solidFill xmlns:a="http://schemas.openxmlformats.org/drawingml/2006/main">
            <a:srgbClr val="E6E8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 name="Oval 4">
            <a:extLst xmlns:a="http://schemas.openxmlformats.org/drawingml/2006/main">
              <a:ext uri="{FF2B5EF4-FFF2-40B4-BE49-F238E27FC236}">
                <a16:creationId xmlns:a16="http://schemas.microsoft.com/office/drawing/2014/main" id="{9B4636DC-97BE-46CA-BEB6-6BF5B65A7B74}"/>
              </a:ext>
            </a:extLst>
          </p:cNvPr>
          <p:cNvSpPr>
            <a:spLocks xmlns:a="http://schemas.openxmlformats.org/drawingml/2006/main" noGrp="1"/>
          </p:cNvSpPr>
          <p:nvPr/>
        </p:nvSpPr>
        <p:spPr>
          <a:xfrm xmlns:a="http://schemas.openxmlformats.org/drawingml/2006/main">
            <a:off x="4505325" y="981075"/>
            <a:ext cx="57150" cy="57150"/>
          </a:xfrm>
          <a:prstGeom xmlns:a="http://schemas.openxmlformats.org/drawingml/2006/main" prst="ellipse">
            <a:avLst/>
          </a:prstGeom>
          <a:solidFill xmlns:a="http://schemas.openxmlformats.org/drawingml/2006/main">
            <a:srgbClr val="E6E8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6" name="Oval 5">
            <a:extLst xmlns:a="http://schemas.openxmlformats.org/drawingml/2006/main">
              <a:ext uri="{FF2B5EF4-FFF2-40B4-BE49-F238E27FC236}">
                <a16:creationId xmlns:a16="http://schemas.microsoft.com/office/drawing/2014/main" id="{567805AE-F6C9-426B-897E-D76835211245}"/>
              </a:ext>
            </a:extLst>
          </p:cNvPr>
          <p:cNvSpPr>
            <a:spLocks xmlns:a="http://schemas.openxmlformats.org/drawingml/2006/main" noGrp="1"/>
          </p:cNvSpPr>
          <p:nvPr/>
        </p:nvSpPr>
        <p:spPr>
          <a:xfrm xmlns:a="http://schemas.openxmlformats.org/drawingml/2006/main">
            <a:off x="5705475" y="990600"/>
            <a:ext cx="38100" cy="38100"/>
          </a:xfrm>
          <a:prstGeom xmlns:a="http://schemas.openxmlformats.org/drawingml/2006/main" prst="ellipse">
            <a:avLst/>
          </a:prstGeom>
          <a:solidFill xmlns:a="http://schemas.openxmlformats.org/drawingml/2006/main">
            <a:srgbClr val="E6E8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7" name="Oval 6">
            <a:extLst xmlns:a="http://schemas.openxmlformats.org/drawingml/2006/main">
              <a:ext uri="{FF2B5EF4-FFF2-40B4-BE49-F238E27FC236}">
                <a16:creationId xmlns:a16="http://schemas.microsoft.com/office/drawing/2014/main" id="{B71CAA8A-0646-4E30-A41C-31D47C1744F5}"/>
              </a:ext>
            </a:extLst>
          </p:cNvPr>
          <p:cNvSpPr>
            <a:spLocks xmlns:a="http://schemas.openxmlformats.org/drawingml/2006/main" noGrp="1"/>
          </p:cNvSpPr>
          <p:nvPr/>
        </p:nvSpPr>
        <p:spPr>
          <a:xfrm xmlns:a="http://schemas.openxmlformats.org/drawingml/2006/main">
            <a:off x="6096000" y="1162050"/>
            <a:ext cx="38100" cy="38100"/>
          </a:xfrm>
          <a:prstGeom xmlns:a="http://schemas.openxmlformats.org/drawingml/2006/main" prst="ellipse">
            <a:avLst/>
          </a:prstGeom>
          <a:solidFill xmlns:a="http://schemas.openxmlformats.org/drawingml/2006/main">
            <a:srgbClr val="E6E8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8" name="Oval 7">
            <a:extLst xmlns:a="http://schemas.openxmlformats.org/drawingml/2006/main">
              <a:ext uri="{FF2B5EF4-FFF2-40B4-BE49-F238E27FC236}">
                <a16:creationId xmlns:a16="http://schemas.microsoft.com/office/drawing/2014/main" id="{8004BEBF-6AFB-4C2C-929C-BF89C0BEE4CC}"/>
              </a:ext>
            </a:extLst>
          </p:cNvPr>
          <p:cNvSpPr>
            <a:spLocks xmlns:a="http://schemas.openxmlformats.org/drawingml/2006/main" noGrp="1"/>
          </p:cNvSpPr>
          <p:nvPr/>
        </p:nvSpPr>
        <p:spPr>
          <a:xfrm xmlns:a="http://schemas.openxmlformats.org/drawingml/2006/main">
            <a:off x="6753225" y="1304925"/>
            <a:ext cx="28575" cy="28575"/>
          </a:xfrm>
          <a:prstGeom xmlns:a="http://schemas.openxmlformats.org/drawingml/2006/main" prst="ellipse">
            <a:avLst/>
          </a:prstGeom>
          <a:solidFill xmlns:a="http://schemas.openxmlformats.org/drawingml/2006/main">
            <a:srgbClr val="E6E8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9" name="Oval 8">
            <a:extLst xmlns:a="http://schemas.openxmlformats.org/drawingml/2006/main">
              <a:ext uri="{FF2B5EF4-FFF2-40B4-BE49-F238E27FC236}">
                <a16:creationId xmlns:a16="http://schemas.microsoft.com/office/drawing/2014/main" id="{971687F6-47A9-4150-89D4-7D270B8B3DC6}"/>
              </a:ext>
            </a:extLst>
          </p:cNvPr>
          <p:cNvSpPr>
            <a:spLocks xmlns:a="http://schemas.openxmlformats.org/drawingml/2006/main" noGrp="1"/>
          </p:cNvSpPr>
          <p:nvPr/>
        </p:nvSpPr>
        <p:spPr>
          <a:xfrm xmlns:a="http://schemas.openxmlformats.org/drawingml/2006/main">
            <a:off x="7239000" y="381000"/>
            <a:ext cx="66675" cy="66675"/>
          </a:xfrm>
          <a:prstGeom xmlns:a="http://schemas.openxmlformats.org/drawingml/2006/main" prst="ellipse">
            <a:avLst/>
          </a:prstGeom>
          <a:solidFill xmlns:a="http://schemas.openxmlformats.org/drawingml/2006/main">
            <a:srgbClr val="E6E8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0" name="Oval 9">
            <a:extLst xmlns:a="http://schemas.openxmlformats.org/drawingml/2006/main">
              <a:ext uri="{FF2B5EF4-FFF2-40B4-BE49-F238E27FC236}">
                <a16:creationId xmlns:a16="http://schemas.microsoft.com/office/drawing/2014/main" id="{22DB11DC-8AE3-4708-B895-9DCF02DCCDCD}"/>
              </a:ext>
            </a:extLst>
          </p:cNvPr>
          <p:cNvSpPr>
            <a:spLocks xmlns:a="http://schemas.openxmlformats.org/drawingml/2006/main" noGrp="1"/>
          </p:cNvSpPr>
          <p:nvPr/>
        </p:nvSpPr>
        <p:spPr>
          <a:xfrm xmlns:a="http://schemas.openxmlformats.org/drawingml/2006/main">
            <a:off x="8839200" y="790575"/>
            <a:ext cx="28575" cy="28575"/>
          </a:xfrm>
          <a:prstGeom xmlns:a="http://schemas.openxmlformats.org/drawingml/2006/main" prst="ellipse">
            <a:avLst/>
          </a:prstGeom>
          <a:solidFill xmlns:a="http://schemas.openxmlformats.org/drawingml/2006/main">
            <a:srgbClr val="E6E8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1" name="Oval 10">
            <a:extLst xmlns:a="http://schemas.openxmlformats.org/drawingml/2006/main">
              <a:ext uri="{FF2B5EF4-FFF2-40B4-BE49-F238E27FC236}">
                <a16:creationId xmlns:a16="http://schemas.microsoft.com/office/drawing/2014/main" id="{4170C531-2321-40E2-8044-BC5E8CA5BB58}"/>
              </a:ext>
            </a:extLst>
          </p:cNvPr>
          <p:cNvSpPr>
            <a:spLocks xmlns:a="http://schemas.openxmlformats.org/drawingml/2006/main" noGrp="1"/>
          </p:cNvSpPr>
          <p:nvPr/>
        </p:nvSpPr>
        <p:spPr>
          <a:xfrm xmlns:a="http://schemas.openxmlformats.org/drawingml/2006/main">
            <a:off x="9048750" y="1495425"/>
            <a:ext cx="28575" cy="28575"/>
          </a:xfrm>
          <a:prstGeom xmlns:a="http://schemas.openxmlformats.org/drawingml/2006/main" prst="ellipse">
            <a:avLst/>
          </a:prstGeom>
          <a:solidFill xmlns:a="http://schemas.openxmlformats.org/drawingml/2006/main">
            <a:srgbClr val="E6E8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2" name="Oval 11">
            <a:extLst xmlns:a="http://schemas.openxmlformats.org/drawingml/2006/main">
              <a:ext uri="{FF2B5EF4-FFF2-40B4-BE49-F238E27FC236}">
                <a16:creationId xmlns:a16="http://schemas.microsoft.com/office/drawing/2014/main" id="{7A4DA6F0-0E7F-4975-91FC-B8833E1EF25E}"/>
              </a:ext>
            </a:extLst>
          </p:cNvPr>
          <p:cNvSpPr>
            <a:spLocks xmlns:a="http://schemas.openxmlformats.org/drawingml/2006/main" noGrp="1"/>
          </p:cNvSpPr>
          <p:nvPr/>
        </p:nvSpPr>
        <p:spPr>
          <a:xfrm xmlns:a="http://schemas.openxmlformats.org/drawingml/2006/main">
            <a:off x="9239250" y="1647825"/>
            <a:ext cx="28575" cy="28575"/>
          </a:xfrm>
          <a:prstGeom xmlns:a="http://schemas.openxmlformats.org/drawingml/2006/main" prst="ellipse">
            <a:avLst/>
          </a:prstGeom>
          <a:solidFill xmlns:a="http://schemas.openxmlformats.org/drawingml/2006/main">
            <a:srgbClr val="E6E8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3" name="Oval 12">
            <a:extLst xmlns:a="http://schemas.openxmlformats.org/drawingml/2006/main">
              <a:ext uri="{FF2B5EF4-FFF2-40B4-BE49-F238E27FC236}">
                <a16:creationId xmlns:a16="http://schemas.microsoft.com/office/drawing/2014/main" id="{30D3E989-E565-43CA-B47B-51F6E2E6D5A5}"/>
              </a:ext>
            </a:extLst>
          </p:cNvPr>
          <p:cNvSpPr>
            <a:spLocks xmlns:a="http://schemas.openxmlformats.org/drawingml/2006/main" noGrp="1"/>
          </p:cNvSpPr>
          <p:nvPr/>
        </p:nvSpPr>
        <p:spPr>
          <a:xfrm xmlns:a="http://schemas.openxmlformats.org/drawingml/2006/main">
            <a:off x="9944100" y="2076450"/>
            <a:ext cx="47625" cy="47625"/>
          </a:xfrm>
          <a:prstGeom xmlns:a="http://schemas.openxmlformats.org/drawingml/2006/main" prst="ellipse">
            <a:avLst/>
          </a:prstGeom>
          <a:solidFill xmlns:a="http://schemas.openxmlformats.org/drawingml/2006/main">
            <a:srgbClr val="E6E8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4" name="Oval 13">
            <a:extLst xmlns:a="http://schemas.openxmlformats.org/drawingml/2006/main">
              <a:ext uri="{FF2B5EF4-FFF2-40B4-BE49-F238E27FC236}">
                <a16:creationId xmlns:a16="http://schemas.microsoft.com/office/drawing/2014/main" id="{E90AC5F6-AD11-4372-9904-82389EC0DDD8}"/>
              </a:ext>
            </a:extLst>
          </p:cNvPr>
          <p:cNvSpPr>
            <a:spLocks xmlns:a="http://schemas.openxmlformats.org/drawingml/2006/main" noGrp="1"/>
          </p:cNvSpPr>
          <p:nvPr/>
        </p:nvSpPr>
        <p:spPr>
          <a:xfrm xmlns:a="http://schemas.openxmlformats.org/drawingml/2006/main">
            <a:off x="11258550" y="228600"/>
            <a:ext cx="28575" cy="28575"/>
          </a:xfrm>
          <a:prstGeom xmlns:a="http://schemas.openxmlformats.org/drawingml/2006/main" prst="ellipse">
            <a:avLst/>
          </a:prstGeom>
          <a:solidFill xmlns:a="http://schemas.openxmlformats.org/drawingml/2006/main">
            <a:srgbClr val="E6E8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5" name="Oval 14">
            <a:extLst xmlns:a="http://schemas.openxmlformats.org/drawingml/2006/main">
              <a:ext uri="{FF2B5EF4-FFF2-40B4-BE49-F238E27FC236}">
                <a16:creationId xmlns:a16="http://schemas.microsoft.com/office/drawing/2014/main" id="{7B52B2D8-D6B9-4D4D-B2A5-2C8D8AA80805}"/>
              </a:ext>
            </a:extLst>
          </p:cNvPr>
          <p:cNvSpPr>
            <a:spLocks xmlns:a="http://schemas.openxmlformats.org/drawingml/2006/main" noGrp="1"/>
          </p:cNvSpPr>
          <p:nvPr/>
        </p:nvSpPr>
        <p:spPr>
          <a:xfrm xmlns:a="http://schemas.openxmlformats.org/drawingml/2006/main">
            <a:off x="11306175" y="466725"/>
            <a:ext cx="38100" cy="38100"/>
          </a:xfrm>
          <a:prstGeom xmlns:a="http://schemas.openxmlformats.org/drawingml/2006/main" prst="ellipse">
            <a:avLst/>
          </a:prstGeom>
          <a:solidFill xmlns:a="http://schemas.openxmlformats.org/drawingml/2006/main">
            <a:srgbClr val="E6E8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6" name="Oval 15">
            <a:extLst xmlns:a="http://schemas.openxmlformats.org/drawingml/2006/main">
              <a:ext uri="{FF2B5EF4-FFF2-40B4-BE49-F238E27FC236}">
                <a16:creationId xmlns:a16="http://schemas.microsoft.com/office/drawing/2014/main" id="{69CE3ABD-20CA-492A-A395-49E29EFAB399}"/>
              </a:ext>
            </a:extLst>
          </p:cNvPr>
          <p:cNvSpPr>
            <a:spLocks xmlns:a="http://schemas.openxmlformats.org/drawingml/2006/main" noGrp="1"/>
          </p:cNvSpPr>
          <p:nvPr/>
        </p:nvSpPr>
        <p:spPr>
          <a:xfrm xmlns:a="http://schemas.openxmlformats.org/drawingml/2006/main">
            <a:off x="11811000" y="723900"/>
            <a:ext cx="38100" cy="38100"/>
          </a:xfrm>
          <a:prstGeom xmlns:a="http://schemas.openxmlformats.org/drawingml/2006/main" prst="ellipse">
            <a:avLst/>
          </a:prstGeom>
          <a:solidFill xmlns:a="http://schemas.openxmlformats.org/drawingml/2006/main">
            <a:srgbClr val="E6E8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7" name="Oval 16">
            <a:extLst xmlns:a="http://schemas.openxmlformats.org/drawingml/2006/main">
              <a:ext uri="{FF2B5EF4-FFF2-40B4-BE49-F238E27FC236}">
                <a16:creationId xmlns:a16="http://schemas.microsoft.com/office/drawing/2014/main" id="{B88F33C5-401C-4533-ABE2-633CA7C878A6}"/>
              </a:ext>
            </a:extLst>
          </p:cNvPr>
          <p:cNvSpPr>
            <a:spLocks xmlns:a="http://schemas.openxmlformats.org/drawingml/2006/main" noGrp="1"/>
          </p:cNvSpPr>
          <p:nvPr/>
        </p:nvSpPr>
        <p:spPr>
          <a:xfrm xmlns:a="http://schemas.openxmlformats.org/drawingml/2006/main">
            <a:off x="11991975" y="1181100"/>
            <a:ext cx="47625" cy="47625"/>
          </a:xfrm>
          <a:prstGeom xmlns:a="http://schemas.openxmlformats.org/drawingml/2006/main" prst="ellipse">
            <a:avLst/>
          </a:prstGeom>
          <a:solidFill xmlns:a="http://schemas.openxmlformats.org/drawingml/2006/main">
            <a:srgbClr val="E6E8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8" name="Oval 17">
            <a:extLst xmlns:a="http://schemas.openxmlformats.org/drawingml/2006/main">
              <a:ext uri="{FF2B5EF4-FFF2-40B4-BE49-F238E27FC236}">
                <a16:creationId xmlns:a16="http://schemas.microsoft.com/office/drawing/2014/main" id="{81912CAD-A491-40CB-BE59-97E8CE401F65}"/>
              </a:ext>
            </a:extLst>
          </p:cNvPr>
          <p:cNvSpPr>
            <a:spLocks xmlns:a="http://schemas.openxmlformats.org/drawingml/2006/main" noGrp="1"/>
          </p:cNvSpPr>
          <p:nvPr/>
        </p:nvSpPr>
        <p:spPr>
          <a:xfrm xmlns:a="http://schemas.openxmlformats.org/drawingml/2006/main">
            <a:off x="0" y="3028950"/>
            <a:ext cx="1381125" cy="1219200"/>
          </a:xfrm>
          <a:prstGeom xmlns:a="http://schemas.openxmlformats.org/drawingml/2006/main" prst="ellipse">
            <a:avLst/>
          </a:prstGeom>
          <a:solidFill xmlns:a="http://schemas.openxmlformats.org/drawingml/2006/main">
            <a:srgbClr val="F5F8F6"/>
          </a:solidFill>
          <a:ln xmlns:a="http://schemas.openxmlformats.org/drawingml/2006/main" w="9525">
            <a:solidFill>
              <a:srgbClr val="E3E8E5"/>
            </a:solidFill>
            <a:prstDash val="dot"/>
          </a:ln>
        </p:spPr>
        <p:txBody>
          <a:bodyPr xmlns:a="http://schemas.openxmlformats.org/drawingml/2006/main"/>
          <a:lstStyle xmlns:a="http://schemas.openxmlformats.org/drawingml/2006/main"/>
          <a:p xmlns:a="http://schemas.openxmlformats.org/drawingml/2006/main">
            <a:endParaRPr/>
          </a:p>
        </p:txBody>
      </p:sp>
      <p:pic>
        <p:nvPicPr>
          <p:cNvPr id="107" name="Picture 93"/>
          <p:cNvPicPr>
            <a:picLocks xmlns:a="http://schemas.openxmlformats.org/drawingml/2006/main" noChangeAspect="1"/>
          </p:cNvPicPr>
          <p:nvPr/>
        </p:nvPicPr>
        <p:blipFill>
          <a:blip xmlns:r="http://schemas.openxmlformats.org/officeDocument/2006/relationships" xmlns:a="http://schemas.openxmlformats.org/drawingml/2006/main" r:embed="R6b729865d68f47b9"/>
          <a:stretch xmlns:a="http://schemas.openxmlformats.org/drawingml/2006/main"/>
        </p:blipFill>
        <p:spPr>
          <a:xfrm xmlns:a="http://schemas.openxmlformats.org/drawingml/2006/main">
            <a:off x="426149" y="276225"/>
            <a:ext cx="1824228" cy="542925"/>
          </a:xfrm>
          <a:prstGeom xmlns:a="http://schemas.openxmlformats.org/drawingml/2006/main" prst="rect">
            <a:avLst/>
          </a:prstGeom>
        </p:spPr>
      </p:pic>
      <p:sp>
        <p:nvSpPr>
          <p:cNvPr id="21" name="Rectangle 20">
            <a:extLst xmlns:a="http://schemas.openxmlformats.org/drawingml/2006/main">
              <a:ext uri="{FF2B5EF4-FFF2-40B4-BE49-F238E27FC236}">
                <a16:creationId xmlns:a16="http://schemas.microsoft.com/office/drawing/2014/main" id="{C287F6CF-5BDC-4BBA-BB60-B25AA48793ED}"/>
              </a:ext>
            </a:extLst>
          </p:cNvPr>
          <p:cNvSpPr>
            <a:spLocks xmlns:a="http://schemas.openxmlformats.org/drawingml/2006/main" noGrp="1"/>
          </p:cNvSpPr>
          <p:nvPr/>
        </p:nvSpPr>
        <p:spPr>
          <a:xfrm xmlns:a="http://schemas.openxmlformats.org/drawingml/2006/main">
            <a:off x="400050" y="1118185"/>
            <a:ext cx="4953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3150" b="1" i="0">
                <a:solidFill>
                  <a:srgbClr val="003B25"/>
                </a:solidFill>
                <a:latin typeface="Arial"/>
                <a:ea typeface="Arial"/>
                <a:cs typeface="Arial"/>
              </a:defRPr>
            </a:pPr>
            <a:r>
              <a:rPr sz="3150" b="1" i="0">
                <a:solidFill>
                  <a:srgbClr val="003B25"/>
                </a:solidFill>
                <a:latin typeface="Arial"/>
                <a:ea typeface="Arial"/>
                <a:cs typeface="Arial"/>
              </a:rPr>
              <a:t>Current Environment</a:t>
            </a:r>
          </a:p>
        </p:txBody>
      </p:sp>
      <p:sp>
        <p:nvSpPr>
          <p:cNvPr id="22" name="Rectangle 21">
            <a:extLst xmlns:a="http://schemas.openxmlformats.org/drawingml/2006/main">
              <a:ext uri="{FF2B5EF4-FFF2-40B4-BE49-F238E27FC236}">
                <a16:creationId xmlns:a16="http://schemas.microsoft.com/office/drawing/2014/main" id="{7181C17D-13DF-4692-BC64-FC2AD05459C9}"/>
              </a:ext>
            </a:extLst>
          </p:cNvPr>
          <p:cNvSpPr>
            <a:spLocks xmlns:a="http://schemas.openxmlformats.org/drawingml/2006/main" noGrp="1"/>
          </p:cNvSpPr>
          <p:nvPr/>
        </p:nvSpPr>
        <p:spPr>
          <a:xfrm xmlns:a="http://schemas.openxmlformats.org/drawingml/2006/main">
            <a:off x="400050" y="1704975"/>
            <a:ext cx="371475" cy="38100"/>
          </a:xfrm>
          <a:prstGeom xmlns:a="http://schemas.openxmlformats.org/drawingml/2006/main" prst="rect">
            <a:avLst/>
          </a:prstGeom>
          <a:solidFill xmlns:a="http://schemas.openxmlformats.org/drawingml/2006/main">
            <a:srgbClr val="F0000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3" name="Rectangle 22">
            <a:extLst xmlns:a="http://schemas.openxmlformats.org/drawingml/2006/main">
              <a:ext uri="{FF2B5EF4-FFF2-40B4-BE49-F238E27FC236}">
                <a16:creationId xmlns:a16="http://schemas.microsoft.com/office/drawing/2014/main" id="{CF1157D8-7FA6-44EE-9ABA-8C1B2D76EB92}"/>
              </a:ext>
            </a:extLst>
          </p:cNvPr>
          <p:cNvSpPr>
            <a:spLocks xmlns:a="http://schemas.openxmlformats.org/drawingml/2006/main" noGrp="1"/>
          </p:cNvSpPr>
          <p:nvPr/>
        </p:nvSpPr>
        <p:spPr>
          <a:xfrm xmlns:a="http://schemas.openxmlformats.org/drawingml/2006/main">
            <a:off x="400050" y="1885950"/>
            <a:ext cx="533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200" b="0" i="0">
                <a:solidFill>
                  <a:srgbClr val="111111"/>
                </a:solidFill>
                <a:latin typeface="Arial"/>
                <a:ea typeface="Arial"/>
                <a:cs typeface="Arial"/>
              </a:defRPr>
            </a:pPr>
            <a:r>
              <a:rPr sz="1200" b="0" i="0">
                <a:solidFill>
                  <a:srgbClr val="111111"/>
                </a:solidFill>
                <a:latin typeface="Arial"/>
                <a:ea typeface="Arial"/>
                <a:cs typeface="Arial"/>
              </a:rPr>
              <a:t>Analysis based on RVTools data shared by the customer.</a:t>
            </a:r>
          </a:p>
        </p:txBody>
      </p:sp>
      <p:sp>
        <p:nvSpPr>
          <p:cNvPr id="24" name="Rounded Rectangle 23">
            <a:extLst xmlns:a="http://schemas.openxmlformats.org/drawingml/2006/main">
              <a:ext uri="{FF2B5EF4-FFF2-40B4-BE49-F238E27FC236}">
                <a16:creationId xmlns:a16="http://schemas.microsoft.com/office/drawing/2014/main" id="{7742F759-7FA3-4F04-BD5F-BC22AB94CD82}"/>
              </a:ext>
            </a:extLst>
          </p:cNvPr>
          <p:cNvSpPr>
            <a:spLocks xmlns:a="http://schemas.openxmlformats.org/drawingml/2006/main" noGrp="1"/>
          </p:cNvSpPr>
          <p:nvPr/>
        </p:nvSpPr>
        <p:spPr>
          <a:xfrm xmlns:a="http://schemas.openxmlformats.org/drawingml/2006/main">
            <a:off x="400050" y="2181225"/>
            <a:ext cx="11334750" cy="2152650"/>
          </a:xfrm>
          <a:prstGeom xmlns:a="http://schemas.openxmlformats.org/drawingml/2006/main" prst="roundRect">
            <a:avLst>
              <a:gd name="adj" fmla="val 3097"/>
            </a:avLst>
          </a:prstGeom>
          <a:solidFill xmlns:a="http://schemas.openxmlformats.org/drawingml/2006/main">
            <a:srgbClr val="FFFFFF"/>
          </a:solidFill>
          <a:ln xmlns:a="http://schemas.openxmlformats.org/drawingml/2006/main" w="9525">
            <a:solidFill>
              <a:srgbClr val="D9DED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25" name="Rounded Rectangle 24">
            <a:extLst xmlns:a="http://schemas.openxmlformats.org/drawingml/2006/main">
              <a:ext uri="{FF2B5EF4-FFF2-40B4-BE49-F238E27FC236}">
                <a16:creationId xmlns:a16="http://schemas.microsoft.com/office/drawing/2014/main" id="{B404DBE3-517A-4268-99D5-24CDE97D5A55}"/>
              </a:ext>
            </a:extLst>
          </p:cNvPr>
          <p:cNvSpPr>
            <a:spLocks xmlns:a="http://schemas.openxmlformats.org/drawingml/2006/main" noGrp="1"/>
          </p:cNvSpPr>
          <p:nvPr/>
        </p:nvSpPr>
        <p:spPr>
          <a:xfrm xmlns:a="http://schemas.openxmlformats.org/drawingml/2006/main">
            <a:off x="400050" y="2181225"/>
            <a:ext cx="11334750" cy="419100"/>
          </a:xfrm>
          <a:prstGeom xmlns:a="http://schemas.openxmlformats.org/drawingml/2006/main" prst="roundRect">
            <a:avLst>
              <a:gd name="adj" fmla="val 15909"/>
            </a:avLst>
          </a:prstGeom>
          <a:gradFill xmlns:a="http://schemas.openxmlformats.org/drawingml/2006/main">
            <a:gsLst>
              <a:gs pos="0">
                <a:srgbClr val="003B25"/>
              </a:gs>
              <a:gs pos="100000">
                <a:srgbClr val="0A4B30"/>
              </a:gs>
            </a:gsLst>
            <a:lin ang="5400000"/>
          </a:gra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6" name="Rectangle 25">
            <a:extLst xmlns:a="http://schemas.openxmlformats.org/drawingml/2006/main">
              <a:ext uri="{FF2B5EF4-FFF2-40B4-BE49-F238E27FC236}">
                <a16:creationId xmlns:a16="http://schemas.microsoft.com/office/drawing/2014/main" id="{F149E187-8D0C-45BD-B937-45018F857AE1}"/>
              </a:ext>
            </a:extLst>
          </p:cNvPr>
          <p:cNvSpPr>
            <a:spLocks xmlns:a="http://schemas.openxmlformats.org/drawingml/2006/main" noGrp="1"/>
          </p:cNvSpPr>
          <p:nvPr/>
        </p:nvSpPr>
        <p:spPr>
          <a:xfrm xmlns:a="http://schemas.openxmlformats.org/drawingml/2006/main">
            <a:off x="400050" y="2514600"/>
            <a:ext cx="11334750" cy="85725"/>
          </a:xfrm>
          <a:prstGeom xmlns:a="http://schemas.openxmlformats.org/drawingml/2006/main" prst="rect">
            <a:avLst/>
          </a:prstGeom>
          <a:gradFill xmlns:a="http://schemas.openxmlformats.org/drawingml/2006/main">
            <a:gsLst>
              <a:gs pos="0">
                <a:srgbClr val="003B25"/>
              </a:gs>
              <a:gs pos="100000">
                <a:srgbClr val="0A4B30"/>
              </a:gs>
            </a:gsLst>
            <a:lin ang="5400000"/>
          </a:gra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pic>
        <p:nvPicPr>
          <p:cNvPr id="114" name="Picture 100"/>
          <p:cNvPicPr>
            <a:picLocks xmlns:a="http://schemas.openxmlformats.org/drawingml/2006/main" noChangeAspect="1"/>
          </p:cNvPicPr>
          <p:nvPr/>
        </p:nvPicPr>
        <p:blipFill>
          <a:blip xmlns:r="http://schemas.openxmlformats.org/officeDocument/2006/relationships" xmlns:a="http://schemas.openxmlformats.org/drawingml/2006/main" r:embed="Re059d9775c5f452d"/>
          <a:stretch xmlns:a="http://schemas.openxmlformats.org/drawingml/2006/main"/>
        </p:blipFill>
        <p:spPr>
          <a:xfrm xmlns:a="http://schemas.openxmlformats.org/drawingml/2006/main">
            <a:off x="600075" y="2261185"/>
            <a:ext cx="285750" cy="278230"/>
          </a:xfrm>
          <a:prstGeom xmlns:a="http://schemas.openxmlformats.org/drawingml/2006/main" prst="rect">
            <a:avLst/>
          </a:prstGeom>
        </p:spPr>
      </p:pic>
      <p:sp>
        <p:nvSpPr>
          <p:cNvPr id="28" name="editable-current-datacenter">
            <a:extLst xmlns:a="http://schemas.openxmlformats.org/drawingml/2006/main">
              <a:ext uri="{FF2B5EF4-FFF2-40B4-BE49-F238E27FC236}">
                <a16:creationId xmlns:a16="http://schemas.microsoft.com/office/drawing/2014/main" id="{1FCDE930-188D-4EA2-8394-918FC60EA432}"/>
              </a:ext>
            </a:extLst>
          </p:cNvPr>
          <p:cNvSpPr>
            <a:spLocks xmlns:a="http://schemas.openxmlformats.org/drawingml/2006/main" noGrp="1"/>
          </p:cNvSpPr>
          <p:nvPr/>
        </p:nvSpPr>
        <p:spPr>
          <a:xfrm xmlns:a="http://schemas.openxmlformats.org/drawingml/2006/main">
            <a:off x="981075" y="2333625"/>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350" b="1" i="0">
                <a:solidFill>
                  <a:srgbClr val="FFFFFF"/>
                </a:solidFill>
                <a:latin typeface="Arial"/>
                <a:ea typeface="Arial"/>
                <a:cs typeface="Arial"/>
              </a:defRPr>
            </a:pPr>
            <a:r>
              <a:rPr sz="1350" b="1" i="0">
                <a:solidFill>
                  <a:srgbClr val="FFFFFF"/>
                </a:solidFill>
                <a:latin typeface="Arial"/>
                <a:ea typeface="Arial"/>
                <a:cs typeface="Arial"/>
              </a:rPr>
              <a:t>Datacenter 1 – CLIENT</a:t>
            </a:r>
          </a:p>
        </p:txBody>
      </p:sp>
      <p:sp>
        <p:nvSpPr>
          <p:cNvPr id="29" name="Straight Connector 28">
            <a:extLst xmlns:a="http://schemas.openxmlformats.org/drawingml/2006/main">
              <a:ext uri="{FF2B5EF4-FFF2-40B4-BE49-F238E27FC236}">
                <a16:creationId xmlns:a16="http://schemas.microsoft.com/office/drawing/2014/main" id="{073F4B3D-A689-436F-BCE6-8235406074F8}"/>
              </a:ext>
            </a:extLst>
          </p:cNvPr>
          <p:cNvSpPr>
            <a:spLocks xmlns:a="http://schemas.openxmlformats.org/drawingml/2006/main" noGrp="1"/>
          </p:cNvSpPr>
          <p:nvPr/>
        </p:nvSpPr>
        <p:spPr>
          <a:xfrm xmlns:a="http://schemas.openxmlformats.org/drawingml/2006/main">
            <a:off x="3200400" y="2857500"/>
            <a:ext cx="0" cy="1028700"/>
          </a:xfrm>
          <a:prstGeom xmlns:a="http://schemas.openxmlformats.org/drawingml/2006/main" prst="line">
            <a:avLst/>
          </a:prstGeom>
          <a:noFill xmlns:a="http://schemas.openxmlformats.org/drawingml/2006/main"/>
          <a:ln xmlns:a="http://schemas.openxmlformats.org/drawingml/2006/main" w="9525">
            <a:solidFill>
              <a:srgbClr val="C9CECA"/>
            </a:solidFill>
            <a:prstDash val="solid"/>
          </a:ln>
        </p:spPr>
        <p:txBody>
          <a:bodyPr xmlns:a="http://schemas.openxmlformats.org/drawingml/2006/main"/>
          <a:lstStyle xmlns:a="http://schemas.openxmlformats.org/drawingml/2006/main"/>
          <a:p xmlns:a="http://schemas.openxmlformats.org/drawingml/2006/main">
            <a:endParaRPr/>
          </a:p>
        </p:txBody>
      </p:sp>
      <p:sp>
        <p:nvSpPr>
          <p:cNvPr id="30" name="Straight Connector 29">
            <a:extLst xmlns:a="http://schemas.openxmlformats.org/drawingml/2006/main">
              <a:ext uri="{FF2B5EF4-FFF2-40B4-BE49-F238E27FC236}">
                <a16:creationId xmlns:a16="http://schemas.microsoft.com/office/drawing/2014/main" id="{FB60119E-4550-4C62-A1C7-2490DD52390F}"/>
              </a:ext>
            </a:extLst>
          </p:cNvPr>
          <p:cNvSpPr>
            <a:spLocks xmlns:a="http://schemas.openxmlformats.org/drawingml/2006/main" noGrp="1"/>
          </p:cNvSpPr>
          <p:nvPr/>
        </p:nvSpPr>
        <p:spPr>
          <a:xfrm xmlns:a="http://schemas.openxmlformats.org/drawingml/2006/main">
            <a:off x="5981700" y="2857500"/>
            <a:ext cx="0" cy="1028700"/>
          </a:xfrm>
          <a:prstGeom xmlns:a="http://schemas.openxmlformats.org/drawingml/2006/main" prst="line">
            <a:avLst/>
          </a:prstGeom>
          <a:noFill xmlns:a="http://schemas.openxmlformats.org/drawingml/2006/main"/>
          <a:ln xmlns:a="http://schemas.openxmlformats.org/drawingml/2006/main" w="9525">
            <a:solidFill>
              <a:srgbClr val="C9CECA"/>
            </a:solidFill>
            <a:prstDash val="solid"/>
          </a:ln>
        </p:spPr>
        <p:txBody>
          <a:bodyPr xmlns:a="http://schemas.openxmlformats.org/drawingml/2006/main"/>
          <a:lstStyle xmlns:a="http://schemas.openxmlformats.org/drawingml/2006/main"/>
          <a:p xmlns:a="http://schemas.openxmlformats.org/drawingml/2006/main">
            <a:endParaRPr/>
          </a:p>
        </p:txBody>
      </p:sp>
      <p:sp>
        <p:nvSpPr>
          <p:cNvPr id="31" name="Straight Connector 30">
            <a:extLst xmlns:a="http://schemas.openxmlformats.org/drawingml/2006/main">
              <a:ext uri="{FF2B5EF4-FFF2-40B4-BE49-F238E27FC236}">
                <a16:creationId xmlns:a16="http://schemas.microsoft.com/office/drawing/2014/main" id="{635B3C01-9C5E-4AA0-AC7B-F394D0687E36}"/>
              </a:ext>
            </a:extLst>
          </p:cNvPr>
          <p:cNvSpPr>
            <a:spLocks xmlns:a="http://schemas.openxmlformats.org/drawingml/2006/main" noGrp="1"/>
          </p:cNvSpPr>
          <p:nvPr/>
        </p:nvSpPr>
        <p:spPr>
          <a:xfrm xmlns:a="http://schemas.openxmlformats.org/drawingml/2006/main">
            <a:off x="8724900" y="2857500"/>
            <a:ext cx="0" cy="1028700"/>
          </a:xfrm>
          <a:prstGeom xmlns:a="http://schemas.openxmlformats.org/drawingml/2006/main" prst="line">
            <a:avLst/>
          </a:prstGeom>
          <a:noFill xmlns:a="http://schemas.openxmlformats.org/drawingml/2006/main"/>
          <a:ln xmlns:a="http://schemas.openxmlformats.org/drawingml/2006/main" w="9525">
            <a:solidFill>
              <a:srgbClr val="C9CECA"/>
            </a:solidFill>
            <a:prstDash val="solid"/>
          </a:ln>
        </p:spPr>
        <p:txBody>
          <a:bodyPr xmlns:a="http://schemas.openxmlformats.org/drawingml/2006/main"/>
          <a:lstStyle xmlns:a="http://schemas.openxmlformats.org/drawingml/2006/main"/>
          <a:p xmlns:a="http://schemas.openxmlformats.org/drawingml/2006/main">
            <a:endParaRPr/>
          </a:p>
        </p:txBody>
      </p:sp>
      <p:sp>
        <p:nvSpPr>
          <p:cNvPr id="32" name="Rectangle 31">
            <a:extLst xmlns:a="http://schemas.openxmlformats.org/drawingml/2006/main">
              <a:ext uri="{FF2B5EF4-FFF2-40B4-BE49-F238E27FC236}">
                <a16:creationId xmlns:a16="http://schemas.microsoft.com/office/drawing/2014/main" id="{B59BC397-1AED-455B-BFE0-6D1460C9CD8C}"/>
              </a:ext>
            </a:extLst>
          </p:cNvPr>
          <p:cNvSpPr>
            <a:spLocks xmlns:a="http://schemas.openxmlformats.org/drawingml/2006/main" noGrp="1"/>
          </p:cNvSpPr>
          <p:nvPr/>
        </p:nvSpPr>
        <p:spPr>
          <a:xfrm xmlns:a="http://schemas.openxmlformats.org/drawingml/2006/main">
            <a:off x="1171575" y="3362325"/>
            <a:ext cx="133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1050" b="1" i="0">
                <a:solidFill>
                  <a:srgbClr val="111111"/>
                </a:solidFill>
                <a:latin typeface="Arial"/>
                <a:ea typeface="Arial"/>
                <a:cs typeface="Arial"/>
              </a:defRPr>
            </a:pPr>
            <a:r>
              <a:rPr sz="1050" b="1" i="0">
                <a:solidFill>
                  <a:srgbClr val="111111"/>
                </a:solidFill>
                <a:latin typeface="Arial"/>
                <a:ea typeface="Arial"/>
                <a:cs typeface="Arial"/>
              </a:rPr>
              <a:t>VMs</a:t>
            </a:r>
          </a:p>
        </p:txBody>
      </p:sp>
      <p:sp>
        <p:nvSpPr>
          <p:cNvPr id="33" name="editable-current-vms">
            <a:extLst xmlns:a="http://schemas.openxmlformats.org/drawingml/2006/main">
              <a:ext uri="{FF2B5EF4-FFF2-40B4-BE49-F238E27FC236}">
                <a16:creationId xmlns:a16="http://schemas.microsoft.com/office/drawing/2014/main" id="{127C50D5-D813-45E0-8A65-C431BD0456FE}"/>
              </a:ext>
            </a:extLst>
          </p:cNvPr>
          <p:cNvSpPr>
            <a:spLocks xmlns:a="http://schemas.openxmlformats.org/drawingml/2006/main" noGrp="1"/>
          </p:cNvSpPr>
          <p:nvPr/>
        </p:nvSpPr>
        <p:spPr>
          <a:xfrm xmlns:a="http://schemas.openxmlformats.org/drawingml/2006/main">
            <a:off x="1171575" y="3609975"/>
            <a:ext cx="1333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1650" b="1" i="0">
                <a:solidFill>
                  <a:srgbClr val="003B25"/>
                </a:solidFill>
                <a:latin typeface="Arial"/>
                <a:ea typeface="Arial"/>
                <a:cs typeface="Arial"/>
              </a:defRPr>
            </a:pPr>
            <a:r>
              <a:rPr sz="1650" b="1" i="0">
                <a:solidFill>
                  <a:srgbClr val="003B25"/>
                </a:solidFill>
                <a:latin typeface="Arial"/>
                <a:ea typeface="Arial"/>
                <a:cs typeface="Arial"/>
              </a:rPr>
              <a:t>20,100</a:t>
            </a:r>
          </a:p>
        </p:txBody>
      </p:sp>
      <p:pic>
        <p:nvPicPr>
          <p:cNvPr id="121" name="Picture 107"/>
          <p:cNvPicPr>
            <a:picLocks xmlns:a="http://schemas.openxmlformats.org/drawingml/2006/main" noChangeAspect="1"/>
          </p:cNvPicPr>
          <p:nvPr/>
        </p:nvPicPr>
        <p:blipFill>
          <a:blip xmlns:r="http://schemas.openxmlformats.org/officeDocument/2006/relationships" xmlns:a="http://schemas.openxmlformats.org/drawingml/2006/main" r:embed="R721fca4b66774544"/>
          <a:stretch xmlns:a="http://schemas.openxmlformats.org/drawingml/2006/main"/>
        </p:blipFill>
        <p:spPr>
          <a:xfrm xmlns:a="http://schemas.openxmlformats.org/drawingml/2006/main">
            <a:off x="1590675" y="2781300"/>
            <a:ext cx="495300" cy="495300"/>
          </a:xfrm>
          <a:prstGeom xmlns:a="http://schemas.openxmlformats.org/drawingml/2006/main" prst="rect">
            <a:avLst/>
          </a:prstGeom>
        </p:spPr>
      </p:pic>
      <p:sp>
        <p:nvSpPr>
          <p:cNvPr id="35" name="Rectangle 34">
            <a:extLst xmlns:a="http://schemas.openxmlformats.org/drawingml/2006/main">
              <a:ext uri="{FF2B5EF4-FFF2-40B4-BE49-F238E27FC236}">
                <a16:creationId xmlns:a16="http://schemas.microsoft.com/office/drawing/2014/main" id="{CCA77633-015F-457C-984D-6673C096DB92}"/>
              </a:ext>
            </a:extLst>
          </p:cNvPr>
          <p:cNvSpPr>
            <a:spLocks xmlns:a="http://schemas.openxmlformats.org/drawingml/2006/main" noGrp="1"/>
          </p:cNvSpPr>
          <p:nvPr/>
        </p:nvSpPr>
        <p:spPr>
          <a:xfrm xmlns:a="http://schemas.openxmlformats.org/drawingml/2006/main">
            <a:off x="3952875" y="3362325"/>
            <a:ext cx="133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1050" b="1" i="0">
                <a:solidFill>
                  <a:srgbClr val="111111"/>
                </a:solidFill>
                <a:latin typeface="Arial"/>
                <a:ea typeface="Arial"/>
                <a:cs typeface="Arial"/>
              </a:defRPr>
            </a:pPr>
            <a:r>
              <a:rPr sz="1050" b="1" i="0">
                <a:solidFill>
                  <a:srgbClr val="111111"/>
                </a:solidFill>
                <a:latin typeface="Arial"/>
                <a:ea typeface="Arial"/>
                <a:cs typeface="Arial"/>
              </a:rPr>
              <a:t>vCPUs</a:t>
            </a:r>
          </a:p>
        </p:txBody>
      </p:sp>
      <p:sp>
        <p:nvSpPr>
          <p:cNvPr id="36" name="editable-current-vcpus">
            <a:extLst xmlns:a="http://schemas.openxmlformats.org/drawingml/2006/main">
              <a:ext uri="{FF2B5EF4-FFF2-40B4-BE49-F238E27FC236}">
                <a16:creationId xmlns:a16="http://schemas.microsoft.com/office/drawing/2014/main" id="{D3349B43-D610-4795-98E9-37BED54D9ECE}"/>
              </a:ext>
            </a:extLst>
          </p:cNvPr>
          <p:cNvSpPr>
            <a:spLocks xmlns:a="http://schemas.openxmlformats.org/drawingml/2006/main" noGrp="1"/>
          </p:cNvSpPr>
          <p:nvPr/>
        </p:nvSpPr>
        <p:spPr>
          <a:xfrm xmlns:a="http://schemas.openxmlformats.org/drawingml/2006/main">
            <a:off x="3952875" y="3609975"/>
            <a:ext cx="1333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1650" b="1" i="0">
                <a:solidFill>
                  <a:srgbClr val="003B25"/>
                </a:solidFill>
                <a:latin typeface="Arial"/>
                <a:ea typeface="Arial"/>
                <a:cs typeface="Arial"/>
              </a:defRPr>
            </a:pPr>
            <a:r>
              <a:rPr sz="1650" b="1" i="0">
                <a:solidFill>
                  <a:srgbClr val="003B25"/>
                </a:solidFill>
                <a:latin typeface="Arial"/>
                <a:ea typeface="Arial"/>
                <a:cs typeface="Arial"/>
              </a:rPr>
              <a:t>3,000</a:t>
            </a:r>
          </a:p>
        </p:txBody>
      </p:sp>
      <p:pic>
        <p:nvPicPr>
          <p:cNvPr id="124" name="Picture 110"/>
          <p:cNvPicPr>
            <a:picLocks xmlns:a="http://schemas.openxmlformats.org/drawingml/2006/main" noChangeAspect="1"/>
          </p:cNvPicPr>
          <p:nvPr/>
        </p:nvPicPr>
        <p:blipFill>
          <a:blip xmlns:r="http://schemas.openxmlformats.org/officeDocument/2006/relationships" xmlns:a="http://schemas.openxmlformats.org/drawingml/2006/main" r:embed="R4760cd0dbc1844b3"/>
          <a:stretch xmlns:a="http://schemas.openxmlformats.org/drawingml/2006/main"/>
        </p:blipFill>
        <p:spPr>
          <a:xfrm xmlns:a="http://schemas.openxmlformats.org/drawingml/2006/main">
            <a:off x="4371975" y="2781300"/>
            <a:ext cx="495300" cy="495300"/>
          </a:xfrm>
          <a:prstGeom xmlns:a="http://schemas.openxmlformats.org/drawingml/2006/main" prst="rect">
            <a:avLst/>
          </a:prstGeom>
        </p:spPr>
      </p:pic>
      <p:sp>
        <p:nvSpPr>
          <p:cNvPr id="38" name="Rectangle 37">
            <a:extLst xmlns:a="http://schemas.openxmlformats.org/drawingml/2006/main">
              <a:ext uri="{FF2B5EF4-FFF2-40B4-BE49-F238E27FC236}">
                <a16:creationId xmlns:a16="http://schemas.microsoft.com/office/drawing/2014/main" id="{52A61E4A-8FF4-4FA2-BD1B-74AD7A47DE93}"/>
              </a:ext>
            </a:extLst>
          </p:cNvPr>
          <p:cNvSpPr>
            <a:spLocks xmlns:a="http://schemas.openxmlformats.org/drawingml/2006/main" noGrp="1"/>
          </p:cNvSpPr>
          <p:nvPr/>
        </p:nvSpPr>
        <p:spPr>
          <a:xfrm xmlns:a="http://schemas.openxmlformats.org/drawingml/2006/main">
            <a:off x="6696075" y="3362325"/>
            <a:ext cx="133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1050" b="1" i="0">
                <a:solidFill>
                  <a:srgbClr val="111111"/>
                </a:solidFill>
                <a:latin typeface="Arial"/>
                <a:ea typeface="Arial"/>
                <a:cs typeface="Arial"/>
              </a:defRPr>
            </a:pPr>
            <a:r>
              <a:rPr sz="1050" b="1" i="0">
                <a:solidFill>
                  <a:srgbClr val="111111"/>
                </a:solidFill>
                <a:latin typeface="Arial"/>
                <a:ea typeface="Arial"/>
                <a:cs typeface="Arial"/>
              </a:rPr>
              <a:t>vRAM (GB)</a:t>
            </a:r>
          </a:p>
        </p:txBody>
      </p:sp>
      <p:sp>
        <p:nvSpPr>
          <p:cNvPr id="39" name="editable-current-vram">
            <a:extLst xmlns:a="http://schemas.openxmlformats.org/drawingml/2006/main">
              <a:ext uri="{FF2B5EF4-FFF2-40B4-BE49-F238E27FC236}">
                <a16:creationId xmlns:a16="http://schemas.microsoft.com/office/drawing/2014/main" id="{90A624D4-C31B-42AE-A588-376259BB8A49}"/>
              </a:ext>
            </a:extLst>
          </p:cNvPr>
          <p:cNvSpPr>
            <a:spLocks xmlns:a="http://schemas.openxmlformats.org/drawingml/2006/main" noGrp="1"/>
          </p:cNvSpPr>
          <p:nvPr/>
        </p:nvSpPr>
        <p:spPr>
          <a:xfrm xmlns:a="http://schemas.openxmlformats.org/drawingml/2006/main">
            <a:off x="6696075" y="3609975"/>
            <a:ext cx="1333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1650" b="1" i="0">
                <a:solidFill>
                  <a:srgbClr val="003B25"/>
                </a:solidFill>
                <a:latin typeface="Arial"/>
                <a:ea typeface="Arial"/>
                <a:cs typeface="Arial"/>
              </a:defRPr>
            </a:pPr>
            <a:r>
              <a:rPr sz="1650" b="1" i="0">
                <a:solidFill>
                  <a:srgbClr val="003B25"/>
                </a:solidFill>
                <a:latin typeface="Arial"/>
                <a:ea typeface="Arial"/>
                <a:cs typeface="Arial"/>
              </a:rPr>
              <a:t>30,000</a:t>
            </a:r>
          </a:p>
        </p:txBody>
      </p:sp>
      <p:pic>
        <p:nvPicPr>
          <p:cNvPr id="127" name="Picture 113"/>
          <p:cNvPicPr>
            <a:picLocks xmlns:a="http://schemas.openxmlformats.org/drawingml/2006/main" noChangeAspect="1"/>
          </p:cNvPicPr>
          <p:nvPr/>
        </p:nvPicPr>
        <p:blipFill>
          <a:blip xmlns:r="http://schemas.openxmlformats.org/officeDocument/2006/relationships" xmlns:a="http://schemas.openxmlformats.org/drawingml/2006/main" r:embed="R794f5dec3c6d46a8"/>
          <a:stretch xmlns:a="http://schemas.openxmlformats.org/drawingml/2006/main"/>
        </p:blipFill>
        <p:spPr>
          <a:xfrm xmlns:a="http://schemas.openxmlformats.org/drawingml/2006/main">
            <a:off x="7115175" y="2781300"/>
            <a:ext cx="495300" cy="495300"/>
          </a:xfrm>
          <a:prstGeom xmlns:a="http://schemas.openxmlformats.org/drawingml/2006/main" prst="rect">
            <a:avLst/>
          </a:prstGeom>
        </p:spPr>
      </p:pic>
      <p:sp>
        <p:nvSpPr>
          <p:cNvPr id="41" name="Rectangle 40">
            <a:extLst xmlns:a="http://schemas.openxmlformats.org/drawingml/2006/main">
              <a:ext uri="{FF2B5EF4-FFF2-40B4-BE49-F238E27FC236}">
                <a16:creationId xmlns:a16="http://schemas.microsoft.com/office/drawing/2014/main" id="{8F1EB62F-0498-4D60-9534-8F4AE5E5A7C5}"/>
              </a:ext>
            </a:extLst>
          </p:cNvPr>
          <p:cNvSpPr>
            <a:spLocks xmlns:a="http://schemas.openxmlformats.org/drawingml/2006/main" noGrp="1"/>
          </p:cNvSpPr>
          <p:nvPr/>
        </p:nvSpPr>
        <p:spPr>
          <a:xfrm xmlns:a="http://schemas.openxmlformats.org/drawingml/2006/main">
            <a:off x="9448800" y="3362325"/>
            <a:ext cx="133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1050" b="1" i="0">
                <a:solidFill>
                  <a:srgbClr val="111111"/>
                </a:solidFill>
                <a:latin typeface="Arial"/>
                <a:ea typeface="Arial"/>
                <a:cs typeface="Arial"/>
              </a:defRPr>
            </a:pPr>
            <a:r>
              <a:rPr sz="1050" b="1" i="0">
                <a:solidFill>
                  <a:srgbClr val="111111"/>
                </a:solidFill>
                <a:latin typeface="Arial"/>
                <a:ea typeface="Arial"/>
                <a:cs typeface="Arial"/>
              </a:rPr>
              <a:t>Storage (TB)</a:t>
            </a:r>
          </a:p>
        </p:txBody>
      </p:sp>
      <p:sp>
        <p:nvSpPr>
          <p:cNvPr id="42" name="editable-current-storage">
            <a:extLst xmlns:a="http://schemas.openxmlformats.org/drawingml/2006/main">
              <a:ext uri="{FF2B5EF4-FFF2-40B4-BE49-F238E27FC236}">
                <a16:creationId xmlns:a16="http://schemas.microsoft.com/office/drawing/2014/main" id="{84830E81-2535-4FE2-8239-D8779C43C1A8}"/>
              </a:ext>
            </a:extLst>
          </p:cNvPr>
          <p:cNvSpPr>
            <a:spLocks xmlns:a="http://schemas.openxmlformats.org/drawingml/2006/main" noGrp="1"/>
          </p:cNvSpPr>
          <p:nvPr/>
        </p:nvSpPr>
        <p:spPr>
          <a:xfrm xmlns:a="http://schemas.openxmlformats.org/drawingml/2006/main">
            <a:off x="9448800" y="3609975"/>
            <a:ext cx="1333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1650" b="1" i="0">
                <a:solidFill>
                  <a:srgbClr val="003B25"/>
                </a:solidFill>
                <a:latin typeface="Arial"/>
                <a:ea typeface="Arial"/>
                <a:cs typeface="Arial"/>
              </a:defRPr>
            </a:pPr>
            <a:r>
              <a:rPr sz="1650" b="1" i="0">
                <a:solidFill>
                  <a:srgbClr val="003B25"/>
                </a:solidFill>
                <a:latin typeface="Arial"/>
                <a:ea typeface="Arial"/>
                <a:cs typeface="Arial"/>
              </a:rPr>
              <a:t>210</a:t>
            </a:r>
          </a:p>
        </p:txBody>
      </p:sp>
      <p:pic>
        <p:nvPicPr>
          <p:cNvPr id="130" name="Picture 116"/>
          <p:cNvPicPr>
            <a:picLocks xmlns:a="http://schemas.openxmlformats.org/drawingml/2006/main" noChangeAspect="1"/>
          </p:cNvPicPr>
          <p:nvPr/>
        </p:nvPicPr>
        <p:blipFill>
          <a:blip xmlns:r="http://schemas.openxmlformats.org/officeDocument/2006/relationships" xmlns:a="http://schemas.openxmlformats.org/drawingml/2006/main" r:embed="Rdcf9814cc3b64f9b"/>
          <a:stretch xmlns:a="http://schemas.openxmlformats.org/drawingml/2006/main"/>
        </p:blipFill>
        <p:spPr>
          <a:xfrm xmlns:a="http://schemas.openxmlformats.org/drawingml/2006/main">
            <a:off x="9867900" y="2781300"/>
            <a:ext cx="495300" cy="495300"/>
          </a:xfrm>
          <a:prstGeom xmlns:a="http://schemas.openxmlformats.org/drawingml/2006/main" prst="rect">
            <a:avLst/>
          </a:prstGeom>
        </p:spPr>
      </p:pic>
      <p:sp>
        <p:nvSpPr>
          <p:cNvPr id="44" name="editable-current-powered-on">
            <a:extLst xmlns:a="http://schemas.openxmlformats.org/drawingml/2006/main">
              <a:ext uri="{FF2B5EF4-FFF2-40B4-BE49-F238E27FC236}">
                <a16:creationId xmlns:a16="http://schemas.microsoft.com/office/drawing/2014/main" id="{40B2A91E-AAE2-4FEB-AD52-D18E23D0EC0B}"/>
              </a:ext>
            </a:extLst>
          </p:cNvPr>
          <p:cNvSpPr>
            <a:spLocks xmlns:a="http://schemas.openxmlformats.org/drawingml/2006/main" noGrp="1"/>
          </p:cNvSpPr>
          <p:nvPr/>
        </p:nvSpPr>
        <p:spPr>
          <a:xfrm xmlns:a="http://schemas.openxmlformats.org/drawingml/2006/main">
            <a:off x="1323975" y="3876675"/>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r">
              <a:lnSpc>
                <a:spcPct val="100000"/>
              </a:lnSpc>
              <a:buNone/>
              <a:defRPr sz="825" b="0" i="0">
                <a:solidFill>
                  <a:srgbClr val="111111"/>
                </a:solidFill>
                <a:latin typeface="Arial"/>
                <a:ea typeface="Arial"/>
                <a:cs typeface="Arial"/>
              </a:defRPr>
            </a:pPr>
            <a:r>
              <a:rPr sz="825" b="0" i="0">
                <a:solidFill>
                  <a:srgbClr val="111111"/>
                </a:solidFill>
                <a:latin typeface="Arial"/>
                <a:ea typeface="Arial"/>
                <a:cs typeface="Arial"/>
              </a:rPr>
              <a:t>18,400</a:t>
            </a:r>
          </a:p>
        </p:txBody>
      </p:sp>
      <p:sp>
        <p:nvSpPr>
          <p:cNvPr id="45" name="Rectangle 44">
            <a:extLst xmlns:a="http://schemas.openxmlformats.org/drawingml/2006/main">
              <a:ext uri="{FF2B5EF4-FFF2-40B4-BE49-F238E27FC236}">
                <a16:creationId xmlns:a16="http://schemas.microsoft.com/office/drawing/2014/main" id="{277AB89B-0977-4880-A97D-D7648C371A3B}"/>
              </a:ext>
            </a:extLst>
          </p:cNvPr>
          <p:cNvSpPr>
            <a:spLocks xmlns:a="http://schemas.openxmlformats.org/drawingml/2006/main" noGrp="1"/>
          </p:cNvSpPr>
          <p:nvPr/>
        </p:nvSpPr>
        <p:spPr>
          <a:xfrm xmlns:a="http://schemas.openxmlformats.org/drawingml/2006/main">
            <a:off x="1800225" y="3876675"/>
            <a:ext cx="809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900" b="1" i="0">
                <a:solidFill>
                  <a:srgbClr val="003B25"/>
                </a:solidFill>
                <a:latin typeface="Arial"/>
                <a:ea typeface="Arial"/>
                <a:cs typeface="Arial"/>
              </a:defRPr>
            </a:pPr>
            <a:r>
              <a:rPr sz="900" b="1" i="0">
                <a:solidFill>
                  <a:srgbClr val="003B25"/>
                </a:solidFill>
                <a:latin typeface="Arial"/>
                <a:ea typeface="Arial"/>
                <a:cs typeface="Arial"/>
              </a:rPr>
              <a:t>Powered On</a:t>
            </a:r>
          </a:p>
        </p:txBody>
      </p:sp>
      <p:sp>
        <p:nvSpPr>
          <p:cNvPr id="46" name="editable-current-powered-off">
            <a:extLst xmlns:a="http://schemas.openxmlformats.org/drawingml/2006/main">
              <a:ext uri="{FF2B5EF4-FFF2-40B4-BE49-F238E27FC236}">
                <a16:creationId xmlns:a16="http://schemas.microsoft.com/office/drawing/2014/main" id="{F7F48385-3BC4-475A-A935-67C101D814FB}"/>
              </a:ext>
            </a:extLst>
          </p:cNvPr>
          <p:cNvSpPr>
            <a:spLocks xmlns:a="http://schemas.openxmlformats.org/drawingml/2006/main" noGrp="1"/>
          </p:cNvSpPr>
          <p:nvPr/>
        </p:nvSpPr>
        <p:spPr>
          <a:xfrm xmlns:a="http://schemas.openxmlformats.org/drawingml/2006/main">
            <a:off x="1323975" y="4067175"/>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r">
              <a:lnSpc>
                <a:spcPct val="100000"/>
              </a:lnSpc>
              <a:buNone/>
              <a:defRPr sz="825" b="0" i="0">
                <a:solidFill>
                  <a:srgbClr val="111111"/>
                </a:solidFill>
                <a:latin typeface="Arial"/>
                <a:ea typeface="Arial"/>
                <a:cs typeface="Arial"/>
              </a:defRPr>
            </a:pPr>
            <a:r>
              <a:rPr sz="825" b="0" i="0">
                <a:solidFill>
                  <a:srgbClr val="111111"/>
                </a:solidFill>
                <a:latin typeface="Arial"/>
                <a:ea typeface="Arial"/>
                <a:cs typeface="Arial"/>
              </a:rPr>
              <a:t>1,700</a:t>
            </a:r>
          </a:p>
        </p:txBody>
      </p:sp>
      <p:sp>
        <p:nvSpPr>
          <p:cNvPr id="47" name="Rectangle 46">
            <a:extLst xmlns:a="http://schemas.openxmlformats.org/drawingml/2006/main">
              <a:ext uri="{FF2B5EF4-FFF2-40B4-BE49-F238E27FC236}">
                <a16:creationId xmlns:a16="http://schemas.microsoft.com/office/drawing/2014/main" id="{4F72CCE0-CF33-447A-9A99-12F0DB96E23B}"/>
              </a:ext>
            </a:extLst>
          </p:cNvPr>
          <p:cNvSpPr>
            <a:spLocks xmlns:a="http://schemas.openxmlformats.org/drawingml/2006/main" noGrp="1"/>
          </p:cNvSpPr>
          <p:nvPr/>
        </p:nvSpPr>
        <p:spPr>
          <a:xfrm xmlns:a="http://schemas.openxmlformats.org/drawingml/2006/main">
            <a:off x="1800225" y="4067175"/>
            <a:ext cx="876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900" b="1" i="0">
                <a:solidFill>
                  <a:srgbClr val="003B25"/>
                </a:solidFill>
                <a:latin typeface="Arial"/>
                <a:ea typeface="Arial"/>
                <a:cs typeface="Arial"/>
              </a:defRPr>
            </a:pPr>
            <a:r>
              <a:rPr sz="900" b="1" i="0">
                <a:solidFill>
                  <a:srgbClr val="003B25"/>
                </a:solidFill>
                <a:latin typeface="Arial"/>
                <a:ea typeface="Arial"/>
                <a:cs typeface="Arial"/>
              </a:rPr>
              <a:t>Powered Off</a:t>
            </a:r>
          </a:p>
        </p:txBody>
      </p:sp>
      <p:sp>
        <p:nvSpPr>
          <p:cNvPr id="48" name="Rounded Rectangle 47">
            <a:extLst xmlns:a="http://schemas.openxmlformats.org/drawingml/2006/main">
              <a:ext uri="{FF2B5EF4-FFF2-40B4-BE49-F238E27FC236}">
                <a16:creationId xmlns:a16="http://schemas.microsoft.com/office/drawing/2014/main" id="{298F7E7A-D055-437F-B62D-B044692E6F88}"/>
              </a:ext>
            </a:extLst>
          </p:cNvPr>
          <p:cNvSpPr>
            <a:spLocks xmlns:a="http://schemas.openxmlformats.org/drawingml/2006/main" noGrp="1"/>
          </p:cNvSpPr>
          <p:nvPr/>
        </p:nvSpPr>
        <p:spPr>
          <a:xfrm xmlns:a="http://schemas.openxmlformats.org/drawingml/2006/main">
            <a:off x="400050" y="4486275"/>
            <a:ext cx="11334750" cy="1009650"/>
          </a:xfrm>
          <a:prstGeom xmlns:a="http://schemas.openxmlformats.org/drawingml/2006/main" prst="roundRect">
            <a:avLst>
              <a:gd name="adj" fmla="val 6604"/>
            </a:avLst>
          </a:prstGeom>
          <a:solidFill xmlns:a="http://schemas.openxmlformats.org/drawingml/2006/main">
            <a:srgbClr val="F3F7F5"/>
          </a:solidFill>
          <a:ln xmlns:a="http://schemas.openxmlformats.org/drawingml/2006/main" w="9525">
            <a:solidFill>
              <a:srgbClr val="D9DED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49" name="Rounded Rectangle 48">
            <a:extLst xmlns:a="http://schemas.openxmlformats.org/drawingml/2006/main">
              <a:ext uri="{FF2B5EF4-FFF2-40B4-BE49-F238E27FC236}">
                <a16:creationId xmlns:a16="http://schemas.microsoft.com/office/drawing/2014/main" id="{F92C2AB9-B877-4DDB-BCDD-C92BBFD94A50}"/>
              </a:ext>
            </a:extLst>
          </p:cNvPr>
          <p:cNvSpPr>
            <a:spLocks xmlns:a="http://schemas.openxmlformats.org/drawingml/2006/main" noGrp="1"/>
          </p:cNvSpPr>
          <p:nvPr/>
        </p:nvSpPr>
        <p:spPr>
          <a:xfrm xmlns:a="http://schemas.openxmlformats.org/drawingml/2006/main">
            <a:off x="400050" y="4486275"/>
            <a:ext cx="1819275" cy="1009650"/>
          </a:xfrm>
          <a:prstGeom xmlns:a="http://schemas.openxmlformats.org/drawingml/2006/main" prst="roundRect">
            <a:avLst>
              <a:gd name="adj" fmla="val 6604"/>
            </a:avLst>
          </a:prstGeom>
          <a:gradFill xmlns:a="http://schemas.openxmlformats.org/drawingml/2006/main">
            <a:gsLst>
              <a:gs pos="0">
                <a:srgbClr val="003B25"/>
              </a:gs>
              <a:gs pos="100000">
                <a:srgbClr val="0A4B30"/>
              </a:gs>
            </a:gsLst>
            <a:lin ang="5400000"/>
          </a:gra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0" name="Rectangle 49">
            <a:extLst xmlns:a="http://schemas.openxmlformats.org/drawingml/2006/main">
              <a:ext uri="{FF2B5EF4-FFF2-40B4-BE49-F238E27FC236}">
                <a16:creationId xmlns:a16="http://schemas.microsoft.com/office/drawing/2014/main" id="{47D07B68-7D3B-4636-AEC8-6CB4A4FC4595}"/>
              </a:ext>
            </a:extLst>
          </p:cNvPr>
          <p:cNvSpPr>
            <a:spLocks xmlns:a="http://schemas.openxmlformats.org/drawingml/2006/main" noGrp="1"/>
          </p:cNvSpPr>
          <p:nvPr/>
        </p:nvSpPr>
        <p:spPr>
          <a:xfrm xmlns:a="http://schemas.openxmlformats.org/drawingml/2006/main">
            <a:off x="1447800" y="4486275"/>
            <a:ext cx="771525" cy="1009650"/>
          </a:xfrm>
          <a:prstGeom xmlns:a="http://schemas.openxmlformats.org/drawingml/2006/main" prst="rect">
            <a:avLst/>
          </a:prstGeom>
          <a:gradFill xmlns:a="http://schemas.openxmlformats.org/drawingml/2006/main">
            <a:gsLst>
              <a:gs pos="0">
                <a:srgbClr val="003B25"/>
              </a:gs>
              <a:gs pos="100000">
                <a:srgbClr val="0A4B30"/>
              </a:gs>
            </a:gsLst>
            <a:lin ang="5400000"/>
          </a:gra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pic>
        <p:nvPicPr>
          <p:cNvPr id="138" name="Picture 124"/>
          <p:cNvPicPr>
            <a:picLocks xmlns:a="http://schemas.openxmlformats.org/drawingml/2006/main" noChangeAspect="1"/>
          </p:cNvPicPr>
          <p:nvPr/>
        </p:nvPicPr>
        <p:blipFill>
          <a:blip xmlns:r="http://schemas.openxmlformats.org/officeDocument/2006/relationships" xmlns:a="http://schemas.openxmlformats.org/drawingml/2006/main" r:embed="R7d216677ce784142"/>
          <a:stretch xmlns:a="http://schemas.openxmlformats.org/drawingml/2006/main"/>
        </p:blipFill>
        <p:spPr>
          <a:xfrm xmlns:a="http://schemas.openxmlformats.org/drawingml/2006/main">
            <a:off x="1076325" y="4671030"/>
            <a:ext cx="476250" cy="468690"/>
          </a:xfrm>
          <a:prstGeom xmlns:a="http://schemas.openxmlformats.org/drawingml/2006/main" prst="rect">
            <a:avLst/>
          </a:prstGeom>
        </p:spPr>
      </p:pic>
      <p:sp>
        <p:nvSpPr>
          <p:cNvPr id="52" name="Rectangle 51">
            <a:extLst xmlns:a="http://schemas.openxmlformats.org/drawingml/2006/main">
              <a:ext uri="{FF2B5EF4-FFF2-40B4-BE49-F238E27FC236}">
                <a16:creationId xmlns:a16="http://schemas.microsoft.com/office/drawing/2014/main" id="{7135EB0C-DEDC-471B-8F07-A8F41F1E2D6A}"/>
              </a:ext>
            </a:extLst>
          </p:cNvPr>
          <p:cNvSpPr>
            <a:spLocks xmlns:a="http://schemas.openxmlformats.org/drawingml/2006/main" noGrp="1"/>
          </p:cNvSpPr>
          <p:nvPr/>
        </p:nvSpPr>
        <p:spPr>
          <a:xfrm xmlns:a="http://schemas.openxmlformats.org/drawingml/2006/main">
            <a:off x="666750" y="5162550"/>
            <a:ext cx="125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1200" b="1" i="0">
                <a:solidFill>
                  <a:srgbClr val="FFFFFF"/>
                </a:solidFill>
                <a:latin typeface="Arial"/>
                <a:ea typeface="Arial"/>
                <a:cs typeface="Arial"/>
              </a:defRPr>
            </a:pPr>
            <a:r>
              <a:rPr sz="1200" b="1" i="0">
                <a:solidFill>
                  <a:srgbClr val="FFFFFF"/>
                </a:solidFill>
                <a:latin typeface="Arial"/>
                <a:ea typeface="Arial"/>
                <a:cs typeface="Arial"/>
              </a:rPr>
              <a:t>Total Environment</a:t>
            </a:r>
          </a:p>
        </p:txBody>
      </p:sp>
      <p:sp>
        <p:nvSpPr>
          <p:cNvPr id="53" name="Straight Connector 52">
            <a:extLst xmlns:a="http://schemas.openxmlformats.org/drawingml/2006/main">
              <a:ext uri="{FF2B5EF4-FFF2-40B4-BE49-F238E27FC236}">
                <a16:creationId xmlns:a16="http://schemas.microsoft.com/office/drawing/2014/main" id="{6A04919F-C898-4046-9165-502C7FD7BAF0}"/>
              </a:ext>
            </a:extLst>
          </p:cNvPr>
          <p:cNvSpPr>
            <a:spLocks xmlns:a="http://schemas.openxmlformats.org/drawingml/2006/main" noGrp="1"/>
          </p:cNvSpPr>
          <p:nvPr/>
        </p:nvSpPr>
        <p:spPr>
          <a:xfrm xmlns:a="http://schemas.openxmlformats.org/drawingml/2006/main">
            <a:off x="4686300" y="4714875"/>
            <a:ext cx="0" cy="590550"/>
          </a:xfrm>
          <a:prstGeom xmlns:a="http://schemas.openxmlformats.org/drawingml/2006/main" prst="line">
            <a:avLst/>
          </a:prstGeom>
          <a:noFill xmlns:a="http://schemas.openxmlformats.org/drawingml/2006/main"/>
          <a:ln xmlns:a="http://schemas.openxmlformats.org/drawingml/2006/main" w="9525">
            <a:solidFill>
              <a:srgbClr val="C9CECA"/>
            </a:solidFill>
            <a:prstDash val="solid"/>
          </a:ln>
        </p:spPr>
        <p:txBody>
          <a:bodyPr xmlns:a="http://schemas.openxmlformats.org/drawingml/2006/main"/>
          <a:lstStyle xmlns:a="http://schemas.openxmlformats.org/drawingml/2006/main"/>
          <a:p xmlns:a="http://schemas.openxmlformats.org/drawingml/2006/main">
            <a:endParaRPr/>
          </a:p>
        </p:txBody>
      </p:sp>
      <p:sp>
        <p:nvSpPr>
          <p:cNvPr id="54" name="Straight Connector 53">
            <a:extLst xmlns:a="http://schemas.openxmlformats.org/drawingml/2006/main">
              <a:ext uri="{FF2B5EF4-FFF2-40B4-BE49-F238E27FC236}">
                <a16:creationId xmlns:a16="http://schemas.microsoft.com/office/drawing/2014/main" id="{279DB36C-681C-4FD2-A588-9A4BF85211F2}"/>
              </a:ext>
            </a:extLst>
          </p:cNvPr>
          <p:cNvSpPr>
            <a:spLocks xmlns:a="http://schemas.openxmlformats.org/drawingml/2006/main" noGrp="1"/>
          </p:cNvSpPr>
          <p:nvPr/>
        </p:nvSpPr>
        <p:spPr>
          <a:xfrm xmlns:a="http://schemas.openxmlformats.org/drawingml/2006/main">
            <a:off x="7029450" y="4714875"/>
            <a:ext cx="0" cy="590550"/>
          </a:xfrm>
          <a:prstGeom xmlns:a="http://schemas.openxmlformats.org/drawingml/2006/main" prst="line">
            <a:avLst/>
          </a:prstGeom>
          <a:noFill xmlns:a="http://schemas.openxmlformats.org/drawingml/2006/main"/>
          <a:ln xmlns:a="http://schemas.openxmlformats.org/drawingml/2006/main" w="9525">
            <a:solidFill>
              <a:srgbClr val="C9CECA"/>
            </a:solidFill>
            <a:prstDash val="solid"/>
          </a:ln>
        </p:spPr>
        <p:txBody>
          <a:bodyPr xmlns:a="http://schemas.openxmlformats.org/drawingml/2006/main"/>
          <a:lstStyle xmlns:a="http://schemas.openxmlformats.org/drawingml/2006/main"/>
          <a:p xmlns:a="http://schemas.openxmlformats.org/drawingml/2006/main">
            <a:endParaRPr/>
          </a:p>
        </p:txBody>
      </p:sp>
      <p:sp>
        <p:nvSpPr>
          <p:cNvPr id="55" name="Straight Connector 54">
            <a:extLst xmlns:a="http://schemas.openxmlformats.org/drawingml/2006/main">
              <a:ext uri="{FF2B5EF4-FFF2-40B4-BE49-F238E27FC236}">
                <a16:creationId xmlns:a16="http://schemas.microsoft.com/office/drawing/2014/main" id="{C8F92710-B721-4F19-B1ED-A9D5B1B54C85}"/>
              </a:ext>
            </a:extLst>
          </p:cNvPr>
          <p:cNvSpPr>
            <a:spLocks xmlns:a="http://schemas.openxmlformats.org/drawingml/2006/main" noGrp="1"/>
          </p:cNvSpPr>
          <p:nvPr/>
        </p:nvSpPr>
        <p:spPr>
          <a:xfrm xmlns:a="http://schemas.openxmlformats.org/drawingml/2006/main">
            <a:off x="9486900" y="4714875"/>
            <a:ext cx="0" cy="590550"/>
          </a:xfrm>
          <a:prstGeom xmlns:a="http://schemas.openxmlformats.org/drawingml/2006/main" prst="line">
            <a:avLst/>
          </a:prstGeom>
          <a:noFill xmlns:a="http://schemas.openxmlformats.org/drawingml/2006/main"/>
          <a:ln xmlns:a="http://schemas.openxmlformats.org/drawingml/2006/main" w="9525">
            <a:solidFill>
              <a:srgbClr val="C9CECA"/>
            </a:solidFill>
            <a:prstDash val="solid"/>
          </a:ln>
        </p:spPr>
        <p:txBody>
          <a:bodyPr xmlns:a="http://schemas.openxmlformats.org/drawingml/2006/main"/>
          <a:lstStyle xmlns:a="http://schemas.openxmlformats.org/drawingml/2006/main"/>
          <a:p xmlns:a="http://schemas.openxmlformats.org/drawingml/2006/main">
            <a:endParaRPr/>
          </a:p>
        </p:txBody>
      </p:sp>
      <p:sp>
        <p:nvSpPr>
          <p:cNvPr id="56" name="Rectangle 55">
            <a:extLst xmlns:a="http://schemas.openxmlformats.org/drawingml/2006/main">
              <a:ext uri="{FF2B5EF4-FFF2-40B4-BE49-F238E27FC236}">
                <a16:creationId xmlns:a16="http://schemas.microsoft.com/office/drawing/2014/main" id="{347AE0DB-5FC1-4C08-A3B9-5D2E17AF0014}"/>
              </a:ext>
            </a:extLst>
          </p:cNvPr>
          <p:cNvSpPr>
            <a:spLocks xmlns:a="http://schemas.openxmlformats.org/drawingml/2006/main" noGrp="1"/>
          </p:cNvSpPr>
          <p:nvPr/>
        </p:nvSpPr>
        <p:spPr>
          <a:xfrm xmlns:a="http://schemas.openxmlformats.org/drawingml/2006/main">
            <a:off x="3343275" y="4714875"/>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900" b="1" i="0">
                <a:solidFill>
                  <a:srgbClr val="003B25"/>
                </a:solidFill>
                <a:latin typeface="Arial"/>
                <a:ea typeface="Arial"/>
                <a:cs typeface="Arial"/>
              </a:defRPr>
            </a:pPr>
            <a:r>
              <a:rPr sz="900" b="1" i="0">
                <a:solidFill>
                  <a:srgbClr val="003B25"/>
                </a:solidFill>
                <a:latin typeface="Arial"/>
                <a:ea typeface="Arial"/>
                <a:cs typeface="Arial"/>
              </a:rPr>
              <a:t>Total VMs</a:t>
            </a:r>
          </a:p>
        </p:txBody>
      </p:sp>
      <p:sp>
        <p:nvSpPr>
          <p:cNvPr id="57" name="editable-total-vms">
            <a:extLst xmlns:a="http://schemas.openxmlformats.org/drawingml/2006/main">
              <a:ext uri="{FF2B5EF4-FFF2-40B4-BE49-F238E27FC236}">
                <a16:creationId xmlns:a16="http://schemas.microsoft.com/office/drawing/2014/main" id="{51D8B33B-988C-462B-91B7-386F22B8BCA6}"/>
              </a:ext>
            </a:extLst>
          </p:cNvPr>
          <p:cNvSpPr>
            <a:spLocks xmlns:a="http://schemas.openxmlformats.org/drawingml/2006/main" noGrp="1"/>
          </p:cNvSpPr>
          <p:nvPr/>
        </p:nvSpPr>
        <p:spPr>
          <a:xfrm xmlns:a="http://schemas.openxmlformats.org/drawingml/2006/main">
            <a:off x="3343275" y="4972050"/>
            <a:ext cx="1143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1725" b="1" i="0">
                <a:solidFill>
                  <a:srgbClr val="003B25"/>
                </a:solidFill>
                <a:latin typeface="Arial"/>
                <a:ea typeface="Arial"/>
                <a:cs typeface="Arial"/>
              </a:defRPr>
            </a:pPr>
            <a:r>
              <a:rPr sz="1725" b="1" i="0">
                <a:solidFill>
                  <a:srgbClr val="003B25"/>
                </a:solidFill>
                <a:latin typeface="Arial"/>
                <a:ea typeface="Arial"/>
                <a:cs typeface="Arial"/>
              </a:rPr>
              <a:t>20,100</a:t>
            </a:r>
          </a:p>
        </p:txBody>
      </p:sp>
      <p:pic>
        <p:nvPicPr>
          <p:cNvPr id="145" name="Picture 131"/>
          <p:cNvPicPr>
            <a:picLocks xmlns:a="http://schemas.openxmlformats.org/drawingml/2006/main" noChangeAspect="1"/>
          </p:cNvPicPr>
          <p:nvPr/>
        </p:nvPicPr>
        <p:blipFill>
          <a:blip xmlns:r="http://schemas.openxmlformats.org/officeDocument/2006/relationships" xmlns:a="http://schemas.openxmlformats.org/drawingml/2006/main" r:embed="R281f8f4190dc4212"/>
          <a:stretch xmlns:a="http://schemas.openxmlformats.org/drawingml/2006/main"/>
        </p:blipFill>
        <p:spPr>
          <a:xfrm xmlns:a="http://schemas.openxmlformats.org/drawingml/2006/main">
            <a:off x="2887742" y="4905375"/>
            <a:ext cx="396716" cy="323850"/>
          </a:xfrm>
          <a:prstGeom xmlns:a="http://schemas.openxmlformats.org/drawingml/2006/main" prst="rect">
            <a:avLst/>
          </a:prstGeom>
        </p:spPr>
      </p:pic>
      <p:sp>
        <p:nvSpPr>
          <p:cNvPr id="59" name="editable-total-powered-on">
            <a:extLst xmlns:a="http://schemas.openxmlformats.org/drawingml/2006/main">
              <a:ext uri="{FF2B5EF4-FFF2-40B4-BE49-F238E27FC236}">
                <a16:creationId xmlns:a16="http://schemas.microsoft.com/office/drawing/2014/main" id="{8DF81488-E310-4D2F-9D0F-A65D6E2C5976}"/>
              </a:ext>
            </a:extLst>
          </p:cNvPr>
          <p:cNvSpPr>
            <a:spLocks xmlns:a="http://schemas.openxmlformats.org/drawingml/2006/main" noGrp="1"/>
          </p:cNvSpPr>
          <p:nvPr/>
        </p:nvSpPr>
        <p:spPr>
          <a:xfrm xmlns:a="http://schemas.openxmlformats.org/drawingml/2006/main">
            <a:off x="3286125" y="5229225"/>
            <a:ext cx="12858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825" b="1" i="0">
                <a:solidFill>
                  <a:srgbClr val="111111"/>
                </a:solidFill>
                <a:latin typeface="Arial"/>
                <a:ea typeface="Arial"/>
                <a:cs typeface="Arial"/>
              </a:defRPr>
            </a:pPr>
            <a:r>
              <a:rPr sz="825" b="1" i="0">
                <a:solidFill>
                  <a:srgbClr val="111111"/>
                </a:solidFill>
                <a:latin typeface="Arial"/>
                <a:ea typeface="Arial"/>
                <a:cs typeface="Arial"/>
              </a:rPr>
              <a:t>18,400 Powered On</a:t>
            </a:r>
          </a:p>
        </p:txBody>
      </p:sp>
      <p:sp>
        <p:nvSpPr>
          <p:cNvPr id="60" name="editable-total-powered-off">
            <a:extLst xmlns:a="http://schemas.openxmlformats.org/drawingml/2006/main">
              <a:ext uri="{FF2B5EF4-FFF2-40B4-BE49-F238E27FC236}">
                <a16:creationId xmlns:a16="http://schemas.microsoft.com/office/drawing/2014/main" id="{51FD95D0-64F2-4723-B4EF-3731265C852D}"/>
              </a:ext>
            </a:extLst>
          </p:cNvPr>
          <p:cNvSpPr>
            <a:spLocks xmlns:a="http://schemas.openxmlformats.org/drawingml/2006/main" noGrp="1"/>
          </p:cNvSpPr>
          <p:nvPr/>
        </p:nvSpPr>
        <p:spPr>
          <a:xfrm xmlns:a="http://schemas.openxmlformats.org/drawingml/2006/main">
            <a:off x="3286125" y="5391150"/>
            <a:ext cx="12858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825" b="1" i="0">
                <a:solidFill>
                  <a:srgbClr val="111111"/>
                </a:solidFill>
                <a:latin typeface="Arial"/>
                <a:ea typeface="Arial"/>
                <a:cs typeface="Arial"/>
              </a:defRPr>
            </a:pPr>
            <a:r>
              <a:rPr sz="825" b="1" i="0">
                <a:solidFill>
                  <a:srgbClr val="111111"/>
                </a:solidFill>
                <a:latin typeface="Arial"/>
                <a:ea typeface="Arial"/>
                <a:cs typeface="Arial"/>
              </a:rPr>
              <a:t>1,700 Powered Off</a:t>
            </a:r>
          </a:p>
        </p:txBody>
      </p:sp>
      <p:sp>
        <p:nvSpPr>
          <p:cNvPr id="61" name="Rectangle 60">
            <a:extLst xmlns:a="http://schemas.openxmlformats.org/drawingml/2006/main">
              <a:ext uri="{FF2B5EF4-FFF2-40B4-BE49-F238E27FC236}">
                <a16:creationId xmlns:a16="http://schemas.microsoft.com/office/drawing/2014/main" id="{9F4CC3CC-C30D-4DD3-B648-2B2F6B76145C}"/>
              </a:ext>
            </a:extLst>
          </p:cNvPr>
          <p:cNvSpPr>
            <a:spLocks xmlns:a="http://schemas.openxmlformats.org/drawingml/2006/main" noGrp="1"/>
          </p:cNvSpPr>
          <p:nvPr/>
        </p:nvSpPr>
        <p:spPr>
          <a:xfrm xmlns:a="http://schemas.openxmlformats.org/drawingml/2006/main">
            <a:off x="5743575" y="4714875"/>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900" b="1" i="0">
                <a:solidFill>
                  <a:srgbClr val="003B25"/>
                </a:solidFill>
                <a:latin typeface="Arial"/>
                <a:ea typeface="Arial"/>
                <a:cs typeface="Arial"/>
              </a:defRPr>
            </a:pPr>
            <a:r>
              <a:rPr sz="900" b="1" i="0">
                <a:solidFill>
                  <a:srgbClr val="003B25"/>
                </a:solidFill>
                <a:latin typeface="Arial"/>
                <a:ea typeface="Arial"/>
                <a:cs typeface="Arial"/>
              </a:rPr>
              <a:t>Total vCPUs</a:t>
            </a:r>
          </a:p>
        </p:txBody>
      </p:sp>
      <p:sp>
        <p:nvSpPr>
          <p:cNvPr id="62" name="editable-total-vcpus">
            <a:extLst xmlns:a="http://schemas.openxmlformats.org/drawingml/2006/main">
              <a:ext uri="{FF2B5EF4-FFF2-40B4-BE49-F238E27FC236}">
                <a16:creationId xmlns:a16="http://schemas.microsoft.com/office/drawing/2014/main" id="{E325BBAA-CE89-47A2-A7F4-5A715EE06FCB}"/>
              </a:ext>
            </a:extLst>
          </p:cNvPr>
          <p:cNvSpPr>
            <a:spLocks xmlns:a="http://schemas.openxmlformats.org/drawingml/2006/main" noGrp="1"/>
          </p:cNvSpPr>
          <p:nvPr/>
        </p:nvSpPr>
        <p:spPr>
          <a:xfrm xmlns:a="http://schemas.openxmlformats.org/drawingml/2006/main">
            <a:off x="5743575" y="4972050"/>
            <a:ext cx="1143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1725" b="1" i="0">
                <a:solidFill>
                  <a:srgbClr val="003B25"/>
                </a:solidFill>
                <a:latin typeface="Arial"/>
                <a:ea typeface="Arial"/>
                <a:cs typeface="Arial"/>
              </a:defRPr>
            </a:pPr>
            <a:r>
              <a:rPr sz="1725" b="1" i="0">
                <a:solidFill>
                  <a:srgbClr val="003B25"/>
                </a:solidFill>
                <a:latin typeface="Arial"/>
                <a:ea typeface="Arial"/>
                <a:cs typeface="Arial"/>
              </a:rPr>
              <a:t>3,000</a:t>
            </a:r>
          </a:p>
        </p:txBody>
      </p:sp>
      <p:pic>
        <p:nvPicPr>
          <p:cNvPr id="150" name="Picture 136"/>
          <p:cNvPicPr>
            <a:picLocks xmlns:a="http://schemas.openxmlformats.org/drawingml/2006/main" noChangeAspect="1"/>
          </p:cNvPicPr>
          <p:nvPr/>
        </p:nvPicPr>
        <p:blipFill>
          <a:blip xmlns:r="http://schemas.openxmlformats.org/officeDocument/2006/relationships" xmlns:a="http://schemas.openxmlformats.org/drawingml/2006/main" r:embed="R911d174e732e4b7c"/>
          <a:stretch xmlns:a="http://schemas.openxmlformats.org/drawingml/2006/main"/>
        </p:blipFill>
        <p:spPr>
          <a:xfrm xmlns:a="http://schemas.openxmlformats.org/drawingml/2006/main">
            <a:off x="5190898" y="4905375"/>
            <a:ext cx="362404" cy="323850"/>
          </a:xfrm>
          <a:prstGeom xmlns:a="http://schemas.openxmlformats.org/drawingml/2006/main" prst="rect">
            <a:avLst/>
          </a:prstGeom>
        </p:spPr>
      </p:pic>
      <p:sp>
        <p:nvSpPr>
          <p:cNvPr id="64" name="Rectangle 63">
            <a:extLst xmlns:a="http://schemas.openxmlformats.org/drawingml/2006/main">
              <a:ext uri="{FF2B5EF4-FFF2-40B4-BE49-F238E27FC236}">
                <a16:creationId xmlns:a16="http://schemas.microsoft.com/office/drawing/2014/main" id="{E2B940B4-7B6B-4837-992C-0BD50611487D}"/>
              </a:ext>
            </a:extLst>
          </p:cNvPr>
          <p:cNvSpPr>
            <a:spLocks xmlns:a="http://schemas.openxmlformats.org/drawingml/2006/main" noGrp="1"/>
          </p:cNvSpPr>
          <p:nvPr/>
        </p:nvSpPr>
        <p:spPr>
          <a:xfrm xmlns:a="http://schemas.openxmlformats.org/drawingml/2006/main">
            <a:off x="8048625" y="471487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900" b="1" i="0">
                <a:solidFill>
                  <a:srgbClr val="003B25"/>
                </a:solidFill>
                <a:latin typeface="Arial"/>
                <a:ea typeface="Arial"/>
                <a:cs typeface="Arial"/>
              </a:defRPr>
            </a:pPr>
            <a:r>
              <a:rPr sz="900" b="1" i="0">
                <a:solidFill>
                  <a:srgbClr val="003B25"/>
                </a:solidFill>
                <a:latin typeface="Arial"/>
                <a:ea typeface="Arial"/>
                <a:cs typeface="Arial"/>
              </a:rPr>
              <a:t>Total vRAM (GB)</a:t>
            </a:r>
          </a:p>
        </p:txBody>
      </p:sp>
      <p:sp>
        <p:nvSpPr>
          <p:cNvPr id="65" name="editable-total-vram">
            <a:extLst xmlns:a="http://schemas.openxmlformats.org/drawingml/2006/main">
              <a:ext uri="{FF2B5EF4-FFF2-40B4-BE49-F238E27FC236}">
                <a16:creationId xmlns:a16="http://schemas.microsoft.com/office/drawing/2014/main" id="{56B58190-EEA5-42BC-BCEE-C9F09864DABB}"/>
              </a:ext>
            </a:extLst>
          </p:cNvPr>
          <p:cNvSpPr>
            <a:spLocks xmlns:a="http://schemas.openxmlformats.org/drawingml/2006/main" noGrp="1"/>
          </p:cNvSpPr>
          <p:nvPr/>
        </p:nvSpPr>
        <p:spPr>
          <a:xfrm xmlns:a="http://schemas.openxmlformats.org/drawingml/2006/main">
            <a:off x="8048625" y="4972050"/>
            <a:ext cx="1428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1725" b="1" i="0">
                <a:solidFill>
                  <a:srgbClr val="003B25"/>
                </a:solidFill>
                <a:latin typeface="Arial"/>
                <a:ea typeface="Arial"/>
                <a:cs typeface="Arial"/>
              </a:defRPr>
            </a:pPr>
            <a:r>
              <a:rPr sz="1725" b="1" i="0">
                <a:solidFill>
                  <a:srgbClr val="003B25"/>
                </a:solidFill>
                <a:latin typeface="Arial"/>
                <a:ea typeface="Arial"/>
                <a:cs typeface="Arial"/>
              </a:rPr>
              <a:t>30,000</a:t>
            </a:r>
          </a:p>
        </p:txBody>
      </p:sp>
      <p:pic>
        <p:nvPicPr>
          <p:cNvPr id="153" name="Picture 139"/>
          <p:cNvPicPr>
            <a:picLocks xmlns:a="http://schemas.openxmlformats.org/drawingml/2006/main" noChangeAspect="1"/>
          </p:cNvPicPr>
          <p:nvPr/>
        </p:nvPicPr>
        <p:blipFill>
          <a:blip xmlns:r="http://schemas.openxmlformats.org/officeDocument/2006/relationships" xmlns:a="http://schemas.openxmlformats.org/drawingml/2006/main" r:embed="R46817d86d43c4757"/>
          <a:stretch xmlns:a="http://schemas.openxmlformats.org/drawingml/2006/main"/>
        </p:blipFill>
        <p:spPr>
          <a:xfrm xmlns:a="http://schemas.openxmlformats.org/drawingml/2006/main">
            <a:off x="7477125" y="4907280"/>
            <a:ext cx="400050" cy="320040"/>
          </a:xfrm>
          <a:prstGeom xmlns:a="http://schemas.openxmlformats.org/drawingml/2006/main" prst="rect">
            <a:avLst/>
          </a:prstGeom>
        </p:spPr>
      </p:pic>
      <p:sp>
        <p:nvSpPr>
          <p:cNvPr id="67" name="Rectangle 66">
            <a:extLst xmlns:a="http://schemas.openxmlformats.org/drawingml/2006/main">
              <a:ext uri="{FF2B5EF4-FFF2-40B4-BE49-F238E27FC236}">
                <a16:creationId xmlns:a16="http://schemas.microsoft.com/office/drawing/2014/main" id="{BA2E8F4D-19EC-4045-BD00-D33C490582FA}"/>
              </a:ext>
            </a:extLst>
          </p:cNvPr>
          <p:cNvSpPr>
            <a:spLocks xmlns:a="http://schemas.openxmlformats.org/drawingml/2006/main" noGrp="1"/>
          </p:cNvSpPr>
          <p:nvPr/>
        </p:nvSpPr>
        <p:spPr>
          <a:xfrm xmlns:a="http://schemas.openxmlformats.org/drawingml/2006/main">
            <a:off x="10306050" y="4714875"/>
            <a:ext cx="1504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900" b="1" i="0">
                <a:solidFill>
                  <a:srgbClr val="003B25"/>
                </a:solidFill>
                <a:latin typeface="Arial"/>
                <a:ea typeface="Arial"/>
                <a:cs typeface="Arial"/>
              </a:defRPr>
            </a:pPr>
            <a:r>
              <a:rPr sz="900" b="1" i="0">
                <a:solidFill>
                  <a:srgbClr val="003B25"/>
                </a:solidFill>
                <a:latin typeface="Arial"/>
                <a:ea typeface="Arial"/>
                <a:cs typeface="Arial"/>
              </a:rPr>
              <a:t>Total Storage (TB)</a:t>
            </a:r>
          </a:p>
        </p:txBody>
      </p:sp>
      <p:sp>
        <p:nvSpPr>
          <p:cNvPr id="68" name="editable-total-storage">
            <a:extLst xmlns:a="http://schemas.openxmlformats.org/drawingml/2006/main">
              <a:ext uri="{FF2B5EF4-FFF2-40B4-BE49-F238E27FC236}">
                <a16:creationId xmlns:a16="http://schemas.microsoft.com/office/drawing/2014/main" id="{53CE7ECC-6CED-4750-B06E-332986EBDB45}"/>
              </a:ext>
            </a:extLst>
          </p:cNvPr>
          <p:cNvSpPr>
            <a:spLocks xmlns:a="http://schemas.openxmlformats.org/drawingml/2006/main" noGrp="1"/>
          </p:cNvSpPr>
          <p:nvPr/>
        </p:nvSpPr>
        <p:spPr>
          <a:xfrm xmlns:a="http://schemas.openxmlformats.org/drawingml/2006/main">
            <a:off x="10306050" y="4972050"/>
            <a:ext cx="15049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1725" b="1" i="0">
                <a:solidFill>
                  <a:srgbClr val="003B25"/>
                </a:solidFill>
                <a:latin typeface="Arial"/>
                <a:ea typeface="Arial"/>
                <a:cs typeface="Arial"/>
              </a:defRPr>
            </a:pPr>
            <a:r>
              <a:rPr sz="1725" b="1" i="0">
                <a:solidFill>
                  <a:srgbClr val="003B25"/>
                </a:solidFill>
                <a:latin typeface="Arial"/>
                <a:ea typeface="Arial"/>
                <a:cs typeface="Arial"/>
              </a:rPr>
              <a:t>210</a:t>
            </a:r>
          </a:p>
        </p:txBody>
      </p:sp>
      <p:pic>
        <p:nvPicPr>
          <p:cNvPr id="156" name="Picture 142"/>
          <p:cNvPicPr>
            <a:picLocks xmlns:a="http://schemas.openxmlformats.org/drawingml/2006/main" noChangeAspect="1"/>
          </p:cNvPicPr>
          <p:nvPr/>
        </p:nvPicPr>
        <p:blipFill>
          <a:blip xmlns:r="http://schemas.openxmlformats.org/officeDocument/2006/relationships" xmlns:a="http://schemas.openxmlformats.org/drawingml/2006/main" r:embed="Rc5485ba0934b44bd"/>
          <a:stretch xmlns:a="http://schemas.openxmlformats.org/drawingml/2006/main"/>
        </p:blipFill>
        <p:spPr>
          <a:xfrm xmlns:a="http://schemas.openxmlformats.org/drawingml/2006/main">
            <a:off x="9960531" y="4905375"/>
            <a:ext cx="348139" cy="323850"/>
          </a:xfrm>
          <a:prstGeom xmlns:a="http://schemas.openxmlformats.org/drawingml/2006/main" prst="rect">
            <a:avLst/>
          </a:prstGeom>
        </p:spPr>
      </p:pic>
      <p:sp>
        <p:nvSpPr>
          <p:cNvPr id="70" name="Rounded Rectangle 69">
            <a:extLst xmlns:a="http://schemas.openxmlformats.org/drawingml/2006/main">
              <a:ext uri="{FF2B5EF4-FFF2-40B4-BE49-F238E27FC236}">
                <a16:creationId xmlns:a16="http://schemas.microsoft.com/office/drawing/2014/main" id="{B6E9607F-C2EC-477A-BAF6-C5E067CAF87D}"/>
              </a:ext>
            </a:extLst>
          </p:cNvPr>
          <p:cNvSpPr>
            <a:spLocks xmlns:a="http://schemas.openxmlformats.org/drawingml/2006/main" noGrp="1"/>
          </p:cNvSpPr>
          <p:nvPr/>
        </p:nvSpPr>
        <p:spPr>
          <a:xfrm xmlns:a="http://schemas.openxmlformats.org/drawingml/2006/main">
            <a:off x="400050" y="5734050"/>
            <a:ext cx="11334750" cy="476250"/>
          </a:xfrm>
          <a:prstGeom xmlns:a="http://schemas.openxmlformats.org/drawingml/2006/main" prst="roundRect">
            <a:avLst>
              <a:gd name="adj" fmla="val 12000"/>
            </a:avLst>
          </a:prstGeom>
          <a:solidFill xmlns:a="http://schemas.openxmlformats.org/drawingml/2006/main">
            <a:srgbClr val="FFFFFF"/>
          </a:solidFill>
          <a:ln xmlns:a="http://schemas.openxmlformats.org/drawingml/2006/main" w="9525">
            <a:solidFill>
              <a:srgbClr val="D9DEDA"/>
            </a:solidFill>
            <a:prstDash val="solid"/>
          </a:ln>
        </p:spPr>
        <p:txBody>
          <a:bodyPr xmlns:a="http://schemas.openxmlformats.org/drawingml/2006/main"/>
          <a:lstStyle xmlns:a="http://schemas.openxmlformats.org/drawingml/2006/main"/>
          <a:p xmlns:a="http://schemas.openxmlformats.org/drawingml/2006/main">
            <a:endParaRPr/>
          </a:p>
        </p:txBody>
      </p:sp>
      <p:pic>
        <p:nvPicPr>
          <p:cNvPr id="158" name="Picture 144"/>
          <p:cNvPicPr>
            <a:picLocks xmlns:a="http://schemas.openxmlformats.org/drawingml/2006/main" noChangeAspect="1"/>
          </p:cNvPicPr>
          <p:nvPr/>
        </p:nvPicPr>
        <p:blipFill>
          <a:blip xmlns:r="http://schemas.openxmlformats.org/officeDocument/2006/relationships" xmlns:a="http://schemas.openxmlformats.org/drawingml/2006/main" r:embed="Rb5c8780a95fc4843"/>
          <a:stretch xmlns:a="http://schemas.openxmlformats.org/drawingml/2006/main"/>
        </p:blipFill>
        <p:spPr>
          <a:xfrm xmlns:a="http://schemas.openxmlformats.org/drawingml/2006/main">
            <a:off x="632416" y="5838825"/>
            <a:ext cx="316319" cy="323850"/>
          </a:xfrm>
          <a:prstGeom xmlns:a="http://schemas.openxmlformats.org/drawingml/2006/main" prst="rect">
            <a:avLst/>
          </a:prstGeom>
        </p:spPr>
      </p:pic>
      <p:sp>
        <p:nvSpPr>
          <p:cNvPr id="72" name="Rectangle 71">
            <a:extLst xmlns:a="http://schemas.openxmlformats.org/drawingml/2006/main">
              <a:ext uri="{FF2B5EF4-FFF2-40B4-BE49-F238E27FC236}">
                <a16:creationId xmlns:a16="http://schemas.microsoft.com/office/drawing/2014/main" id="{C928459C-9AA2-4970-83C9-66B7F0DEE5BA}"/>
              </a:ext>
            </a:extLst>
          </p:cNvPr>
          <p:cNvSpPr>
            <a:spLocks xmlns:a="http://schemas.openxmlformats.org/drawingml/2006/main" noGrp="1"/>
          </p:cNvSpPr>
          <p:nvPr/>
        </p:nvSpPr>
        <p:spPr>
          <a:xfrm xmlns:a="http://schemas.openxmlformats.org/drawingml/2006/main">
            <a:off x="1085850" y="5934075"/>
            <a:ext cx="933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050" b="0" i="0">
                <a:solidFill>
                  <a:srgbClr val="111111"/>
                </a:solidFill>
                <a:latin typeface="Arial"/>
                <a:ea typeface="Arial"/>
                <a:cs typeface="Arial"/>
              </a:defRPr>
            </a:pPr>
            <a:r>
              <a:rPr sz="1050" b="0" i="0">
                <a:solidFill>
                  <a:srgbClr val="111111"/>
                </a:solidFill>
                <a:latin typeface="Arial"/>
                <a:ea typeface="Arial"/>
                <a:cs typeface="Arial"/>
              </a:rPr>
              <a:t>This sizing is based on the information available at the time of analysis and should be validated during the detailed design phase.</a:t>
            </a:r>
          </a:p>
        </p:txBody>
      </p:sp>
      <p:sp>
        <p:nvSpPr>
          <p:cNvPr id="73" name="Rectangle 72">
            <a:extLst xmlns:a="http://schemas.openxmlformats.org/drawingml/2006/main">
              <a:ext uri="{FF2B5EF4-FFF2-40B4-BE49-F238E27FC236}">
                <a16:creationId xmlns:a16="http://schemas.microsoft.com/office/drawing/2014/main" id="{B0FDF0E8-75F0-4E20-AB65-98949A664606}"/>
              </a:ext>
            </a:extLst>
          </p:cNvPr>
          <p:cNvSpPr>
            <a:spLocks xmlns:a="http://schemas.openxmlformats.org/drawingml/2006/main" noGrp="1"/>
          </p:cNvSpPr>
          <p:nvPr/>
        </p:nvSpPr>
        <p:spPr>
          <a:xfrm xmlns:a="http://schemas.openxmlformats.org/drawingml/2006/main">
            <a:off x="1133475" y="6553200"/>
            <a:ext cx="5334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675" b="0" i="0">
                <a:solidFill>
                  <a:srgbClr val="5E5E5E"/>
                </a:solidFill>
                <a:latin typeface="Arial"/>
                <a:ea typeface="Arial"/>
                <a:cs typeface="Arial"/>
              </a:defRPr>
            </a:pPr>
            <a:r>
              <a:rPr sz="675" b="0" i="0">
                <a:solidFill>
                  <a:srgbClr val="5E5E5E"/>
                </a:solidFill>
                <a:latin typeface="Arial"/>
                <a:ea typeface="Arial"/>
                <a:cs typeface="Arial"/>
              </a:rPr>
              <a:t>Copyright © 2026, Oracle and/or its affiliates | Confidential: Internal/Restricted/Highly Restricted</a:t>
            </a:r>
          </a:p>
        </p:txBody>
      </p:sp>
      <p:pic>
        <p:nvPicPr>
          <p:cNvPr id="161" name="Picture 147"/>
          <p:cNvPicPr>
            <a:picLocks xmlns:a="http://schemas.openxmlformats.org/drawingml/2006/main" noChangeAspect="1"/>
          </p:cNvPicPr>
          <p:nvPr/>
        </p:nvPicPr>
        <p:blipFill>
          <a:blip xmlns:r="http://schemas.openxmlformats.org/officeDocument/2006/relationships" xmlns:a="http://schemas.openxmlformats.org/drawingml/2006/main" r:embed="R5db116708ca64d5d"/>
          <a:stretch xmlns:a="http://schemas.openxmlformats.org/drawingml/2006/main"/>
        </p:blipFill>
        <p:spPr>
          <a:xfrm xmlns:a="http://schemas.openxmlformats.org/drawingml/2006/main">
            <a:off x="11382375" y="6459855"/>
            <a:ext cx="419100" cy="396240"/>
          </a:xfrm>
          <a:prstGeom xmlns:a="http://schemas.openxmlformats.org/drawingml/2006/main" prst="rect">
            <a:avLst/>
          </a:prstGeom>
        </p:spPr>
      </p:pic>
    </p:spTree>
    <p:extLst>
      <p:ext uri="{BB962C8B-B14F-4D97-AF65-F5344CB8AC3E}">
        <p14:creationId xmlns:p14="http://schemas.microsoft.com/office/powerpoint/2010/main" val="1621222433"/>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51" name="Oval 50">
            <a:extLst xmlns:a="http://schemas.openxmlformats.org/drawingml/2006/main">
              <a:ext uri="{FF2B5EF4-FFF2-40B4-BE49-F238E27FC236}">
                <a16:creationId xmlns:a16="http://schemas.microsoft.com/office/drawing/2014/main" id="{73A5942D-D23C-45E6-ACE1-2F77352B9317}"/>
              </a:ext>
            </a:extLst>
          </p:cNvPr>
          <p:cNvSpPr>
            <a:spLocks xmlns:a="http://schemas.openxmlformats.org/drawingml/2006/main" noGrp="1"/>
          </p:cNvSpPr>
          <p:nvPr/>
        </p:nvSpPr>
        <p:spPr>
          <a:xfrm xmlns:a="http://schemas.openxmlformats.org/drawingml/2006/main">
            <a:off x="5133975" y="657225"/>
            <a:ext cx="38100" cy="38100"/>
          </a:xfrm>
          <a:prstGeom xmlns:a="http://schemas.openxmlformats.org/drawingml/2006/main" prst="ellipse">
            <a:avLst/>
          </a:prstGeom>
          <a:solidFill xmlns:a="http://schemas.openxmlformats.org/drawingml/2006/main">
            <a:srgbClr val="E6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Oval 1">
            <a:extLst xmlns:a="http://schemas.openxmlformats.org/drawingml/2006/main">
              <a:ext uri="{FF2B5EF4-FFF2-40B4-BE49-F238E27FC236}">
                <a16:creationId xmlns:a16="http://schemas.microsoft.com/office/drawing/2014/main" id="{73088BEA-17DF-442D-9BC7-02155DD5C445}"/>
              </a:ext>
            </a:extLst>
          </p:cNvPr>
          <p:cNvSpPr>
            <a:spLocks xmlns:a="http://schemas.openxmlformats.org/drawingml/2006/main" noGrp="1"/>
          </p:cNvSpPr>
          <p:nvPr/>
        </p:nvSpPr>
        <p:spPr>
          <a:xfrm xmlns:a="http://schemas.openxmlformats.org/drawingml/2006/main">
            <a:off x="6181725" y="685800"/>
            <a:ext cx="28575" cy="28575"/>
          </a:xfrm>
          <a:prstGeom xmlns:a="http://schemas.openxmlformats.org/drawingml/2006/main" prst="ellipse">
            <a:avLst/>
          </a:prstGeom>
          <a:solidFill xmlns:a="http://schemas.openxmlformats.org/drawingml/2006/main">
            <a:srgbClr val="E6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3" name="Oval 2">
            <a:extLst xmlns:a="http://schemas.openxmlformats.org/drawingml/2006/main">
              <a:ext uri="{FF2B5EF4-FFF2-40B4-BE49-F238E27FC236}">
                <a16:creationId xmlns:a16="http://schemas.microsoft.com/office/drawing/2014/main" id="{FF40793F-68B7-4A09-857E-9B1E1E9D9BCF}"/>
              </a:ext>
            </a:extLst>
          </p:cNvPr>
          <p:cNvSpPr>
            <a:spLocks xmlns:a="http://schemas.openxmlformats.org/drawingml/2006/main" noGrp="1"/>
          </p:cNvSpPr>
          <p:nvPr/>
        </p:nvSpPr>
        <p:spPr>
          <a:xfrm xmlns:a="http://schemas.openxmlformats.org/drawingml/2006/main">
            <a:off x="7239000" y="504825"/>
            <a:ext cx="57150" cy="57150"/>
          </a:xfrm>
          <a:prstGeom xmlns:a="http://schemas.openxmlformats.org/drawingml/2006/main" prst="ellipse">
            <a:avLst/>
          </a:prstGeom>
          <a:solidFill xmlns:a="http://schemas.openxmlformats.org/drawingml/2006/main">
            <a:srgbClr val="E6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4" name="Oval 3">
            <a:extLst xmlns:a="http://schemas.openxmlformats.org/drawingml/2006/main">
              <a:ext uri="{FF2B5EF4-FFF2-40B4-BE49-F238E27FC236}">
                <a16:creationId xmlns:a16="http://schemas.microsoft.com/office/drawing/2014/main" id="{674B1F8E-B96D-4B16-B046-787E8702A629}"/>
              </a:ext>
            </a:extLst>
          </p:cNvPr>
          <p:cNvSpPr>
            <a:spLocks xmlns:a="http://schemas.openxmlformats.org/drawingml/2006/main" noGrp="1"/>
          </p:cNvSpPr>
          <p:nvPr/>
        </p:nvSpPr>
        <p:spPr>
          <a:xfrm xmlns:a="http://schemas.openxmlformats.org/drawingml/2006/main">
            <a:off x="11010900" y="1123950"/>
            <a:ext cx="19050" cy="19050"/>
          </a:xfrm>
          <a:prstGeom xmlns:a="http://schemas.openxmlformats.org/drawingml/2006/main" prst="ellipse">
            <a:avLst/>
          </a:prstGeom>
          <a:solidFill xmlns:a="http://schemas.openxmlformats.org/drawingml/2006/main">
            <a:srgbClr val="E6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 name="Oval 4">
            <a:extLst xmlns:a="http://schemas.openxmlformats.org/drawingml/2006/main">
              <a:ext uri="{FF2B5EF4-FFF2-40B4-BE49-F238E27FC236}">
                <a16:creationId xmlns:a16="http://schemas.microsoft.com/office/drawing/2014/main" id="{ECE320BA-C63B-4BBF-94C5-92BE5192DC61}"/>
              </a:ext>
            </a:extLst>
          </p:cNvPr>
          <p:cNvSpPr>
            <a:spLocks xmlns:a="http://schemas.openxmlformats.org/drawingml/2006/main" noGrp="1"/>
          </p:cNvSpPr>
          <p:nvPr/>
        </p:nvSpPr>
        <p:spPr>
          <a:xfrm xmlns:a="http://schemas.openxmlformats.org/drawingml/2006/main">
            <a:off x="9220200" y="1581150"/>
            <a:ext cx="38100" cy="38100"/>
          </a:xfrm>
          <a:prstGeom xmlns:a="http://schemas.openxmlformats.org/drawingml/2006/main" prst="ellipse">
            <a:avLst/>
          </a:prstGeom>
          <a:solidFill xmlns:a="http://schemas.openxmlformats.org/drawingml/2006/main">
            <a:srgbClr val="E6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6" name="Oval 5">
            <a:extLst xmlns:a="http://schemas.openxmlformats.org/drawingml/2006/main">
              <a:ext uri="{FF2B5EF4-FFF2-40B4-BE49-F238E27FC236}">
                <a16:creationId xmlns:a16="http://schemas.microsoft.com/office/drawing/2014/main" id="{AF232F3B-1324-4364-BD60-137FAF1990F8}"/>
              </a:ext>
            </a:extLst>
          </p:cNvPr>
          <p:cNvSpPr>
            <a:spLocks xmlns:a="http://schemas.openxmlformats.org/drawingml/2006/main" noGrp="1"/>
          </p:cNvSpPr>
          <p:nvPr/>
        </p:nvSpPr>
        <p:spPr>
          <a:xfrm xmlns:a="http://schemas.openxmlformats.org/drawingml/2006/main">
            <a:off x="11410950" y="1647825"/>
            <a:ext cx="28575" cy="28575"/>
          </a:xfrm>
          <a:prstGeom xmlns:a="http://schemas.openxmlformats.org/drawingml/2006/main" prst="ellipse">
            <a:avLst/>
          </a:prstGeom>
          <a:solidFill xmlns:a="http://schemas.openxmlformats.org/drawingml/2006/main">
            <a:srgbClr val="E6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7" name="Oval 6">
            <a:extLst xmlns:a="http://schemas.openxmlformats.org/drawingml/2006/main">
              <a:ext uri="{FF2B5EF4-FFF2-40B4-BE49-F238E27FC236}">
                <a16:creationId xmlns:a16="http://schemas.microsoft.com/office/drawing/2014/main" id="{12DA0ADF-18D5-4143-BAFB-C1D4E0322D43}"/>
              </a:ext>
            </a:extLst>
          </p:cNvPr>
          <p:cNvSpPr>
            <a:spLocks xmlns:a="http://schemas.openxmlformats.org/drawingml/2006/main" noGrp="1"/>
          </p:cNvSpPr>
          <p:nvPr/>
        </p:nvSpPr>
        <p:spPr>
          <a:xfrm xmlns:a="http://schemas.openxmlformats.org/drawingml/2006/main">
            <a:off x="9982200" y="3000375"/>
            <a:ext cx="28575" cy="28575"/>
          </a:xfrm>
          <a:prstGeom xmlns:a="http://schemas.openxmlformats.org/drawingml/2006/main" prst="ellipse">
            <a:avLst/>
          </a:prstGeom>
          <a:solidFill xmlns:a="http://schemas.openxmlformats.org/drawingml/2006/main">
            <a:srgbClr val="E6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8" name="Oval 7">
            <a:extLst xmlns:a="http://schemas.openxmlformats.org/drawingml/2006/main">
              <a:ext uri="{FF2B5EF4-FFF2-40B4-BE49-F238E27FC236}">
                <a16:creationId xmlns:a16="http://schemas.microsoft.com/office/drawing/2014/main" id="{8EF1F3FD-6495-4F9F-8163-4CEB685C76C1}"/>
              </a:ext>
            </a:extLst>
          </p:cNvPr>
          <p:cNvSpPr>
            <a:spLocks xmlns:a="http://schemas.openxmlformats.org/drawingml/2006/main" noGrp="1"/>
          </p:cNvSpPr>
          <p:nvPr/>
        </p:nvSpPr>
        <p:spPr>
          <a:xfrm xmlns:a="http://schemas.openxmlformats.org/drawingml/2006/main">
            <a:off x="9344025" y="4781550"/>
            <a:ext cx="47625" cy="47625"/>
          </a:xfrm>
          <a:prstGeom xmlns:a="http://schemas.openxmlformats.org/drawingml/2006/main" prst="ellipse">
            <a:avLst/>
          </a:prstGeom>
          <a:solidFill xmlns:a="http://schemas.openxmlformats.org/drawingml/2006/main">
            <a:srgbClr val="E6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9" name="Oval 8">
            <a:extLst xmlns:a="http://schemas.openxmlformats.org/drawingml/2006/main">
              <a:ext uri="{FF2B5EF4-FFF2-40B4-BE49-F238E27FC236}">
                <a16:creationId xmlns:a16="http://schemas.microsoft.com/office/drawing/2014/main" id="{B3A8DECC-6222-4521-82D5-B349CA05389D}"/>
              </a:ext>
            </a:extLst>
          </p:cNvPr>
          <p:cNvSpPr>
            <a:spLocks xmlns:a="http://schemas.openxmlformats.org/drawingml/2006/main" noGrp="1"/>
          </p:cNvSpPr>
          <p:nvPr/>
        </p:nvSpPr>
        <p:spPr>
          <a:xfrm xmlns:a="http://schemas.openxmlformats.org/drawingml/2006/main">
            <a:off x="11658600" y="5848350"/>
            <a:ext cx="38100" cy="38100"/>
          </a:xfrm>
          <a:prstGeom xmlns:a="http://schemas.openxmlformats.org/drawingml/2006/main" prst="ellipse">
            <a:avLst/>
          </a:prstGeom>
          <a:solidFill xmlns:a="http://schemas.openxmlformats.org/drawingml/2006/main">
            <a:srgbClr val="E6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pic>
        <p:nvPicPr>
          <p:cNvPr id="70" name="Picture 60"/>
          <p:cNvPicPr>
            <a:picLocks xmlns:a="http://schemas.openxmlformats.org/drawingml/2006/main" noChangeAspect="1"/>
          </p:cNvPicPr>
          <p:nvPr/>
        </p:nvPicPr>
        <p:blipFill>
          <a:blip xmlns:r="http://schemas.openxmlformats.org/officeDocument/2006/relationships" xmlns:a="http://schemas.openxmlformats.org/drawingml/2006/main" r:embed="Rec7f3d0b1d1b429d"/>
          <a:stretch xmlns:a="http://schemas.openxmlformats.org/drawingml/2006/main"/>
        </p:blipFill>
        <p:spPr>
          <a:xfrm xmlns:a="http://schemas.openxmlformats.org/drawingml/2006/main">
            <a:off x="361950" y="357187"/>
            <a:ext cx="1927741" cy="600075"/>
          </a:xfrm>
          <a:prstGeom xmlns:a="http://schemas.openxmlformats.org/drawingml/2006/main" prst="rect">
            <a:avLst/>
          </a:prstGeom>
        </p:spPr>
      </p:pic>
      <p:sp>
        <p:nvSpPr>
          <p:cNvPr id="12" name="Rectangle 11">
            <a:extLst xmlns:a="http://schemas.openxmlformats.org/drawingml/2006/main">
              <a:ext uri="{FF2B5EF4-FFF2-40B4-BE49-F238E27FC236}">
                <a16:creationId xmlns:a16="http://schemas.microsoft.com/office/drawing/2014/main" id="{181FA5E6-65B3-42DA-A23A-AE93E6720CB2}"/>
              </a:ext>
            </a:extLst>
          </p:cNvPr>
          <p:cNvSpPr>
            <a:spLocks xmlns:a="http://schemas.openxmlformats.org/drawingml/2006/main" noGrp="1"/>
          </p:cNvSpPr>
          <p:nvPr/>
        </p:nvSpPr>
        <p:spPr>
          <a:xfrm xmlns:a="http://schemas.openxmlformats.org/drawingml/2006/main">
            <a:off x="361950" y="1133475"/>
            <a:ext cx="6286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3150" b="1" i="0">
                <a:solidFill>
                  <a:srgbClr val="003B25"/>
                </a:solidFill>
                <a:latin typeface="Arial"/>
                <a:ea typeface="Arial"/>
                <a:cs typeface="Arial"/>
              </a:defRPr>
            </a:pPr>
            <a:r>
              <a:rPr sz="3150" b="1" i="0">
                <a:solidFill>
                  <a:srgbClr val="003B25"/>
                </a:solidFill>
                <a:latin typeface="Arial"/>
                <a:ea typeface="Arial"/>
                <a:cs typeface="Arial"/>
              </a:rPr>
              <a:t>Assumptions &amp; Methodology</a:t>
            </a:r>
          </a:p>
        </p:txBody>
      </p:sp>
      <p:sp>
        <p:nvSpPr>
          <p:cNvPr id="13" name="Rectangle 12">
            <a:extLst xmlns:a="http://schemas.openxmlformats.org/drawingml/2006/main">
              <a:ext uri="{FF2B5EF4-FFF2-40B4-BE49-F238E27FC236}">
                <a16:creationId xmlns:a16="http://schemas.microsoft.com/office/drawing/2014/main" id="{B629860D-8183-4AA2-8F53-EEB151589651}"/>
              </a:ext>
            </a:extLst>
          </p:cNvPr>
          <p:cNvSpPr>
            <a:spLocks xmlns:a="http://schemas.openxmlformats.org/drawingml/2006/main" noGrp="1"/>
          </p:cNvSpPr>
          <p:nvPr/>
        </p:nvSpPr>
        <p:spPr>
          <a:xfrm xmlns:a="http://schemas.openxmlformats.org/drawingml/2006/main">
            <a:off x="371475" y="1676400"/>
            <a:ext cx="381000" cy="38100"/>
          </a:xfrm>
          <a:prstGeom xmlns:a="http://schemas.openxmlformats.org/drawingml/2006/main" prst="rect">
            <a:avLst/>
          </a:prstGeom>
          <a:solidFill xmlns:a="http://schemas.openxmlformats.org/drawingml/2006/main">
            <a:srgbClr val="F0000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4" name="Rectangle 13">
            <a:extLst xmlns:a="http://schemas.openxmlformats.org/drawingml/2006/main">
              <a:ext uri="{FF2B5EF4-FFF2-40B4-BE49-F238E27FC236}">
                <a16:creationId xmlns:a16="http://schemas.microsoft.com/office/drawing/2014/main" id="{3E173982-393B-42AC-A28E-FA0B0948FCC0}"/>
              </a:ext>
            </a:extLst>
          </p:cNvPr>
          <p:cNvSpPr>
            <a:spLocks xmlns:a="http://schemas.openxmlformats.org/drawingml/2006/main" noGrp="1"/>
          </p:cNvSpPr>
          <p:nvPr/>
        </p:nvSpPr>
        <p:spPr>
          <a:xfrm xmlns:a="http://schemas.openxmlformats.org/drawingml/2006/main">
            <a:off x="390525" y="1838325"/>
            <a:ext cx="6096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15000"/>
              </a:lnSpc>
              <a:buNone/>
              <a:defRPr sz="1200" b="0" i="0">
                <a:solidFill>
                  <a:srgbClr val="111111"/>
                </a:solidFill>
                <a:latin typeface="Arial"/>
                <a:ea typeface="Arial"/>
                <a:cs typeface="Arial"/>
              </a:defRPr>
            </a:pPr>
            <a:r>
              <a:rPr sz="1200" b="0" i="0">
                <a:solidFill>
                  <a:srgbClr val="111111"/>
                </a:solidFill>
                <a:latin typeface="Arial"/>
                <a:ea typeface="Arial"/>
                <a:cs typeface="Arial"/>
              </a:rPr>
              <a:t>The proposed sizing is based on the information provided by the customer</a:t>
            </a:r>
          </a:p>
          <a:p xmlns:a="http://schemas.openxmlformats.org/drawingml/2006/main">
            <a:pPr algn="l">
              <a:lnSpc>
                <a:spcPct val="115000"/>
              </a:lnSpc>
              <a:buNone/>
              <a:defRPr sz="1200" b="0" i="0">
                <a:solidFill>
                  <a:srgbClr val="111111"/>
                </a:solidFill>
                <a:latin typeface="Arial"/>
                <a:ea typeface="Arial"/>
                <a:cs typeface="Arial"/>
              </a:defRPr>
            </a:pPr>
            <a:r>
              <a:rPr sz="1200" b="0" i="0">
                <a:solidFill>
                  <a:srgbClr val="111111"/>
                </a:solidFill>
                <a:latin typeface="Arial"/>
                <a:ea typeface="Arial"/>
                <a:cs typeface="Arial"/>
              </a:rPr>
              <a:t>and the following assumptions and methodology.</a:t>
            </a:r>
          </a:p>
        </p:txBody>
      </p:sp>
      <p:sp>
        <p:nvSpPr>
          <p:cNvPr id="15" name="Rounded Rectangle 14">
            <a:extLst xmlns:a="http://schemas.openxmlformats.org/drawingml/2006/main">
              <a:ext uri="{FF2B5EF4-FFF2-40B4-BE49-F238E27FC236}">
                <a16:creationId xmlns:a16="http://schemas.microsoft.com/office/drawing/2014/main" id="{D05FD567-6830-4B7C-A6B4-1C17F3F5C538}"/>
              </a:ext>
            </a:extLst>
          </p:cNvPr>
          <p:cNvSpPr>
            <a:spLocks xmlns:a="http://schemas.openxmlformats.org/drawingml/2006/main" noGrp="1"/>
          </p:cNvSpPr>
          <p:nvPr/>
        </p:nvSpPr>
        <p:spPr>
          <a:xfrm xmlns:a="http://schemas.openxmlformats.org/drawingml/2006/main">
            <a:off x="381000" y="2343150"/>
            <a:ext cx="7391400" cy="3676650"/>
          </a:xfrm>
          <a:prstGeom xmlns:a="http://schemas.openxmlformats.org/drawingml/2006/main" prst="roundRect">
            <a:avLst>
              <a:gd name="adj" fmla="val 1813"/>
            </a:avLst>
          </a:prstGeom>
          <a:solidFill xmlns:a="http://schemas.openxmlformats.org/drawingml/2006/main">
            <a:srgbClr val="FFFFFF"/>
          </a:solidFill>
          <a:ln xmlns:a="http://schemas.openxmlformats.org/drawingml/2006/main" w="9525">
            <a:solidFill>
              <a:srgbClr val="CED6D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16" name="Rounded Rectangle 15">
            <a:extLst xmlns:a="http://schemas.openxmlformats.org/drawingml/2006/main">
              <a:ext uri="{FF2B5EF4-FFF2-40B4-BE49-F238E27FC236}">
                <a16:creationId xmlns:a16="http://schemas.microsoft.com/office/drawing/2014/main" id="{7E7120EA-B371-422A-9F44-F023B4B89BD2}"/>
              </a:ext>
            </a:extLst>
          </p:cNvPr>
          <p:cNvSpPr>
            <a:spLocks xmlns:a="http://schemas.openxmlformats.org/drawingml/2006/main" noGrp="1"/>
          </p:cNvSpPr>
          <p:nvPr/>
        </p:nvSpPr>
        <p:spPr>
          <a:xfrm xmlns:a="http://schemas.openxmlformats.org/drawingml/2006/main">
            <a:off x="381000" y="2343150"/>
            <a:ext cx="7391400" cy="361950"/>
          </a:xfrm>
          <a:prstGeom xmlns:a="http://schemas.openxmlformats.org/drawingml/2006/main" prst="roundRect">
            <a:avLst>
              <a:gd name="adj" fmla="val 18421"/>
            </a:avLst>
          </a:prstGeom>
          <a:gradFill xmlns:a="http://schemas.openxmlformats.org/drawingml/2006/main">
            <a:gsLst>
              <a:gs pos="0">
                <a:srgbClr val="00351F"/>
              </a:gs>
              <a:gs pos="100000">
                <a:srgbClr val="075431"/>
              </a:gs>
            </a:gsLst>
            <a:lin ang="0"/>
          </a:gra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pic>
        <p:nvPicPr>
          <p:cNvPr id="76" name="Picture 66"/>
          <p:cNvPicPr>
            <a:picLocks xmlns:a="http://schemas.openxmlformats.org/drawingml/2006/main" noChangeAspect="1"/>
          </p:cNvPicPr>
          <p:nvPr/>
        </p:nvPicPr>
        <p:blipFill>
          <a:blip xmlns:r="http://schemas.openxmlformats.org/officeDocument/2006/relationships" xmlns:a="http://schemas.openxmlformats.org/drawingml/2006/main" r:embed="Rfea8cb80a61d4023"/>
          <a:stretch xmlns:a="http://schemas.openxmlformats.org/drawingml/2006/main"/>
        </p:blipFill>
        <p:spPr>
          <a:xfrm xmlns:a="http://schemas.openxmlformats.org/drawingml/2006/main">
            <a:off x="617492" y="2390775"/>
            <a:ext cx="260441" cy="276225"/>
          </a:xfrm>
          <a:prstGeom xmlns:a="http://schemas.openxmlformats.org/drawingml/2006/main" prst="rect">
            <a:avLst/>
          </a:prstGeom>
        </p:spPr>
      </p:pic>
      <p:sp>
        <p:nvSpPr>
          <p:cNvPr id="18" name="Rectangle 17">
            <a:extLst xmlns:a="http://schemas.openxmlformats.org/drawingml/2006/main">
              <a:ext uri="{FF2B5EF4-FFF2-40B4-BE49-F238E27FC236}">
                <a16:creationId xmlns:a16="http://schemas.microsoft.com/office/drawing/2014/main" id="{E91505E6-4E87-4F2F-9412-FA897C3D79C8}"/>
              </a:ext>
            </a:extLst>
          </p:cNvPr>
          <p:cNvSpPr>
            <a:spLocks xmlns:a="http://schemas.openxmlformats.org/drawingml/2006/main" noGrp="1"/>
          </p:cNvSpPr>
          <p:nvPr/>
        </p:nvSpPr>
        <p:spPr>
          <a:xfrm xmlns:a="http://schemas.openxmlformats.org/drawingml/2006/main">
            <a:off x="1019175" y="24384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200" b="1" i="0">
                <a:solidFill>
                  <a:srgbClr val="FFFFFF"/>
                </a:solidFill>
                <a:latin typeface="Arial"/>
                <a:ea typeface="Arial"/>
                <a:cs typeface="Arial"/>
              </a:defRPr>
            </a:pPr>
            <a:r>
              <a:rPr sz="1200" b="1" i="0">
                <a:solidFill>
                  <a:srgbClr val="FFFFFF"/>
                </a:solidFill>
                <a:latin typeface="Arial"/>
                <a:ea typeface="Arial"/>
                <a:cs typeface="Arial"/>
              </a:rPr>
              <a:t>Sizing Methodology</a:t>
            </a:r>
          </a:p>
        </p:txBody>
      </p:sp>
      <p:pic>
        <p:nvPicPr>
          <p:cNvPr id="78" name="Picture 68"/>
          <p:cNvPicPr>
            <a:picLocks xmlns:a="http://schemas.openxmlformats.org/drawingml/2006/main" noChangeAspect="1"/>
          </p:cNvPicPr>
          <p:nvPr/>
        </p:nvPicPr>
        <p:blipFill>
          <a:blip xmlns:r="http://schemas.openxmlformats.org/officeDocument/2006/relationships" xmlns:a="http://schemas.openxmlformats.org/drawingml/2006/main" r:embed="R0187da0b75d7422a"/>
          <a:stretch xmlns:a="http://schemas.openxmlformats.org/drawingml/2006/main"/>
        </p:blipFill>
        <p:spPr>
          <a:xfrm xmlns:a="http://schemas.openxmlformats.org/drawingml/2006/main">
            <a:off x="600075" y="2779303"/>
            <a:ext cx="466725" cy="451669"/>
          </a:xfrm>
          <a:prstGeom xmlns:a="http://schemas.openxmlformats.org/drawingml/2006/main" prst="rect">
            <a:avLst/>
          </a:prstGeom>
        </p:spPr>
      </p:pic>
      <p:sp>
        <p:nvSpPr>
          <p:cNvPr id="20" name="Rectangle 19">
            <a:extLst xmlns:a="http://schemas.openxmlformats.org/drawingml/2006/main">
              <a:ext uri="{FF2B5EF4-FFF2-40B4-BE49-F238E27FC236}">
                <a16:creationId xmlns:a16="http://schemas.microsoft.com/office/drawing/2014/main" id="{42908386-5A93-4A58-A462-83A24A156EB4}"/>
              </a:ext>
            </a:extLst>
          </p:cNvPr>
          <p:cNvSpPr>
            <a:spLocks xmlns:a="http://schemas.openxmlformats.org/drawingml/2006/main" noGrp="1"/>
          </p:cNvSpPr>
          <p:nvPr/>
        </p:nvSpPr>
        <p:spPr>
          <a:xfrm xmlns:a="http://schemas.openxmlformats.org/drawingml/2006/main">
            <a:off x="1333500" y="2914650"/>
            <a:ext cx="2047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125" b="1" i="0">
                <a:solidFill>
                  <a:srgbClr val="003B25"/>
                </a:solidFill>
                <a:latin typeface="Arial"/>
                <a:ea typeface="Arial"/>
                <a:cs typeface="Arial"/>
              </a:defRPr>
            </a:pPr>
            <a:r>
              <a:rPr sz="1125" b="1" i="0">
                <a:solidFill>
                  <a:srgbClr val="003B25"/>
                </a:solidFill>
                <a:latin typeface="Arial"/>
                <a:ea typeface="Arial"/>
                <a:cs typeface="Arial"/>
              </a:rPr>
              <a:t>Data Source</a:t>
            </a:r>
          </a:p>
        </p:txBody>
      </p:sp>
      <p:sp>
        <p:nvSpPr>
          <p:cNvPr id="21" name="Straight Connector 20">
            <a:extLst xmlns:a="http://schemas.openxmlformats.org/drawingml/2006/main">
              <a:ext uri="{FF2B5EF4-FFF2-40B4-BE49-F238E27FC236}">
                <a16:creationId xmlns:a16="http://schemas.microsoft.com/office/drawing/2014/main" id="{74A58121-1B16-4F12-92B5-F259AF492CB0}"/>
              </a:ext>
            </a:extLst>
          </p:cNvPr>
          <p:cNvSpPr>
            <a:spLocks xmlns:a="http://schemas.openxmlformats.org/drawingml/2006/main" noGrp="1"/>
          </p:cNvSpPr>
          <p:nvPr/>
        </p:nvSpPr>
        <p:spPr>
          <a:xfrm xmlns:a="http://schemas.openxmlformats.org/drawingml/2006/main">
            <a:off x="3333750" y="2828925"/>
            <a:ext cx="0" cy="314325"/>
          </a:xfrm>
          <a:prstGeom xmlns:a="http://schemas.openxmlformats.org/drawingml/2006/main" prst="line">
            <a:avLst/>
          </a:prstGeom>
          <a:noFill xmlns:a="http://schemas.openxmlformats.org/drawingml/2006/main"/>
          <a:ln xmlns:a="http://schemas.openxmlformats.org/drawingml/2006/main" w="9525">
            <a:solidFill>
              <a:srgbClr val="CBD2CE"/>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Rectangle 21">
            <a:extLst xmlns:a="http://schemas.openxmlformats.org/drawingml/2006/main">
              <a:ext uri="{FF2B5EF4-FFF2-40B4-BE49-F238E27FC236}">
                <a16:creationId xmlns:a16="http://schemas.microsoft.com/office/drawing/2014/main" id="{71D931CB-6DBE-4D20-B729-98885198EFAC}"/>
              </a:ext>
            </a:extLst>
          </p:cNvPr>
          <p:cNvSpPr>
            <a:spLocks xmlns:a="http://schemas.openxmlformats.org/drawingml/2006/main" noGrp="1"/>
          </p:cNvSpPr>
          <p:nvPr/>
        </p:nvSpPr>
        <p:spPr>
          <a:xfrm xmlns:a="http://schemas.openxmlformats.org/drawingml/2006/main">
            <a:off x="3676650" y="2828925"/>
            <a:ext cx="3714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12000"/>
              </a:lnSpc>
              <a:buNone/>
              <a:defRPr sz="1125" b="0" i="0">
                <a:solidFill>
                  <a:srgbClr val="111111"/>
                </a:solidFill>
                <a:latin typeface="Arial"/>
                <a:ea typeface="Arial"/>
                <a:cs typeface="Arial"/>
              </a:defRPr>
            </a:pPr>
            <a:r>
              <a:rPr sz="1125" b="0" i="0">
                <a:solidFill>
                  <a:srgbClr val="111111"/>
                </a:solidFill>
                <a:latin typeface="Arial"/>
                <a:ea typeface="Arial"/>
                <a:cs typeface="Arial"/>
              </a:rPr>
              <a:t>RVTools export provided by the customer</a:t>
            </a:r>
          </a:p>
          <a:p xmlns:a="http://schemas.openxmlformats.org/drawingml/2006/main">
            <a:pPr algn="l">
              <a:lnSpc>
                <a:spcPct val="112000"/>
              </a:lnSpc>
              <a:buNone/>
              <a:defRPr sz="1125" b="0" i="0">
                <a:solidFill>
                  <a:srgbClr val="111111"/>
                </a:solidFill>
                <a:latin typeface="Arial"/>
                <a:ea typeface="Arial"/>
                <a:cs typeface="Arial"/>
              </a:defRPr>
            </a:pPr>
            <a:r>
              <a:rPr sz="1125" b="0" i="0">
                <a:solidFill>
                  <a:srgbClr val="111111"/>
                </a:solidFill>
                <a:latin typeface="Arial"/>
                <a:ea typeface="Arial"/>
                <a:cs typeface="Arial"/>
              </a:rPr>
              <a:t>(Analysis Date: May 08, 2025)</a:t>
            </a:r>
          </a:p>
        </p:txBody>
      </p:sp>
      <p:sp>
        <p:nvSpPr>
          <p:cNvPr id="23" name="Straight Connector 22">
            <a:extLst xmlns:a="http://schemas.openxmlformats.org/drawingml/2006/main">
              <a:ext uri="{FF2B5EF4-FFF2-40B4-BE49-F238E27FC236}">
                <a16:creationId xmlns:a16="http://schemas.microsoft.com/office/drawing/2014/main" id="{23397379-0F76-4614-83F5-A13601AE9797}"/>
              </a:ext>
            </a:extLst>
          </p:cNvPr>
          <p:cNvSpPr>
            <a:spLocks xmlns:a="http://schemas.openxmlformats.org/drawingml/2006/main" noGrp="1"/>
          </p:cNvSpPr>
          <p:nvPr/>
        </p:nvSpPr>
        <p:spPr>
          <a:xfrm xmlns:a="http://schemas.openxmlformats.org/drawingml/2006/main">
            <a:off x="600075" y="3264218"/>
            <a:ext cx="6981825" cy="0"/>
          </a:xfrm>
          <a:prstGeom xmlns:a="http://schemas.openxmlformats.org/drawingml/2006/main" prst="line">
            <a:avLst/>
          </a:prstGeom>
          <a:noFill xmlns:a="http://schemas.openxmlformats.org/drawingml/2006/main"/>
          <a:ln xmlns:a="http://schemas.openxmlformats.org/drawingml/2006/main" w="9525">
            <a:solidFill>
              <a:srgbClr val="DDE2DE"/>
            </a:solidFill>
            <a:prstDash val="solid"/>
          </a:ln>
        </p:spPr>
        <p:txBody>
          <a:bodyPr xmlns:a="http://schemas.openxmlformats.org/drawingml/2006/main"/>
          <a:lstStyle xmlns:a="http://schemas.openxmlformats.org/drawingml/2006/main"/>
          <a:p xmlns:a="http://schemas.openxmlformats.org/drawingml/2006/main">
            <a:endParaRPr/>
          </a:p>
        </p:txBody>
      </p:sp>
      <p:pic>
        <p:nvPicPr>
          <p:cNvPr id="83" name="Picture 73"/>
          <p:cNvPicPr>
            <a:picLocks xmlns:a="http://schemas.openxmlformats.org/drawingml/2006/main" noChangeAspect="1"/>
          </p:cNvPicPr>
          <p:nvPr/>
        </p:nvPicPr>
        <p:blipFill>
          <a:blip xmlns:r="http://schemas.openxmlformats.org/officeDocument/2006/relationships" xmlns:a="http://schemas.openxmlformats.org/drawingml/2006/main" r:embed="Rb3e2888c262045e0"/>
          <a:stretch xmlns:a="http://schemas.openxmlformats.org/drawingml/2006/main"/>
        </p:blipFill>
        <p:spPr>
          <a:xfrm xmlns:a="http://schemas.openxmlformats.org/drawingml/2006/main">
            <a:off x="600075" y="3309845"/>
            <a:ext cx="466725" cy="451669"/>
          </a:xfrm>
          <a:prstGeom xmlns:a="http://schemas.openxmlformats.org/drawingml/2006/main" prst="rect">
            <a:avLst/>
          </a:prstGeom>
        </p:spPr>
      </p:pic>
      <p:sp>
        <p:nvSpPr>
          <p:cNvPr id="25" name="Rectangle 24">
            <a:extLst xmlns:a="http://schemas.openxmlformats.org/drawingml/2006/main">
              <a:ext uri="{FF2B5EF4-FFF2-40B4-BE49-F238E27FC236}">
                <a16:creationId xmlns:a16="http://schemas.microsoft.com/office/drawing/2014/main" id="{DE8908F2-D896-472D-AF70-B94F25AE6292}"/>
              </a:ext>
            </a:extLst>
          </p:cNvPr>
          <p:cNvSpPr>
            <a:spLocks xmlns:a="http://schemas.openxmlformats.org/drawingml/2006/main" noGrp="1"/>
          </p:cNvSpPr>
          <p:nvPr/>
        </p:nvSpPr>
        <p:spPr>
          <a:xfrm xmlns:a="http://schemas.openxmlformats.org/drawingml/2006/main">
            <a:off x="1333500" y="3445193"/>
            <a:ext cx="2047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125" b="1" i="0">
                <a:solidFill>
                  <a:srgbClr val="003B25"/>
                </a:solidFill>
                <a:latin typeface="Arial"/>
                <a:ea typeface="Arial"/>
                <a:cs typeface="Arial"/>
              </a:defRPr>
            </a:pPr>
            <a:r>
              <a:rPr sz="1125" b="1" i="0">
                <a:solidFill>
                  <a:srgbClr val="003B25"/>
                </a:solidFill>
                <a:latin typeface="Arial"/>
                <a:ea typeface="Arial"/>
                <a:cs typeface="Arial"/>
              </a:rPr>
              <a:t>Sizing Approach</a:t>
            </a:r>
          </a:p>
        </p:txBody>
      </p:sp>
      <p:sp>
        <p:nvSpPr>
          <p:cNvPr id="26" name="Straight Connector 25">
            <a:extLst xmlns:a="http://schemas.openxmlformats.org/drawingml/2006/main">
              <a:ext uri="{FF2B5EF4-FFF2-40B4-BE49-F238E27FC236}">
                <a16:creationId xmlns:a16="http://schemas.microsoft.com/office/drawing/2014/main" id="{CFDEC23A-6F66-49D5-87D3-62C87F39D16D}"/>
              </a:ext>
            </a:extLst>
          </p:cNvPr>
          <p:cNvSpPr>
            <a:spLocks xmlns:a="http://schemas.openxmlformats.org/drawingml/2006/main" noGrp="1"/>
          </p:cNvSpPr>
          <p:nvPr/>
        </p:nvSpPr>
        <p:spPr>
          <a:xfrm xmlns:a="http://schemas.openxmlformats.org/drawingml/2006/main">
            <a:off x="3333750" y="3359468"/>
            <a:ext cx="0" cy="314325"/>
          </a:xfrm>
          <a:prstGeom xmlns:a="http://schemas.openxmlformats.org/drawingml/2006/main" prst="line">
            <a:avLst/>
          </a:prstGeom>
          <a:noFill xmlns:a="http://schemas.openxmlformats.org/drawingml/2006/main"/>
          <a:ln xmlns:a="http://schemas.openxmlformats.org/drawingml/2006/main" w="9525">
            <a:solidFill>
              <a:srgbClr val="CBD2CE"/>
            </a:solidFill>
            <a:prstDash val="solid"/>
          </a:ln>
        </p:spPr>
        <p:txBody>
          <a:bodyPr xmlns:a="http://schemas.openxmlformats.org/drawingml/2006/main"/>
          <a:lstStyle xmlns:a="http://schemas.openxmlformats.org/drawingml/2006/main"/>
          <a:p xmlns:a="http://schemas.openxmlformats.org/drawingml/2006/main">
            <a:endParaRPr/>
          </a:p>
        </p:txBody>
      </p:sp>
      <p:sp>
        <p:nvSpPr>
          <p:cNvPr id="27" name="Rectangle 26">
            <a:extLst xmlns:a="http://schemas.openxmlformats.org/drawingml/2006/main">
              <a:ext uri="{FF2B5EF4-FFF2-40B4-BE49-F238E27FC236}">
                <a16:creationId xmlns:a16="http://schemas.microsoft.com/office/drawing/2014/main" id="{0ECE9441-9ABA-4D86-B0D0-CA3DF1A3EB96}"/>
              </a:ext>
            </a:extLst>
          </p:cNvPr>
          <p:cNvSpPr>
            <a:spLocks xmlns:a="http://schemas.openxmlformats.org/drawingml/2006/main" noGrp="1"/>
          </p:cNvSpPr>
          <p:nvPr/>
        </p:nvSpPr>
        <p:spPr>
          <a:xfrm xmlns:a="http://schemas.openxmlformats.org/drawingml/2006/main">
            <a:off x="3676650" y="3359468"/>
            <a:ext cx="3714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12000"/>
              </a:lnSpc>
              <a:buNone/>
              <a:defRPr sz="1125" b="0" i="0">
                <a:solidFill>
                  <a:srgbClr val="111111"/>
                </a:solidFill>
                <a:latin typeface="Arial"/>
                <a:ea typeface="Arial"/>
                <a:cs typeface="Arial"/>
              </a:defRPr>
            </a:pPr>
            <a:r>
              <a:rPr sz="1125" b="0" i="0">
                <a:solidFill>
                  <a:srgbClr val="111111"/>
                </a:solidFill>
                <a:latin typeface="Arial"/>
                <a:ea typeface="Arial"/>
                <a:cs typeface="Arial"/>
              </a:rPr>
              <a:t>Capacity based on current utilization</a:t>
            </a:r>
          </a:p>
          <a:p xmlns:a="http://schemas.openxmlformats.org/drawingml/2006/main">
            <a:pPr algn="l">
              <a:lnSpc>
                <a:spcPct val="112000"/>
              </a:lnSpc>
              <a:buNone/>
              <a:defRPr sz="1125" b="0" i="0">
                <a:solidFill>
                  <a:srgbClr val="111111"/>
                </a:solidFill>
                <a:latin typeface="Arial"/>
                <a:ea typeface="Arial"/>
                <a:cs typeface="Arial"/>
              </a:defRPr>
            </a:pPr>
            <a:r>
              <a:rPr sz="1125" b="0" i="0">
                <a:solidFill>
                  <a:srgbClr val="111111"/>
                </a:solidFill>
                <a:latin typeface="Arial"/>
                <a:ea typeface="Arial"/>
                <a:cs typeface="Arial"/>
              </a:rPr>
              <a:t>and projected growth</a:t>
            </a:r>
          </a:p>
        </p:txBody>
      </p:sp>
      <p:sp>
        <p:nvSpPr>
          <p:cNvPr id="28" name="Straight Connector 27">
            <a:extLst xmlns:a="http://schemas.openxmlformats.org/drawingml/2006/main">
              <a:ext uri="{FF2B5EF4-FFF2-40B4-BE49-F238E27FC236}">
                <a16:creationId xmlns:a16="http://schemas.microsoft.com/office/drawing/2014/main" id="{45CE46C6-B9C0-4849-A834-96BE06538FA8}"/>
              </a:ext>
            </a:extLst>
          </p:cNvPr>
          <p:cNvSpPr>
            <a:spLocks xmlns:a="http://schemas.openxmlformats.org/drawingml/2006/main" noGrp="1"/>
          </p:cNvSpPr>
          <p:nvPr/>
        </p:nvSpPr>
        <p:spPr>
          <a:xfrm xmlns:a="http://schemas.openxmlformats.org/drawingml/2006/main">
            <a:off x="600075" y="3794760"/>
            <a:ext cx="6981825" cy="0"/>
          </a:xfrm>
          <a:prstGeom xmlns:a="http://schemas.openxmlformats.org/drawingml/2006/main" prst="line">
            <a:avLst/>
          </a:prstGeom>
          <a:noFill xmlns:a="http://schemas.openxmlformats.org/drawingml/2006/main"/>
          <a:ln xmlns:a="http://schemas.openxmlformats.org/drawingml/2006/main" w="9525">
            <a:solidFill>
              <a:srgbClr val="DDE2DE"/>
            </a:solidFill>
            <a:prstDash val="solid"/>
          </a:ln>
        </p:spPr>
        <p:txBody>
          <a:bodyPr xmlns:a="http://schemas.openxmlformats.org/drawingml/2006/main"/>
          <a:lstStyle xmlns:a="http://schemas.openxmlformats.org/drawingml/2006/main"/>
          <a:p xmlns:a="http://schemas.openxmlformats.org/drawingml/2006/main">
            <a:endParaRPr/>
          </a:p>
        </p:txBody>
      </p:sp>
      <p:pic>
        <p:nvPicPr>
          <p:cNvPr id="88" name="Picture 78"/>
          <p:cNvPicPr>
            <a:picLocks xmlns:a="http://schemas.openxmlformats.org/drawingml/2006/main" noChangeAspect="1"/>
          </p:cNvPicPr>
          <p:nvPr/>
        </p:nvPicPr>
        <p:blipFill>
          <a:blip xmlns:r="http://schemas.openxmlformats.org/officeDocument/2006/relationships" xmlns:a="http://schemas.openxmlformats.org/drawingml/2006/main" r:embed="R36d9b793c5154871"/>
          <a:stretch xmlns:a="http://schemas.openxmlformats.org/drawingml/2006/main"/>
        </p:blipFill>
        <p:spPr>
          <a:xfrm xmlns:a="http://schemas.openxmlformats.org/drawingml/2006/main">
            <a:off x="600075" y="3836686"/>
            <a:ext cx="466725" cy="459074"/>
          </a:xfrm>
          <a:prstGeom xmlns:a="http://schemas.openxmlformats.org/drawingml/2006/main" prst="rect">
            <a:avLst/>
          </a:prstGeom>
        </p:spPr>
      </p:pic>
      <p:sp>
        <p:nvSpPr>
          <p:cNvPr id="30" name="Rectangle 29">
            <a:extLst xmlns:a="http://schemas.openxmlformats.org/drawingml/2006/main">
              <a:ext uri="{FF2B5EF4-FFF2-40B4-BE49-F238E27FC236}">
                <a16:creationId xmlns:a16="http://schemas.microsoft.com/office/drawing/2014/main" id="{78085D01-F2D9-4FF8-AFE8-59DAD7CB0343}"/>
              </a:ext>
            </a:extLst>
          </p:cNvPr>
          <p:cNvSpPr>
            <a:spLocks xmlns:a="http://schemas.openxmlformats.org/drawingml/2006/main" noGrp="1"/>
          </p:cNvSpPr>
          <p:nvPr/>
        </p:nvSpPr>
        <p:spPr>
          <a:xfrm xmlns:a="http://schemas.openxmlformats.org/drawingml/2006/main">
            <a:off x="1333500" y="3975735"/>
            <a:ext cx="2047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125" b="1" i="0">
                <a:solidFill>
                  <a:srgbClr val="003B25"/>
                </a:solidFill>
                <a:latin typeface="Arial"/>
                <a:ea typeface="Arial"/>
                <a:cs typeface="Arial"/>
              </a:defRPr>
            </a:pPr>
            <a:r>
              <a:rPr sz="1125" b="1" i="0">
                <a:solidFill>
                  <a:srgbClr val="003B25"/>
                </a:solidFill>
                <a:latin typeface="Arial"/>
                <a:ea typeface="Arial"/>
                <a:cs typeface="Arial"/>
              </a:rPr>
              <a:t>CPU Contention Ratio</a:t>
            </a:r>
          </a:p>
        </p:txBody>
      </p:sp>
      <p:sp>
        <p:nvSpPr>
          <p:cNvPr id="31" name="Straight Connector 30">
            <a:extLst xmlns:a="http://schemas.openxmlformats.org/drawingml/2006/main">
              <a:ext uri="{FF2B5EF4-FFF2-40B4-BE49-F238E27FC236}">
                <a16:creationId xmlns:a16="http://schemas.microsoft.com/office/drawing/2014/main" id="{72944B4F-936E-4666-BCB5-19428C80B4D4}"/>
              </a:ext>
            </a:extLst>
          </p:cNvPr>
          <p:cNvSpPr>
            <a:spLocks xmlns:a="http://schemas.openxmlformats.org/drawingml/2006/main" noGrp="1"/>
          </p:cNvSpPr>
          <p:nvPr/>
        </p:nvSpPr>
        <p:spPr>
          <a:xfrm xmlns:a="http://schemas.openxmlformats.org/drawingml/2006/main">
            <a:off x="3333750" y="3890010"/>
            <a:ext cx="0" cy="314325"/>
          </a:xfrm>
          <a:prstGeom xmlns:a="http://schemas.openxmlformats.org/drawingml/2006/main" prst="line">
            <a:avLst/>
          </a:prstGeom>
          <a:noFill xmlns:a="http://schemas.openxmlformats.org/drawingml/2006/main"/>
          <a:ln xmlns:a="http://schemas.openxmlformats.org/drawingml/2006/main" w="9525">
            <a:solidFill>
              <a:srgbClr val="CBD2CE"/>
            </a:solidFill>
            <a:prstDash val="solid"/>
          </a:ln>
        </p:spPr>
        <p:txBody>
          <a:bodyPr xmlns:a="http://schemas.openxmlformats.org/drawingml/2006/main"/>
          <a:lstStyle xmlns:a="http://schemas.openxmlformats.org/drawingml/2006/main"/>
          <a:p xmlns:a="http://schemas.openxmlformats.org/drawingml/2006/main">
            <a:endParaRPr/>
          </a:p>
        </p:txBody>
      </p:sp>
      <p:sp>
        <p:nvSpPr>
          <p:cNvPr id="32" name="editable-cpu-contention-ratio">
            <a:extLst xmlns:a="http://schemas.openxmlformats.org/drawingml/2006/main">
              <a:ext uri="{FF2B5EF4-FFF2-40B4-BE49-F238E27FC236}">
                <a16:creationId xmlns:a16="http://schemas.microsoft.com/office/drawing/2014/main" id="{4BB2C1F5-D562-49B2-9F9A-0CC0CC218F6B}"/>
              </a:ext>
            </a:extLst>
          </p:cNvPr>
          <p:cNvSpPr>
            <a:spLocks xmlns:a="http://schemas.openxmlformats.org/drawingml/2006/main" noGrp="1"/>
          </p:cNvSpPr>
          <p:nvPr/>
        </p:nvSpPr>
        <p:spPr>
          <a:xfrm xmlns:a="http://schemas.openxmlformats.org/drawingml/2006/main">
            <a:off x="3676650" y="389001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425" b="1" i="0">
                <a:solidFill>
                  <a:srgbClr val="111111"/>
                </a:solidFill>
                <a:latin typeface="Arial"/>
                <a:ea typeface="Arial"/>
                <a:cs typeface="Arial"/>
              </a:defRPr>
            </a:pPr>
            <a:r>
              <a:rPr sz="1425" b="1" i="0">
                <a:solidFill>
                  <a:srgbClr val="111111"/>
                </a:solidFill>
                <a:latin typeface="Arial"/>
                <a:ea typeface="Arial"/>
                <a:cs typeface="Arial"/>
              </a:rPr>
              <a:t>1:6</a:t>
            </a:r>
          </a:p>
        </p:txBody>
      </p:sp>
      <p:sp>
        <p:nvSpPr>
          <p:cNvPr id="33" name="Rectangle 32">
            <a:extLst xmlns:a="http://schemas.openxmlformats.org/drawingml/2006/main">
              <a:ext uri="{FF2B5EF4-FFF2-40B4-BE49-F238E27FC236}">
                <a16:creationId xmlns:a16="http://schemas.microsoft.com/office/drawing/2014/main" id="{C1010FD1-CF72-4430-AE27-159930A3A4CD}"/>
              </a:ext>
            </a:extLst>
          </p:cNvPr>
          <p:cNvSpPr>
            <a:spLocks xmlns:a="http://schemas.openxmlformats.org/drawingml/2006/main" noGrp="1"/>
          </p:cNvSpPr>
          <p:nvPr/>
        </p:nvSpPr>
        <p:spPr>
          <a:xfrm xmlns:a="http://schemas.openxmlformats.org/drawingml/2006/main">
            <a:off x="3676650" y="4109085"/>
            <a:ext cx="3714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975" b="0" i="0">
                <a:solidFill>
                  <a:srgbClr val="111111"/>
                </a:solidFill>
                <a:latin typeface="Arial"/>
                <a:ea typeface="Arial"/>
                <a:cs typeface="Arial"/>
              </a:defRPr>
            </a:pPr>
            <a:r>
              <a:rPr sz="975" b="0" i="0">
                <a:solidFill>
                  <a:srgbClr val="111111"/>
                </a:solidFill>
                <a:latin typeface="Arial"/>
                <a:ea typeface="Arial"/>
                <a:cs typeface="Arial"/>
              </a:rPr>
              <a:t>(Industry standard for medium consolidation)</a:t>
            </a:r>
          </a:p>
        </p:txBody>
      </p:sp>
      <p:sp>
        <p:nvSpPr>
          <p:cNvPr id="34" name="Straight Connector 33">
            <a:extLst xmlns:a="http://schemas.openxmlformats.org/drawingml/2006/main">
              <a:ext uri="{FF2B5EF4-FFF2-40B4-BE49-F238E27FC236}">
                <a16:creationId xmlns:a16="http://schemas.microsoft.com/office/drawing/2014/main" id="{02CD068C-C8FC-47C9-BB57-3D4C64351CFA}"/>
              </a:ext>
            </a:extLst>
          </p:cNvPr>
          <p:cNvSpPr>
            <a:spLocks xmlns:a="http://schemas.openxmlformats.org/drawingml/2006/main" noGrp="1"/>
          </p:cNvSpPr>
          <p:nvPr/>
        </p:nvSpPr>
        <p:spPr>
          <a:xfrm xmlns:a="http://schemas.openxmlformats.org/drawingml/2006/main">
            <a:off x="600075" y="4325303"/>
            <a:ext cx="6981825" cy="0"/>
          </a:xfrm>
          <a:prstGeom xmlns:a="http://schemas.openxmlformats.org/drawingml/2006/main" prst="line">
            <a:avLst/>
          </a:prstGeom>
          <a:noFill xmlns:a="http://schemas.openxmlformats.org/drawingml/2006/main"/>
          <a:ln xmlns:a="http://schemas.openxmlformats.org/drawingml/2006/main" w="9525">
            <a:solidFill>
              <a:srgbClr val="DDE2DE"/>
            </a:solidFill>
            <a:prstDash val="solid"/>
          </a:ln>
        </p:spPr>
        <p:txBody>
          <a:bodyPr xmlns:a="http://schemas.openxmlformats.org/drawingml/2006/main"/>
          <a:lstStyle xmlns:a="http://schemas.openxmlformats.org/drawingml/2006/main"/>
          <a:p xmlns:a="http://schemas.openxmlformats.org/drawingml/2006/main">
            <a:endParaRPr/>
          </a:p>
        </p:txBody>
      </p:sp>
      <p:pic>
        <p:nvPicPr>
          <p:cNvPr id="94" name="Picture 84"/>
          <p:cNvPicPr>
            <a:picLocks xmlns:a="http://schemas.openxmlformats.org/drawingml/2006/main" noChangeAspect="1"/>
          </p:cNvPicPr>
          <p:nvPr/>
        </p:nvPicPr>
        <p:blipFill>
          <a:blip xmlns:r="http://schemas.openxmlformats.org/officeDocument/2006/relationships" xmlns:a="http://schemas.openxmlformats.org/drawingml/2006/main" r:embed="R9bb97be539414ae9"/>
          <a:stretch xmlns:a="http://schemas.openxmlformats.org/drawingml/2006/main"/>
        </p:blipFill>
        <p:spPr>
          <a:xfrm xmlns:a="http://schemas.openxmlformats.org/drawingml/2006/main">
            <a:off x="600075" y="4367228"/>
            <a:ext cx="466725" cy="459074"/>
          </a:xfrm>
          <a:prstGeom xmlns:a="http://schemas.openxmlformats.org/drawingml/2006/main" prst="rect">
            <a:avLst/>
          </a:prstGeom>
        </p:spPr>
      </p:pic>
      <p:sp>
        <p:nvSpPr>
          <p:cNvPr id="36" name="Rectangle 35">
            <a:extLst xmlns:a="http://schemas.openxmlformats.org/drawingml/2006/main">
              <a:ext uri="{FF2B5EF4-FFF2-40B4-BE49-F238E27FC236}">
                <a16:creationId xmlns:a16="http://schemas.microsoft.com/office/drawing/2014/main" id="{35B0B338-2A00-4402-837C-6832FD369235}"/>
              </a:ext>
            </a:extLst>
          </p:cNvPr>
          <p:cNvSpPr>
            <a:spLocks xmlns:a="http://schemas.openxmlformats.org/drawingml/2006/main" noGrp="1"/>
          </p:cNvSpPr>
          <p:nvPr/>
        </p:nvSpPr>
        <p:spPr>
          <a:xfrm xmlns:a="http://schemas.openxmlformats.org/drawingml/2006/main">
            <a:off x="1333500" y="4506278"/>
            <a:ext cx="2047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125" b="1" i="0">
                <a:solidFill>
                  <a:srgbClr val="003B25"/>
                </a:solidFill>
                <a:latin typeface="Arial"/>
                <a:ea typeface="Arial"/>
                <a:cs typeface="Arial"/>
              </a:defRPr>
            </a:pPr>
            <a:r>
              <a:rPr sz="1125" b="1" i="0">
                <a:solidFill>
                  <a:srgbClr val="003B25"/>
                </a:solidFill>
                <a:latin typeface="Arial"/>
                <a:ea typeface="Arial"/>
                <a:cs typeface="Arial"/>
              </a:rPr>
              <a:t>Average Utilization</a:t>
            </a:r>
          </a:p>
        </p:txBody>
      </p:sp>
      <p:sp>
        <p:nvSpPr>
          <p:cNvPr id="37" name="Straight Connector 36">
            <a:extLst xmlns:a="http://schemas.openxmlformats.org/drawingml/2006/main">
              <a:ext uri="{FF2B5EF4-FFF2-40B4-BE49-F238E27FC236}">
                <a16:creationId xmlns:a16="http://schemas.microsoft.com/office/drawing/2014/main" id="{0004D49C-3CEF-4D64-8EE4-5C2EF19B65F0}"/>
              </a:ext>
            </a:extLst>
          </p:cNvPr>
          <p:cNvSpPr>
            <a:spLocks xmlns:a="http://schemas.openxmlformats.org/drawingml/2006/main" noGrp="1"/>
          </p:cNvSpPr>
          <p:nvPr/>
        </p:nvSpPr>
        <p:spPr>
          <a:xfrm xmlns:a="http://schemas.openxmlformats.org/drawingml/2006/main">
            <a:off x="3333750" y="4420553"/>
            <a:ext cx="0" cy="314325"/>
          </a:xfrm>
          <a:prstGeom xmlns:a="http://schemas.openxmlformats.org/drawingml/2006/main" prst="line">
            <a:avLst/>
          </a:prstGeom>
          <a:noFill xmlns:a="http://schemas.openxmlformats.org/drawingml/2006/main"/>
          <a:ln xmlns:a="http://schemas.openxmlformats.org/drawingml/2006/main" w="9525">
            <a:solidFill>
              <a:srgbClr val="CBD2CE"/>
            </a:solidFill>
            <a:prstDash val="solid"/>
          </a:ln>
        </p:spPr>
        <p:txBody>
          <a:bodyPr xmlns:a="http://schemas.openxmlformats.org/drawingml/2006/main"/>
          <a:lstStyle xmlns:a="http://schemas.openxmlformats.org/drawingml/2006/main"/>
          <a:p xmlns:a="http://schemas.openxmlformats.org/drawingml/2006/main">
            <a:endParaRPr/>
          </a:p>
        </p:txBody>
      </p:sp>
      <p:sp>
        <p:nvSpPr>
          <p:cNvPr id="38" name="Rectangle 37">
            <a:extLst xmlns:a="http://schemas.openxmlformats.org/drawingml/2006/main">
              <a:ext uri="{FF2B5EF4-FFF2-40B4-BE49-F238E27FC236}">
                <a16:creationId xmlns:a16="http://schemas.microsoft.com/office/drawing/2014/main" id="{B09B219E-B635-42E5-8711-6CCAA05CC5BA}"/>
              </a:ext>
            </a:extLst>
          </p:cNvPr>
          <p:cNvSpPr>
            <a:spLocks xmlns:a="http://schemas.openxmlformats.org/drawingml/2006/main" noGrp="1"/>
          </p:cNvSpPr>
          <p:nvPr/>
        </p:nvSpPr>
        <p:spPr>
          <a:xfrm xmlns:a="http://schemas.openxmlformats.org/drawingml/2006/main">
            <a:off x="3676650" y="4420553"/>
            <a:ext cx="3714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12000"/>
              </a:lnSpc>
              <a:buNone/>
              <a:defRPr sz="1125" b="0" i="0">
                <a:solidFill>
                  <a:srgbClr val="111111"/>
                </a:solidFill>
                <a:latin typeface="Arial"/>
                <a:ea typeface="Arial"/>
                <a:cs typeface="Arial"/>
              </a:defRPr>
            </a:pPr>
            <a:r>
              <a:rPr sz="1125" b="0" i="0">
                <a:solidFill>
                  <a:srgbClr val="111111"/>
                </a:solidFill>
                <a:latin typeface="Arial"/>
                <a:ea typeface="Arial"/>
                <a:cs typeface="Arial"/>
              </a:rPr>
              <a:t>vCPU: 50%</a:t>
            </a:r>
          </a:p>
          <a:p xmlns:a="http://schemas.openxmlformats.org/drawingml/2006/main">
            <a:pPr algn="l">
              <a:lnSpc>
                <a:spcPct val="112000"/>
              </a:lnSpc>
              <a:buNone/>
              <a:defRPr sz="1125" b="0" i="0">
                <a:solidFill>
                  <a:srgbClr val="111111"/>
                </a:solidFill>
                <a:latin typeface="Arial"/>
                <a:ea typeface="Arial"/>
                <a:cs typeface="Arial"/>
              </a:defRPr>
            </a:pPr>
            <a:r>
              <a:rPr sz="1125" b="0" i="0">
                <a:solidFill>
                  <a:srgbClr val="111111"/>
                </a:solidFill>
                <a:latin typeface="Arial"/>
                <a:ea typeface="Arial"/>
                <a:cs typeface="Arial"/>
              </a:rPr>
              <a:t>vMEM: 60%</a:t>
            </a:r>
          </a:p>
        </p:txBody>
      </p:sp>
      <p:sp>
        <p:nvSpPr>
          <p:cNvPr id="39" name="Straight Connector 38">
            <a:extLst xmlns:a="http://schemas.openxmlformats.org/drawingml/2006/main">
              <a:ext uri="{FF2B5EF4-FFF2-40B4-BE49-F238E27FC236}">
                <a16:creationId xmlns:a16="http://schemas.microsoft.com/office/drawing/2014/main" id="{B5294845-2E5B-41F1-8CD4-A4D7AFAA9406}"/>
              </a:ext>
            </a:extLst>
          </p:cNvPr>
          <p:cNvSpPr>
            <a:spLocks xmlns:a="http://schemas.openxmlformats.org/drawingml/2006/main" noGrp="1"/>
          </p:cNvSpPr>
          <p:nvPr/>
        </p:nvSpPr>
        <p:spPr>
          <a:xfrm xmlns:a="http://schemas.openxmlformats.org/drawingml/2006/main">
            <a:off x="600075" y="4855845"/>
            <a:ext cx="6981825" cy="0"/>
          </a:xfrm>
          <a:prstGeom xmlns:a="http://schemas.openxmlformats.org/drawingml/2006/main" prst="line">
            <a:avLst/>
          </a:prstGeom>
          <a:noFill xmlns:a="http://schemas.openxmlformats.org/drawingml/2006/main"/>
          <a:ln xmlns:a="http://schemas.openxmlformats.org/drawingml/2006/main" w="9525">
            <a:solidFill>
              <a:srgbClr val="DDE2DE"/>
            </a:solidFill>
            <a:prstDash val="solid"/>
          </a:ln>
        </p:spPr>
        <p:txBody>
          <a:bodyPr xmlns:a="http://schemas.openxmlformats.org/drawingml/2006/main"/>
          <a:lstStyle xmlns:a="http://schemas.openxmlformats.org/drawingml/2006/main"/>
          <a:p xmlns:a="http://schemas.openxmlformats.org/drawingml/2006/main">
            <a:endParaRPr/>
          </a:p>
        </p:txBody>
      </p:sp>
      <p:pic>
        <p:nvPicPr>
          <p:cNvPr id="99" name="Picture 89"/>
          <p:cNvPicPr>
            <a:picLocks xmlns:a="http://schemas.openxmlformats.org/drawingml/2006/main" noChangeAspect="1"/>
          </p:cNvPicPr>
          <p:nvPr/>
        </p:nvPicPr>
        <p:blipFill>
          <a:blip xmlns:r="http://schemas.openxmlformats.org/officeDocument/2006/relationships" xmlns:a="http://schemas.openxmlformats.org/drawingml/2006/main" r:embed="R900baf9035214bc4"/>
          <a:stretch xmlns:a="http://schemas.openxmlformats.org/drawingml/2006/main"/>
        </p:blipFill>
        <p:spPr>
          <a:xfrm xmlns:a="http://schemas.openxmlformats.org/drawingml/2006/main">
            <a:off x="600075" y="4897771"/>
            <a:ext cx="466725" cy="459074"/>
          </a:xfrm>
          <a:prstGeom xmlns:a="http://schemas.openxmlformats.org/drawingml/2006/main" prst="rect">
            <a:avLst/>
          </a:prstGeom>
        </p:spPr>
      </p:pic>
      <p:sp>
        <p:nvSpPr>
          <p:cNvPr id="41" name="Rectangle 40">
            <a:extLst xmlns:a="http://schemas.openxmlformats.org/drawingml/2006/main">
              <a:ext uri="{FF2B5EF4-FFF2-40B4-BE49-F238E27FC236}">
                <a16:creationId xmlns:a16="http://schemas.microsoft.com/office/drawing/2014/main" id="{3237AD7F-4836-4176-AF9D-C45EBA307DA5}"/>
              </a:ext>
            </a:extLst>
          </p:cNvPr>
          <p:cNvSpPr>
            <a:spLocks xmlns:a="http://schemas.openxmlformats.org/drawingml/2006/main" noGrp="1"/>
          </p:cNvSpPr>
          <p:nvPr/>
        </p:nvSpPr>
        <p:spPr>
          <a:xfrm xmlns:a="http://schemas.openxmlformats.org/drawingml/2006/main">
            <a:off x="1333500" y="5036820"/>
            <a:ext cx="2047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125" b="1" i="0">
                <a:solidFill>
                  <a:srgbClr val="003B25"/>
                </a:solidFill>
                <a:latin typeface="Arial"/>
                <a:ea typeface="Arial"/>
                <a:cs typeface="Arial"/>
              </a:defRPr>
            </a:pPr>
            <a:r>
              <a:rPr sz="1125" b="1" i="0">
                <a:solidFill>
                  <a:srgbClr val="003B25"/>
                </a:solidFill>
                <a:latin typeface="Arial"/>
                <a:ea typeface="Arial"/>
                <a:cs typeface="Arial"/>
              </a:rPr>
              <a:t>Target Utilization</a:t>
            </a:r>
          </a:p>
        </p:txBody>
      </p:sp>
      <p:sp>
        <p:nvSpPr>
          <p:cNvPr id="42" name="Straight Connector 41">
            <a:extLst xmlns:a="http://schemas.openxmlformats.org/drawingml/2006/main">
              <a:ext uri="{FF2B5EF4-FFF2-40B4-BE49-F238E27FC236}">
                <a16:creationId xmlns:a16="http://schemas.microsoft.com/office/drawing/2014/main" id="{4D9346C3-2665-41B0-99E5-1FA2EBA0C533}"/>
              </a:ext>
            </a:extLst>
          </p:cNvPr>
          <p:cNvSpPr>
            <a:spLocks xmlns:a="http://schemas.openxmlformats.org/drawingml/2006/main" noGrp="1"/>
          </p:cNvSpPr>
          <p:nvPr/>
        </p:nvSpPr>
        <p:spPr>
          <a:xfrm xmlns:a="http://schemas.openxmlformats.org/drawingml/2006/main">
            <a:off x="3333750" y="4951095"/>
            <a:ext cx="0" cy="314325"/>
          </a:xfrm>
          <a:prstGeom xmlns:a="http://schemas.openxmlformats.org/drawingml/2006/main" prst="line">
            <a:avLst/>
          </a:prstGeom>
          <a:noFill xmlns:a="http://schemas.openxmlformats.org/drawingml/2006/main"/>
          <a:ln xmlns:a="http://schemas.openxmlformats.org/drawingml/2006/main" w="9525">
            <a:solidFill>
              <a:srgbClr val="CBD2CE"/>
            </a:solidFill>
            <a:prstDash val="solid"/>
          </a:ln>
        </p:spPr>
        <p:txBody>
          <a:bodyPr xmlns:a="http://schemas.openxmlformats.org/drawingml/2006/main"/>
          <a:lstStyle xmlns:a="http://schemas.openxmlformats.org/drawingml/2006/main"/>
          <a:p xmlns:a="http://schemas.openxmlformats.org/drawingml/2006/main">
            <a:endParaRPr/>
          </a:p>
        </p:txBody>
      </p:sp>
      <p:sp>
        <p:nvSpPr>
          <p:cNvPr id="43" name="Rectangle 42">
            <a:extLst xmlns:a="http://schemas.openxmlformats.org/drawingml/2006/main">
              <a:ext uri="{FF2B5EF4-FFF2-40B4-BE49-F238E27FC236}">
                <a16:creationId xmlns:a16="http://schemas.microsoft.com/office/drawing/2014/main" id="{DBC0D906-17E6-4658-8738-8B3675430291}"/>
              </a:ext>
            </a:extLst>
          </p:cNvPr>
          <p:cNvSpPr>
            <a:spLocks xmlns:a="http://schemas.openxmlformats.org/drawingml/2006/main" noGrp="1"/>
          </p:cNvSpPr>
          <p:nvPr/>
        </p:nvSpPr>
        <p:spPr>
          <a:xfrm xmlns:a="http://schemas.openxmlformats.org/drawingml/2006/main">
            <a:off x="3676650" y="4951095"/>
            <a:ext cx="3714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12000"/>
              </a:lnSpc>
              <a:buNone/>
              <a:defRPr sz="1125" b="0" i="0">
                <a:solidFill>
                  <a:srgbClr val="111111"/>
                </a:solidFill>
                <a:latin typeface="Arial"/>
                <a:ea typeface="Arial"/>
                <a:cs typeface="Arial"/>
              </a:defRPr>
            </a:pPr>
            <a:r>
              <a:rPr sz="1125" b="0" i="0">
                <a:solidFill>
                  <a:srgbClr val="111111"/>
                </a:solidFill>
                <a:latin typeface="Arial"/>
                <a:ea typeface="Arial"/>
                <a:cs typeface="Arial"/>
              </a:rPr>
              <a:t>80%</a:t>
            </a:r>
          </a:p>
          <a:p xmlns:a="http://schemas.openxmlformats.org/drawingml/2006/main">
            <a:pPr algn="l">
              <a:lnSpc>
                <a:spcPct val="112000"/>
              </a:lnSpc>
              <a:buNone/>
              <a:defRPr sz="1125" b="0" i="0">
                <a:solidFill>
                  <a:srgbClr val="111111"/>
                </a:solidFill>
                <a:latin typeface="Arial"/>
                <a:ea typeface="Arial"/>
                <a:cs typeface="Arial"/>
              </a:defRPr>
            </a:pPr>
            <a:r>
              <a:rPr sz="1125" b="0" i="0">
                <a:solidFill>
                  <a:srgbClr val="111111"/>
                </a:solidFill>
                <a:latin typeface="Arial"/>
                <a:ea typeface="Arial"/>
                <a:cs typeface="Arial"/>
              </a:rPr>
              <a:t>(For both vCPU and vMEM)</a:t>
            </a:r>
          </a:p>
        </p:txBody>
      </p:sp>
      <p:sp>
        <p:nvSpPr>
          <p:cNvPr id="44" name="Straight Connector 43">
            <a:extLst xmlns:a="http://schemas.openxmlformats.org/drawingml/2006/main">
              <a:ext uri="{FF2B5EF4-FFF2-40B4-BE49-F238E27FC236}">
                <a16:creationId xmlns:a16="http://schemas.microsoft.com/office/drawing/2014/main" id="{76C190DA-7557-4EF8-A3B4-C1CD1D532610}"/>
              </a:ext>
            </a:extLst>
          </p:cNvPr>
          <p:cNvSpPr>
            <a:spLocks xmlns:a="http://schemas.openxmlformats.org/drawingml/2006/main" noGrp="1"/>
          </p:cNvSpPr>
          <p:nvPr/>
        </p:nvSpPr>
        <p:spPr>
          <a:xfrm xmlns:a="http://schemas.openxmlformats.org/drawingml/2006/main">
            <a:off x="600075" y="5386388"/>
            <a:ext cx="6981825" cy="0"/>
          </a:xfrm>
          <a:prstGeom xmlns:a="http://schemas.openxmlformats.org/drawingml/2006/main" prst="line">
            <a:avLst/>
          </a:prstGeom>
          <a:noFill xmlns:a="http://schemas.openxmlformats.org/drawingml/2006/main"/>
          <a:ln xmlns:a="http://schemas.openxmlformats.org/drawingml/2006/main" w="9525">
            <a:solidFill>
              <a:srgbClr val="DDE2DE"/>
            </a:solidFill>
            <a:prstDash val="solid"/>
          </a:ln>
        </p:spPr>
        <p:txBody>
          <a:bodyPr xmlns:a="http://schemas.openxmlformats.org/drawingml/2006/main"/>
          <a:lstStyle xmlns:a="http://schemas.openxmlformats.org/drawingml/2006/main"/>
          <a:p xmlns:a="http://schemas.openxmlformats.org/drawingml/2006/main">
            <a:endParaRPr/>
          </a:p>
        </p:txBody>
      </p:sp>
      <p:pic>
        <p:nvPicPr>
          <p:cNvPr id="104" name="Picture 94"/>
          <p:cNvPicPr>
            <a:picLocks xmlns:a="http://schemas.openxmlformats.org/drawingml/2006/main" noChangeAspect="1"/>
          </p:cNvPicPr>
          <p:nvPr/>
        </p:nvPicPr>
        <p:blipFill>
          <a:blip xmlns:r="http://schemas.openxmlformats.org/officeDocument/2006/relationships" xmlns:a="http://schemas.openxmlformats.org/drawingml/2006/main" r:embed="Re570999aff414470"/>
          <a:stretch xmlns:a="http://schemas.openxmlformats.org/drawingml/2006/main"/>
        </p:blipFill>
        <p:spPr>
          <a:xfrm xmlns:a="http://schemas.openxmlformats.org/drawingml/2006/main">
            <a:off x="600075" y="5424488"/>
            <a:ext cx="466725" cy="466725"/>
          </a:xfrm>
          <a:prstGeom xmlns:a="http://schemas.openxmlformats.org/drawingml/2006/main" prst="rect">
            <a:avLst/>
          </a:prstGeom>
        </p:spPr>
      </p:pic>
      <p:sp>
        <p:nvSpPr>
          <p:cNvPr id="46" name="Rectangle 45">
            <a:extLst xmlns:a="http://schemas.openxmlformats.org/drawingml/2006/main">
              <a:ext uri="{FF2B5EF4-FFF2-40B4-BE49-F238E27FC236}">
                <a16:creationId xmlns:a16="http://schemas.microsoft.com/office/drawing/2014/main" id="{1AAF8FDE-50FC-4C3F-9F81-15310F8F98EE}"/>
              </a:ext>
            </a:extLst>
          </p:cNvPr>
          <p:cNvSpPr>
            <a:spLocks xmlns:a="http://schemas.openxmlformats.org/drawingml/2006/main" noGrp="1"/>
          </p:cNvSpPr>
          <p:nvPr/>
        </p:nvSpPr>
        <p:spPr>
          <a:xfrm xmlns:a="http://schemas.openxmlformats.org/drawingml/2006/main">
            <a:off x="1333500" y="5567363"/>
            <a:ext cx="2047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125" b="1" i="0">
                <a:solidFill>
                  <a:srgbClr val="003B25"/>
                </a:solidFill>
                <a:latin typeface="Arial"/>
                <a:ea typeface="Arial"/>
                <a:cs typeface="Arial"/>
              </a:defRPr>
            </a:pPr>
            <a:r>
              <a:rPr sz="1125" b="1" i="0">
                <a:solidFill>
                  <a:srgbClr val="003B25"/>
                </a:solidFill>
                <a:latin typeface="Arial"/>
                <a:ea typeface="Arial"/>
                <a:cs typeface="Arial"/>
              </a:rPr>
              <a:t>Storage Type</a:t>
            </a:r>
          </a:p>
        </p:txBody>
      </p:sp>
      <p:sp>
        <p:nvSpPr>
          <p:cNvPr id="47" name="Straight Connector 46">
            <a:extLst xmlns:a="http://schemas.openxmlformats.org/drawingml/2006/main">
              <a:ext uri="{FF2B5EF4-FFF2-40B4-BE49-F238E27FC236}">
                <a16:creationId xmlns:a16="http://schemas.microsoft.com/office/drawing/2014/main" id="{FFEF831B-5985-4EBD-83C8-50668461DF24}"/>
              </a:ext>
            </a:extLst>
          </p:cNvPr>
          <p:cNvSpPr>
            <a:spLocks xmlns:a="http://schemas.openxmlformats.org/drawingml/2006/main" noGrp="1"/>
          </p:cNvSpPr>
          <p:nvPr/>
        </p:nvSpPr>
        <p:spPr>
          <a:xfrm xmlns:a="http://schemas.openxmlformats.org/drawingml/2006/main">
            <a:off x="3333750" y="5481638"/>
            <a:ext cx="0" cy="314325"/>
          </a:xfrm>
          <a:prstGeom xmlns:a="http://schemas.openxmlformats.org/drawingml/2006/main" prst="line">
            <a:avLst/>
          </a:prstGeom>
          <a:noFill xmlns:a="http://schemas.openxmlformats.org/drawingml/2006/main"/>
          <a:ln xmlns:a="http://schemas.openxmlformats.org/drawingml/2006/main" w="9525">
            <a:solidFill>
              <a:srgbClr val="CBD2CE"/>
            </a:solidFill>
            <a:prstDash val="solid"/>
          </a:ln>
        </p:spPr>
        <p:txBody>
          <a:bodyPr xmlns:a="http://schemas.openxmlformats.org/drawingml/2006/main"/>
          <a:lstStyle xmlns:a="http://schemas.openxmlformats.org/drawingml/2006/main"/>
          <a:p xmlns:a="http://schemas.openxmlformats.org/drawingml/2006/main">
            <a:endParaRPr/>
          </a:p>
        </p:txBody>
      </p:sp>
      <p:sp>
        <p:nvSpPr>
          <p:cNvPr id="48" name="editable-methodology-storage-type">
            <a:extLst xmlns:a="http://schemas.openxmlformats.org/drawingml/2006/main">
              <a:ext uri="{FF2B5EF4-FFF2-40B4-BE49-F238E27FC236}">
                <a16:creationId xmlns:a16="http://schemas.microsoft.com/office/drawing/2014/main" id="{FCCC5123-50EE-49F7-9C4E-AD8B5F15572B}"/>
              </a:ext>
            </a:extLst>
          </p:cNvPr>
          <p:cNvSpPr>
            <a:spLocks xmlns:a="http://schemas.openxmlformats.org/drawingml/2006/main" noGrp="1"/>
          </p:cNvSpPr>
          <p:nvPr/>
        </p:nvSpPr>
        <p:spPr>
          <a:xfrm xmlns:a="http://schemas.openxmlformats.org/drawingml/2006/main">
            <a:off x="3676650" y="5481638"/>
            <a:ext cx="3714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12000"/>
              </a:lnSpc>
              <a:buNone/>
              <a:defRPr sz="1125" b="0" i="0">
                <a:solidFill>
                  <a:srgbClr val="111111"/>
                </a:solidFill>
                <a:latin typeface="Arial"/>
                <a:ea typeface="Arial"/>
                <a:cs typeface="Arial"/>
              </a:defRPr>
            </a:pPr>
            <a:r>
              <a:rPr sz="1125" b="0" i="0">
                <a:solidFill>
                  <a:srgbClr val="111111"/>
                </a:solidFill>
                <a:latin typeface="Arial"/>
                <a:ea typeface="Arial"/>
                <a:cs typeface="Arial"/>
              </a:rPr>
              <a:t>OCI Block Volume</a:t>
            </a:r>
          </a:p>
          <a:p xmlns:a="http://schemas.openxmlformats.org/drawingml/2006/main">
            <a:pPr algn="l">
              <a:lnSpc>
                <a:spcPct val="112000"/>
              </a:lnSpc>
              <a:buNone/>
              <a:defRPr sz="1125" b="0" i="0">
                <a:solidFill>
                  <a:srgbClr val="111111"/>
                </a:solidFill>
                <a:latin typeface="Arial"/>
                <a:ea typeface="Arial"/>
                <a:cs typeface="Arial"/>
              </a:defRPr>
            </a:pPr>
            <a:r>
              <a:rPr sz="1125" b="0" i="0">
                <a:solidFill>
                  <a:srgbClr val="111111"/>
                </a:solidFill>
                <a:latin typeface="Arial"/>
                <a:ea typeface="Arial"/>
                <a:cs typeface="Arial"/>
              </a:rPr>
              <a:t>(Block Storage)</a:t>
            </a:r>
          </a:p>
        </p:txBody>
      </p:sp>
      <p:sp>
        <p:nvSpPr>
          <p:cNvPr id="49" name="Rectangle 48">
            <a:extLst xmlns:a="http://schemas.openxmlformats.org/drawingml/2006/main">
              <a:ext uri="{FF2B5EF4-FFF2-40B4-BE49-F238E27FC236}">
                <a16:creationId xmlns:a16="http://schemas.microsoft.com/office/drawing/2014/main" id="{16E4D860-FD45-4FE4-BDF9-3E6C0A6C9676}"/>
              </a:ext>
            </a:extLst>
          </p:cNvPr>
          <p:cNvSpPr>
            <a:spLocks xmlns:a="http://schemas.openxmlformats.org/drawingml/2006/main" noGrp="1"/>
          </p:cNvSpPr>
          <p:nvPr/>
        </p:nvSpPr>
        <p:spPr>
          <a:xfrm xmlns:a="http://schemas.openxmlformats.org/drawingml/2006/main">
            <a:off x="1133475" y="6553200"/>
            <a:ext cx="5143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675" b="0" i="0">
                <a:solidFill>
                  <a:srgbClr val="555555"/>
                </a:solidFill>
                <a:latin typeface="Arial"/>
                <a:ea typeface="Arial"/>
                <a:cs typeface="Arial"/>
              </a:defRPr>
            </a:pPr>
            <a:r>
              <a:rPr sz="675" b="0" i="0">
                <a:solidFill>
                  <a:srgbClr val="555555"/>
                </a:solidFill>
                <a:latin typeface="Arial"/>
                <a:ea typeface="Arial"/>
                <a:cs typeface="Arial"/>
              </a:rPr>
              <a:t>Copyright © 2026, Oracle and/or its affiliates | Confidential: Internal/Restricted/Highly Restricted</a:t>
            </a:r>
          </a:p>
        </p:txBody>
      </p:sp>
      <p:pic>
        <p:nvPicPr>
          <p:cNvPr id="109" name="Picture 99"/>
          <p:cNvPicPr>
            <a:picLocks xmlns:a="http://schemas.openxmlformats.org/drawingml/2006/main" noChangeAspect="1"/>
          </p:cNvPicPr>
          <p:nvPr/>
        </p:nvPicPr>
        <p:blipFill>
          <a:blip xmlns:r="http://schemas.openxmlformats.org/officeDocument/2006/relationships" xmlns:a="http://schemas.openxmlformats.org/drawingml/2006/main" r:embed="R8f7bc71e66b6432f"/>
          <a:stretch xmlns:a="http://schemas.openxmlformats.org/drawingml/2006/main"/>
        </p:blipFill>
        <p:spPr>
          <a:xfrm xmlns:a="http://schemas.openxmlformats.org/drawingml/2006/main">
            <a:off x="11391900" y="6479151"/>
            <a:ext cx="400050" cy="329073"/>
          </a:xfrm>
          <a:prstGeom xmlns:a="http://schemas.openxmlformats.org/drawingml/2006/main" prst="rect">
            <a:avLst/>
          </a:prstGeom>
        </p:spPr>
      </p:pic>
    </p:spTree>
    <p:extLst>
      <p:ext uri="{BB962C8B-B14F-4D97-AF65-F5344CB8AC3E}">
        <p14:creationId xmlns:p14="http://schemas.microsoft.com/office/powerpoint/2010/main" val="948357235"/>
      </p:ext>
    </p:extLst>
  </p:cSld>
</p:sld>
</file>

<file path=ppt/slides/slide5.xml><?xml version="1.0" encoding="utf-8"?>
<p:sld xmlns:p="http://schemas.openxmlformats.org/presentationml/2006/main">
  <p:cSld>
    <p:bg>
      <p:bgPr>
        <a:solidFill xmlns:a="http://schemas.openxmlformats.org/drawingml/2006/main">
          <a:srgbClr val="FBFAF8"/>
        </a:solidFill>
      </p:bgPr>
    </p:bg>
    <p:spTree>
      <p:nvGrpSpPr>
        <p:cNvPr id="1" name=""/>
        <p:cNvGrpSpPr/>
        <p:nvPr/>
      </p:nvGrpSpPr>
      <p:grpSpPr>
        <a:xfrm xmlns:a="http://schemas.openxmlformats.org/drawingml/2006/main"/>
      </p:grpSpPr>
      <p:sp>
        <p:nvSpPr>
          <p:cNvPr id="65" name="Oval 64">
            <a:extLst xmlns:a="http://schemas.openxmlformats.org/drawingml/2006/main">
              <a:ext uri="{FF2B5EF4-FFF2-40B4-BE49-F238E27FC236}">
                <a16:creationId xmlns:a16="http://schemas.microsoft.com/office/drawing/2014/main" id="{903C0CCB-6C32-4383-BD8E-369B89B3B108}"/>
              </a:ext>
            </a:extLst>
          </p:cNvPr>
          <p:cNvSpPr>
            <a:spLocks xmlns:a="http://schemas.openxmlformats.org/drawingml/2006/main" noGrp="1"/>
          </p:cNvSpPr>
          <p:nvPr/>
        </p:nvSpPr>
        <p:spPr>
          <a:xfrm xmlns:a="http://schemas.openxmlformats.org/drawingml/2006/main">
            <a:off x="7239000" y="371475"/>
            <a:ext cx="66675" cy="66675"/>
          </a:xfrm>
          <a:prstGeom xmlns:a="http://schemas.openxmlformats.org/drawingml/2006/main" prst="ellipse">
            <a:avLst/>
          </a:prstGeom>
          <a:solidFill xmlns:a="http://schemas.openxmlformats.org/drawingml/2006/main">
            <a:srgbClr val="E7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Oval 1">
            <a:extLst xmlns:a="http://schemas.openxmlformats.org/drawingml/2006/main">
              <a:ext uri="{FF2B5EF4-FFF2-40B4-BE49-F238E27FC236}">
                <a16:creationId xmlns:a16="http://schemas.microsoft.com/office/drawing/2014/main" id="{B7552526-EDFC-4FEC-8429-83B0C3678D1B}"/>
              </a:ext>
            </a:extLst>
          </p:cNvPr>
          <p:cNvSpPr>
            <a:spLocks xmlns:a="http://schemas.openxmlformats.org/drawingml/2006/main" noGrp="1"/>
          </p:cNvSpPr>
          <p:nvPr/>
        </p:nvSpPr>
        <p:spPr>
          <a:xfrm xmlns:a="http://schemas.openxmlformats.org/drawingml/2006/main">
            <a:off x="4495800" y="981075"/>
            <a:ext cx="47625" cy="47625"/>
          </a:xfrm>
          <a:prstGeom xmlns:a="http://schemas.openxmlformats.org/drawingml/2006/main" prst="ellipse">
            <a:avLst/>
          </a:prstGeom>
          <a:solidFill xmlns:a="http://schemas.openxmlformats.org/drawingml/2006/main">
            <a:srgbClr val="E7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3" name="Oval 2">
            <a:extLst xmlns:a="http://schemas.openxmlformats.org/drawingml/2006/main">
              <a:ext uri="{FF2B5EF4-FFF2-40B4-BE49-F238E27FC236}">
                <a16:creationId xmlns:a16="http://schemas.microsoft.com/office/drawing/2014/main" id="{B1DA383F-3F21-4112-BBDC-0AB1B2A8C67B}"/>
              </a:ext>
            </a:extLst>
          </p:cNvPr>
          <p:cNvSpPr>
            <a:spLocks xmlns:a="http://schemas.openxmlformats.org/drawingml/2006/main" noGrp="1"/>
          </p:cNvSpPr>
          <p:nvPr/>
        </p:nvSpPr>
        <p:spPr>
          <a:xfrm xmlns:a="http://schemas.openxmlformats.org/drawingml/2006/main">
            <a:off x="5133975" y="552450"/>
            <a:ext cx="38100" cy="38100"/>
          </a:xfrm>
          <a:prstGeom xmlns:a="http://schemas.openxmlformats.org/drawingml/2006/main" prst="ellipse">
            <a:avLst/>
          </a:prstGeom>
          <a:solidFill xmlns:a="http://schemas.openxmlformats.org/drawingml/2006/main">
            <a:srgbClr val="E7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4" name="Oval 3">
            <a:extLst xmlns:a="http://schemas.openxmlformats.org/drawingml/2006/main">
              <a:ext uri="{FF2B5EF4-FFF2-40B4-BE49-F238E27FC236}">
                <a16:creationId xmlns:a16="http://schemas.microsoft.com/office/drawing/2014/main" id="{20059669-08BE-4709-8AB5-5D775C69905A}"/>
              </a:ext>
            </a:extLst>
          </p:cNvPr>
          <p:cNvSpPr>
            <a:spLocks xmlns:a="http://schemas.openxmlformats.org/drawingml/2006/main" noGrp="1"/>
          </p:cNvSpPr>
          <p:nvPr/>
        </p:nvSpPr>
        <p:spPr>
          <a:xfrm xmlns:a="http://schemas.openxmlformats.org/drawingml/2006/main">
            <a:off x="5810250" y="866775"/>
            <a:ext cx="28575" cy="28575"/>
          </a:xfrm>
          <a:prstGeom xmlns:a="http://schemas.openxmlformats.org/drawingml/2006/main" prst="ellipse">
            <a:avLst/>
          </a:prstGeom>
          <a:solidFill xmlns:a="http://schemas.openxmlformats.org/drawingml/2006/main">
            <a:srgbClr val="E7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 name="Oval 4">
            <a:extLst xmlns:a="http://schemas.openxmlformats.org/drawingml/2006/main">
              <a:ext uri="{FF2B5EF4-FFF2-40B4-BE49-F238E27FC236}">
                <a16:creationId xmlns:a16="http://schemas.microsoft.com/office/drawing/2014/main" id="{7DF4C908-95C0-454C-90C3-9D496D1DDD44}"/>
              </a:ext>
            </a:extLst>
          </p:cNvPr>
          <p:cNvSpPr>
            <a:spLocks xmlns:a="http://schemas.openxmlformats.org/drawingml/2006/main" noGrp="1"/>
          </p:cNvSpPr>
          <p:nvPr/>
        </p:nvSpPr>
        <p:spPr>
          <a:xfrm xmlns:a="http://schemas.openxmlformats.org/drawingml/2006/main">
            <a:off x="11306175" y="666750"/>
            <a:ext cx="28575" cy="28575"/>
          </a:xfrm>
          <a:prstGeom xmlns:a="http://schemas.openxmlformats.org/drawingml/2006/main" prst="ellipse">
            <a:avLst/>
          </a:prstGeom>
          <a:solidFill xmlns:a="http://schemas.openxmlformats.org/drawingml/2006/main">
            <a:srgbClr val="E7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6" name="Oval 5">
            <a:extLst xmlns:a="http://schemas.openxmlformats.org/drawingml/2006/main">
              <a:ext uri="{FF2B5EF4-FFF2-40B4-BE49-F238E27FC236}">
                <a16:creationId xmlns:a16="http://schemas.microsoft.com/office/drawing/2014/main" id="{42AFBF0C-6A20-4CF1-81BA-ACD71ECCA01D}"/>
              </a:ext>
            </a:extLst>
          </p:cNvPr>
          <p:cNvSpPr>
            <a:spLocks xmlns:a="http://schemas.openxmlformats.org/drawingml/2006/main" noGrp="1"/>
          </p:cNvSpPr>
          <p:nvPr/>
        </p:nvSpPr>
        <p:spPr>
          <a:xfrm xmlns:a="http://schemas.openxmlformats.org/drawingml/2006/main">
            <a:off x="11801475" y="714375"/>
            <a:ext cx="28575" cy="28575"/>
          </a:xfrm>
          <a:prstGeom xmlns:a="http://schemas.openxmlformats.org/drawingml/2006/main" prst="ellipse">
            <a:avLst/>
          </a:prstGeom>
          <a:solidFill xmlns:a="http://schemas.openxmlformats.org/drawingml/2006/main">
            <a:srgbClr val="E7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7" name="Oval 6">
            <a:extLst xmlns:a="http://schemas.openxmlformats.org/drawingml/2006/main">
              <a:ext uri="{FF2B5EF4-FFF2-40B4-BE49-F238E27FC236}">
                <a16:creationId xmlns:a16="http://schemas.microsoft.com/office/drawing/2014/main" id="{8A1E2B4B-12C6-4379-BB5F-CD7BD45CDC67}"/>
              </a:ext>
            </a:extLst>
          </p:cNvPr>
          <p:cNvSpPr>
            <a:spLocks xmlns:a="http://schemas.openxmlformats.org/drawingml/2006/main" noGrp="1"/>
          </p:cNvSpPr>
          <p:nvPr/>
        </p:nvSpPr>
        <p:spPr>
          <a:xfrm xmlns:a="http://schemas.openxmlformats.org/drawingml/2006/main">
            <a:off x="4972050" y="3371850"/>
            <a:ext cx="38100" cy="38100"/>
          </a:xfrm>
          <a:prstGeom xmlns:a="http://schemas.openxmlformats.org/drawingml/2006/main" prst="ellipse">
            <a:avLst/>
          </a:prstGeom>
          <a:solidFill xmlns:a="http://schemas.openxmlformats.org/drawingml/2006/main">
            <a:srgbClr val="E7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8" name="Oval 7">
            <a:extLst xmlns:a="http://schemas.openxmlformats.org/drawingml/2006/main">
              <a:ext uri="{FF2B5EF4-FFF2-40B4-BE49-F238E27FC236}">
                <a16:creationId xmlns:a16="http://schemas.microsoft.com/office/drawing/2014/main" id="{392CB55E-0957-4BA5-9E15-5C689F4C062B}"/>
              </a:ext>
            </a:extLst>
          </p:cNvPr>
          <p:cNvSpPr>
            <a:spLocks xmlns:a="http://schemas.openxmlformats.org/drawingml/2006/main" noGrp="1"/>
          </p:cNvSpPr>
          <p:nvPr/>
        </p:nvSpPr>
        <p:spPr>
          <a:xfrm xmlns:a="http://schemas.openxmlformats.org/drawingml/2006/main">
            <a:off x="12020550" y="6353175"/>
            <a:ext cx="47625" cy="47625"/>
          </a:xfrm>
          <a:prstGeom xmlns:a="http://schemas.openxmlformats.org/drawingml/2006/main" prst="ellipse">
            <a:avLst/>
          </a:prstGeom>
          <a:solidFill xmlns:a="http://schemas.openxmlformats.org/drawingml/2006/main">
            <a:srgbClr val="E7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9" name="Oval 8">
            <a:extLst xmlns:a="http://schemas.openxmlformats.org/drawingml/2006/main">
              <a:ext uri="{FF2B5EF4-FFF2-40B4-BE49-F238E27FC236}">
                <a16:creationId xmlns:a16="http://schemas.microsoft.com/office/drawing/2014/main" id="{93CED1F2-9B01-4DEB-8205-9F726CA98EFC}"/>
              </a:ext>
            </a:extLst>
          </p:cNvPr>
          <p:cNvSpPr>
            <a:spLocks xmlns:a="http://schemas.openxmlformats.org/drawingml/2006/main" noGrp="1"/>
          </p:cNvSpPr>
          <p:nvPr/>
        </p:nvSpPr>
        <p:spPr>
          <a:xfrm xmlns:a="http://schemas.openxmlformats.org/drawingml/2006/main">
            <a:off x="0" y="3714750"/>
            <a:ext cx="1381125" cy="1714500"/>
          </a:xfrm>
          <a:prstGeom xmlns:a="http://schemas.openxmlformats.org/drawingml/2006/main" prst="ellipse">
            <a:avLst/>
          </a:prstGeom>
          <a:solidFill xmlns:a="http://schemas.openxmlformats.org/drawingml/2006/main">
            <a:srgbClr val="F7FAF8"/>
          </a:solidFill>
          <a:ln xmlns:a="http://schemas.openxmlformats.org/drawingml/2006/main" w="9525">
            <a:solidFill>
              <a:srgbClr val="E0E6E2"/>
            </a:solidFill>
            <a:prstDash val="dot"/>
          </a:ln>
        </p:spPr>
        <p:txBody>
          <a:bodyPr xmlns:a="http://schemas.openxmlformats.org/drawingml/2006/main"/>
          <a:lstStyle xmlns:a="http://schemas.openxmlformats.org/drawingml/2006/main"/>
          <a:p xmlns:a="http://schemas.openxmlformats.org/drawingml/2006/main">
            <a:endParaRPr/>
          </a:p>
        </p:txBody>
      </p:sp>
      <p:sp>
        <p:nvSpPr>
          <p:cNvPr id="10" name="Oval 9">
            <a:extLst xmlns:a="http://schemas.openxmlformats.org/drawingml/2006/main">
              <a:ext uri="{FF2B5EF4-FFF2-40B4-BE49-F238E27FC236}">
                <a16:creationId xmlns:a16="http://schemas.microsoft.com/office/drawing/2014/main" id="{0CD4014B-8B32-4715-85BA-46C6B837B943}"/>
              </a:ext>
            </a:extLst>
          </p:cNvPr>
          <p:cNvSpPr>
            <a:spLocks xmlns:a="http://schemas.openxmlformats.org/drawingml/2006/main" noGrp="1"/>
          </p:cNvSpPr>
          <p:nvPr/>
        </p:nvSpPr>
        <p:spPr>
          <a:xfrm xmlns:a="http://schemas.openxmlformats.org/drawingml/2006/main">
            <a:off x="0" y="5762625"/>
            <a:ext cx="2952750" cy="1095375"/>
          </a:xfrm>
          <a:prstGeom xmlns:a="http://schemas.openxmlformats.org/drawingml/2006/main" prst="ellipse">
            <a:avLst/>
          </a:prstGeom>
          <a:solidFill xmlns:a="http://schemas.openxmlformats.org/drawingml/2006/main">
            <a:srgbClr val="F7FAF8"/>
          </a:solidFill>
          <a:ln xmlns:a="http://schemas.openxmlformats.org/drawingml/2006/main" w="9525">
            <a:solidFill>
              <a:srgbClr val="E0E6E2"/>
            </a:solidFill>
            <a:prstDash val="dot"/>
          </a:ln>
        </p:spPr>
        <p:txBody>
          <a:bodyPr xmlns:a="http://schemas.openxmlformats.org/drawingml/2006/main"/>
          <a:lstStyle xmlns:a="http://schemas.openxmlformats.org/drawingml/2006/main"/>
          <a:p xmlns:a="http://schemas.openxmlformats.org/drawingml/2006/main">
            <a:endParaRPr/>
          </a:p>
        </p:txBody>
      </p:sp>
      <p:pic>
        <p:nvPicPr>
          <p:cNvPr id="90" name="Picture 74"/>
          <p:cNvPicPr>
            <a:picLocks xmlns:a="http://schemas.openxmlformats.org/drawingml/2006/main" noChangeAspect="1"/>
          </p:cNvPicPr>
          <p:nvPr/>
        </p:nvPicPr>
        <p:blipFill>
          <a:blip xmlns:r="http://schemas.openxmlformats.org/officeDocument/2006/relationships" xmlns:a="http://schemas.openxmlformats.org/drawingml/2006/main" r:embed="R44865aa95ff74a14"/>
          <a:stretch xmlns:a="http://schemas.openxmlformats.org/drawingml/2006/main"/>
        </p:blipFill>
        <p:spPr>
          <a:xfrm xmlns:a="http://schemas.openxmlformats.org/drawingml/2006/main">
            <a:off x="342900" y="266700"/>
            <a:ext cx="1876425" cy="523875"/>
          </a:xfrm>
          <a:prstGeom xmlns:a="http://schemas.openxmlformats.org/drawingml/2006/main" prst="rect">
            <a:avLst/>
          </a:prstGeom>
        </p:spPr>
      </p:pic>
      <p:sp>
        <p:nvSpPr>
          <p:cNvPr id="12" name="Rectangle 11">
            <a:extLst xmlns:a="http://schemas.openxmlformats.org/drawingml/2006/main">
              <a:ext uri="{FF2B5EF4-FFF2-40B4-BE49-F238E27FC236}">
                <a16:creationId xmlns:a16="http://schemas.microsoft.com/office/drawing/2014/main" id="{441D191A-36BA-4DDF-9CD4-DD0DD4AEEDDC}"/>
              </a:ext>
            </a:extLst>
          </p:cNvPr>
          <p:cNvSpPr>
            <a:spLocks xmlns:a="http://schemas.openxmlformats.org/drawingml/2006/main" noGrp="1"/>
          </p:cNvSpPr>
          <p:nvPr/>
        </p:nvSpPr>
        <p:spPr>
          <a:xfrm xmlns:a="http://schemas.openxmlformats.org/drawingml/2006/main">
            <a:off x="352425" y="1200150"/>
            <a:ext cx="4953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2700" b="1" i="0">
                <a:solidFill>
                  <a:srgbClr val="003B25"/>
                </a:solidFill>
                <a:latin typeface="Arial"/>
                <a:ea typeface="Arial"/>
                <a:cs typeface="Arial"/>
              </a:defRPr>
            </a:pPr>
            <a:r>
              <a:rPr sz="2700" b="1" i="0">
                <a:solidFill>
                  <a:srgbClr val="003B25"/>
                </a:solidFill>
                <a:latin typeface="Arial"/>
                <a:ea typeface="Arial"/>
                <a:cs typeface="Arial"/>
              </a:rPr>
              <a:t>Infrastructure Sizing Summary</a:t>
            </a:r>
          </a:p>
        </p:txBody>
      </p:sp>
      <p:sp>
        <p:nvSpPr>
          <p:cNvPr id="13" name="Rectangle 12">
            <a:extLst xmlns:a="http://schemas.openxmlformats.org/drawingml/2006/main">
              <a:ext uri="{FF2B5EF4-FFF2-40B4-BE49-F238E27FC236}">
                <a16:creationId xmlns:a16="http://schemas.microsoft.com/office/drawing/2014/main" id="{A3B2E046-C85F-4A39-BEEF-139B34452E9C}"/>
              </a:ext>
            </a:extLst>
          </p:cNvPr>
          <p:cNvSpPr>
            <a:spLocks xmlns:a="http://schemas.openxmlformats.org/drawingml/2006/main" noGrp="1"/>
          </p:cNvSpPr>
          <p:nvPr/>
        </p:nvSpPr>
        <p:spPr>
          <a:xfrm xmlns:a="http://schemas.openxmlformats.org/drawingml/2006/main">
            <a:off x="352425" y="1657350"/>
            <a:ext cx="381000" cy="38100"/>
          </a:xfrm>
          <a:prstGeom xmlns:a="http://schemas.openxmlformats.org/drawingml/2006/main" prst="rect">
            <a:avLst/>
          </a:prstGeom>
          <a:solidFill xmlns:a="http://schemas.openxmlformats.org/drawingml/2006/main">
            <a:srgbClr val="F0000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4" name="Rectangle 13">
            <a:extLst xmlns:a="http://schemas.openxmlformats.org/drawingml/2006/main">
              <a:ext uri="{FF2B5EF4-FFF2-40B4-BE49-F238E27FC236}">
                <a16:creationId xmlns:a16="http://schemas.microsoft.com/office/drawing/2014/main" id="{D5DD4476-54EB-446C-A8D2-4D5A415824F4}"/>
              </a:ext>
            </a:extLst>
          </p:cNvPr>
          <p:cNvSpPr>
            <a:spLocks xmlns:a="http://schemas.openxmlformats.org/drawingml/2006/main" noGrp="1"/>
          </p:cNvSpPr>
          <p:nvPr/>
        </p:nvSpPr>
        <p:spPr>
          <a:xfrm xmlns:a="http://schemas.openxmlformats.org/drawingml/2006/main">
            <a:off x="352425" y="1876425"/>
            <a:ext cx="62865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10000"/>
              </a:lnSpc>
              <a:buNone/>
              <a:defRPr sz="1013" b="0" i="0">
                <a:solidFill>
                  <a:srgbClr val="111111"/>
                </a:solidFill>
                <a:latin typeface="Arial"/>
                <a:ea typeface="Arial"/>
                <a:cs typeface="Arial"/>
              </a:defRPr>
            </a:pPr>
            <a:r>
              <a:rPr sz="1013" b="0" i="0">
                <a:solidFill>
                  <a:srgbClr val="111111"/>
                </a:solidFill>
                <a:latin typeface="Arial"/>
                <a:ea typeface="Arial"/>
                <a:cs typeface="Arial"/>
              </a:rPr>
              <a:t>The following architecture on Oracle Cloud VMware Solution (OCVS) has been designed</a:t>
            </a:r>
          </a:p>
          <a:p xmlns:a="http://schemas.openxmlformats.org/drawingml/2006/main">
            <a:pPr algn="l">
              <a:lnSpc>
                <a:spcPct val="110000"/>
              </a:lnSpc>
              <a:buNone/>
              <a:defRPr sz="1013" b="0" i="0">
                <a:solidFill>
                  <a:srgbClr val="111111"/>
                </a:solidFill>
                <a:latin typeface="Arial"/>
                <a:ea typeface="Arial"/>
                <a:cs typeface="Arial"/>
              </a:defRPr>
            </a:pPr>
            <a:r>
              <a:rPr sz="1013" b="0" i="0">
                <a:solidFill>
                  <a:srgbClr val="111111"/>
                </a:solidFill>
                <a:latin typeface="Arial"/>
                <a:ea typeface="Arial"/>
                <a:cs typeface="Arial"/>
              </a:rPr>
              <a:t>to support the customer's current environment with room for future growth.</a:t>
            </a:r>
          </a:p>
        </p:txBody>
      </p:sp>
      <p:sp>
        <p:nvSpPr>
          <p:cNvPr id="15" name="Rounded Rectangle 14">
            <a:extLst xmlns:a="http://schemas.openxmlformats.org/drawingml/2006/main">
              <a:ext uri="{FF2B5EF4-FFF2-40B4-BE49-F238E27FC236}">
                <a16:creationId xmlns:a16="http://schemas.microsoft.com/office/drawing/2014/main" id="{63B7720D-CE76-4909-8B22-13176D9406FD}"/>
              </a:ext>
            </a:extLst>
          </p:cNvPr>
          <p:cNvSpPr>
            <a:spLocks xmlns:a="http://schemas.openxmlformats.org/drawingml/2006/main" noGrp="1"/>
          </p:cNvSpPr>
          <p:nvPr/>
        </p:nvSpPr>
        <p:spPr>
          <a:xfrm xmlns:a="http://schemas.openxmlformats.org/drawingml/2006/main">
            <a:off x="361950" y="2600325"/>
            <a:ext cx="4572000" cy="2790825"/>
          </a:xfrm>
          <a:prstGeom xmlns:a="http://schemas.openxmlformats.org/drawingml/2006/main" prst="roundRect">
            <a:avLst>
              <a:gd name="adj" fmla="val 2389"/>
            </a:avLst>
          </a:prstGeom>
          <a:solidFill xmlns:a="http://schemas.openxmlformats.org/drawingml/2006/main">
            <a:srgbClr val="FFFFFF"/>
          </a:solidFill>
          <a:ln xmlns:a="http://schemas.openxmlformats.org/drawingml/2006/main" w="9525">
            <a:solidFill>
              <a:srgbClr val="D9DED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16" name="Rounded Rectangle 15">
            <a:extLst xmlns:a="http://schemas.openxmlformats.org/drawingml/2006/main">
              <a:ext uri="{FF2B5EF4-FFF2-40B4-BE49-F238E27FC236}">
                <a16:creationId xmlns:a16="http://schemas.microsoft.com/office/drawing/2014/main" id="{0DF6C480-65BB-494C-9EC9-69955CD78592}"/>
              </a:ext>
            </a:extLst>
          </p:cNvPr>
          <p:cNvSpPr>
            <a:spLocks xmlns:a="http://schemas.openxmlformats.org/drawingml/2006/main" noGrp="1"/>
          </p:cNvSpPr>
          <p:nvPr/>
        </p:nvSpPr>
        <p:spPr>
          <a:xfrm xmlns:a="http://schemas.openxmlformats.org/drawingml/2006/main">
            <a:off x="361950" y="2600325"/>
            <a:ext cx="4572000" cy="342900"/>
          </a:xfrm>
          <a:prstGeom xmlns:a="http://schemas.openxmlformats.org/drawingml/2006/main" prst="roundRect">
            <a:avLst>
              <a:gd name="adj" fmla="val 19444"/>
            </a:avLst>
          </a:prstGeom>
          <a:gradFill xmlns:a="http://schemas.openxmlformats.org/drawingml/2006/main">
            <a:gsLst>
              <a:gs pos="0">
                <a:srgbClr val="003B25"/>
              </a:gs>
              <a:gs pos="100000">
                <a:srgbClr val="0B4B30"/>
              </a:gs>
            </a:gsLst>
            <a:lin ang="5400000"/>
          </a:gra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7" name="Rectangle 16">
            <a:extLst xmlns:a="http://schemas.openxmlformats.org/drawingml/2006/main">
              <a:ext uri="{FF2B5EF4-FFF2-40B4-BE49-F238E27FC236}">
                <a16:creationId xmlns:a16="http://schemas.microsoft.com/office/drawing/2014/main" id="{79235A43-973B-49B6-A560-C27C9DB572AA}"/>
              </a:ext>
            </a:extLst>
          </p:cNvPr>
          <p:cNvSpPr>
            <a:spLocks xmlns:a="http://schemas.openxmlformats.org/drawingml/2006/main" noGrp="1"/>
          </p:cNvSpPr>
          <p:nvPr/>
        </p:nvSpPr>
        <p:spPr>
          <a:xfrm xmlns:a="http://schemas.openxmlformats.org/drawingml/2006/main">
            <a:off x="361950" y="2876550"/>
            <a:ext cx="4572000" cy="66675"/>
          </a:xfrm>
          <a:prstGeom xmlns:a="http://schemas.openxmlformats.org/drawingml/2006/main" prst="rect">
            <a:avLst/>
          </a:prstGeom>
          <a:gradFill xmlns:a="http://schemas.openxmlformats.org/drawingml/2006/main">
            <a:gsLst>
              <a:gs pos="0">
                <a:srgbClr val="003B25"/>
              </a:gs>
              <a:gs pos="100000">
                <a:srgbClr val="0B4B30"/>
              </a:gs>
            </a:gsLst>
            <a:lin ang="5400000"/>
          </a:gra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pic>
        <p:nvPicPr>
          <p:cNvPr id="97" name="Picture 81"/>
          <p:cNvPicPr>
            <a:picLocks xmlns:a="http://schemas.openxmlformats.org/drawingml/2006/main" noChangeAspect="1"/>
          </p:cNvPicPr>
          <p:nvPr/>
        </p:nvPicPr>
        <p:blipFill>
          <a:blip xmlns:r="http://schemas.openxmlformats.org/officeDocument/2006/relationships" xmlns:a="http://schemas.openxmlformats.org/drawingml/2006/main" r:embed="R6825d7f6db3f44d2"/>
          <a:stretch xmlns:a="http://schemas.openxmlformats.org/drawingml/2006/main"/>
        </p:blipFill>
        <p:spPr>
          <a:xfrm xmlns:a="http://schemas.openxmlformats.org/drawingml/2006/main">
            <a:off x="604647" y="2676525"/>
            <a:ext cx="219456" cy="228600"/>
          </a:xfrm>
          <a:prstGeom xmlns:a="http://schemas.openxmlformats.org/drawingml/2006/main" prst="rect">
            <a:avLst/>
          </a:prstGeom>
        </p:spPr>
      </p:pic>
      <p:sp>
        <p:nvSpPr>
          <p:cNvPr id="19" name="Rectangle 18">
            <a:extLst xmlns:a="http://schemas.openxmlformats.org/drawingml/2006/main">
              <a:ext uri="{FF2B5EF4-FFF2-40B4-BE49-F238E27FC236}">
                <a16:creationId xmlns:a16="http://schemas.microsoft.com/office/drawing/2014/main" id="{84BF706F-C741-4C7C-970A-E6742E5CFC29}"/>
              </a:ext>
            </a:extLst>
          </p:cNvPr>
          <p:cNvSpPr>
            <a:spLocks xmlns:a="http://schemas.openxmlformats.org/drawingml/2006/main" noGrp="1"/>
          </p:cNvSpPr>
          <p:nvPr/>
        </p:nvSpPr>
        <p:spPr>
          <a:xfrm xmlns:a="http://schemas.openxmlformats.org/drawingml/2006/main">
            <a:off x="962025" y="2724150"/>
            <a:ext cx="1714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975" b="1" i="0">
                <a:solidFill>
                  <a:srgbClr val="FFFFFF"/>
                </a:solidFill>
                <a:latin typeface="Arial"/>
                <a:ea typeface="Arial"/>
                <a:cs typeface="Arial"/>
              </a:defRPr>
            </a:pPr>
            <a:r>
              <a:rPr sz="975" b="1" i="0">
                <a:solidFill>
                  <a:srgbClr val="FFFFFF"/>
                </a:solidFill>
                <a:latin typeface="Arial"/>
                <a:ea typeface="Arial"/>
                <a:cs typeface="Arial"/>
              </a:rPr>
              <a:t>Proposed Architecture</a:t>
            </a:r>
          </a:p>
        </p:txBody>
      </p:sp>
      <p:pic>
        <p:nvPicPr>
          <p:cNvPr id="99" name="Picture 83"/>
          <p:cNvPicPr>
            <a:picLocks xmlns:a="http://schemas.openxmlformats.org/drawingml/2006/main" noChangeAspect="1"/>
          </p:cNvPicPr>
          <p:nvPr/>
        </p:nvPicPr>
        <p:blipFill>
          <a:blip xmlns:r="http://schemas.openxmlformats.org/officeDocument/2006/relationships" xmlns:a="http://schemas.openxmlformats.org/drawingml/2006/main" r:embed="Re5b45127a2844e24"/>
          <a:stretch xmlns:a="http://schemas.openxmlformats.org/drawingml/2006/main"/>
        </p:blipFill>
        <p:spPr>
          <a:xfrm xmlns:a="http://schemas.openxmlformats.org/drawingml/2006/main">
            <a:off x="600075" y="3098346"/>
            <a:ext cx="304800" cy="261257"/>
          </a:xfrm>
          <a:prstGeom xmlns:a="http://schemas.openxmlformats.org/drawingml/2006/main" prst="rect">
            <a:avLst/>
          </a:prstGeom>
        </p:spPr>
      </p:pic>
      <p:sp>
        <p:nvSpPr>
          <p:cNvPr id="21" name="Rectangle 20">
            <a:extLst xmlns:a="http://schemas.openxmlformats.org/drawingml/2006/main">
              <a:ext uri="{FF2B5EF4-FFF2-40B4-BE49-F238E27FC236}">
                <a16:creationId xmlns:a16="http://schemas.microsoft.com/office/drawing/2014/main" id="{509699EE-677C-42DF-8083-4185311A3D1D}"/>
              </a:ext>
            </a:extLst>
          </p:cNvPr>
          <p:cNvSpPr>
            <a:spLocks xmlns:a="http://schemas.openxmlformats.org/drawingml/2006/main" noGrp="1"/>
          </p:cNvSpPr>
          <p:nvPr/>
        </p:nvSpPr>
        <p:spPr>
          <a:xfrm xmlns:a="http://schemas.openxmlformats.org/drawingml/2006/main">
            <a:off x="1095375" y="3143250"/>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013" b="1" i="0">
                <a:solidFill>
                  <a:srgbClr val="003B25"/>
                </a:solidFill>
                <a:latin typeface="Arial"/>
                <a:ea typeface="Arial"/>
                <a:cs typeface="Arial"/>
              </a:defRPr>
            </a:pPr>
            <a:r>
              <a:rPr sz="1013" b="1" i="0">
                <a:solidFill>
                  <a:srgbClr val="003B25"/>
                </a:solidFill>
                <a:latin typeface="Arial"/>
                <a:ea typeface="Arial"/>
                <a:cs typeface="Arial"/>
              </a:rPr>
              <a:t>SDDCs</a:t>
            </a:r>
          </a:p>
        </p:txBody>
      </p:sp>
      <p:sp>
        <p:nvSpPr>
          <p:cNvPr id="22" name="editable-ocvs-sddcs">
            <a:extLst xmlns:a="http://schemas.openxmlformats.org/drawingml/2006/main">
              <a:ext uri="{FF2B5EF4-FFF2-40B4-BE49-F238E27FC236}">
                <a16:creationId xmlns:a16="http://schemas.microsoft.com/office/drawing/2014/main" id="{EA0CDC46-31BA-4F3B-B2F7-0CD1DB4E4ACD}"/>
              </a:ext>
            </a:extLst>
          </p:cNvPr>
          <p:cNvSpPr>
            <a:spLocks xmlns:a="http://schemas.openxmlformats.org/drawingml/2006/main" noGrp="1"/>
          </p:cNvSpPr>
          <p:nvPr/>
        </p:nvSpPr>
        <p:spPr>
          <a:xfrm xmlns:a="http://schemas.openxmlformats.org/drawingml/2006/main">
            <a:off x="2714625" y="31432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013" b="0" i="0">
                <a:solidFill>
                  <a:srgbClr val="111111"/>
                </a:solidFill>
                <a:latin typeface="Arial"/>
                <a:ea typeface="Arial"/>
                <a:cs typeface="Arial"/>
              </a:defRPr>
            </a:pPr>
            <a:r>
              <a:rPr sz="1013" b="0" i="0">
                <a:solidFill>
                  <a:srgbClr val="111111"/>
                </a:solidFill>
                <a:latin typeface="Arial"/>
                <a:ea typeface="Arial"/>
                <a:cs typeface="Arial"/>
              </a:rPr>
              <a:t>1</a:t>
            </a:r>
          </a:p>
        </p:txBody>
      </p:sp>
      <p:sp>
        <p:nvSpPr>
          <p:cNvPr id="23" name="Straight Connector 22">
            <a:extLst xmlns:a="http://schemas.openxmlformats.org/drawingml/2006/main">
              <a:ext uri="{FF2B5EF4-FFF2-40B4-BE49-F238E27FC236}">
                <a16:creationId xmlns:a16="http://schemas.microsoft.com/office/drawing/2014/main" id="{C28279BA-06DE-441C-B66F-073288F09C70}"/>
              </a:ext>
            </a:extLst>
          </p:cNvPr>
          <p:cNvSpPr>
            <a:spLocks xmlns:a="http://schemas.openxmlformats.org/drawingml/2006/main" noGrp="1"/>
          </p:cNvSpPr>
          <p:nvPr/>
        </p:nvSpPr>
        <p:spPr>
          <a:xfrm xmlns:a="http://schemas.openxmlformats.org/drawingml/2006/main">
            <a:off x="971550" y="3390900"/>
            <a:ext cx="3743325" cy="0"/>
          </a:xfrm>
          <a:prstGeom xmlns:a="http://schemas.openxmlformats.org/drawingml/2006/main" prst="line">
            <a:avLst/>
          </a:prstGeom>
          <a:noFill xmlns:a="http://schemas.openxmlformats.org/drawingml/2006/main"/>
          <a:ln xmlns:a="http://schemas.openxmlformats.org/drawingml/2006/main" w="9525">
            <a:solidFill>
              <a:srgbClr val="D8DDD9"/>
            </a:solidFill>
            <a:prstDash val="solid"/>
          </a:ln>
        </p:spPr>
        <p:txBody>
          <a:bodyPr xmlns:a="http://schemas.openxmlformats.org/drawingml/2006/main"/>
          <a:lstStyle xmlns:a="http://schemas.openxmlformats.org/drawingml/2006/main"/>
          <a:p xmlns:a="http://schemas.openxmlformats.org/drawingml/2006/main">
            <a:endParaRPr/>
          </a:p>
        </p:txBody>
      </p:sp>
      <p:pic>
        <p:nvPicPr>
          <p:cNvPr id="103" name="Picture 87"/>
          <p:cNvPicPr>
            <a:picLocks xmlns:a="http://schemas.openxmlformats.org/drawingml/2006/main" noChangeAspect="1"/>
          </p:cNvPicPr>
          <p:nvPr/>
        </p:nvPicPr>
        <p:blipFill>
          <a:blip xmlns:r="http://schemas.openxmlformats.org/officeDocument/2006/relationships" xmlns:a="http://schemas.openxmlformats.org/drawingml/2006/main" r:embed="R06075da9f0264214"/>
          <a:stretch xmlns:a="http://schemas.openxmlformats.org/drawingml/2006/main"/>
        </p:blipFill>
        <p:spPr>
          <a:xfrm xmlns:a="http://schemas.openxmlformats.org/drawingml/2006/main">
            <a:off x="628015" y="3495675"/>
            <a:ext cx="248920" cy="266700"/>
          </a:xfrm>
          <a:prstGeom xmlns:a="http://schemas.openxmlformats.org/drawingml/2006/main" prst="rect">
            <a:avLst/>
          </a:prstGeom>
        </p:spPr>
      </p:pic>
      <p:sp>
        <p:nvSpPr>
          <p:cNvPr id="25" name="Rectangle 24">
            <a:extLst xmlns:a="http://schemas.openxmlformats.org/drawingml/2006/main">
              <a:ext uri="{FF2B5EF4-FFF2-40B4-BE49-F238E27FC236}">
                <a16:creationId xmlns:a16="http://schemas.microsoft.com/office/drawing/2014/main" id="{256F7DCC-DF91-4471-A4FF-4A3AD34D84C7}"/>
              </a:ext>
            </a:extLst>
          </p:cNvPr>
          <p:cNvSpPr>
            <a:spLocks xmlns:a="http://schemas.openxmlformats.org/drawingml/2006/main" noGrp="1"/>
          </p:cNvSpPr>
          <p:nvPr/>
        </p:nvSpPr>
        <p:spPr>
          <a:xfrm xmlns:a="http://schemas.openxmlformats.org/drawingml/2006/main">
            <a:off x="1095375" y="3543300"/>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013" b="1" i="0">
                <a:solidFill>
                  <a:srgbClr val="003B25"/>
                </a:solidFill>
                <a:latin typeface="Arial"/>
                <a:ea typeface="Arial"/>
                <a:cs typeface="Arial"/>
              </a:defRPr>
            </a:pPr>
            <a:r>
              <a:rPr sz="1013" b="1" i="0">
                <a:solidFill>
                  <a:srgbClr val="003B25"/>
                </a:solidFill>
                <a:latin typeface="Arial"/>
                <a:ea typeface="Arial"/>
                <a:cs typeface="Arial"/>
              </a:rPr>
              <a:t>Clusters</a:t>
            </a:r>
          </a:p>
        </p:txBody>
      </p:sp>
      <p:sp>
        <p:nvSpPr>
          <p:cNvPr id="26" name="editable-ocvs-clusters">
            <a:extLst xmlns:a="http://schemas.openxmlformats.org/drawingml/2006/main">
              <a:ext uri="{FF2B5EF4-FFF2-40B4-BE49-F238E27FC236}">
                <a16:creationId xmlns:a16="http://schemas.microsoft.com/office/drawing/2014/main" id="{3732A7B4-3A88-4F3B-85BE-10458DDFFC15}"/>
              </a:ext>
            </a:extLst>
          </p:cNvPr>
          <p:cNvSpPr>
            <a:spLocks xmlns:a="http://schemas.openxmlformats.org/drawingml/2006/main" noGrp="1"/>
          </p:cNvSpPr>
          <p:nvPr/>
        </p:nvSpPr>
        <p:spPr>
          <a:xfrm xmlns:a="http://schemas.openxmlformats.org/drawingml/2006/main">
            <a:off x="2714625" y="354330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013" b="0" i="0">
                <a:solidFill>
                  <a:srgbClr val="111111"/>
                </a:solidFill>
                <a:latin typeface="Arial"/>
                <a:ea typeface="Arial"/>
                <a:cs typeface="Arial"/>
              </a:defRPr>
            </a:pPr>
            <a:r>
              <a:rPr sz="1013" b="0" i="0">
                <a:solidFill>
                  <a:srgbClr val="111111"/>
                </a:solidFill>
                <a:latin typeface="Arial"/>
                <a:ea typeface="Arial"/>
                <a:cs typeface="Arial"/>
              </a:rPr>
              <a:t>1</a:t>
            </a:r>
          </a:p>
        </p:txBody>
      </p:sp>
      <p:sp>
        <p:nvSpPr>
          <p:cNvPr id="27" name="Straight Connector 26">
            <a:extLst xmlns:a="http://schemas.openxmlformats.org/drawingml/2006/main">
              <a:ext uri="{FF2B5EF4-FFF2-40B4-BE49-F238E27FC236}">
                <a16:creationId xmlns:a16="http://schemas.microsoft.com/office/drawing/2014/main" id="{FBF22472-0225-4133-8415-2EA7ECD90EFA}"/>
              </a:ext>
            </a:extLst>
          </p:cNvPr>
          <p:cNvSpPr>
            <a:spLocks xmlns:a="http://schemas.openxmlformats.org/drawingml/2006/main" noGrp="1"/>
          </p:cNvSpPr>
          <p:nvPr/>
        </p:nvSpPr>
        <p:spPr>
          <a:xfrm xmlns:a="http://schemas.openxmlformats.org/drawingml/2006/main">
            <a:off x="971550" y="3790950"/>
            <a:ext cx="3743325" cy="0"/>
          </a:xfrm>
          <a:prstGeom xmlns:a="http://schemas.openxmlformats.org/drawingml/2006/main" prst="line">
            <a:avLst/>
          </a:prstGeom>
          <a:noFill xmlns:a="http://schemas.openxmlformats.org/drawingml/2006/main"/>
          <a:ln xmlns:a="http://schemas.openxmlformats.org/drawingml/2006/main" w="9525">
            <a:solidFill>
              <a:srgbClr val="D8DDD9"/>
            </a:solidFill>
            <a:prstDash val="solid"/>
          </a:ln>
        </p:spPr>
        <p:txBody>
          <a:bodyPr xmlns:a="http://schemas.openxmlformats.org/drawingml/2006/main"/>
          <a:lstStyle xmlns:a="http://schemas.openxmlformats.org/drawingml/2006/main"/>
          <a:p xmlns:a="http://schemas.openxmlformats.org/drawingml/2006/main">
            <a:endParaRPr/>
          </a:p>
        </p:txBody>
      </p:sp>
      <p:pic>
        <p:nvPicPr>
          <p:cNvPr id="107" name="Picture 91"/>
          <p:cNvPicPr>
            <a:picLocks xmlns:a="http://schemas.openxmlformats.org/drawingml/2006/main" noChangeAspect="1"/>
          </p:cNvPicPr>
          <p:nvPr/>
        </p:nvPicPr>
        <p:blipFill>
          <a:blip xmlns:r="http://schemas.openxmlformats.org/officeDocument/2006/relationships" xmlns:a="http://schemas.openxmlformats.org/drawingml/2006/main" r:embed="Rf8ae91d76cd54f64"/>
          <a:stretch xmlns:a="http://schemas.openxmlformats.org/drawingml/2006/main"/>
        </p:blipFill>
        <p:spPr>
          <a:xfrm xmlns:a="http://schemas.openxmlformats.org/drawingml/2006/main">
            <a:off x="619125" y="3876675"/>
            <a:ext cx="266700" cy="266700"/>
          </a:xfrm>
          <a:prstGeom xmlns:a="http://schemas.openxmlformats.org/drawingml/2006/main" prst="rect">
            <a:avLst/>
          </a:prstGeom>
        </p:spPr>
      </p:pic>
      <p:sp>
        <p:nvSpPr>
          <p:cNvPr id="29" name="Rectangle 28">
            <a:extLst xmlns:a="http://schemas.openxmlformats.org/drawingml/2006/main">
              <a:ext uri="{FF2B5EF4-FFF2-40B4-BE49-F238E27FC236}">
                <a16:creationId xmlns:a16="http://schemas.microsoft.com/office/drawing/2014/main" id="{92EBD8D0-6200-44BB-B234-8E0C2461857E}"/>
              </a:ext>
            </a:extLst>
          </p:cNvPr>
          <p:cNvSpPr>
            <a:spLocks xmlns:a="http://schemas.openxmlformats.org/drawingml/2006/main" noGrp="1"/>
          </p:cNvSpPr>
          <p:nvPr/>
        </p:nvSpPr>
        <p:spPr>
          <a:xfrm xmlns:a="http://schemas.openxmlformats.org/drawingml/2006/main">
            <a:off x="1095375" y="3924300"/>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013" b="1" i="0">
                <a:solidFill>
                  <a:srgbClr val="003B25"/>
                </a:solidFill>
                <a:latin typeface="Arial"/>
                <a:ea typeface="Arial"/>
                <a:cs typeface="Arial"/>
              </a:defRPr>
            </a:pPr>
            <a:r>
              <a:rPr sz="1013" b="1" i="0">
                <a:solidFill>
                  <a:srgbClr val="003B25"/>
                </a:solidFill>
                <a:latin typeface="Arial"/>
                <a:ea typeface="Arial"/>
                <a:cs typeface="Arial"/>
              </a:rPr>
              <a:t>Hosts</a:t>
            </a:r>
          </a:p>
        </p:txBody>
      </p:sp>
      <p:sp>
        <p:nvSpPr>
          <p:cNvPr id="30" name="editable-ocvs-hosts">
            <a:extLst xmlns:a="http://schemas.openxmlformats.org/drawingml/2006/main">
              <a:ext uri="{FF2B5EF4-FFF2-40B4-BE49-F238E27FC236}">
                <a16:creationId xmlns:a16="http://schemas.microsoft.com/office/drawing/2014/main" id="{8BCBCBFE-8FBA-4B24-AE05-54385D787A82}"/>
              </a:ext>
            </a:extLst>
          </p:cNvPr>
          <p:cNvSpPr>
            <a:spLocks xmlns:a="http://schemas.openxmlformats.org/drawingml/2006/main" noGrp="1"/>
          </p:cNvSpPr>
          <p:nvPr/>
        </p:nvSpPr>
        <p:spPr>
          <a:xfrm xmlns:a="http://schemas.openxmlformats.org/drawingml/2006/main">
            <a:off x="2714625" y="392430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013" b="0" i="0">
                <a:solidFill>
                  <a:srgbClr val="111111"/>
                </a:solidFill>
                <a:latin typeface="Arial"/>
                <a:ea typeface="Arial"/>
                <a:cs typeface="Arial"/>
              </a:defRPr>
            </a:pPr>
            <a:r>
              <a:rPr sz="1013" b="0" i="0">
                <a:solidFill>
                  <a:srgbClr val="111111"/>
                </a:solidFill>
                <a:latin typeface="Arial"/>
                <a:ea typeface="Arial"/>
                <a:cs typeface="Arial"/>
              </a:rPr>
              <a:t>4</a:t>
            </a:r>
          </a:p>
        </p:txBody>
      </p:sp>
      <p:sp>
        <p:nvSpPr>
          <p:cNvPr id="31" name="Straight Connector 30">
            <a:extLst xmlns:a="http://schemas.openxmlformats.org/drawingml/2006/main">
              <a:ext uri="{FF2B5EF4-FFF2-40B4-BE49-F238E27FC236}">
                <a16:creationId xmlns:a16="http://schemas.microsoft.com/office/drawing/2014/main" id="{97B67929-BE78-46B8-BE26-E454604B77F2}"/>
              </a:ext>
            </a:extLst>
          </p:cNvPr>
          <p:cNvSpPr>
            <a:spLocks xmlns:a="http://schemas.openxmlformats.org/drawingml/2006/main" noGrp="1"/>
          </p:cNvSpPr>
          <p:nvPr/>
        </p:nvSpPr>
        <p:spPr>
          <a:xfrm xmlns:a="http://schemas.openxmlformats.org/drawingml/2006/main">
            <a:off x="971550" y="4171950"/>
            <a:ext cx="3743325" cy="0"/>
          </a:xfrm>
          <a:prstGeom xmlns:a="http://schemas.openxmlformats.org/drawingml/2006/main" prst="line">
            <a:avLst/>
          </a:prstGeom>
          <a:noFill xmlns:a="http://schemas.openxmlformats.org/drawingml/2006/main"/>
          <a:ln xmlns:a="http://schemas.openxmlformats.org/drawingml/2006/main" w="9525">
            <a:solidFill>
              <a:srgbClr val="D8DDD9"/>
            </a:solidFill>
            <a:prstDash val="solid"/>
          </a:ln>
        </p:spPr>
        <p:txBody>
          <a:bodyPr xmlns:a="http://schemas.openxmlformats.org/drawingml/2006/main"/>
          <a:lstStyle xmlns:a="http://schemas.openxmlformats.org/drawingml/2006/main"/>
          <a:p xmlns:a="http://schemas.openxmlformats.org/drawingml/2006/main">
            <a:endParaRPr/>
          </a:p>
        </p:txBody>
      </p:sp>
      <p:pic>
        <p:nvPicPr>
          <p:cNvPr id="111" name="Picture 95"/>
          <p:cNvPicPr>
            <a:picLocks xmlns:a="http://schemas.openxmlformats.org/drawingml/2006/main" noChangeAspect="1"/>
          </p:cNvPicPr>
          <p:nvPr/>
        </p:nvPicPr>
        <p:blipFill>
          <a:blip xmlns:r="http://schemas.openxmlformats.org/officeDocument/2006/relationships" xmlns:a="http://schemas.openxmlformats.org/drawingml/2006/main" r:embed="R4acb0181e38f49fd"/>
          <a:stretch xmlns:a="http://schemas.openxmlformats.org/drawingml/2006/main"/>
        </p:blipFill>
        <p:spPr>
          <a:xfrm xmlns:a="http://schemas.openxmlformats.org/drawingml/2006/main">
            <a:off x="619125" y="4267200"/>
            <a:ext cx="266700" cy="266700"/>
          </a:xfrm>
          <a:prstGeom xmlns:a="http://schemas.openxmlformats.org/drawingml/2006/main" prst="rect">
            <a:avLst/>
          </a:prstGeom>
        </p:spPr>
      </p:pic>
      <p:sp>
        <p:nvSpPr>
          <p:cNvPr id="33" name="Rectangle 32">
            <a:extLst xmlns:a="http://schemas.openxmlformats.org/drawingml/2006/main">
              <a:ext uri="{FF2B5EF4-FFF2-40B4-BE49-F238E27FC236}">
                <a16:creationId xmlns:a16="http://schemas.microsoft.com/office/drawing/2014/main" id="{611C5C49-7C43-4926-A4CD-0D62BD0CA685}"/>
              </a:ext>
            </a:extLst>
          </p:cNvPr>
          <p:cNvSpPr>
            <a:spLocks xmlns:a="http://schemas.openxmlformats.org/drawingml/2006/main" noGrp="1"/>
          </p:cNvSpPr>
          <p:nvPr/>
        </p:nvSpPr>
        <p:spPr>
          <a:xfrm xmlns:a="http://schemas.openxmlformats.org/drawingml/2006/main">
            <a:off x="1095375" y="4314825"/>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013" b="1" i="0">
                <a:solidFill>
                  <a:srgbClr val="003B25"/>
                </a:solidFill>
                <a:latin typeface="Arial"/>
                <a:ea typeface="Arial"/>
                <a:cs typeface="Arial"/>
              </a:defRPr>
            </a:pPr>
            <a:r>
              <a:rPr sz="1013" b="1" i="0">
                <a:solidFill>
                  <a:srgbClr val="003B25"/>
                </a:solidFill>
                <a:latin typeface="Arial"/>
                <a:ea typeface="Arial"/>
                <a:cs typeface="Arial"/>
              </a:rPr>
              <a:t>Shape</a:t>
            </a:r>
          </a:p>
        </p:txBody>
      </p:sp>
      <p:sp>
        <p:nvSpPr>
          <p:cNvPr id="34" name="editable-ocvs-shape">
            <a:extLst xmlns:a="http://schemas.openxmlformats.org/drawingml/2006/main">
              <a:ext uri="{FF2B5EF4-FFF2-40B4-BE49-F238E27FC236}">
                <a16:creationId xmlns:a16="http://schemas.microsoft.com/office/drawing/2014/main" id="{9DB25AF8-EA9B-43F4-A3C2-ED13FE3B18C4}"/>
              </a:ext>
            </a:extLst>
          </p:cNvPr>
          <p:cNvSpPr>
            <a:spLocks xmlns:a="http://schemas.openxmlformats.org/drawingml/2006/main" noGrp="1"/>
          </p:cNvSpPr>
          <p:nvPr/>
        </p:nvSpPr>
        <p:spPr>
          <a:xfrm xmlns:a="http://schemas.openxmlformats.org/drawingml/2006/main">
            <a:off x="2714625" y="4314825"/>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013" b="0" i="0">
                <a:solidFill>
                  <a:srgbClr val="111111"/>
                </a:solidFill>
                <a:latin typeface="Arial"/>
                <a:ea typeface="Arial"/>
                <a:cs typeface="Arial"/>
              </a:defRPr>
            </a:pPr>
            <a:r>
              <a:rPr sz="1013" b="0" i="0">
                <a:solidFill>
                  <a:srgbClr val="111111"/>
                </a:solidFill>
                <a:latin typeface="Arial"/>
                <a:ea typeface="Arial"/>
                <a:cs typeface="Arial"/>
              </a:rPr>
              <a:t>AMD E4</a:t>
            </a:r>
          </a:p>
        </p:txBody>
      </p:sp>
      <p:sp>
        <p:nvSpPr>
          <p:cNvPr id="35" name="Straight Connector 34">
            <a:extLst xmlns:a="http://schemas.openxmlformats.org/drawingml/2006/main">
              <a:ext uri="{FF2B5EF4-FFF2-40B4-BE49-F238E27FC236}">
                <a16:creationId xmlns:a16="http://schemas.microsoft.com/office/drawing/2014/main" id="{174C5339-3927-452C-833D-022327F62FE9}"/>
              </a:ext>
            </a:extLst>
          </p:cNvPr>
          <p:cNvSpPr>
            <a:spLocks xmlns:a="http://schemas.openxmlformats.org/drawingml/2006/main" noGrp="1"/>
          </p:cNvSpPr>
          <p:nvPr/>
        </p:nvSpPr>
        <p:spPr>
          <a:xfrm xmlns:a="http://schemas.openxmlformats.org/drawingml/2006/main">
            <a:off x="971550" y="4562475"/>
            <a:ext cx="3743325" cy="0"/>
          </a:xfrm>
          <a:prstGeom xmlns:a="http://schemas.openxmlformats.org/drawingml/2006/main" prst="line">
            <a:avLst/>
          </a:prstGeom>
          <a:noFill xmlns:a="http://schemas.openxmlformats.org/drawingml/2006/main"/>
          <a:ln xmlns:a="http://schemas.openxmlformats.org/drawingml/2006/main" w="9525">
            <a:solidFill>
              <a:srgbClr val="D8DDD9"/>
            </a:solidFill>
            <a:prstDash val="solid"/>
          </a:ln>
        </p:spPr>
        <p:txBody>
          <a:bodyPr xmlns:a="http://schemas.openxmlformats.org/drawingml/2006/main"/>
          <a:lstStyle xmlns:a="http://schemas.openxmlformats.org/drawingml/2006/main"/>
          <a:p xmlns:a="http://schemas.openxmlformats.org/drawingml/2006/main">
            <a:endParaRPr/>
          </a:p>
        </p:txBody>
      </p:sp>
      <p:pic>
        <p:nvPicPr>
          <p:cNvPr id="115" name="Picture 99"/>
          <p:cNvPicPr>
            <a:picLocks xmlns:a="http://schemas.openxmlformats.org/drawingml/2006/main" noChangeAspect="1"/>
          </p:cNvPicPr>
          <p:nvPr/>
        </p:nvPicPr>
        <p:blipFill>
          <a:blip xmlns:r="http://schemas.openxmlformats.org/officeDocument/2006/relationships" xmlns:a="http://schemas.openxmlformats.org/drawingml/2006/main" r:embed="R4f3923b518a541eb"/>
          <a:stretch xmlns:a="http://schemas.openxmlformats.org/drawingml/2006/main"/>
        </p:blipFill>
        <p:spPr>
          <a:xfrm xmlns:a="http://schemas.openxmlformats.org/drawingml/2006/main">
            <a:off x="623427" y="4657725"/>
            <a:ext cx="258097" cy="266700"/>
          </a:xfrm>
          <a:prstGeom xmlns:a="http://schemas.openxmlformats.org/drawingml/2006/main" prst="rect">
            <a:avLst/>
          </a:prstGeom>
        </p:spPr>
      </p:pic>
      <p:sp>
        <p:nvSpPr>
          <p:cNvPr id="37" name="Rectangle 36">
            <a:extLst xmlns:a="http://schemas.openxmlformats.org/drawingml/2006/main">
              <a:ext uri="{FF2B5EF4-FFF2-40B4-BE49-F238E27FC236}">
                <a16:creationId xmlns:a16="http://schemas.microsoft.com/office/drawing/2014/main" id="{A296B6A2-1EAE-4DF0-B44E-8318BD4233C2}"/>
              </a:ext>
            </a:extLst>
          </p:cNvPr>
          <p:cNvSpPr>
            <a:spLocks xmlns:a="http://schemas.openxmlformats.org/drawingml/2006/main" noGrp="1"/>
          </p:cNvSpPr>
          <p:nvPr/>
        </p:nvSpPr>
        <p:spPr>
          <a:xfrm xmlns:a="http://schemas.openxmlformats.org/drawingml/2006/main">
            <a:off x="1095375" y="4705350"/>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013" b="1" i="0">
                <a:solidFill>
                  <a:srgbClr val="003B25"/>
                </a:solidFill>
                <a:latin typeface="Arial"/>
                <a:ea typeface="Arial"/>
                <a:cs typeface="Arial"/>
              </a:defRPr>
            </a:pPr>
            <a:r>
              <a:rPr sz="1013" b="1" i="0">
                <a:solidFill>
                  <a:srgbClr val="003B25"/>
                </a:solidFill>
                <a:latin typeface="Arial"/>
                <a:ea typeface="Arial"/>
                <a:cs typeface="Arial"/>
              </a:rPr>
              <a:t>Storage</a:t>
            </a:r>
          </a:p>
        </p:txBody>
      </p:sp>
      <p:sp>
        <p:nvSpPr>
          <p:cNvPr id="38" name="editable-ocvs-storage">
            <a:extLst xmlns:a="http://schemas.openxmlformats.org/drawingml/2006/main">
              <a:ext uri="{FF2B5EF4-FFF2-40B4-BE49-F238E27FC236}">
                <a16:creationId xmlns:a16="http://schemas.microsoft.com/office/drawing/2014/main" id="{571D8DEA-6CCE-4396-A35E-1C8C5E110E93}"/>
              </a:ext>
            </a:extLst>
          </p:cNvPr>
          <p:cNvSpPr>
            <a:spLocks xmlns:a="http://schemas.openxmlformats.org/drawingml/2006/main" noGrp="1"/>
          </p:cNvSpPr>
          <p:nvPr/>
        </p:nvSpPr>
        <p:spPr>
          <a:xfrm xmlns:a="http://schemas.openxmlformats.org/drawingml/2006/main">
            <a:off x="2714625" y="47053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013" b="0" i="0">
                <a:solidFill>
                  <a:srgbClr val="111111"/>
                </a:solidFill>
                <a:latin typeface="Arial"/>
                <a:ea typeface="Arial"/>
                <a:cs typeface="Arial"/>
              </a:defRPr>
            </a:pPr>
            <a:r>
              <a:rPr sz="1013" b="0" i="0">
                <a:solidFill>
                  <a:srgbClr val="111111"/>
                </a:solidFill>
                <a:latin typeface="Arial"/>
                <a:ea typeface="Arial"/>
                <a:cs typeface="Arial"/>
              </a:rPr>
              <a:t>200 TB</a:t>
            </a:r>
          </a:p>
        </p:txBody>
      </p:sp>
      <p:sp>
        <p:nvSpPr>
          <p:cNvPr id="39" name="Straight Connector 38">
            <a:extLst xmlns:a="http://schemas.openxmlformats.org/drawingml/2006/main">
              <a:ext uri="{FF2B5EF4-FFF2-40B4-BE49-F238E27FC236}">
                <a16:creationId xmlns:a16="http://schemas.microsoft.com/office/drawing/2014/main" id="{5520A562-CFAF-4530-A6B7-7E28A96260E0}"/>
              </a:ext>
            </a:extLst>
          </p:cNvPr>
          <p:cNvSpPr>
            <a:spLocks xmlns:a="http://schemas.openxmlformats.org/drawingml/2006/main" noGrp="1"/>
          </p:cNvSpPr>
          <p:nvPr/>
        </p:nvSpPr>
        <p:spPr>
          <a:xfrm xmlns:a="http://schemas.openxmlformats.org/drawingml/2006/main">
            <a:off x="971550" y="4953000"/>
            <a:ext cx="3743325" cy="0"/>
          </a:xfrm>
          <a:prstGeom xmlns:a="http://schemas.openxmlformats.org/drawingml/2006/main" prst="line">
            <a:avLst/>
          </a:prstGeom>
          <a:noFill xmlns:a="http://schemas.openxmlformats.org/drawingml/2006/main"/>
          <a:ln xmlns:a="http://schemas.openxmlformats.org/drawingml/2006/main" w="9525">
            <a:solidFill>
              <a:srgbClr val="D8DDD9"/>
            </a:solidFill>
            <a:prstDash val="solid"/>
          </a:ln>
        </p:spPr>
        <p:txBody>
          <a:bodyPr xmlns:a="http://schemas.openxmlformats.org/drawingml/2006/main"/>
          <a:lstStyle xmlns:a="http://schemas.openxmlformats.org/drawingml/2006/main"/>
          <a:p xmlns:a="http://schemas.openxmlformats.org/drawingml/2006/main">
            <a:endParaRPr/>
          </a:p>
        </p:txBody>
      </p:sp>
      <p:pic>
        <p:nvPicPr>
          <p:cNvPr id="119" name="Picture 103"/>
          <p:cNvPicPr>
            <a:picLocks xmlns:a="http://schemas.openxmlformats.org/drawingml/2006/main" noChangeAspect="1"/>
          </p:cNvPicPr>
          <p:nvPr/>
        </p:nvPicPr>
        <p:blipFill>
          <a:blip xmlns:r="http://schemas.openxmlformats.org/officeDocument/2006/relationships" xmlns:a="http://schemas.openxmlformats.org/drawingml/2006/main" r:embed="Re4b57b42c4c64a21"/>
          <a:stretch xmlns:a="http://schemas.openxmlformats.org/drawingml/2006/main"/>
        </p:blipFill>
        <p:spPr>
          <a:xfrm xmlns:a="http://schemas.openxmlformats.org/drawingml/2006/main">
            <a:off x="600075" y="5059680"/>
            <a:ext cx="304800" cy="243840"/>
          </a:xfrm>
          <a:prstGeom xmlns:a="http://schemas.openxmlformats.org/drawingml/2006/main" prst="rect">
            <a:avLst/>
          </a:prstGeom>
        </p:spPr>
      </p:pic>
      <p:sp>
        <p:nvSpPr>
          <p:cNvPr id="41" name="Rectangle 40">
            <a:extLst xmlns:a="http://schemas.openxmlformats.org/drawingml/2006/main">
              <a:ext uri="{FF2B5EF4-FFF2-40B4-BE49-F238E27FC236}">
                <a16:creationId xmlns:a16="http://schemas.microsoft.com/office/drawing/2014/main" id="{F1AC0AF7-CEAD-416C-835F-A8E4E0E9D4ED}"/>
              </a:ext>
            </a:extLst>
          </p:cNvPr>
          <p:cNvSpPr>
            <a:spLocks xmlns:a="http://schemas.openxmlformats.org/drawingml/2006/main" noGrp="1"/>
          </p:cNvSpPr>
          <p:nvPr/>
        </p:nvSpPr>
        <p:spPr>
          <a:xfrm xmlns:a="http://schemas.openxmlformats.org/drawingml/2006/main">
            <a:off x="1095375" y="5095875"/>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013" b="1" i="0">
                <a:solidFill>
                  <a:srgbClr val="003B25"/>
                </a:solidFill>
                <a:latin typeface="Arial"/>
                <a:ea typeface="Arial"/>
                <a:cs typeface="Arial"/>
              </a:defRPr>
            </a:pPr>
            <a:r>
              <a:rPr sz="1013" b="1" i="0">
                <a:solidFill>
                  <a:srgbClr val="003B25"/>
                </a:solidFill>
                <a:latin typeface="Arial"/>
                <a:ea typeface="Arial"/>
                <a:cs typeface="Arial"/>
              </a:rPr>
              <a:t>Storage Type</a:t>
            </a:r>
          </a:p>
        </p:txBody>
      </p:sp>
      <p:sp>
        <p:nvSpPr>
          <p:cNvPr id="42" name="editable-ocvs-storage-type">
            <a:extLst xmlns:a="http://schemas.openxmlformats.org/drawingml/2006/main">
              <a:ext uri="{FF2B5EF4-FFF2-40B4-BE49-F238E27FC236}">
                <a16:creationId xmlns:a16="http://schemas.microsoft.com/office/drawing/2014/main" id="{0D164D0D-8AB5-4407-9EE9-E57C7BA98C66}"/>
              </a:ext>
            </a:extLst>
          </p:cNvPr>
          <p:cNvSpPr>
            <a:spLocks xmlns:a="http://schemas.openxmlformats.org/drawingml/2006/main" noGrp="1"/>
          </p:cNvSpPr>
          <p:nvPr/>
        </p:nvSpPr>
        <p:spPr>
          <a:xfrm xmlns:a="http://schemas.openxmlformats.org/drawingml/2006/main">
            <a:off x="2714625" y="5095875"/>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013" b="0" i="0">
                <a:solidFill>
                  <a:srgbClr val="111111"/>
                </a:solidFill>
                <a:latin typeface="Arial"/>
                <a:ea typeface="Arial"/>
                <a:cs typeface="Arial"/>
              </a:defRPr>
            </a:pPr>
            <a:r>
              <a:rPr sz="1013" b="0" i="0">
                <a:solidFill>
                  <a:srgbClr val="111111"/>
                </a:solidFill>
                <a:latin typeface="Arial"/>
                <a:ea typeface="Arial"/>
                <a:cs typeface="Arial"/>
              </a:rPr>
              <a:t>OCI Block Volume</a:t>
            </a:r>
          </a:p>
        </p:txBody>
      </p:sp>
      <p:sp>
        <p:nvSpPr>
          <p:cNvPr id="43" name="Rounded Rectangle 42">
            <a:extLst xmlns:a="http://schemas.openxmlformats.org/drawingml/2006/main">
              <a:ext uri="{FF2B5EF4-FFF2-40B4-BE49-F238E27FC236}">
                <a16:creationId xmlns:a16="http://schemas.microsoft.com/office/drawing/2014/main" id="{F4A93DB1-0C11-4F07-995E-5594E63F6BCF}"/>
              </a:ext>
            </a:extLst>
          </p:cNvPr>
          <p:cNvSpPr>
            <a:spLocks xmlns:a="http://schemas.openxmlformats.org/drawingml/2006/main" noGrp="1"/>
          </p:cNvSpPr>
          <p:nvPr/>
        </p:nvSpPr>
        <p:spPr>
          <a:xfrm xmlns:a="http://schemas.openxmlformats.org/drawingml/2006/main">
            <a:off x="5153025" y="2600325"/>
            <a:ext cx="6657975" cy="2790825"/>
          </a:xfrm>
          <a:prstGeom xmlns:a="http://schemas.openxmlformats.org/drawingml/2006/main" prst="roundRect">
            <a:avLst>
              <a:gd name="adj" fmla="val 2389"/>
            </a:avLst>
          </a:prstGeom>
          <a:solidFill xmlns:a="http://schemas.openxmlformats.org/drawingml/2006/main">
            <a:srgbClr val="FFFFFF"/>
          </a:solidFill>
          <a:ln xmlns:a="http://schemas.openxmlformats.org/drawingml/2006/main" w="9525">
            <a:solidFill>
              <a:srgbClr val="D9DED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44" name="Rounded Rectangle 43">
            <a:extLst xmlns:a="http://schemas.openxmlformats.org/drawingml/2006/main">
              <a:ext uri="{FF2B5EF4-FFF2-40B4-BE49-F238E27FC236}">
                <a16:creationId xmlns:a16="http://schemas.microsoft.com/office/drawing/2014/main" id="{19693974-293E-4E08-91F3-7697E0B7E601}"/>
              </a:ext>
            </a:extLst>
          </p:cNvPr>
          <p:cNvSpPr>
            <a:spLocks xmlns:a="http://schemas.openxmlformats.org/drawingml/2006/main" noGrp="1"/>
          </p:cNvSpPr>
          <p:nvPr/>
        </p:nvSpPr>
        <p:spPr>
          <a:xfrm xmlns:a="http://schemas.openxmlformats.org/drawingml/2006/main">
            <a:off x="5153025" y="2600325"/>
            <a:ext cx="6657975" cy="342900"/>
          </a:xfrm>
          <a:prstGeom xmlns:a="http://schemas.openxmlformats.org/drawingml/2006/main" prst="roundRect">
            <a:avLst>
              <a:gd name="adj" fmla="val 19444"/>
            </a:avLst>
          </a:prstGeom>
          <a:gradFill xmlns:a="http://schemas.openxmlformats.org/drawingml/2006/main">
            <a:gsLst>
              <a:gs pos="0">
                <a:srgbClr val="003B25"/>
              </a:gs>
              <a:gs pos="100000">
                <a:srgbClr val="0B4B30"/>
              </a:gs>
            </a:gsLst>
            <a:lin ang="5400000"/>
          </a:gra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45" name="Rectangle 44">
            <a:extLst xmlns:a="http://schemas.openxmlformats.org/drawingml/2006/main">
              <a:ext uri="{FF2B5EF4-FFF2-40B4-BE49-F238E27FC236}">
                <a16:creationId xmlns:a16="http://schemas.microsoft.com/office/drawing/2014/main" id="{D3A91228-06D1-492A-84C7-F52EB6AE30B6}"/>
              </a:ext>
            </a:extLst>
          </p:cNvPr>
          <p:cNvSpPr>
            <a:spLocks xmlns:a="http://schemas.openxmlformats.org/drawingml/2006/main" noGrp="1"/>
          </p:cNvSpPr>
          <p:nvPr/>
        </p:nvSpPr>
        <p:spPr>
          <a:xfrm xmlns:a="http://schemas.openxmlformats.org/drawingml/2006/main">
            <a:off x="5153025" y="2876550"/>
            <a:ext cx="6657975" cy="66675"/>
          </a:xfrm>
          <a:prstGeom xmlns:a="http://schemas.openxmlformats.org/drawingml/2006/main" prst="rect">
            <a:avLst/>
          </a:prstGeom>
          <a:gradFill xmlns:a="http://schemas.openxmlformats.org/drawingml/2006/main">
            <a:gsLst>
              <a:gs pos="0">
                <a:srgbClr val="003B25"/>
              </a:gs>
              <a:gs pos="100000">
                <a:srgbClr val="0B4B30"/>
              </a:gs>
            </a:gsLst>
            <a:lin ang="5400000"/>
          </a:gra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pic>
        <p:nvPicPr>
          <p:cNvPr id="125" name="Picture 109"/>
          <p:cNvPicPr>
            <a:picLocks xmlns:a="http://schemas.openxmlformats.org/drawingml/2006/main" noChangeAspect="1"/>
          </p:cNvPicPr>
          <p:nvPr/>
        </p:nvPicPr>
        <p:blipFill>
          <a:blip xmlns:r="http://schemas.openxmlformats.org/officeDocument/2006/relationships" xmlns:a="http://schemas.openxmlformats.org/drawingml/2006/main" r:embed="R7a67164f4c154a51"/>
          <a:stretch xmlns:a="http://schemas.openxmlformats.org/drawingml/2006/main"/>
        </p:blipFill>
        <p:spPr>
          <a:xfrm xmlns:a="http://schemas.openxmlformats.org/drawingml/2006/main">
            <a:off x="5377053" y="2676525"/>
            <a:ext cx="237744" cy="228600"/>
          </a:xfrm>
          <a:prstGeom xmlns:a="http://schemas.openxmlformats.org/drawingml/2006/main" prst="rect">
            <a:avLst/>
          </a:prstGeom>
        </p:spPr>
      </p:pic>
      <p:sp>
        <p:nvSpPr>
          <p:cNvPr id="47" name="Rectangle 46">
            <a:extLst xmlns:a="http://schemas.openxmlformats.org/drawingml/2006/main">
              <a:ext uri="{FF2B5EF4-FFF2-40B4-BE49-F238E27FC236}">
                <a16:creationId xmlns:a16="http://schemas.microsoft.com/office/drawing/2014/main" id="{C1C7126B-261C-4305-996E-A098C771BD53}"/>
              </a:ext>
            </a:extLst>
          </p:cNvPr>
          <p:cNvSpPr>
            <a:spLocks xmlns:a="http://schemas.openxmlformats.org/drawingml/2006/main" noGrp="1"/>
          </p:cNvSpPr>
          <p:nvPr/>
        </p:nvSpPr>
        <p:spPr>
          <a:xfrm xmlns:a="http://schemas.openxmlformats.org/drawingml/2006/main">
            <a:off x="5734050" y="2724150"/>
            <a:ext cx="1714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975" b="1" i="0">
                <a:solidFill>
                  <a:srgbClr val="FFFFFF"/>
                </a:solidFill>
                <a:latin typeface="Arial"/>
                <a:ea typeface="Arial"/>
                <a:cs typeface="Arial"/>
              </a:defRPr>
            </a:pPr>
            <a:r>
              <a:rPr sz="975" b="1" i="0">
                <a:solidFill>
                  <a:srgbClr val="FFFFFF"/>
                </a:solidFill>
                <a:latin typeface="Arial"/>
                <a:ea typeface="Arial"/>
                <a:cs typeface="Arial"/>
              </a:rPr>
              <a:t>Cluster Distribution</a:t>
            </a:r>
          </a:p>
        </p:txBody>
      </p:sp>
      <p:sp>
        <p:nvSpPr>
          <p:cNvPr id="48" name="Rounded Rectangle 47">
            <a:extLst xmlns:a="http://schemas.openxmlformats.org/drawingml/2006/main">
              <a:ext uri="{FF2B5EF4-FFF2-40B4-BE49-F238E27FC236}">
                <a16:creationId xmlns:a16="http://schemas.microsoft.com/office/drawing/2014/main" id="{0402606C-82ED-44F9-89DE-F2BB23C1D685}"/>
              </a:ext>
            </a:extLst>
          </p:cNvPr>
          <p:cNvSpPr>
            <a:spLocks xmlns:a="http://schemas.openxmlformats.org/drawingml/2006/main" noGrp="1"/>
          </p:cNvSpPr>
          <p:nvPr/>
        </p:nvSpPr>
        <p:spPr>
          <a:xfrm xmlns:a="http://schemas.openxmlformats.org/drawingml/2006/main">
            <a:off x="5372100" y="3152775"/>
            <a:ext cx="6134100" cy="2105025"/>
          </a:xfrm>
          <a:prstGeom xmlns:a="http://schemas.openxmlformats.org/drawingml/2006/main" prst="roundRect">
            <a:avLst>
              <a:gd name="adj" fmla="val 3167"/>
            </a:avLst>
          </a:prstGeom>
          <a:solidFill xmlns:a="http://schemas.openxmlformats.org/drawingml/2006/main">
            <a:srgbClr val="FFFFFF"/>
          </a:solidFill>
          <a:ln xmlns:a="http://schemas.openxmlformats.org/drawingml/2006/main" w="9525">
            <a:solidFill>
              <a:srgbClr val="D9DEDA"/>
            </a:solidFill>
            <a:prstDash val="solid"/>
          </a:ln>
        </p:spPr>
        <p:txBody>
          <a:bodyPr xmlns:a="http://schemas.openxmlformats.org/drawingml/2006/main"/>
          <a:lstStyle xmlns:a="http://schemas.openxmlformats.org/drawingml/2006/main"/>
          <a:p xmlns:a="http://schemas.openxmlformats.org/drawingml/2006/main">
            <a:endParaRPr/>
          </a:p>
        </p:txBody>
      </p:sp>
      <p:sp>
        <p:nvSpPr>
          <p:cNvPr id="49" name="Rectangle 48">
            <a:extLst xmlns:a="http://schemas.openxmlformats.org/drawingml/2006/main">
              <a:ext uri="{FF2B5EF4-FFF2-40B4-BE49-F238E27FC236}">
                <a16:creationId xmlns:a16="http://schemas.microsoft.com/office/drawing/2014/main" id="{5F9F1C6B-88CC-42AF-8D36-9A21C96472C5}"/>
              </a:ext>
            </a:extLst>
          </p:cNvPr>
          <p:cNvSpPr>
            <a:spLocks xmlns:a="http://schemas.openxmlformats.org/drawingml/2006/main" noGrp="1"/>
          </p:cNvSpPr>
          <p:nvPr/>
        </p:nvSpPr>
        <p:spPr>
          <a:xfrm xmlns:a="http://schemas.openxmlformats.org/drawingml/2006/main">
            <a:off x="5381625" y="3162300"/>
            <a:ext cx="6115050" cy="723900"/>
          </a:xfrm>
          <a:prstGeom xmlns:a="http://schemas.openxmlformats.org/drawingml/2006/main" prst="rect">
            <a:avLst/>
          </a:prstGeom>
          <a:solidFill xmlns:a="http://schemas.openxmlformats.org/drawingml/2006/main">
            <a:srgbClr val="F4F8F5"/>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pic>
        <p:nvPicPr>
          <p:cNvPr id="129" name="Picture 113"/>
          <p:cNvPicPr>
            <a:picLocks xmlns:a="http://schemas.openxmlformats.org/drawingml/2006/main" noChangeAspect="1"/>
          </p:cNvPicPr>
          <p:nvPr/>
        </p:nvPicPr>
        <p:blipFill>
          <a:blip xmlns:r="http://schemas.openxmlformats.org/officeDocument/2006/relationships" xmlns:a="http://schemas.openxmlformats.org/drawingml/2006/main" r:embed="R2bdc39d155dd4f8a"/>
          <a:stretch xmlns:a="http://schemas.openxmlformats.org/drawingml/2006/main"/>
        </p:blipFill>
        <p:spPr>
          <a:xfrm xmlns:a="http://schemas.openxmlformats.org/drawingml/2006/main">
            <a:off x="7172325" y="3209925"/>
            <a:ext cx="714375" cy="666750"/>
          </a:xfrm>
          <a:prstGeom xmlns:a="http://schemas.openxmlformats.org/drawingml/2006/main" prst="rect">
            <a:avLst/>
          </a:prstGeom>
        </p:spPr>
      </p:pic>
      <p:sp>
        <p:nvSpPr>
          <p:cNvPr id="51" name="Rectangle 50">
            <a:extLst xmlns:a="http://schemas.openxmlformats.org/drawingml/2006/main">
              <a:ext uri="{FF2B5EF4-FFF2-40B4-BE49-F238E27FC236}">
                <a16:creationId xmlns:a16="http://schemas.microsoft.com/office/drawing/2014/main" id="{8DC09F75-7A31-4E16-A176-3E722DEDC7AA}"/>
              </a:ext>
            </a:extLst>
          </p:cNvPr>
          <p:cNvSpPr>
            <a:spLocks xmlns:a="http://schemas.openxmlformats.org/drawingml/2006/main" noGrp="1"/>
          </p:cNvSpPr>
          <p:nvPr/>
        </p:nvSpPr>
        <p:spPr>
          <a:xfrm xmlns:a="http://schemas.openxmlformats.org/drawingml/2006/main">
            <a:off x="7934325" y="3476625"/>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350" b="1" i="0">
                <a:solidFill>
                  <a:srgbClr val="003B25"/>
                </a:solidFill>
                <a:latin typeface="Arial"/>
                <a:ea typeface="Arial"/>
                <a:cs typeface="Arial"/>
              </a:defRPr>
            </a:pPr>
            <a:r>
              <a:rPr sz="1350" b="1" i="0">
                <a:solidFill>
                  <a:srgbClr val="003B25"/>
                </a:solidFill>
                <a:latin typeface="Arial"/>
                <a:ea typeface="Arial"/>
                <a:cs typeface="Arial"/>
              </a:rPr>
              <a:t>Production</a:t>
            </a:r>
          </a:p>
        </p:txBody>
      </p:sp>
      <p:sp>
        <p:nvSpPr>
          <p:cNvPr id="52" name="Straight Connector 51">
            <a:extLst xmlns:a="http://schemas.openxmlformats.org/drawingml/2006/main">
              <a:ext uri="{FF2B5EF4-FFF2-40B4-BE49-F238E27FC236}">
                <a16:creationId xmlns:a16="http://schemas.microsoft.com/office/drawing/2014/main" id="{1A3A9718-8C44-4242-B34F-F001FA6307F6}"/>
              </a:ext>
            </a:extLst>
          </p:cNvPr>
          <p:cNvSpPr>
            <a:spLocks xmlns:a="http://schemas.openxmlformats.org/drawingml/2006/main" noGrp="1"/>
          </p:cNvSpPr>
          <p:nvPr/>
        </p:nvSpPr>
        <p:spPr>
          <a:xfrm xmlns:a="http://schemas.openxmlformats.org/drawingml/2006/main">
            <a:off x="5505450" y="4619625"/>
            <a:ext cx="5705475" cy="0"/>
          </a:xfrm>
          <a:prstGeom xmlns:a="http://schemas.openxmlformats.org/drawingml/2006/main" prst="line">
            <a:avLst/>
          </a:prstGeom>
          <a:noFill xmlns:a="http://schemas.openxmlformats.org/drawingml/2006/main"/>
          <a:ln xmlns:a="http://schemas.openxmlformats.org/drawingml/2006/main" w="9525">
            <a:solidFill>
              <a:srgbClr val="D8DDD9"/>
            </a:solidFill>
            <a:prstDash val="solid"/>
          </a:ln>
        </p:spPr>
        <p:txBody>
          <a:bodyPr xmlns:a="http://schemas.openxmlformats.org/drawingml/2006/main"/>
          <a:lstStyle xmlns:a="http://schemas.openxmlformats.org/drawingml/2006/main"/>
          <a:p xmlns:a="http://schemas.openxmlformats.org/drawingml/2006/main">
            <a:endParaRPr/>
          </a:p>
        </p:txBody>
      </p:sp>
      <p:pic>
        <p:nvPicPr>
          <p:cNvPr id="132" name="Picture 116"/>
          <p:cNvPicPr>
            <a:picLocks xmlns:a="http://schemas.openxmlformats.org/drawingml/2006/main" noChangeAspect="1"/>
          </p:cNvPicPr>
          <p:nvPr/>
        </p:nvPicPr>
        <p:blipFill>
          <a:blip xmlns:r="http://schemas.openxmlformats.org/officeDocument/2006/relationships" xmlns:a="http://schemas.openxmlformats.org/drawingml/2006/main" r:embed="Rb6d57d87f93545dc"/>
          <a:stretch xmlns:a="http://schemas.openxmlformats.org/drawingml/2006/main"/>
        </p:blipFill>
        <p:spPr>
          <a:xfrm xmlns:a="http://schemas.openxmlformats.org/drawingml/2006/main">
            <a:off x="7305675" y="4171950"/>
            <a:ext cx="352425" cy="285750"/>
          </a:xfrm>
          <a:prstGeom xmlns:a="http://schemas.openxmlformats.org/drawingml/2006/main" prst="rect">
            <a:avLst/>
          </a:prstGeom>
        </p:spPr>
      </p:pic>
      <p:sp>
        <p:nvSpPr>
          <p:cNvPr id="54" name="editable-ocvs-production-hosts">
            <a:extLst xmlns:a="http://schemas.openxmlformats.org/drawingml/2006/main">
              <a:ext uri="{FF2B5EF4-FFF2-40B4-BE49-F238E27FC236}">
                <a16:creationId xmlns:a16="http://schemas.microsoft.com/office/drawing/2014/main" id="{DBA146ED-B71C-4C3A-ADBC-410FE533740C}"/>
              </a:ext>
            </a:extLst>
          </p:cNvPr>
          <p:cNvSpPr>
            <a:spLocks xmlns:a="http://schemas.openxmlformats.org/drawingml/2006/main" noGrp="1"/>
          </p:cNvSpPr>
          <p:nvPr/>
        </p:nvSpPr>
        <p:spPr>
          <a:xfrm xmlns:a="http://schemas.openxmlformats.org/drawingml/2006/main">
            <a:off x="7972425" y="4210050"/>
            <a:ext cx="228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800" b="1" i="0">
                <a:solidFill>
                  <a:srgbClr val="003B25"/>
                </a:solidFill>
                <a:latin typeface="Arial"/>
                <a:ea typeface="Arial"/>
                <a:cs typeface="Arial"/>
              </a:defRPr>
            </a:pPr>
            <a:r>
              <a:rPr sz="1800" b="1" i="0">
                <a:solidFill>
                  <a:srgbClr val="003B25"/>
                </a:solidFill>
                <a:latin typeface="Arial"/>
                <a:ea typeface="Arial"/>
                <a:cs typeface="Arial"/>
              </a:rPr>
              <a:t>4</a:t>
            </a:r>
          </a:p>
        </p:txBody>
      </p:sp>
      <p:sp>
        <p:nvSpPr>
          <p:cNvPr id="55" name="editable-ocvs-production-shape">
            <a:extLst xmlns:a="http://schemas.openxmlformats.org/drawingml/2006/main">
              <a:ext uri="{FF2B5EF4-FFF2-40B4-BE49-F238E27FC236}">
                <a16:creationId xmlns:a16="http://schemas.microsoft.com/office/drawing/2014/main" id="{5DBF9DD8-F59D-478A-A27E-79BABD53E9CC}"/>
              </a:ext>
            </a:extLst>
          </p:cNvPr>
          <p:cNvSpPr>
            <a:spLocks xmlns:a="http://schemas.openxmlformats.org/drawingml/2006/main" noGrp="1"/>
          </p:cNvSpPr>
          <p:nvPr/>
        </p:nvSpPr>
        <p:spPr>
          <a:xfrm xmlns:a="http://schemas.openxmlformats.org/drawingml/2006/main">
            <a:off x="8239125" y="4286250"/>
            <a:ext cx="95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050" b="0" i="0">
                <a:solidFill>
                  <a:srgbClr val="111111"/>
                </a:solidFill>
                <a:latin typeface="Arial"/>
                <a:ea typeface="Arial"/>
                <a:cs typeface="Arial"/>
              </a:defRPr>
            </a:pPr>
            <a:r>
              <a:rPr sz="1050" b="0" i="0">
                <a:solidFill>
                  <a:srgbClr val="111111"/>
                </a:solidFill>
                <a:latin typeface="Arial"/>
                <a:ea typeface="Arial"/>
                <a:cs typeface="Arial"/>
              </a:rPr>
              <a:t>x AMD E4</a:t>
            </a:r>
          </a:p>
        </p:txBody>
      </p:sp>
      <p:pic>
        <p:nvPicPr>
          <p:cNvPr id="135" name="Picture 119"/>
          <p:cNvPicPr>
            <a:picLocks xmlns:a="http://schemas.openxmlformats.org/drawingml/2006/main" noChangeAspect="1"/>
          </p:cNvPicPr>
          <p:nvPr/>
        </p:nvPicPr>
        <p:blipFill>
          <a:blip xmlns:r="http://schemas.openxmlformats.org/officeDocument/2006/relationships" xmlns:a="http://schemas.openxmlformats.org/drawingml/2006/main" r:embed="R704f84f9c3954214"/>
          <a:stretch xmlns:a="http://schemas.openxmlformats.org/drawingml/2006/main"/>
        </p:blipFill>
        <p:spPr>
          <a:xfrm xmlns:a="http://schemas.openxmlformats.org/drawingml/2006/main">
            <a:off x="7315200" y="4756735"/>
            <a:ext cx="342900" cy="306805"/>
          </a:xfrm>
          <a:prstGeom xmlns:a="http://schemas.openxmlformats.org/drawingml/2006/main" prst="rect">
            <a:avLst/>
          </a:prstGeom>
        </p:spPr>
      </p:pic>
      <p:sp>
        <p:nvSpPr>
          <p:cNvPr id="57" name="editable-ocvs-production-storage">
            <a:extLst xmlns:a="http://schemas.openxmlformats.org/drawingml/2006/main">
              <a:ext uri="{FF2B5EF4-FFF2-40B4-BE49-F238E27FC236}">
                <a16:creationId xmlns:a16="http://schemas.microsoft.com/office/drawing/2014/main" id="{61B41578-806C-4401-935D-8C6BDB5BD3B9}"/>
              </a:ext>
            </a:extLst>
          </p:cNvPr>
          <p:cNvSpPr>
            <a:spLocks xmlns:a="http://schemas.openxmlformats.org/drawingml/2006/main" noGrp="1"/>
          </p:cNvSpPr>
          <p:nvPr/>
        </p:nvSpPr>
        <p:spPr>
          <a:xfrm xmlns:a="http://schemas.openxmlformats.org/drawingml/2006/main">
            <a:off x="7991475" y="4810125"/>
            <a:ext cx="5429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800" b="1" i="0">
                <a:solidFill>
                  <a:srgbClr val="003B25"/>
                </a:solidFill>
                <a:latin typeface="Arial"/>
                <a:ea typeface="Arial"/>
                <a:cs typeface="Arial"/>
              </a:defRPr>
            </a:pPr>
            <a:r>
              <a:rPr sz="1800" b="1" i="0">
                <a:solidFill>
                  <a:srgbClr val="003B25"/>
                </a:solidFill>
                <a:latin typeface="Arial"/>
                <a:ea typeface="Arial"/>
                <a:cs typeface="Arial"/>
              </a:rPr>
              <a:t>200</a:t>
            </a:r>
          </a:p>
        </p:txBody>
      </p:sp>
      <p:sp>
        <p:nvSpPr>
          <p:cNvPr id="58" name="Rectangle 57">
            <a:extLst xmlns:a="http://schemas.openxmlformats.org/drawingml/2006/main">
              <a:ext uri="{FF2B5EF4-FFF2-40B4-BE49-F238E27FC236}">
                <a16:creationId xmlns:a16="http://schemas.microsoft.com/office/drawing/2014/main" id="{98B6B2C4-DDC4-44ED-9B4E-5C1A4C0A5328}"/>
              </a:ext>
            </a:extLst>
          </p:cNvPr>
          <p:cNvSpPr>
            <a:spLocks xmlns:a="http://schemas.openxmlformats.org/drawingml/2006/main" noGrp="1"/>
          </p:cNvSpPr>
          <p:nvPr/>
        </p:nvSpPr>
        <p:spPr>
          <a:xfrm xmlns:a="http://schemas.openxmlformats.org/drawingml/2006/main">
            <a:off x="8524875" y="4895850"/>
            <a:ext cx="304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050" b="1" i="0">
                <a:solidFill>
                  <a:srgbClr val="003B25"/>
                </a:solidFill>
                <a:latin typeface="Arial"/>
                <a:ea typeface="Arial"/>
                <a:cs typeface="Arial"/>
              </a:defRPr>
            </a:pPr>
            <a:r>
              <a:rPr sz="1050" b="1" i="0">
                <a:solidFill>
                  <a:srgbClr val="003B25"/>
                </a:solidFill>
                <a:latin typeface="Arial"/>
                <a:ea typeface="Arial"/>
                <a:cs typeface="Arial"/>
              </a:rPr>
              <a:t>TB</a:t>
            </a:r>
          </a:p>
        </p:txBody>
      </p:sp>
      <p:sp>
        <p:nvSpPr>
          <p:cNvPr id="59" name="Rounded Rectangle 58">
            <a:extLst xmlns:a="http://schemas.openxmlformats.org/drawingml/2006/main">
              <a:ext uri="{FF2B5EF4-FFF2-40B4-BE49-F238E27FC236}">
                <a16:creationId xmlns:a16="http://schemas.microsoft.com/office/drawing/2014/main" id="{FEA89CD6-5A66-491C-901C-25FF456DC8A4}"/>
              </a:ext>
            </a:extLst>
          </p:cNvPr>
          <p:cNvSpPr>
            <a:spLocks xmlns:a="http://schemas.openxmlformats.org/drawingml/2006/main" noGrp="1"/>
          </p:cNvSpPr>
          <p:nvPr/>
        </p:nvSpPr>
        <p:spPr>
          <a:xfrm xmlns:a="http://schemas.openxmlformats.org/drawingml/2006/main">
            <a:off x="361950" y="5553075"/>
            <a:ext cx="11449050" cy="619125"/>
          </a:xfrm>
          <a:prstGeom xmlns:a="http://schemas.openxmlformats.org/drawingml/2006/main" prst="roundRect">
            <a:avLst>
              <a:gd name="adj" fmla="val 6154"/>
            </a:avLst>
          </a:prstGeom>
          <a:gradFill xmlns:a="http://schemas.openxmlformats.org/drawingml/2006/main">
            <a:gsLst>
              <a:gs pos="0">
                <a:srgbClr val="F0F6F2"/>
              </a:gs>
              <a:gs pos="100000">
                <a:srgbClr val="F7FAF8"/>
              </a:gs>
            </a:gsLst>
            <a:lin ang="5400000"/>
          </a:gra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pic>
        <p:nvPicPr>
          <p:cNvPr id="139" name="Picture 123"/>
          <p:cNvPicPr>
            <a:picLocks xmlns:a="http://schemas.openxmlformats.org/drawingml/2006/main" noChangeAspect="1"/>
          </p:cNvPicPr>
          <p:nvPr/>
        </p:nvPicPr>
        <p:blipFill>
          <a:blip xmlns:r="http://schemas.openxmlformats.org/officeDocument/2006/relationships" xmlns:a="http://schemas.openxmlformats.org/drawingml/2006/main" r:embed="R7b994a5205714a00"/>
          <a:stretch xmlns:a="http://schemas.openxmlformats.org/drawingml/2006/main"/>
        </p:blipFill>
        <p:spPr>
          <a:xfrm xmlns:a="http://schemas.openxmlformats.org/drawingml/2006/main">
            <a:off x="542925" y="5647619"/>
            <a:ext cx="476250" cy="458611"/>
          </a:xfrm>
          <a:prstGeom xmlns:a="http://schemas.openxmlformats.org/drawingml/2006/main" prst="rect">
            <a:avLst/>
          </a:prstGeom>
        </p:spPr>
      </p:pic>
      <p:sp>
        <p:nvSpPr>
          <p:cNvPr id="61" name="Rectangle 60">
            <a:extLst xmlns:a="http://schemas.openxmlformats.org/drawingml/2006/main">
              <a:ext uri="{FF2B5EF4-FFF2-40B4-BE49-F238E27FC236}">
                <a16:creationId xmlns:a16="http://schemas.microsoft.com/office/drawing/2014/main" id="{5DAD0D36-AD01-4390-AC74-7C58CD1446C4}"/>
              </a:ext>
            </a:extLst>
          </p:cNvPr>
          <p:cNvSpPr>
            <a:spLocks xmlns:a="http://schemas.openxmlformats.org/drawingml/2006/main" noGrp="1"/>
          </p:cNvSpPr>
          <p:nvPr/>
        </p:nvSpPr>
        <p:spPr>
          <a:xfrm xmlns:a="http://schemas.openxmlformats.org/drawingml/2006/main">
            <a:off x="1200150" y="5695950"/>
            <a:ext cx="647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163" b="1" i="0">
                <a:solidFill>
                  <a:srgbClr val="003B25"/>
                </a:solidFill>
                <a:latin typeface="Arial"/>
                <a:ea typeface="Arial"/>
                <a:cs typeface="Arial"/>
              </a:defRPr>
            </a:pPr>
            <a:r>
              <a:rPr sz="1163" b="1" i="0">
                <a:solidFill>
                  <a:srgbClr val="003B25"/>
                </a:solidFill>
                <a:latin typeface="Arial"/>
                <a:ea typeface="Arial"/>
                <a:cs typeface="Arial"/>
              </a:rPr>
              <a:t>Right-sized architecture designed to support current workloads and future growth</a:t>
            </a:r>
          </a:p>
        </p:txBody>
      </p:sp>
      <p:sp>
        <p:nvSpPr>
          <p:cNvPr id="62" name="Rectangle 61">
            <a:extLst xmlns:a="http://schemas.openxmlformats.org/drawingml/2006/main">
              <a:ext uri="{FF2B5EF4-FFF2-40B4-BE49-F238E27FC236}">
                <a16:creationId xmlns:a16="http://schemas.microsoft.com/office/drawing/2014/main" id="{68EC56A3-D2EC-4108-96A2-02243E8CFF9E}"/>
              </a:ext>
            </a:extLst>
          </p:cNvPr>
          <p:cNvSpPr>
            <a:spLocks xmlns:a="http://schemas.openxmlformats.org/drawingml/2006/main" noGrp="1"/>
          </p:cNvSpPr>
          <p:nvPr/>
        </p:nvSpPr>
        <p:spPr>
          <a:xfrm xmlns:a="http://schemas.openxmlformats.org/drawingml/2006/main">
            <a:off x="1200150" y="5924550"/>
            <a:ext cx="3524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125" b="0" i="0">
                <a:solidFill>
                  <a:srgbClr val="111111"/>
                </a:solidFill>
                <a:latin typeface="Arial"/>
                <a:ea typeface="Arial"/>
                <a:cs typeface="Arial"/>
              </a:defRPr>
            </a:pPr>
            <a:r>
              <a:rPr sz="1125" b="0" i="0">
                <a:solidFill>
                  <a:srgbClr val="111111"/>
                </a:solidFill>
                <a:latin typeface="Arial"/>
                <a:ea typeface="Arial"/>
                <a:cs typeface="Arial"/>
              </a:rPr>
              <a:t>while optimizing cost and performance.</a:t>
            </a:r>
          </a:p>
        </p:txBody>
      </p:sp>
      <p:sp>
        <p:nvSpPr>
          <p:cNvPr id="63" name="Rectangle 62">
            <a:extLst xmlns:a="http://schemas.openxmlformats.org/drawingml/2006/main">
              <a:ext uri="{FF2B5EF4-FFF2-40B4-BE49-F238E27FC236}">
                <a16:creationId xmlns:a16="http://schemas.microsoft.com/office/drawing/2014/main" id="{37F63975-8C02-4B96-9126-5015455BA972}"/>
              </a:ext>
            </a:extLst>
          </p:cNvPr>
          <p:cNvSpPr>
            <a:spLocks xmlns:a="http://schemas.openxmlformats.org/drawingml/2006/main" noGrp="1"/>
          </p:cNvSpPr>
          <p:nvPr/>
        </p:nvSpPr>
        <p:spPr>
          <a:xfrm xmlns:a="http://schemas.openxmlformats.org/drawingml/2006/main">
            <a:off x="1133475" y="6553200"/>
            <a:ext cx="5334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675" b="0" i="0">
                <a:solidFill>
                  <a:srgbClr val="5C5C5C"/>
                </a:solidFill>
                <a:latin typeface="Arial"/>
                <a:ea typeface="Arial"/>
                <a:cs typeface="Arial"/>
              </a:defRPr>
            </a:pPr>
            <a:r>
              <a:rPr sz="675" b="0" i="0">
                <a:solidFill>
                  <a:srgbClr val="5C5C5C"/>
                </a:solidFill>
                <a:latin typeface="Arial"/>
                <a:ea typeface="Arial"/>
                <a:cs typeface="Arial"/>
              </a:rPr>
              <a:t>Copyright © 2026, Oracle and/or its affiliates | Confidential: Internal/Restricted/Highly Restricted</a:t>
            </a:r>
          </a:p>
        </p:txBody>
      </p:sp>
      <p:pic>
        <p:nvPicPr>
          <p:cNvPr id="143" name="Picture 127"/>
          <p:cNvPicPr>
            <a:picLocks xmlns:a="http://schemas.openxmlformats.org/drawingml/2006/main" noChangeAspect="1"/>
          </p:cNvPicPr>
          <p:nvPr/>
        </p:nvPicPr>
        <p:blipFill>
          <a:blip xmlns:r="http://schemas.openxmlformats.org/officeDocument/2006/relationships" xmlns:a="http://schemas.openxmlformats.org/drawingml/2006/main" r:embed="R1ee78c23a1b246bb"/>
          <a:stretch xmlns:a="http://schemas.openxmlformats.org/drawingml/2006/main"/>
        </p:blipFill>
        <p:spPr>
          <a:xfrm xmlns:a="http://schemas.openxmlformats.org/drawingml/2006/main">
            <a:off x="11401979" y="6457950"/>
            <a:ext cx="446567" cy="400050"/>
          </a:xfrm>
          <a:prstGeom xmlns:a="http://schemas.openxmlformats.org/drawingml/2006/main" prst="rect">
            <a:avLst/>
          </a:prstGeom>
        </p:spPr>
      </p:pic>
    </p:spTree>
    <p:extLst>
      <p:ext uri="{BB962C8B-B14F-4D97-AF65-F5344CB8AC3E}">
        <p14:creationId xmlns:p14="http://schemas.microsoft.com/office/powerpoint/2010/main" val="789669987"/>
      </p:ext>
    </p:extLst>
  </p:cSld>
</p:sld>
</file>

<file path=ppt/slides/slide6.xml><?xml version="1.0" encoding="utf-8"?>
<p:sld xmlns:p="http://schemas.openxmlformats.org/presentationml/2006/main">
  <p:cSld>
    <p:bg>
      <p:bgPr>
        <a:solidFill xmlns:a="http://schemas.openxmlformats.org/drawingml/2006/main">
          <a:srgbClr val="E9E9E9"/>
        </a:solidFill>
      </p:bgPr>
    </p:bg>
    <p:spTree>
      <p:nvGrpSpPr>
        <p:cNvPr id="1" name=""/>
        <p:cNvGrpSpPr/>
        <p:nvPr/>
      </p:nvGrpSpPr>
      <p:grpSpPr>
        <a:xfrm xmlns:a="http://schemas.openxmlformats.org/drawingml/2006/main"/>
      </p:grpSpPr>
      <p:sp>
        <p:nvSpPr>
          <p:cNvPr id="4" name="Rectangle 3">
            <a:extLst xmlns:a="http://schemas.openxmlformats.org/drawingml/2006/main">
              <a:ext uri="{FF2B5EF4-FFF2-40B4-BE49-F238E27FC236}">
                <a16:creationId xmlns:a16="http://schemas.microsoft.com/office/drawing/2014/main" id="{A3030B4A-2296-4E67-AE3A-90D3730F76AA}"/>
              </a:ext>
            </a:extLst>
          </p:cNvPr>
          <p:cNvSpPr>
            <a:spLocks xmlns:a="http://schemas.openxmlformats.org/drawingml/2006/main" noGrp="1"/>
          </p:cNvSpPr>
          <p:nvPr/>
        </p:nvSpPr>
        <p:spPr>
          <a:xfrm xmlns:a="http://schemas.openxmlformats.org/drawingml/2006/main">
            <a:off x="66675" y="85725"/>
            <a:ext cx="266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05000"/>
              </a:lnSpc>
              <a:buNone/>
              <a:defRPr sz="825" b="0" i="0">
                <a:solidFill>
                  <a:srgbClr val="777777"/>
                </a:solidFill>
                <a:latin typeface="Arial"/>
                <a:ea typeface="Arial"/>
                <a:cs typeface="Arial"/>
              </a:defRPr>
            </a:pPr>
            <a:r>
              <a:rPr sz="825" b="0" i="0">
                <a:solidFill>
                  <a:srgbClr val="777777"/>
                </a:solidFill>
                <a:latin typeface="Arial"/>
                <a:ea typeface="Arial"/>
                <a:cs typeface="Arial"/>
              </a:rPr>
              <a:t>Confidential - Oracle Restricted \Employees</a:t>
            </a:r>
          </a:p>
          <a:p xmlns:a="http://schemas.openxmlformats.org/drawingml/2006/main">
            <a:pPr algn="l">
              <a:lnSpc>
                <a:spcPct val="105000"/>
              </a:lnSpc>
              <a:buNone/>
              <a:defRPr sz="825" b="0" i="0">
                <a:solidFill>
                  <a:srgbClr val="777777"/>
                </a:solidFill>
                <a:latin typeface="Arial"/>
                <a:ea typeface="Arial"/>
                <a:cs typeface="Arial"/>
              </a:defRPr>
            </a:pPr>
            <a:r>
              <a:rPr sz="825" b="0" i="0">
                <a:solidFill>
                  <a:srgbClr val="777777"/>
                </a:solidFill>
                <a:latin typeface="Arial"/>
                <a:ea typeface="Arial"/>
                <a:cs typeface="Arial"/>
              </a:rPr>
              <a:t>Only</a:t>
            </a:r>
          </a:p>
        </p:txBody>
      </p:sp>
      <p:pic>
        <p:nvPicPr>
          <p:cNvPr id="7" name="Picture 4"/>
          <p:cNvPicPr>
            <a:picLocks xmlns:a="http://schemas.openxmlformats.org/drawingml/2006/main" noChangeAspect="1"/>
          </p:cNvPicPr>
          <p:nvPr/>
        </p:nvPicPr>
        <p:blipFill>
          <a:blip xmlns:r="http://schemas.openxmlformats.org/officeDocument/2006/relationships" xmlns:a="http://schemas.openxmlformats.org/drawingml/2006/main" r:embed="R38c12c5cd140434b"/>
          <a:stretch xmlns:a="http://schemas.openxmlformats.org/drawingml/2006/main"/>
        </p:blipFill>
        <p:spPr>
          <a:xfrm xmlns:a="http://schemas.openxmlformats.org/drawingml/2006/main">
            <a:off x="4219575" y="3185422"/>
            <a:ext cx="3752850" cy="534781"/>
          </a:xfrm>
          <a:prstGeom xmlns:a="http://schemas.openxmlformats.org/drawingml/2006/main" prst="rect">
            <a:avLst/>
          </a:prstGeom>
        </p:spPr>
      </p:pic>
      <p:sp>
        <p:nvSpPr>
          <p:cNvPr id="3" name="Rectangle 2">
            <a:extLst xmlns:a="http://schemas.openxmlformats.org/drawingml/2006/main">
              <a:ext uri="{FF2B5EF4-FFF2-40B4-BE49-F238E27FC236}">
                <a16:creationId xmlns:a16="http://schemas.microsoft.com/office/drawing/2014/main" id="{E17D35F5-2CF6-43F3-9813-9C11FDF9362B}"/>
              </a:ext>
            </a:extLst>
          </p:cNvPr>
          <p:cNvSpPr>
            <a:spLocks xmlns:a="http://schemas.openxmlformats.org/drawingml/2006/main" noGrp="1"/>
          </p:cNvSpPr>
          <p:nvPr/>
        </p:nvSpPr>
        <p:spPr>
          <a:xfrm xmlns:a="http://schemas.openxmlformats.org/drawingml/2006/main">
            <a:off x="66675" y="6486525"/>
            <a:ext cx="266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05000"/>
              </a:lnSpc>
              <a:buNone/>
              <a:defRPr sz="825" b="0" i="0">
                <a:solidFill>
                  <a:srgbClr val="777777"/>
                </a:solidFill>
                <a:latin typeface="Arial"/>
                <a:ea typeface="Arial"/>
                <a:cs typeface="Arial"/>
              </a:defRPr>
            </a:pPr>
            <a:r>
              <a:rPr sz="825" b="0" i="0">
                <a:solidFill>
                  <a:srgbClr val="777777"/>
                </a:solidFill>
                <a:latin typeface="Arial"/>
                <a:ea typeface="Arial"/>
                <a:cs typeface="Arial"/>
              </a:rPr>
              <a:t>Confidential - Oracle Restricted \Employees</a:t>
            </a:r>
          </a:p>
          <a:p xmlns:a="http://schemas.openxmlformats.org/drawingml/2006/main">
            <a:pPr algn="l">
              <a:lnSpc>
                <a:spcPct val="105000"/>
              </a:lnSpc>
              <a:buNone/>
              <a:defRPr sz="825" b="0" i="0">
                <a:solidFill>
                  <a:srgbClr val="777777"/>
                </a:solidFill>
                <a:latin typeface="Arial"/>
                <a:ea typeface="Arial"/>
                <a:cs typeface="Arial"/>
              </a:defRPr>
            </a:pPr>
            <a:r>
              <a:rPr sz="825" b="0" i="0">
                <a:solidFill>
                  <a:srgbClr val="777777"/>
                </a:solidFill>
                <a:latin typeface="Arial"/>
                <a:ea typeface="Arial"/>
                <a:cs typeface="Arial"/>
              </a:rPr>
              <a:t>Only</a:t>
            </a:r>
          </a:p>
        </p:txBody>
      </p:sp>
    </p:spTree>
    <p:extLst>
      <p:ext uri="{BB962C8B-B14F-4D97-AF65-F5344CB8AC3E}">
        <p14:creationId xmlns:p14="http://schemas.microsoft.com/office/powerpoint/2010/main" val="104449293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2026-08-18T09:56:05.4910000Z</dcterms:created>
  <dcterms:modified xsi:type="dcterms:W3CDTF">2026-08-18T09:56:05.4910000Z</dcterms:modified>
</coreProperties>
</file>