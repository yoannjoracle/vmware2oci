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8" r:id="rId2"/>
    <p:sldId id="257" r:id="rId3"/>
    <p:sldId id="260" r:id="rId4"/>
    <p:sldId id="261" r:id="rId5"/>
    <p:sldId id="262" r:id="rId6"/>
    <p:sldId id="259" r:id="rId7"/>
  </p:sldIdLst>
  <p:sldSz cx="12192000" cy="6858000"/>
  <p:notesSz cx="6858000" cy="9144000"/>
  <p:defaultText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F9F7"/>
    <a:srgbClr val="E8E8E8"/>
    <a:srgbClr val="FBFAF8"/>
    <a:srgbClr val="FDFC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Source: slide 1 of the provided PowerPoint. Oracle logo, Oracle mark, row icons, and the right-side Oracle Cloud VMware Solution illustration are kept as cropped image assets from the source. Visible title, sizing label, and customer/date/prepared-by text are editable PowerPoint objects.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Source: user-provided Disaster Recovery.pptx, slide 2. The source slide was a flattened image; titles, captions, cards, arrows, separators, DR-site labels, bullet text, business-outcome copy and the bottom callout are recreated as editable PowerPoint objects. Oracle/OCI logo, third-party product logos, and all icons are retained as cropped image assets from the provided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Source image: user-provided screenshot "Current Environment". Oracle logo, Oracle mark, datacenter icon, metric icons, total-environment icon, and information icon are embedded as cropped image assets from that screenshot. The visible title, subtitle, panel headers, labels, metric values, notes, footer, cards, separators, and decorative background elements are recreated as editable PowerPoint objects.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Source: slide 3 of the provided PowerPoint. Oracle logo, Oracle mark, and all metric/panel icons are kept as cropped image assets from the source. Title, explanatory text, architecture table, cluster card, values, callout, footer, panels, and separators are recreated as editable PowerPoint objects.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Source: slide 4 of the provided PowerPoint. Oracle logo is kept as a cropped image asset from the source; confidentiality labels and grey background are editable PowerPoint objects.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BE27275-3E7C-0B92-4033-5280BB7891D0}"/>
              </a:ext>
            </a:extLst>
          </p:cNvPr>
          <p:cNvSpPr txBox="1"/>
          <p:nvPr userDrawn="1">
            <p:extLst>
              <p:ext uri="{1162E1C5-73C7-4A58-AE30-91384D911F3F}">
                <p184:classification xmlns:p184="http://schemas.microsoft.com/office/powerpoint/2018/4/main" val="hdr"/>
              </p:ext>
            </p:extLst>
          </p:nvPr>
        </p:nvSpPr>
        <p:spPr>
          <a:xfrm>
            <a:off x="63500" y="63500"/>
            <a:ext cx="2709863" cy="152400"/>
          </a:xfrm>
          <a:prstGeom prst="rect">
            <a:avLst/>
          </a:prstGeom>
        </p:spPr>
        <p:txBody>
          <a:bodyPr horzOverflow="overflow" lIns="0" tIns="0" rIns="0" bIns="0">
            <a:spAutoFit/>
          </a:bodyPr>
          <a:lstStyle/>
          <a:p>
            <a:pPr algn="l"/>
            <a:r>
              <a:rPr lang="en-FR" sz="1000">
                <a:solidFill>
                  <a:srgbClr val="000000">
                    <a:alpha val="50000"/>
                  </a:srgbClr>
                </a:solidFill>
                <a:latin typeface="Aptos" panose="020B0004020202020204" pitchFamily="34" charset="0"/>
              </a:rPr>
              <a:t>Confidential - Oracle Restricted \Employees Only</a:t>
            </a:r>
          </a:p>
        </p:txBody>
      </p:sp>
      <p:sp>
        <p:nvSpPr>
          <p:cNvPr id="5" name="TextBox 4">
            <a:extLst>
              <a:ext uri="{FF2B5EF4-FFF2-40B4-BE49-F238E27FC236}">
                <a16:creationId xmlns:a16="http://schemas.microsoft.com/office/drawing/2014/main" id="{3144BAD1-7E3A-370A-BA5D-BB7C310D6131}"/>
              </a:ext>
            </a:extLst>
          </p:cNvPr>
          <p:cNvSpPr txBox="1"/>
          <p:nvPr userDrawn="1">
            <p:extLst>
              <p:ext uri="{1162E1C5-73C7-4A58-AE30-91384D911F3F}">
                <p184:classification xmlns:p184="http://schemas.microsoft.com/office/powerpoint/2018/4/main" val="ftr"/>
              </p:ext>
            </p:extLst>
          </p:nvPr>
        </p:nvSpPr>
        <p:spPr>
          <a:xfrm>
            <a:off x="63500" y="6642100"/>
            <a:ext cx="2709863" cy="152400"/>
          </a:xfrm>
          <a:prstGeom prst="rect">
            <a:avLst/>
          </a:prstGeom>
        </p:spPr>
        <p:txBody>
          <a:bodyPr horzOverflow="overflow" lIns="0" tIns="0" rIns="0" bIns="0">
            <a:spAutoFit/>
          </a:bodyPr>
          <a:lstStyle/>
          <a:p>
            <a:pPr algn="l"/>
            <a:r>
              <a:rPr lang="en-FR" sz="1000">
                <a:solidFill>
                  <a:srgbClr val="000000">
                    <a:alpha val="50000"/>
                  </a:srgbClr>
                </a:solidFill>
                <a:latin typeface="Aptos" panose="020B0004020202020204" pitchFamily="34" charset="0"/>
              </a:rPr>
              <a:t>Confidential - Oracle Restricted \Employees Only</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notesSlide" Target="../notesSlides/notesSlide2.xml"/><Relationship Id="rId16" Type="http://schemas.openxmlformats.org/officeDocument/2006/relationships/image" Target="../media/image20.png"/><Relationship Id="rId20" Type="http://schemas.openxmlformats.org/officeDocument/2006/relationships/image" Target="../media/image24.png"/><Relationship Id="rId29"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5.png"/><Relationship Id="rId24" Type="http://schemas.openxmlformats.org/officeDocument/2006/relationships/image" Target="../media/image28.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10" Type="http://schemas.openxmlformats.org/officeDocument/2006/relationships/image" Target="../media/image14.png"/><Relationship Id="rId19" Type="http://schemas.openxmlformats.org/officeDocument/2006/relationships/image" Target="../media/image23.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s>
</file>

<file path=ppt/slides/_rels/slide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4.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5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5" Type="http://schemas.openxmlformats.org/officeDocument/2006/relationships/image" Target="../media/image55.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 Id="rId14" Type="http://schemas.openxmlformats.org/officeDocument/2006/relationships/image" Target="../media/image54.png"/></Relationships>
</file>

<file path=ppt/slides/_rels/slide5.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6.png"/><Relationship Id="rId3" Type="http://schemas.openxmlformats.org/officeDocument/2006/relationships/image" Target="../media/image56.png"/><Relationship Id="rId7" Type="http://schemas.openxmlformats.org/officeDocument/2006/relationships/image" Target="../media/image60.png"/><Relationship Id="rId12"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5" Type="http://schemas.openxmlformats.org/officeDocument/2006/relationships/image" Target="../media/image68.pn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png"/><Relationship Id="rId14" Type="http://schemas.openxmlformats.org/officeDocument/2006/relationships/image" Target="../media/image67.png"/></Relationships>
</file>

<file path=ppt/slides/_rels/slide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29" name="Oval 28">
            <a:extLst>
              <a:ext uri="{FF2B5EF4-FFF2-40B4-BE49-F238E27FC236}">
                <a16:creationId xmlns:a16="http://schemas.microsoft.com/office/drawing/2014/main" id="{4696C5B5-BCFA-4425-B931-C6A2F4CF4A25}"/>
              </a:ext>
            </a:extLst>
          </p:cNvPr>
          <p:cNvSpPr>
            <a:spLocks noGrp="1"/>
          </p:cNvSpPr>
          <p:nvPr/>
        </p:nvSpPr>
        <p:spPr>
          <a:xfrm>
            <a:off x="7239000" y="371475"/>
            <a:ext cx="66675" cy="66675"/>
          </a:xfrm>
          <a:prstGeom prst="ellipse">
            <a:avLst/>
          </a:prstGeom>
          <a:solidFill>
            <a:srgbClr val="E7E9E7"/>
          </a:solidFill>
          <a:ln w="0">
            <a:noFill/>
            <a:prstDash val="solid"/>
          </a:ln>
        </p:spPr>
        <p:txBody>
          <a:bodyPr/>
          <a:lstStyle/>
          <a:p>
            <a:endParaRPr lang="en-FR"/>
          </a:p>
        </p:txBody>
      </p:sp>
      <p:sp>
        <p:nvSpPr>
          <p:cNvPr id="2" name="Oval 1">
            <a:extLst>
              <a:ext uri="{FF2B5EF4-FFF2-40B4-BE49-F238E27FC236}">
                <a16:creationId xmlns:a16="http://schemas.microsoft.com/office/drawing/2014/main" id="{375AA658-C774-489C-98AA-71460C4C75DC}"/>
              </a:ext>
            </a:extLst>
          </p:cNvPr>
          <p:cNvSpPr>
            <a:spLocks noGrp="1"/>
          </p:cNvSpPr>
          <p:nvPr/>
        </p:nvSpPr>
        <p:spPr>
          <a:xfrm>
            <a:off x="4486275" y="981075"/>
            <a:ext cx="47625" cy="47625"/>
          </a:xfrm>
          <a:prstGeom prst="ellipse">
            <a:avLst/>
          </a:prstGeom>
          <a:solidFill>
            <a:srgbClr val="E7E9E7"/>
          </a:solidFill>
          <a:ln w="0">
            <a:noFill/>
            <a:prstDash val="solid"/>
          </a:ln>
        </p:spPr>
        <p:txBody>
          <a:bodyPr/>
          <a:lstStyle/>
          <a:p>
            <a:endParaRPr lang="en-FR"/>
          </a:p>
        </p:txBody>
      </p:sp>
      <p:sp>
        <p:nvSpPr>
          <p:cNvPr id="3" name="Oval 2">
            <a:extLst>
              <a:ext uri="{FF2B5EF4-FFF2-40B4-BE49-F238E27FC236}">
                <a16:creationId xmlns:a16="http://schemas.microsoft.com/office/drawing/2014/main" id="{1F6E5068-3122-4247-9AB7-38EBFA209EEF}"/>
              </a:ext>
            </a:extLst>
          </p:cNvPr>
          <p:cNvSpPr>
            <a:spLocks noGrp="1"/>
          </p:cNvSpPr>
          <p:nvPr/>
        </p:nvSpPr>
        <p:spPr>
          <a:xfrm>
            <a:off x="5143500" y="561975"/>
            <a:ext cx="38100" cy="38100"/>
          </a:xfrm>
          <a:prstGeom prst="ellipse">
            <a:avLst/>
          </a:prstGeom>
          <a:solidFill>
            <a:srgbClr val="E7E9E7"/>
          </a:solidFill>
          <a:ln w="0">
            <a:noFill/>
            <a:prstDash val="solid"/>
          </a:ln>
        </p:spPr>
        <p:txBody>
          <a:bodyPr/>
          <a:lstStyle/>
          <a:p>
            <a:endParaRPr lang="en-FR"/>
          </a:p>
        </p:txBody>
      </p:sp>
      <p:sp>
        <p:nvSpPr>
          <p:cNvPr id="4" name="Oval 3">
            <a:extLst>
              <a:ext uri="{FF2B5EF4-FFF2-40B4-BE49-F238E27FC236}">
                <a16:creationId xmlns:a16="http://schemas.microsoft.com/office/drawing/2014/main" id="{7BF01C8E-6137-4231-8D77-A754E49C2571}"/>
              </a:ext>
            </a:extLst>
          </p:cNvPr>
          <p:cNvSpPr>
            <a:spLocks noGrp="1"/>
          </p:cNvSpPr>
          <p:nvPr/>
        </p:nvSpPr>
        <p:spPr>
          <a:xfrm>
            <a:off x="6210300" y="3714750"/>
            <a:ext cx="47625" cy="47625"/>
          </a:xfrm>
          <a:prstGeom prst="ellipse">
            <a:avLst/>
          </a:prstGeom>
          <a:solidFill>
            <a:srgbClr val="E7E9E7"/>
          </a:solidFill>
          <a:ln w="0">
            <a:noFill/>
            <a:prstDash val="solid"/>
          </a:ln>
        </p:spPr>
        <p:txBody>
          <a:bodyPr/>
          <a:lstStyle/>
          <a:p>
            <a:endParaRPr lang="en-FR"/>
          </a:p>
        </p:txBody>
      </p:sp>
      <p:sp>
        <p:nvSpPr>
          <p:cNvPr id="5" name="Oval 4">
            <a:extLst>
              <a:ext uri="{FF2B5EF4-FFF2-40B4-BE49-F238E27FC236}">
                <a16:creationId xmlns:a16="http://schemas.microsoft.com/office/drawing/2014/main" id="{F10343F5-2252-4F30-81D6-73B33763131E}"/>
              </a:ext>
            </a:extLst>
          </p:cNvPr>
          <p:cNvSpPr>
            <a:spLocks noGrp="1"/>
          </p:cNvSpPr>
          <p:nvPr/>
        </p:nvSpPr>
        <p:spPr>
          <a:xfrm>
            <a:off x="11315700" y="704850"/>
            <a:ext cx="28575" cy="28575"/>
          </a:xfrm>
          <a:prstGeom prst="ellipse">
            <a:avLst/>
          </a:prstGeom>
          <a:solidFill>
            <a:srgbClr val="E7E9E7"/>
          </a:solidFill>
          <a:ln w="0">
            <a:noFill/>
            <a:prstDash val="solid"/>
          </a:ln>
        </p:spPr>
        <p:txBody>
          <a:bodyPr/>
          <a:lstStyle/>
          <a:p>
            <a:endParaRPr lang="en-FR"/>
          </a:p>
        </p:txBody>
      </p:sp>
      <p:sp>
        <p:nvSpPr>
          <p:cNvPr id="6" name="Oval 5">
            <a:extLst>
              <a:ext uri="{FF2B5EF4-FFF2-40B4-BE49-F238E27FC236}">
                <a16:creationId xmlns:a16="http://schemas.microsoft.com/office/drawing/2014/main" id="{46BA590D-5274-475F-AEBD-A987F53BBD38}"/>
              </a:ext>
            </a:extLst>
          </p:cNvPr>
          <p:cNvSpPr>
            <a:spLocks noGrp="1"/>
          </p:cNvSpPr>
          <p:nvPr/>
        </p:nvSpPr>
        <p:spPr>
          <a:xfrm>
            <a:off x="11811000" y="704850"/>
            <a:ext cx="28575" cy="28575"/>
          </a:xfrm>
          <a:prstGeom prst="ellipse">
            <a:avLst/>
          </a:prstGeom>
          <a:solidFill>
            <a:srgbClr val="E7E9E7"/>
          </a:solidFill>
          <a:ln w="0">
            <a:noFill/>
            <a:prstDash val="solid"/>
          </a:ln>
        </p:spPr>
        <p:txBody>
          <a:bodyPr/>
          <a:lstStyle/>
          <a:p>
            <a:endParaRPr lang="en-FR"/>
          </a:p>
        </p:txBody>
      </p:sp>
      <p:sp>
        <p:nvSpPr>
          <p:cNvPr id="7" name="Oval 6">
            <a:extLst>
              <a:ext uri="{FF2B5EF4-FFF2-40B4-BE49-F238E27FC236}">
                <a16:creationId xmlns:a16="http://schemas.microsoft.com/office/drawing/2014/main" id="{2F11CAD1-90ED-4491-A3BE-A83AEE7C6506}"/>
              </a:ext>
            </a:extLst>
          </p:cNvPr>
          <p:cNvSpPr>
            <a:spLocks noGrp="1"/>
          </p:cNvSpPr>
          <p:nvPr/>
        </p:nvSpPr>
        <p:spPr>
          <a:xfrm>
            <a:off x="4486275" y="3876675"/>
            <a:ext cx="47625" cy="47625"/>
          </a:xfrm>
          <a:prstGeom prst="ellipse">
            <a:avLst/>
          </a:prstGeom>
          <a:solidFill>
            <a:srgbClr val="E7E9E7"/>
          </a:solidFill>
          <a:ln w="0">
            <a:noFill/>
            <a:prstDash val="solid"/>
          </a:ln>
        </p:spPr>
        <p:txBody>
          <a:bodyPr/>
          <a:lstStyle/>
          <a:p>
            <a:endParaRPr lang="en-FR"/>
          </a:p>
        </p:txBody>
      </p:sp>
      <p:sp>
        <p:nvSpPr>
          <p:cNvPr id="8" name="Oval 7">
            <a:extLst>
              <a:ext uri="{FF2B5EF4-FFF2-40B4-BE49-F238E27FC236}">
                <a16:creationId xmlns:a16="http://schemas.microsoft.com/office/drawing/2014/main" id="{17FB2515-F71F-4A18-8796-33CCAB489220}"/>
              </a:ext>
            </a:extLst>
          </p:cNvPr>
          <p:cNvSpPr>
            <a:spLocks noGrp="1"/>
          </p:cNvSpPr>
          <p:nvPr/>
        </p:nvSpPr>
        <p:spPr>
          <a:xfrm>
            <a:off x="0" y="3714750"/>
            <a:ext cx="1381125" cy="1714500"/>
          </a:xfrm>
          <a:prstGeom prst="ellipse">
            <a:avLst/>
          </a:prstGeom>
          <a:solidFill>
            <a:srgbClr val="F7FAF8"/>
          </a:solidFill>
          <a:ln w="9525">
            <a:solidFill>
              <a:srgbClr val="E0E6E2"/>
            </a:solidFill>
            <a:prstDash val="dot"/>
          </a:ln>
        </p:spPr>
        <p:txBody>
          <a:bodyPr/>
          <a:lstStyle/>
          <a:p>
            <a:endParaRPr lang="en-FR"/>
          </a:p>
        </p:txBody>
      </p:sp>
      <p:sp>
        <p:nvSpPr>
          <p:cNvPr id="9" name="Oval 8">
            <a:extLst>
              <a:ext uri="{FF2B5EF4-FFF2-40B4-BE49-F238E27FC236}">
                <a16:creationId xmlns:a16="http://schemas.microsoft.com/office/drawing/2014/main" id="{752F6077-993B-4744-8476-4A5DEA11BC42}"/>
              </a:ext>
            </a:extLst>
          </p:cNvPr>
          <p:cNvSpPr>
            <a:spLocks noGrp="1"/>
          </p:cNvSpPr>
          <p:nvPr/>
        </p:nvSpPr>
        <p:spPr>
          <a:xfrm>
            <a:off x="0" y="5762625"/>
            <a:ext cx="2952750" cy="1095375"/>
          </a:xfrm>
          <a:prstGeom prst="ellipse">
            <a:avLst/>
          </a:prstGeom>
          <a:solidFill>
            <a:srgbClr val="F7FAF8"/>
          </a:solidFill>
          <a:ln w="9525">
            <a:solidFill>
              <a:srgbClr val="E0E6E2"/>
            </a:solidFill>
            <a:prstDash val="dot"/>
          </a:ln>
        </p:spPr>
        <p:txBody>
          <a:bodyPr/>
          <a:lstStyle/>
          <a:p>
            <a:endParaRPr lang="en-FR"/>
          </a:p>
        </p:txBody>
      </p:sp>
      <p:pic>
        <p:nvPicPr>
          <p:cNvPr id="38" name="Picture 37"/>
          <p:cNvPicPr>
            <a:picLocks noChangeAspect="1"/>
          </p:cNvPicPr>
          <p:nvPr/>
        </p:nvPicPr>
        <p:blipFill>
          <a:blip r:embed="rId3"/>
          <a:stretch/>
        </p:blipFill>
        <p:spPr>
          <a:xfrm>
            <a:off x="333375" y="295275"/>
            <a:ext cx="2152650" cy="704850"/>
          </a:xfrm>
          <a:prstGeom prst="rect">
            <a:avLst/>
          </a:prstGeom>
        </p:spPr>
      </p:pic>
      <p:pic>
        <p:nvPicPr>
          <p:cNvPr id="39" name="Picture 38"/>
          <p:cNvPicPr>
            <a:picLocks noChangeAspect="1"/>
          </p:cNvPicPr>
          <p:nvPr/>
        </p:nvPicPr>
        <p:blipFill>
          <a:blip r:embed="rId4"/>
          <a:stretch/>
        </p:blipFill>
        <p:spPr>
          <a:xfrm>
            <a:off x="6096000" y="476250"/>
            <a:ext cx="5524500" cy="5000625"/>
          </a:xfrm>
          <a:prstGeom prst="rect">
            <a:avLst/>
          </a:prstGeom>
        </p:spPr>
      </p:pic>
      <p:sp>
        <p:nvSpPr>
          <p:cNvPr id="12" name="Rectangle 11">
            <a:extLst>
              <a:ext uri="{FF2B5EF4-FFF2-40B4-BE49-F238E27FC236}">
                <a16:creationId xmlns:a16="http://schemas.microsoft.com/office/drawing/2014/main" id="{BE18B706-8D3E-4081-9607-FAFE11CAC30D}"/>
              </a:ext>
            </a:extLst>
          </p:cNvPr>
          <p:cNvSpPr>
            <a:spLocks noGrp="1"/>
          </p:cNvSpPr>
          <p:nvPr/>
        </p:nvSpPr>
        <p:spPr>
          <a:xfrm>
            <a:off x="361950" y="1733550"/>
            <a:ext cx="4572000" cy="685800"/>
          </a:xfrm>
          <a:prstGeom prst="rect">
            <a:avLst/>
          </a:prstGeom>
          <a:noFill/>
          <a:ln w="0">
            <a:noFill/>
            <a:prstDash val="solid"/>
          </a:ln>
        </p:spPr>
        <p:txBody>
          <a:bodyPr wrap="none" lIns="0" tIns="0" rIns="0" bIns="0" anchor="t"/>
          <a:lstStyle/>
          <a:p>
            <a:pPr algn="l">
              <a:lnSpc>
                <a:spcPct val="100000"/>
              </a:lnSpc>
              <a:buNone/>
              <a:defRPr sz="4200" b="1" i="0">
                <a:solidFill>
                  <a:srgbClr val="003B25"/>
                </a:solidFill>
                <a:latin typeface="Arial"/>
                <a:ea typeface="Arial"/>
                <a:cs typeface="Arial"/>
              </a:defRPr>
            </a:pPr>
            <a:r>
              <a:rPr sz="4200" b="1" i="0">
                <a:solidFill>
                  <a:srgbClr val="003B25"/>
                </a:solidFill>
                <a:latin typeface="Arial"/>
                <a:ea typeface="Arial"/>
                <a:cs typeface="Arial"/>
              </a:rPr>
              <a:t>Oracle Cloud</a:t>
            </a:r>
          </a:p>
        </p:txBody>
      </p:sp>
      <p:sp>
        <p:nvSpPr>
          <p:cNvPr id="13" name="Rectangle 12">
            <a:extLst>
              <a:ext uri="{FF2B5EF4-FFF2-40B4-BE49-F238E27FC236}">
                <a16:creationId xmlns:a16="http://schemas.microsoft.com/office/drawing/2014/main" id="{013ED40B-2727-41E5-9FA9-6767E03C6F90}"/>
              </a:ext>
            </a:extLst>
          </p:cNvPr>
          <p:cNvSpPr>
            <a:spLocks noGrp="1"/>
          </p:cNvSpPr>
          <p:nvPr/>
        </p:nvSpPr>
        <p:spPr>
          <a:xfrm>
            <a:off x="361950" y="2400300"/>
            <a:ext cx="5905500" cy="685800"/>
          </a:xfrm>
          <a:prstGeom prst="rect">
            <a:avLst/>
          </a:prstGeom>
          <a:noFill/>
          <a:ln w="0">
            <a:noFill/>
            <a:prstDash val="solid"/>
          </a:ln>
        </p:spPr>
        <p:txBody>
          <a:bodyPr wrap="none" lIns="0" tIns="0" rIns="0" bIns="0" anchor="t"/>
          <a:lstStyle/>
          <a:p>
            <a:pPr algn="l">
              <a:lnSpc>
                <a:spcPct val="100000"/>
              </a:lnSpc>
              <a:buNone/>
              <a:defRPr sz="4200" b="1" i="0">
                <a:solidFill>
                  <a:srgbClr val="003B25"/>
                </a:solidFill>
                <a:latin typeface="Arial"/>
                <a:ea typeface="Arial"/>
                <a:cs typeface="Arial"/>
              </a:defRPr>
            </a:pPr>
            <a:r>
              <a:rPr sz="4200" b="1" i="0" dirty="0">
                <a:solidFill>
                  <a:srgbClr val="003B25"/>
                </a:solidFill>
                <a:latin typeface="Arial"/>
                <a:ea typeface="Arial"/>
                <a:cs typeface="Arial"/>
              </a:rPr>
              <a:t>VMware Solution</a:t>
            </a:r>
          </a:p>
        </p:txBody>
      </p:sp>
      <p:sp>
        <p:nvSpPr>
          <p:cNvPr id="14" name="Rectangle 13">
            <a:extLst>
              <a:ext uri="{FF2B5EF4-FFF2-40B4-BE49-F238E27FC236}">
                <a16:creationId xmlns:a16="http://schemas.microsoft.com/office/drawing/2014/main" id="{E87D35AF-65D4-4A89-A0BA-254325912F36}"/>
              </a:ext>
            </a:extLst>
          </p:cNvPr>
          <p:cNvSpPr>
            <a:spLocks noGrp="1"/>
          </p:cNvSpPr>
          <p:nvPr/>
        </p:nvSpPr>
        <p:spPr>
          <a:xfrm>
            <a:off x="419100" y="3429000"/>
            <a:ext cx="514350" cy="38100"/>
          </a:xfrm>
          <a:prstGeom prst="rect">
            <a:avLst/>
          </a:prstGeom>
          <a:solidFill>
            <a:srgbClr val="F00000"/>
          </a:solidFill>
          <a:ln w="0">
            <a:noFill/>
            <a:prstDash val="solid"/>
          </a:ln>
        </p:spPr>
        <p:txBody>
          <a:bodyPr/>
          <a:lstStyle/>
          <a:p>
            <a:endParaRPr lang="en-FR"/>
          </a:p>
        </p:txBody>
      </p:sp>
      <p:sp>
        <p:nvSpPr>
          <p:cNvPr id="15" name="Rectangle 14">
            <a:extLst>
              <a:ext uri="{FF2B5EF4-FFF2-40B4-BE49-F238E27FC236}">
                <a16:creationId xmlns:a16="http://schemas.microsoft.com/office/drawing/2014/main" id="{6DCC6015-522F-4A3D-A984-81E7C719726B}"/>
              </a:ext>
            </a:extLst>
          </p:cNvPr>
          <p:cNvSpPr>
            <a:spLocks noGrp="1"/>
          </p:cNvSpPr>
          <p:nvPr/>
        </p:nvSpPr>
        <p:spPr>
          <a:xfrm>
            <a:off x="419100" y="3752850"/>
            <a:ext cx="2857500" cy="352425"/>
          </a:xfrm>
          <a:prstGeom prst="rect">
            <a:avLst/>
          </a:prstGeom>
          <a:noFill/>
          <a:ln w="0">
            <a:noFill/>
            <a:prstDash val="solid"/>
          </a:ln>
        </p:spPr>
        <p:txBody>
          <a:bodyPr wrap="none" lIns="0" tIns="0" rIns="0" bIns="0" anchor="t"/>
          <a:lstStyle/>
          <a:p>
            <a:pPr algn="l">
              <a:lnSpc>
                <a:spcPct val="100000"/>
              </a:lnSpc>
              <a:buNone/>
              <a:defRPr sz="2250" b="0" i="0">
                <a:solidFill>
                  <a:srgbClr val="111111"/>
                </a:solidFill>
                <a:latin typeface="Arial"/>
                <a:ea typeface="Arial"/>
                <a:cs typeface="Arial"/>
              </a:defRPr>
            </a:pPr>
            <a:r>
              <a:rPr sz="2250" b="0" i="0">
                <a:solidFill>
                  <a:srgbClr val="111111"/>
                </a:solidFill>
                <a:latin typeface="Arial"/>
                <a:ea typeface="Arial"/>
                <a:cs typeface="Arial"/>
              </a:rPr>
              <a:t>Proposed Sizing</a:t>
            </a:r>
          </a:p>
        </p:txBody>
      </p:sp>
      <p:pic>
        <p:nvPicPr>
          <p:cNvPr id="44" name="Picture 43"/>
          <p:cNvPicPr>
            <a:picLocks noChangeAspect="1"/>
          </p:cNvPicPr>
          <p:nvPr/>
        </p:nvPicPr>
        <p:blipFill>
          <a:blip r:embed="rId5"/>
          <a:stretch/>
        </p:blipFill>
        <p:spPr>
          <a:xfrm>
            <a:off x="409575" y="4514850"/>
            <a:ext cx="466725" cy="466725"/>
          </a:xfrm>
          <a:prstGeom prst="rect">
            <a:avLst/>
          </a:prstGeom>
        </p:spPr>
      </p:pic>
      <p:sp>
        <p:nvSpPr>
          <p:cNvPr id="17" name="Straight Connector 16">
            <a:extLst>
              <a:ext uri="{FF2B5EF4-FFF2-40B4-BE49-F238E27FC236}">
                <a16:creationId xmlns:a16="http://schemas.microsoft.com/office/drawing/2014/main" id="{766A464C-B41C-4A32-B41D-BFAE1B316D1B}"/>
              </a:ext>
            </a:extLst>
          </p:cNvPr>
          <p:cNvSpPr>
            <a:spLocks noGrp="1"/>
          </p:cNvSpPr>
          <p:nvPr/>
        </p:nvSpPr>
        <p:spPr>
          <a:xfrm>
            <a:off x="1028700" y="4533900"/>
            <a:ext cx="0" cy="457200"/>
          </a:xfrm>
          <a:prstGeom prst="line">
            <a:avLst/>
          </a:prstGeom>
          <a:noFill/>
          <a:ln w="9525">
            <a:solidFill>
              <a:srgbClr val="7A827E"/>
            </a:solidFill>
            <a:prstDash val="solid"/>
          </a:ln>
        </p:spPr>
        <p:txBody>
          <a:bodyPr/>
          <a:lstStyle/>
          <a:p>
            <a:endParaRPr lang="en-FR"/>
          </a:p>
        </p:txBody>
      </p:sp>
      <p:sp>
        <p:nvSpPr>
          <p:cNvPr id="18" name="Rectangle 17">
            <a:extLst>
              <a:ext uri="{FF2B5EF4-FFF2-40B4-BE49-F238E27FC236}">
                <a16:creationId xmlns:a16="http://schemas.microsoft.com/office/drawing/2014/main" id="{94955B22-66CD-4132-A773-8F5CF23333EC}"/>
              </a:ext>
            </a:extLst>
          </p:cNvPr>
          <p:cNvSpPr>
            <a:spLocks noGrp="1"/>
          </p:cNvSpPr>
          <p:nvPr/>
        </p:nvSpPr>
        <p:spPr>
          <a:xfrm>
            <a:off x="1190625" y="4581525"/>
            <a:ext cx="1524000" cy="209550"/>
          </a:xfrm>
          <a:prstGeom prst="rect">
            <a:avLst/>
          </a:prstGeom>
          <a:noFill/>
          <a:ln w="0">
            <a:noFill/>
            <a:prstDash val="solid"/>
          </a:ln>
        </p:spPr>
        <p:txBody>
          <a:bodyPr wrap="none" lIns="0" tIns="0" rIns="0" bIns="0" anchor="t"/>
          <a:lstStyle/>
          <a:p>
            <a:pPr algn="l">
              <a:lnSpc>
                <a:spcPct val="100000"/>
              </a:lnSpc>
              <a:buNone/>
              <a:defRPr sz="1200" b="1" i="0">
                <a:solidFill>
                  <a:srgbClr val="003B25"/>
                </a:solidFill>
                <a:latin typeface="Arial"/>
                <a:ea typeface="Arial"/>
                <a:cs typeface="Arial"/>
              </a:defRPr>
            </a:pPr>
            <a:r>
              <a:rPr sz="1200" b="1" i="0">
                <a:solidFill>
                  <a:srgbClr val="003B25"/>
                </a:solidFill>
                <a:latin typeface="Arial"/>
                <a:ea typeface="Arial"/>
                <a:cs typeface="Arial"/>
              </a:rPr>
              <a:t>Customer</a:t>
            </a:r>
          </a:p>
        </p:txBody>
      </p:sp>
      <p:sp>
        <p:nvSpPr>
          <p:cNvPr id="19" name="Rectangle 18">
            <a:extLst>
              <a:ext uri="{FF2B5EF4-FFF2-40B4-BE49-F238E27FC236}">
                <a16:creationId xmlns:a16="http://schemas.microsoft.com/office/drawing/2014/main" id="{BE76D494-55F5-4B36-BA24-6D15C411EBCA}"/>
              </a:ext>
            </a:extLst>
          </p:cNvPr>
          <p:cNvSpPr>
            <a:spLocks noGrp="1"/>
          </p:cNvSpPr>
          <p:nvPr/>
        </p:nvSpPr>
        <p:spPr>
          <a:xfrm>
            <a:off x="1190625" y="4838700"/>
            <a:ext cx="2857500" cy="190500"/>
          </a:xfrm>
          <a:prstGeom prst="rect">
            <a:avLst/>
          </a:prstGeom>
          <a:noFill/>
          <a:ln w="0">
            <a:noFill/>
            <a:prstDash val="solid"/>
          </a:ln>
        </p:spPr>
        <p:txBody>
          <a:bodyPr wrap="none" lIns="0" tIns="0" rIns="0" bIns="0" anchor="t"/>
          <a:lstStyle/>
          <a:p>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CLIENT</a:t>
            </a:r>
          </a:p>
        </p:txBody>
      </p:sp>
      <p:pic>
        <p:nvPicPr>
          <p:cNvPr id="48" name="Picture 47"/>
          <p:cNvPicPr>
            <a:picLocks noChangeAspect="1"/>
          </p:cNvPicPr>
          <p:nvPr/>
        </p:nvPicPr>
        <p:blipFill>
          <a:blip r:embed="rId6"/>
          <a:stretch/>
        </p:blipFill>
        <p:spPr>
          <a:xfrm>
            <a:off x="409575" y="5133975"/>
            <a:ext cx="466725" cy="466725"/>
          </a:xfrm>
          <a:prstGeom prst="rect">
            <a:avLst/>
          </a:prstGeom>
        </p:spPr>
      </p:pic>
      <p:sp>
        <p:nvSpPr>
          <p:cNvPr id="21" name="Straight Connector 20">
            <a:extLst>
              <a:ext uri="{FF2B5EF4-FFF2-40B4-BE49-F238E27FC236}">
                <a16:creationId xmlns:a16="http://schemas.microsoft.com/office/drawing/2014/main" id="{2C0F680F-8892-4F5E-9A05-8BE56BC3CA23}"/>
              </a:ext>
            </a:extLst>
          </p:cNvPr>
          <p:cNvSpPr>
            <a:spLocks noGrp="1"/>
          </p:cNvSpPr>
          <p:nvPr/>
        </p:nvSpPr>
        <p:spPr>
          <a:xfrm>
            <a:off x="1028700" y="5153025"/>
            <a:ext cx="0" cy="457200"/>
          </a:xfrm>
          <a:prstGeom prst="line">
            <a:avLst/>
          </a:prstGeom>
          <a:noFill/>
          <a:ln w="9525">
            <a:solidFill>
              <a:srgbClr val="7A827E"/>
            </a:solidFill>
            <a:prstDash val="solid"/>
          </a:ln>
        </p:spPr>
        <p:txBody>
          <a:bodyPr/>
          <a:lstStyle/>
          <a:p>
            <a:endParaRPr lang="en-FR"/>
          </a:p>
        </p:txBody>
      </p:sp>
      <p:sp>
        <p:nvSpPr>
          <p:cNvPr id="22" name="Rectangle 21">
            <a:extLst>
              <a:ext uri="{FF2B5EF4-FFF2-40B4-BE49-F238E27FC236}">
                <a16:creationId xmlns:a16="http://schemas.microsoft.com/office/drawing/2014/main" id="{772916E2-4478-4F86-A366-DBB47E53E5DB}"/>
              </a:ext>
            </a:extLst>
          </p:cNvPr>
          <p:cNvSpPr>
            <a:spLocks noGrp="1"/>
          </p:cNvSpPr>
          <p:nvPr/>
        </p:nvSpPr>
        <p:spPr>
          <a:xfrm>
            <a:off x="1190625" y="5200650"/>
            <a:ext cx="1524000" cy="209550"/>
          </a:xfrm>
          <a:prstGeom prst="rect">
            <a:avLst/>
          </a:prstGeom>
          <a:noFill/>
          <a:ln w="0">
            <a:noFill/>
            <a:prstDash val="solid"/>
          </a:ln>
        </p:spPr>
        <p:txBody>
          <a:bodyPr wrap="none" lIns="0" tIns="0" rIns="0" bIns="0" anchor="t"/>
          <a:lstStyle/>
          <a:p>
            <a:pPr algn="l">
              <a:lnSpc>
                <a:spcPct val="100000"/>
              </a:lnSpc>
              <a:buNone/>
              <a:defRPr sz="1200" b="1" i="0">
                <a:solidFill>
                  <a:srgbClr val="003B25"/>
                </a:solidFill>
                <a:latin typeface="Arial"/>
                <a:ea typeface="Arial"/>
                <a:cs typeface="Arial"/>
              </a:defRPr>
            </a:pPr>
            <a:r>
              <a:rPr sz="1200" b="1" i="0">
                <a:solidFill>
                  <a:srgbClr val="003B25"/>
                </a:solidFill>
                <a:latin typeface="Arial"/>
                <a:ea typeface="Arial"/>
                <a:cs typeface="Arial"/>
              </a:rPr>
              <a:t>Date</a:t>
            </a:r>
          </a:p>
        </p:txBody>
      </p:sp>
      <p:sp>
        <p:nvSpPr>
          <p:cNvPr id="23" name="Rectangle 22">
            <a:extLst>
              <a:ext uri="{FF2B5EF4-FFF2-40B4-BE49-F238E27FC236}">
                <a16:creationId xmlns:a16="http://schemas.microsoft.com/office/drawing/2014/main" id="{DD2D484A-CE83-4CF9-B570-03AA9C51BC3C}"/>
              </a:ext>
            </a:extLst>
          </p:cNvPr>
          <p:cNvSpPr>
            <a:spLocks noGrp="1"/>
          </p:cNvSpPr>
          <p:nvPr/>
        </p:nvSpPr>
        <p:spPr>
          <a:xfrm>
            <a:off x="1190625" y="5457825"/>
            <a:ext cx="2857500" cy="190500"/>
          </a:xfrm>
          <a:prstGeom prst="rect">
            <a:avLst/>
          </a:prstGeom>
          <a:noFill/>
          <a:ln w="0">
            <a:noFill/>
            <a:prstDash val="solid"/>
          </a:ln>
        </p:spPr>
        <p:txBody>
          <a:bodyPr wrap="none" lIns="0" tIns="0" rIns="0" bIns="0" anchor="t"/>
          <a:lstStyle/>
          <a:p>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May 2025</a:t>
            </a:r>
          </a:p>
        </p:txBody>
      </p:sp>
      <p:pic>
        <p:nvPicPr>
          <p:cNvPr id="52" name="Picture 51"/>
          <p:cNvPicPr>
            <a:picLocks noChangeAspect="1"/>
          </p:cNvPicPr>
          <p:nvPr/>
        </p:nvPicPr>
        <p:blipFill>
          <a:blip r:embed="rId7"/>
          <a:stretch/>
        </p:blipFill>
        <p:spPr>
          <a:xfrm>
            <a:off x="409575" y="5753100"/>
            <a:ext cx="466725" cy="466725"/>
          </a:xfrm>
          <a:prstGeom prst="rect">
            <a:avLst/>
          </a:prstGeom>
        </p:spPr>
      </p:pic>
      <p:sp>
        <p:nvSpPr>
          <p:cNvPr id="25" name="Straight Connector 24">
            <a:extLst>
              <a:ext uri="{FF2B5EF4-FFF2-40B4-BE49-F238E27FC236}">
                <a16:creationId xmlns:a16="http://schemas.microsoft.com/office/drawing/2014/main" id="{B3390FB1-CD6B-41FD-9B09-6D5983025783}"/>
              </a:ext>
            </a:extLst>
          </p:cNvPr>
          <p:cNvSpPr>
            <a:spLocks noGrp="1"/>
          </p:cNvSpPr>
          <p:nvPr/>
        </p:nvSpPr>
        <p:spPr>
          <a:xfrm>
            <a:off x="1028700" y="5772150"/>
            <a:ext cx="0" cy="457200"/>
          </a:xfrm>
          <a:prstGeom prst="line">
            <a:avLst/>
          </a:prstGeom>
          <a:noFill/>
          <a:ln w="9525">
            <a:solidFill>
              <a:srgbClr val="7A827E"/>
            </a:solidFill>
            <a:prstDash val="solid"/>
          </a:ln>
        </p:spPr>
        <p:txBody>
          <a:bodyPr/>
          <a:lstStyle/>
          <a:p>
            <a:endParaRPr lang="en-FR"/>
          </a:p>
        </p:txBody>
      </p:sp>
      <p:sp>
        <p:nvSpPr>
          <p:cNvPr id="26" name="Rectangle 25">
            <a:extLst>
              <a:ext uri="{FF2B5EF4-FFF2-40B4-BE49-F238E27FC236}">
                <a16:creationId xmlns:a16="http://schemas.microsoft.com/office/drawing/2014/main" id="{5530C77E-C4B2-416C-9770-1B40B5930109}"/>
              </a:ext>
            </a:extLst>
          </p:cNvPr>
          <p:cNvSpPr>
            <a:spLocks noGrp="1"/>
          </p:cNvSpPr>
          <p:nvPr/>
        </p:nvSpPr>
        <p:spPr>
          <a:xfrm>
            <a:off x="1190625" y="5819775"/>
            <a:ext cx="1524000" cy="209550"/>
          </a:xfrm>
          <a:prstGeom prst="rect">
            <a:avLst/>
          </a:prstGeom>
          <a:noFill/>
          <a:ln w="0">
            <a:noFill/>
            <a:prstDash val="solid"/>
          </a:ln>
        </p:spPr>
        <p:txBody>
          <a:bodyPr wrap="none" lIns="0" tIns="0" rIns="0" bIns="0" anchor="t"/>
          <a:lstStyle/>
          <a:p>
            <a:pPr algn="l">
              <a:lnSpc>
                <a:spcPct val="100000"/>
              </a:lnSpc>
              <a:buNone/>
              <a:defRPr sz="1200" b="1" i="0">
                <a:solidFill>
                  <a:srgbClr val="003B25"/>
                </a:solidFill>
                <a:latin typeface="Arial"/>
                <a:ea typeface="Arial"/>
                <a:cs typeface="Arial"/>
              </a:defRPr>
            </a:pPr>
            <a:r>
              <a:rPr sz="1200" b="1" i="0">
                <a:solidFill>
                  <a:srgbClr val="003B25"/>
                </a:solidFill>
                <a:latin typeface="Arial"/>
                <a:ea typeface="Arial"/>
                <a:cs typeface="Arial"/>
              </a:rPr>
              <a:t>Prepared By</a:t>
            </a:r>
          </a:p>
        </p:txBody>
      </p:sp>
      <p:sp>
        <p:nvSpPr>
          <p:cNvPr id="27" name="Rectangle 26">
            <a:extLst>
              <a:ext uri="{FF2B5EF4-FFF2-40B4-BE49-F238E27FC236}">
                <a16:creationId xmlns:a16="http://schemas.microsoft.com/office/drawing/2014/main" id="{6AA52625-B2E2-4958-9002-F06DCF489D85}"/>
              </a:ext>
            </a:extLst>
          </p:cNvPr>
          <p:cNvSpPr>
            <a:spLocks noGrp="1"/>
          </p:cNvSpPr>
          <p:nvPr/>
        </p:nvSpPr>
        <p:spPr>
          <a:xfrm>
            <a:off x="1190625" y="6076950"/>
            <a:ext cx="2857500" cy="190500"/>
          </a:xfrm>
          <a:prstGeom prst="rect">
            <a:avLst/>
          </a:prstGeom>
          <a:noFill/>
          <a:ln w="0">
            <a:noFill/>
            <a:prstDash val="solid"/>
          </a:ln>
        </p:spPr>
        <p:txBody>
          <a:bodyPr wrap="none" lIns="0" tIns="0" rIns="0" bIns="0" anchor="t"/>
          <a:lstStyle/>
          <a:p>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Oracle Cloud VMware Specialist</a:t>
            </a:r>
          </a:p>
        </p:txBody>
      </p:sp>
      <p:pic>
        <p:nvPicPr>
          <p:cNvPr id="56" name="Picture 55"/>
          <p:cNvPicPr>
            <a:picLocks noChangeAspect="1"/>
          </p:cNvPicPr>
          <p:nvPr/>
        </p:nvPicPr>
        <p:blipFill>
          <a:blip r:embed="rId8"/>
          <a:stretch/>
        </p:blipFill>
        <p:spPr>
          <a:xfrm>
            <a:off x="11401979" y="6457950"/>
            <a:ext cx="446567" cy="400050"/>
          </a:xfrm>
          <a:prstGeom prst="rect">
            <a:avLst/>
          </a:prstGeom>
        </p:spPr>
      </p:pic>
    </p:spTree>
    <p:extLst>
      <p:ext uri="{BB962C8B-B14F-4D97-AF65-F5344CB8AC3E}">
        <p14:creationId xmlns:p14="http://schemas.microsoft.com/office/powerpoint/2010/main" val="1245070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CFA"/>
        </a:solidFill>
        <a:effectLst/>
      </p:bgPr>
    </p:bg>
    <p:spTree>
      <p:nvGrpSpPr>
        <p:cNvPr id="1" name=""/>
        <p:cNvGrpSpPr/>
        <p:nvPr/>
      </p:nvGrpSpPr>
      <p:grpSpPr>
        <a:xfrm>
          <a:off x="0" y="0"/>
          <a:ext cx="0" cy="0"/>
          <a:chOff x="0" y="0"/>
          <a:chExt cx="0" cy="0"/>
        </a:xfrm>
      </p:grpSpPr>
      <p:sp>
        <p:nvSpPr>
          <p:cNvPr id="117" name="Oval 116">
            <a:extLst>
              <a:ext uri="{FF2B5EF4-FFF2-40B4-BE49-F238E27FC236}">
                <a16:creationId xmlns:a16="http://schemas.microsoft.com/office/drawing/2014/main" id="{56FCBF68-CAA2-45CB-8207-B4E43DF056E9}"/>
              </a:ext>
            </a:extLst>
          </p:cNvPr>
          <p:cNvSpPr>
            <a:spLocks noGrp="1"/>
          </p:cNvSpPr>
          <p:nvPr/>
        </p:nvSpPr>
        <p:spPr>
          <a:xfrm>
            <a:off x="7239000" y="371475"/>
            <a:ext cx="66675" cy="66675"/>
          </a:xfrm>
          <a:prstGeom prst="ellipse">
            <a:avLst/>
          </a:prstGeom>
          <a:solidFill>
            <a:srgbClr val="E7E9E7"/>
          </a:solidFill>
          <a:ln w="0">
            <a:noFill/>
            <a:prstDash val="solid"/>
          </a:ln>
        </p:spPr>
        <p:txBody>
          <a:bodyPr/>
          <a:lstStyle/>
          <a:p>
            <a:endParaRPr lang="en-FR"/>
          </a:p>
        </p:txBody>
      </p:sp>
      <p:sp>
        <p:nvSpPr>
          <p:cNvPr id="2" name="Oval 1">
            <a:extLst>
              <a:ext uri="{FF2B5EF4-FFF2-40B4-BE49-F238E27FC236}">
                <a16:creationId xmlns:a16="http://schemas.microsoft.com/office/drawing/2014/main" id="{80F3D6DD-6291-40F6-9BCB-3A4B2C8E5C27}"/>
              </a:ext>
            </a:extLst>
          </p:cNvPr>
          <p:cNvSpPr>
            <a:spLocks noGrp="1"/>
          </p:cNvSpPr>
          <p:nvPr/>
        </p:nvSpPr>
        <p:spPr>
          <a:xfrm>
            <a:off x="5143500" y="561975"/>
            <a:ext cx="38100" cy="38100"/>
          </a:xfrm>
          <a:prstGeom prst="ellipse">
            <a:avLst/>
          </a:prstGeom>
          <a:solidFill>
            <a:srgbClr val="E7E9E7"/>
          </a:solidFill>
          <a:ln w="0">
            <a:noFill/>
            <a:prstDash val="solid"/>
          </a:ln>
        </p:spPr>
        <p:txBody>
          <a:bodyPr/>
          <a:lstStyle/>
          <a:p>
            <a:endParaRPr lang="en-FR"/>
          </a:p>
        </p:txBody>
      </p:sp>
      <p:sp>
        <p:nvSpPr>
          <p:cNvPr id="3" name="Oval 2">
            <a:extLst>
              <a:ext uri="{FF2B5EF4-FFF2-40B4-BE49-F238E27FC236}">
                <a16:creationId xmlns:a16="http://schemas.microsoft.com/office/drawing/2014/main" id="{E289F1B1-948D-4460-81A3-77577CD17398}"/>
              </a:ext>
            </a:extLst>
          </p:cNvPr>
          <p:cNvSpPr>
            <a:spLocks noGrp="1"/>
          </p:cNvSpPr>
          <p:nvPr/>
        </p:nvSpPr>
        <p:spPr>
          <a:xfrm>
            <a:off x="4486275" y="981075"/>
            <a:ext cx="47625" cy="47625"/>
          </a:xfrm>
          <a:prstGeom prst="ellipse">
            <a:avLst/>
          </a:prstGeom>
          <a:solidFill>
            <a:srgbClr val="E7E9E7"/>
          </a:solidFill>
          <a:ln w="0">
            <a:noFill/>
            <a:prstDash val="solid"/>
          </a:ln>
        </p:spPr>
        <p:txBody>
          <a:bodyPr/>
          <a:lstStyle/>
          <a:p>
            <a:endParaRPr lang="en-FR"/>
          </a:p>
        </p:txBody>
      </p:sp>
      <p:sp>
        <p:nvSpPr>
          <p:cNvPr id="4" name="Oval 3">
            <a:extLst>
              <a:ext uri="{FF2B5EF4-FFF2-40B4-BE49-F238E27FC236}">
                <a16:creationId xmlns:a16="http://schemas.microsoft.com/office/drawing/2014/main" id="{33F06FF9-48BA-4281-A0E8-F149DE46CFE8}"/>
              </a:ext>
            </a:extLst>
          </p:cNvPr>
          <p:cNvSpPr>
            <a:spLocks noGrp="1"/>
          </p:cNvSpPr>
          <p:nvPr/>
        </p:nvSpPr>
        <p:spPr>
          <a:xfrm>
            <a:off x="6191250" y="3714750"/>
            <a:ext cx="47625" cy="47625"/>
          </a:xfrm>
          <a:prstGeom prst="ellipse">
            <a:avLst/>
          </a:prstGeom>
          <a:solidFill>
            <a:srgbClr val="E7E9E7"/>
          </a:solidFill>
          <a:ln w="0">
            <a:noFill/>
            <a:prstDash val="solid"/>
          </a:ln>
        </p:spPr>
        <p:txBody>
          <a:bodyPr/>
          <a:lstStyle/>
          <a:p>
            <a:endParaRPr lang="en-FR"/>
          </a:p>
        </p:txBody>
      </p:sp>
      <p:sp>
        <p:nvSpPr>
          <p:cNvPr id="5" name="Oval 4">
            <a:extLst>
              <a:ext uri="{FF2B5EF4-FFF2-40B4-BE49-F238E27FC236}">
                <a16:creationId xmlns:a16="http://schemas.microsoft.com/office/drawing/2014/main" id="{05730687-2D75-40B4-9655-64B2A3B56588}"/>
              </a:ext>
            </a:extLst>
          </p:cNvPr>
          <p:cNvSpPr>
            <a:spLocks noGrp="1"/>
          </p:cNvSpPr>
          <p:nvPr/>
        </p:nvSpPr>
        <p:spPr>
          <a:xfrm>
            <a:off x="11315700" y="704850"/>
            <a:ext cx="28575" cy="28575"/>
          </a:xfrm>
          <a:prstGeom prst="ellipse">
            <a:avLst/>
          </a:prstGeom>
          <a:solidFill>
            <a:srgbClr val="E7E9E7"/>
          </a:solidFill>
          <a:ln w="0">
            <a:noFill/>
            <a:prstDash val="solid"/>
          </a:ln>
        </p:spPr>
        <p:txBody>
          <a:bodyPr/>
          <a:lstStyle/>
          <a:p>
            <a:endParaRPr lang="en-FR"/>
          </a:p>
        </p:txBody>
      </p:sp>
      <p:sp>
        <p:nvSpPr>
          <p:cNvPr id="6" name="Oval 5">
            <a:extLst>
              <a:ext uri="{FF2B5EF4-FFF2-40B4-BE49-F238E27FC236}">
                <a16:creationId xmlns:a16="http://schemas.microsoft.com/office/drawing/2014/main" id="{FA2F2A46-9BF8-45E1-8BAF-62F0788C5D64}"/>
              </a:ext>
            </a:extLst>
          </p:cNvPr>
          <p:cNvSpPr>
            <a:spLocks noGrp="1"/>
          </p:cNvSpPr>
          <p:nvPr/>
        </p:nvSpPr>
        <p:spPr>
          <a:xfrm>
            <a:off x="11811000" y="704850"/>
            <a:ext cx="28575" cy="28575"/>
          </a:xfrm>
          <a:prstGeom prst="ellipse">
            <a:avLst/>
          </a:prstGeom>
          <a:solidFill>
            <a:srgbClr val="E7E9E7"/>
          </a:solidFill>
          <a:ln w="0">
            <a:noFill/>
            <a:prstDash val="solid"/>
          </a:ln>
        </p:spPr>
        <p:txBody>
          <a:bodyPr/>
          <a:lstStyle/>
          <a:p>
            <a:endParaRPr lang="en-FR"/>
          </a:p>
        </p:txBody>
      </p:sp>
      <p:sp>
        <p:nvSpPr>
          <p:cNvPr id="7" name="Oval 6">
            <a:extLst>
              <a:ext uri="{FF2B5EF4-FFF2-40B4-BE49-F238E27FC236}">
                <a16:creationId xmlns:a16="http://schemas.microsoft.com/office/drawing/2014/main" id="{CBFC9DD0-865D-4BEF-AD66-93056BE1E459}"/>
              </a:ext>
            </a:extLst>
          </p:cNvPr>
          <p:cNvSpPr>
            <a:spLocks noGrp="1"/>
          </p:cNvSpPr>
          <p:nvPr/>
        </p:nvSpPr>
        <p:spPr>
          <a:xfrm>
            <a:off x="11696700" y="6334125"/>
            <a:ext cx="38100" cy="38100"/>
          </a:xfrm>
          <a:prstGeom prst="ellipse">
            <a:avLst/>
          </a:prstGeom>
          <a:solidFill>
            <a:srgbClr val="E7E9E7"/>
          </a:solidFill>
          <a:ln w="0">
            <a:noFill/>
            <a:prstDash val="solid"/>
          </a:ln>
        </p:spPr>
        <p:txBody>
          <a:bodyPr/>
          <a:lstStyle/>
          <a:p>
            <a:endParaRPr lang="en-FR"/>
          </a:p>
        </p:txBody>
      </p:sp>
      <p:sp>
        <p:nvSpPr>
          <p:cNvPr id="8" name="Rectangle 7">
            <a:extLst>
              <a:ext uri="{FF2B5EF4-FFF2-40B4-BE49-F238E27FC236}">
                <a16:creationId xmlns:a16="http://schemas.microsoft.com/office/drawing/2014/main" id="{F4665D1A-4623-4CF9-A20C-68CDF4C2ABE6}"/>
              </a:ext>
            </a:extLst>
          </p:cNvPr>
          <p:cNvSpPr>
            <a:spLocks noGrp="1"/>
          </p:cNvSpPr>
          <p:nvPr/>
        </p:nvSpPr>
        <p:spPr>
          <a:xfrm>
            <a:off x="342900" y="295275"/>
            <a:ext cx="7953375" cy="428625"/>
          </a:xfrm>
          <a:prstGeom prst="rect">
            <a:avLst/>
          </a:prstGeom>
          <a:noFill/>
          <a:ln w="0">
            <a:noFill/>
            <a:prstDash val="solid"/>
          </a:ln>
        </p:spPr>
        <p:txBody>
          <a:bodyPr wrap="none" lIns="0" tIns="0" rIns="0" bIns="0" anchor="t"/>
          <a:lstStyle/>
          <a:p>
            <a:pPr algn="l">
              <a:lnSpc>
                <a:spcPct val="100000"/>
              </a:lnSpc>
              <a:buNone/>
              <a:defRPr sz="2550" b="1" i="0">
                <a:solidFill>
                  <a:srgbClr val="003B25"/>
                </a:solidFill>
                <a:latin typeface="Arial"/>
                <a:ea typeface="Arial"/>
                <a:cs typeface="Arial"/>
              </a:defRPr>
            </a:pPr>
            <a:r>
              <a:rPr sz="2550" b="1" i="0">
                <a:solidFill>
                  <a:srgbClr val="003B25"/>
                </a:solidFill>
                <a:latin typeface="Arial"/>
                <a:ea typeface="Arial"/>
                <a:cs typeface="Arial"/>
              </a:rPr>
              <a:t>Disaster recovery with Oracle Cloud VMware Solution</a:t>
            </a:r>
          </a:p>
        </p:txBody>
      </p:sp>
      <p:sp>
        <p:nvSpPr>
          <p:cNvPr id="9" name="Rectangle 8">
            <a:extLst>
              <a:ext uri="{FF2B5EF4-FFF2-40B4-BE49-F238E27FC236}">
                <a16:creationId xmlns:a16="http://schemas.microsoft.com/office/drawing/2014/main" id="{989F218F-13FB-4BC0-8923-1FE366F8A0F1}"/>
              </a:ext>
            </a:extLst>
          </p:cNvPr>
          <p:cNvSpPr>
            <a:spLocks noGrp="1"/>
          </p:cNvSpPr>
          <p:nvPr/>
        </p:nvSpPr>
        <p:spPr>
          <a:xfrm>
            <a:off x="342900" y="800100"/>
            <a:ext cx="409575" cy="38100"/>
          </a:xfrm>
          <a:prstGeom prst="rect">
            <a:avLst/>
          </a:prstGeom>
          <a:solidFill>
            <a:srgbClr val="E60000"/>
          </a:solidFill>
          <a:ln w="0">
            <a:noFill/>
            <a:prstDash val="solid"/>
          </a:ln>
        </p:spPr>
        <p:txBody>
          <a:bodyPr/>
          <a:lstStyle/>
          <a:p>
            <a:endParaRPr lang="en-FR"/>
          </a:p>
        </p:txBody>
      </p:sp>
      <p:sp>
        <p:nvSpPr>
          <p:cNvPr id="10" name="Rectangle 9">
            <a:extLst>
              <a:ext uri="{FF2B5EF4-FFF2-40B4-BE49-F238E27FC236}">
                <a16:creationId xmlns:a16="http://schemas.microsoft.com/office/drawing/2014/main" id="{4A88FE9F-F4BC-49FB-AA7D-E3404E80ADD4}"/>
              </a:ext>
            </a:extLst>
          </p:cNvPr>
          <p:cNvSpPr>
            <a:spLocks noGrp="1"/>
          </p:cNvSpPr>
          <p:nvPr/>
        </p:nvSpPr>
        <p:spPr>
          <a:xfrm>
            <a:off x="342900" y="1000125"/>
            <a:ext cx="7239000" cy="228600"/>
          </a:xfrm>
          <a:prstGeom prst="rect">
            <a:avLst/>
          </a:prstGeom>
          <a:noFill/>
          <a:ln w="0">
            <a:noFill/>
            <a:prstDash val="solid"/>
          </a:ln>
        </p:spPr>
        <p:txBody>
          <a:bodyPr wrap="none" lIns="0" tIns="0" rIns="0" bIns="0" anchor="t"/>
          <a:lstStyle/>
          <a:p>
            <a:pPr algn="l">
              <a:lnSpc>
                <a:spcPct val="100000"/>
              </a:lnSpc>
              <a:buNone/>
              <a:defRPr sz="1275" b="0" i="0">
                <a:solidFill>
                  <a:srgbClr val="666666"/>
                </a:solidFill>
                <a:latin typeface="Arial"/>
                <a:ea typeface="Arial"/>
                <a:cs typeface="Arial"/>
              </a:defRPr>
            </a:pPr>
            <a:r>
              <a:rPr sz="1275" b="0" i="0">
                <a:solidFill>
                  <a:srgbClr val="666666"/>
                </a:solidFill>
                <a:latin typeface="Arial"/>
                <a:ea typeface="Arial"/>
                <a:cs typeface="Arial"/>
              </a:rPr>
              <a:t>Create a reliable DR environment in the cloud to ensure business continuity and resilience.</a:t>
            </a:r>
          </a:p>
        </p:txBody>
      </p:sp>
      <p:pic>
        <p:nvPicPr>
          <p:cNvPr id="127" name="Picture 126"/>
          <p:cNvPicPr>
            <a:picLocks noChangeAspect="1"/>
          </p:cNvPicPr>
          <p:nvPr/>
        </p:nvPicPr>
        <p:blipFill>
          <a:blip r:embed="rId3"/>
          <a:stretch/>
        </p:blipFill>
        <p:spPr>
          <a:xfrm>
            <a:off x="9239250" y="410680"/>
            <a:ext cx="2647950" cy="312116"/>
          </a:xfrm>
          <a:prstGeom prst="rect">
            <a:avLst/>
          </a:prstGeom>
        </p:spPr>
      </p:pic>
      <p:sp>
        <p:nvSpPr>
          <p:cNvPr id="12" name="Rounded Rectangle 11">
            <a:extLst>
              <a:ext uri="{FF2B5EF4-FFF2-40B4-BE49-F238E27FC236}">
                <a16:creationId xmlns:a16="http://schemas.microsoft.com/office/drawing/2014/main" id="{786F4932-AB24-481B-95D0-E3179D3FF528}"/>
              </a:ext>
            </a:extLst>
          </p:cNvPr>
          <p:cNvSpPr>
            <a:spLocks noGrp="1"/>
          </p:cNvSpPr>
          <p:nvPr/>
        </p:nvSpPr>
        <p:spPr>
          <a:xfrm>
            <a:off x="333375" y="1400175"/>
            <a:ext cx="9572625" cy="723900"/>
          </a:xfrm>
          <a:prstGeom prst="roundRect">
            <a:avLst>
              <a:gd name="adj" fmla="val 9211"/>
            </a:avLst>
          </a:prstGeom>
          <a:solidFill>
            <a:srgbClr val="FFFFFF"/>
          </a:solidFill>
          <a:ln w="9525">
            <a:solidFill>
              <a:srgbClr val="D2DAD5"/>
            </a:solidFill>
            <a:prstDash val="solid"/>
          </a:ln>
        </p:spPr>
        <p:style>
          <a:lnRef idx="0">
            <a:scrgbClr r="0" g="0" b="0"/>
          </a:lnRef>
          <a:fillRef idx="0">
            <a:scrgbClr r="0" g="0" b="0"/>
          </a:fillRef>
          <a:effectRef idx="4">
            <a:scrgbClr r="0" g="0" b="0"/>
          </a:effectRef>
          <a:fontRef idx="major"/>
        </p:style>
        <p:txBody>
          <a:bodyPr/>
          <a:lstStyle/>
          <a:p>
            <a:endParaRPr lang="en-FR"/>
          </a:p>
        </p:txBody>
      </p:sp>
      <p:pic>
        <p:nvPicPr>
          <p:cNvPr id="129" name="Picture 128"/>
          <p:cNvPicPr>
            <a:picLocks noChangeAspect="1"/>
          </p:cNvPicPr>
          <p:nvPr/>
        </p:nvPicPr>
        <p:blipFill>
          <a:blip r:embed="rId4"/>
          <a:stretch/>
        </p:blipFill>
        <p:spPr>
          <a:xfrm>
            <a:off x="542925" y="1595438"/>
            <a:ext cx="400050" cy="371475"/>
          </a:xfrm>
          <a:prstGeom prst="rect">
            <a:avLst/>
          </a:prstGeom>
        </p:spPr>
      </p:pic>
      <p:sp>
        <p:nvSpPr>
          <p:cNvPr id="14" name="Rectangle 13">
            <a:extLst>
              <a:ext uri="{FF2B5EF4-FFF2-40B4-BE49-F238E27FC236}">
                <a16:creationId xmlns:a16="http://schemas.microsoft.com/office/drawing/2014/main" id="{5E5B05A7-8CAC-4DA1-AF73-A5CF6A840223}"/>
              </a:ext>
            </a:extLst>
          </p:cNvPr>
          <p:cNvSpPr>
            <a:spLocks noGrp="1"/>
          </p:cNvSpPr>
          <p:nvPr/>
        </p:nvSpPr>
        <p:spPr>
          <a:xfrm>
            <a:off x="1047750" y="1628775"/>
            <a:ext cx="1657350" cy="352425"/>
          </a:xfrm>
          <a:prstGeom prst="rect">
            <a:avLst/>
          </a:prstGeom>
          <a:noFill/>
          <a:ln w="0">
            <a:noFill/>
            <a:prstDash val="solid"/>
          </a:ln>
        </p:spPr>
        <p:txBody>
          <a:bodyPr wrap="square" lIns="0" tIns="0" rIns="0" bIns="0" anchor="t"/>
          <a:lstStyle/>
          <a:p>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Business continuity for</a:t>
            </a:r>
          </a:p>
          <a:p>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mission-critical applications</a:t>
            </a:r>
          </a:p>
        </p:txBody>
      </p:sp>
      <p:pic>
        <p:nvPicPr>
          <p:cNvPr id="131" name="Picture 130"/>
          <p:cNvPicPr>
            <a:picLocks noChangeAspect="1"/>
          </p:cNvPicPr>
          <p:nvPr/>
        </p:nvPicPr>
        <p:blipFill>
          <a:blip r:embed="rId5"/>
          <a:stretch/>
        </p:blipFill>
        <p:spPr>
          <a:xfrm>
            <a:off x="3009900" y="1603375"/>
            <a:ext cx="400050" cy="355600"/>
          </a:xfrm>
          <a:prstGeom prst="rect">
            <a:avLst/>
          </a:prstGeom>
        </p:spPr>
      </p:pic>
      <p:sp>
        <p:nvSpPr>
          <p:cNvPr id="16" name="Rectangle 15">
            <a:extLst>
              <a:ext uri="{FF2B5EF4-FFF2-40B4-BE49-F238E27FC236}">
                <a16:creationId xmlns:a16="http://schemas.microsoft.com/office/drawing/2014/main" id="{E618FC33-3E60-40C1-A9CC-8A11633BDAAA}"/>
              </a:ext>
            </a:extLst>
          </p:cNvPr>
          <p:cNvSpPr>
            <a:spLocks noGrp="1"/>
          </p:cNvSpPr>
          <p:nvPr/>
        </p:nvSpPr>
        <p:spPr>
          <a:xfrm>
            <a:off x="3533775" y="1628775"/>
            <a:ext cx="1657350" cy="352425"/>
          </a:xfrm>
          <a:prstGeom prst="rect">
            <a:avLst/>
          </a:prstGeom>
          <a:noFill/>
          <a:ln w="0">
            <a:noFill/>
            <a:prstDash val="solid"/>
          </a:ln>
        </p:spPr>
        <p:txBody>
          <a:bodyPr wrap="square" lIns="0" tIns="0" rIns="0" bIns="0" anchor="t"/>
          <a:lstStyle/>
          <a:p>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Maintain systems without</a:t>
            </a:r>
          </a:p>
          <a:p>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service disruption</a:t>
            </a:r>
          </a:p>
        </p:txBody>
      </p:sp>
      <p:pic>
        <p:nvPicPr>
          <p:cNvPr id="133" name="Picture 132"/>
          <p:cNvPicPr>
            <a:picLocks noChangeAspect="1"/>
          </p:cNvPicPr>
          <p:nvPr/>
        </p:nvPicPr>
        <p:blipFill>
          <a:blip r:embed="rId6"/>
          <a:stretch/>
        </p:blipFill>
        <p:spPr>
          <a:xfrm>
            <a:off x="5448300" y="1590242"/>
            <a:ext cx="400050" cy="381866"/>
          </a:xfrm>
          <a:prstGeom prst="rect">
            <a:avLst/>
          </a:prstGeom>
        </p:spPr>
      </p:pic>
      <p:sp>
        <p:nvSpPr>
          <p:cNvPr id="18" name="Rectangle 17">
            <a:extLst>
              <a:ext uri="{FF2B5EF4-FFF2-40B4-BE49-F238E27FC236}">
                <a16:creationId xmlns:a16="http://schemas.microsoft.com/office/drawing/2014/main" id="{EA86944C-D13A-4B24-B4A7-3B4B8B6CF08B}"/>
              </a:ext>
            </a:extLst>
          </p:cNvPr>
          <p:cNvSpPr>
            <a:spLocks noGrp="1"/>
          </p:cNvSpPr>
          <p:nvPr/>
        </p:nvSpPr>
        <p:spPr>
          <a:xfrm>
            <a:off x="5962650" y="1628775"/>
            <a:ext cx="1657350" cy="352425"/>
          </a:xfrm>
          <a:prstGeom prst="rect">
            <a:avLst/>
          </a:prstGeom>
          <a:noFill/>
          <a:ln w="0">
            <a:noFill/>
            <a:prstDash val="solid"/>
          </a:ln>
        </p:spPr>
        <p:txBody>
          <a:bodyPr wrap="square" lIns="0" tIns="0" rIns="0" bIns="0" anchor="t"/>
          <a:lstStyle/>
          <a:p>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Ensure recovery from</a:t>
            </a:r>
          </a:p>
          <a:p>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data corruption &amp; cyberattacks</a:t>
            </a:r>
          </a:p>
        </p:txBody>
      </p:sp>
      <p:pic>
        <p:nvPicPr>
          <p:cNvPr id="135" name="Picture 134"/>
          <p:cNvPicPr>
            <a:picLocks noChangeAspect="1"/>
          </p:cNvPicPr>
          <p:nvPr/>
        </p:nvPicPr>
        <p:blipFill>
          <a:blip r:embed="rId7"/>
          <a:stretch/>
        </p:blipFill>
        <p:spPr>
          <a:xfrm>
            <a:off x="7972425" y="1594788"/>
            <a:ext cx="400050" cy="372774"/>
          </a:xfrm>
          <a:prstGeom prst="rect">
            <a:avLst/>
          </a:prstGeom>
        </p:spPr>
      </p:pic>
      <p:sp>
        <p:nvSpPr>
          <p:cNvPr id="20" name="Rectangle 19">
            <a:extLst>
              <a:ext uri="{FF2B5EF4-FFF2-40B4-BE49-F238E27FC236}">
                <a16:creationId xmlns:a16="http://schemas.microsoft.com/office/drawing/2014/main" id="{020C0DCF-D439-4048-8F9A-835D67707AD8}"/>
              </a:ext>
            </a:extLst>
          </p:cNvPr>
          <p:cNvSpPr>
            <a:spLocks noGrp="1"/>
          </p:cNvSpPr>
          <p:nvPr/>
        </p:nvSpPr>
        <p:spPr>
          <a:xfrm>
            <a:off x="8496300" y="1628775"/>
            <a:ext cx="1657350" cy="352425"/>
          </a:xfrm>
          <a:prstGeom prst="rect">
            <a:avLst/>
          </a:prstGeom>
          <a:noFill/>
          <a:ln w="0">
            <a:noFill/>
            <a:prstDash val="solid"/>
          </a:ln>
        </p:spPr>
        <p:txBody>
          <a:bodyPr wrap="square" lIns="0" tIns="0" rIns="0" bIns="0" anchor="t"/>
          <a:lstStyle/>
          <a:p>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Meet defined RTO &amp; RPO</a:t>
            </a:r>
          </a:p>
          <a:p>
            <a:pPr algn="l">
              <a:lnSpc>
                <a:spcPct val="105000"/>
              </a:lnSpc>
              <a:buNone/>
              <a:defRPr sz="788" b="1" i="0">
                <a:solidFill>
                  <a:srgbClr val="111111"/>
                </a:solidFill>
                <a:latin typeface="Arial"/>
                <a:ea typeface="Arial"/>
                <a:cs typeface="Arial"/>
              </a:defRPr>
            </a:pPr>
            <a:r>
              <a:rPr sz="788" b="1" i="0">
                <a:solidFill>
                  <a:srgbClr val="111111"/>
                </a:solidFill>
                <a:latin typeface="Arial"/>
                <a:ea typeface="Arial"/>
                <a:cs typeface="Arial"/>
              </a:rPr>
              <a:t>with backups &amp; restores</a:t>
            </a:r>
          </a:p>
        </p:txBody>
      </p:sp>
      <p:sp>
        <p:nvSpPr>
          <p:cNvPr id="21" name="Straight Connector 20">
            <a:extLst>
              <a:ext uri="{FF2B5EF4-FFF2-40B4-BE49-F238E27FC236}">
                <a16:creationId xmlns:a16="http://schemas.microsoft.com/office/drawing/2014/main" id="{341E699D-0E10-41F2-A6D0-918E054EF6DF}"/>
              </a:ext>
            </a:extLst>
          </p:cNvPr>
          <p:cNvSpPr>
            <a:spLocks noGrp="1"/>
          </p:cNvSpPr>
          <p:nvPr/>
        </p:nvSpPr>
        <p:spPr>
          <a:xfrm>
            <a:off x="2790825" y="1552575"/>
            <a:ext cx="0" cy="457200"/>
          </a:xfrm>
          <a:prstGeom prst="line">
            <a:avLst/>
          </a:prstGeom>
          <a:noFill/>
          <a:ln w="9525">
            <a:solidFill>
              <a:srgbClr val="D8DEDA"/>
            </a:solidFill>
            <a:prstDash val="solid"/>
          </a:ln>
        </p:spPr>
        <p:txBody>
          <a:bodyPr/>
          <a:lstStyle/>
          <a:p>
            <a:endParaRPr lang="en-FR"/>
          </a:p>
        </p:txBody>
      </p:sp>
      <p:sp>
        <p:nvSpPr>
          <p:cNvPr id="22" name="Straight Connector 21">
            <a:extLst>
              <a:ext uri="{FF2B5EF4-FFF2-40B4-BE49-F238E27FC236}">
                <a16:creationId xmlns:a16="http://schemas.microsoft.com/office/drawing/2014/main" id="{AA3C1E6A-3277-45AB-9BB2-56CC6330710C}"/>
              </a:ext>
            </a:extLst>
          </p:cNvPr>
          <p:cNvSpPr>
            <a:spLocks noGrp="1"/>
          </p:cNvSpPr>
          <p:nvPr/>
        </p:nvSpPr>
        <p:spPr>
          <a:xfrm>
            <a:off x="5200650" y="1552575"/>
            <a:ext cx="0" cy="457200"/>
          </a:xfrm>
          <a:prstGeom prst="line">
            <a:avLst/>
          </a:prstGeom>
          <a:noFill/>
          <a:ln w="9525">
            <a:solidFill>
              <a:srgbClr val="D8DEDA"/>
            </a:solidFill>
            <a:prstDash val="solid"/>
          </a:ln>
        </p:spPr>
        <p:txBody>
          <a:bodyPr/>
          <a:lstStyle/>
          <a:p>
            <a:endParaRPr lang="en-FR"/>
          </a:p>
        </p:txBody>
      </p:sp>
      <p:sp>
        <p:nvSpPr>
          <p:cNvPr id="23" name="Straight Connector 22">
            <a:extLst>
              <a:ext uri="{FF2B5EF4-FFF2-40B4-BE49-F238E27FC236}">
                <a16:creationId xmlns:a16="http://schemas.microsoft.com/office/drawing/2014/main" id="{2E09B376-0D97-4413-916B-C1F5FF0F81ED}"/>
              </a:ext>
            </a:extLst>
          </p:cNvPr>
          <p:cNvSpPr>
            <a:spLocks noGrp="1"/>
          </p:cNvSpPr>
          <p:nvPr/>
        </p:nvSpPr>
        <p:spPr>
          <a:xfrm>
            <a:off x="7734300" y="1552575"/>
            <a:ext cx="0" cy="457200"/>
          </a:xfrm>
          <a:prstGeom prst="line">
            <a:avLst/>
          </a:prstGeom>
          <a:noFill/>
          <a:ln w="9525">
            <a:solidFill>
              <a:srgbClr val="D8DEDA"/>
            </a:solidFill>
            <a:prstDash val="solid"/>
          </a:ln>
        </p:spPr>
        <p:txBody>
          <a:bodyPr/>
          <a:lstStyle/>
          <a:p>
            <a:endParaRPr lang="en-FR"/>
          </a:p>
        </p:txBody>
      </p:sp>
      <p:sp>
        <p:nvSpPr>
          <p:cNvPr id="24" name="Rounded Rectangle 23">
            <a:extLst>
              <a:ext uri="{FF2B5EF4-FFF2-40B4-BE49-F238E27FC236}">
                <a16:creationId xmlns:a16="http://schemas.microsoft.com/office/drawing/2014/main" id="{57253317-CAEC-48A1-8F7C-20ADFAC33866}"/>
              </a:ext>
            </a:extLst>
          </p:cNvPr>
          <p:cNvSpPr>
            <a:spLocks noGrp="1"/>
          </p:cNvSpPr>
          <p:nvPr/>
        </p:nvSpPr>
        <p:spPr>
          <a:xfrm>
            <a:off x="333375" y="2362200"/>
            <a:ext cx="2762250" cy="3333750"/>
          </a:xfrm>
          <a:prstGeom prst="roundRect">
            <a:avLst>
              <a:gd name="adj" fmla="val 2414"/>
            </a:avLst>
          </a:prstGeom>
          <a:solidFill>
            <a:srgbClr val="FFFFFF"/>
          </a:solidFill>
          <a:ln w="9525">
            <a:solidFill>
              <a:srgbClr val="2A4594"/>
            </a:solidFill>
            <a:prstDash val="solid"/>
          </a:ln>
        </p:spPr>
        <p:style>
          <a:lnRef idx="0">
            <a:scrgbClr r="0" g="0" b="0"/>
          </a:lnRef>
          <a:fillRef idx="0">
            <a:scrgbClr r="0" g="0" b="0"/>
          </a:fillRef>
          <a:effectRef idx="4">
            <a:scrgbClr r="0" g="0" b="0"/>
          </a:effectRef>
          <a:fontRef idx="major"/>
        </p:style>
        <p:txBody>
          <a:bodyPr/>
          <a:lstStyle/>
          <a:p>
            <a:endParaRPr lang="en-FR"/>
          </a:p>
        </p:txBody>
      </p:sp>
      <p:sp>
        <p:nvSpPr>
          <p:cNvPr id="25" name="Rounded Rectangle 24">
            <a:extLst>
              <a:ext uri="{FF2B5EF4-FFF2-40B4-BE49-F238E27FC236}">
                <a16:creationId xmlns:a16="http://schemas.microsoft.com/office/drawing/2014/main" id="{2FBE006E-8463-4626-AB6C-3C708795C9BC}"/>
              </a:ext>
            </a:extLst>
          </p:cNvPr>
          <p:cNvSpPr>
            <a:spLocks noGrp="1"/>
          </p:cNvSpPr>
          <p:nvPr/>
        </p:nvSpPr>
        <p:spPr>
          <a:xfrm>
            <a:off x="333375" y="2362200"/>
            <a:ext cx="2762250" cy="304800"/>
          </a:xfrm>
          <a:prstGeom prst="roundRect">
            <a:avLst>
              <a:gd name="adj" fmla="val 21875"/>
            </a:avLst>
          </a:prstGeom>
          <a:solidFill>
            <a:srgbClr val="0B2B78"/>
          </a:solidFill>
          <a:ln w="0">
            <a:noFill/>
            <a:prstDash val="solid"/>
          </a:ln>
        </p:spPr>
        <p:txBody>
          <a:bodyPr/>
          <a:lstStyle/>
          <a:p>
            <a:endParaRPr lang="en-FR"/>
          </a:p>
        </p:txBody>
      </p:sp>
      <p:sp>
        <p:nvSpPr>
          <p:cNvPr id="26" name="Rectangle 25">
            <a:extLst>
              <a:ext uri="{FF2B5EF4-FFF2-40B4-BE49-F238E27FC236}">
                <a16:creationId xmlns:a16="http://schemas.microsoft.com/office/drawing/2014/main" id="{DFB030EF-3D58-47DB-A6BD-CE57981113BD}"/>
              </a:ext>
            </a:extLst>
          </p:cNvPr>
          <p:cNvSpPr>
            <a:spLocks noGrp="1"/>
          </p:cNvSpPr>
          <p:nvPr/>
        </p:nvSpPr>
        <p:spPr>
          <a:xfrm>
            <a:off x="333375" y="2600325"/>
            <a:ext cx="2762250" cy="76200"/>
          </a:xfrm>
          <a:prstGeom prst="rect">
            <a:avLst/>
          </a:prstGeom>
          <a:solidFill>
            <a:srgbClr val="0B2B78"/>
          </a:solidFill>
          <a:ln w="0">
            <a:noFill/>
            <a:prstDash val="solid"/>
          </a:ln>
        </p:spPr>
        <p:txBody>
          <a:bodyPr/>
          <a:lstStyle/>
          <a:p>
            <a:endParaRPr lang="en-FR"/>
          </a:p>
        </p:txBody>
      </p:sp>
      <p:sp>
        <p:nvSpPr>
          <p:cNvPr id="27" name="Rectangle 26">
            <a:extLst>
              <a:ext uri="{FF2B5EF4-FFF2-40B4-BE49-F238E27FC236}">
                <a16:creationId xmlns:a16="http://schemas.microsoft.com/office/drawing/2014/main" id="{36FDDD9C-FB20-4D4F-B0A9-E0A322A457A4}"/>
              </a:ext>
            </a:extLst>
          </p:cNvPr>
          <p:cNvSpPr>
            <a:spLocks noGrp="1"/>
          </p:cNvSpPr>
          <p:nvPr/>
        </p:nvSpPr>
        <p:spPr>
          <a:xfrm>
            <a:off x="876300" y="2466975"/>
            <a:ext cx="1714500" cy="161925"/>
          </a:xfrm>
          <a:prstGeom prst="rect">
            <a:avLst/>
          </a:prstGeom>
          <a:noFill/>
          <a:ln w="0">
            <a:noFill/>
            <a:prstDash val="solid"/>
          </a:ln>
        </p:spPr>
        <p:txBody>
          <a:bodyPr wrap="none" lIns="0" tIns="0" rIns="0" bIns="0" anchor="t"/>
          <a:lstStyle/>
          <a:p>
            <a:pPr algn="ctr">
              <a:lnSpc>
                <a:spcPct val="100000"/>
              </a:lnSpc>
              <a:buNone/>
              <a:defRPr sz="900" b="1" i="0">
                <a:solidFill>
                  <a:srgbClr val="FFFFFF"/>
                </a:solidFill>
                <a:latin typeface="Arial"/>
                <a:ea typeface="Arial"/>
                <a:cs typeface="Arial"/>
              </a:defRPr>
            </a:pPr>
            <a:r>
              <a:rPr sz="900" b="1" i="0">
                <a:solidFill>
                  <a:srgbClr val="FFFFFF"/>
                </a:solidFill>
                <a:latin typeface="Arial"/>
                <a:ea typeface="Arial"/>
                <a:cs typeface="Arial"/>
              </a:rPr>
              <a:t>ON-PREMISES PRIMARY SITE</a:t>
            </a:r>
          </a:p>
        </p:txBody>
      </p:sp>
      <p:pic>
        <p:nvPicPr>
          <p:cNvPr id="144" name="Picture 143"/>
          <p:cNvPicPr>
            <a:picLocks noChangeAspect="1"/>
          </p:cNvPicPr>
          <p:nvPr/>
        </p:nvPicPr>
        <p:blipFill>
          <a:blip r:embed="rId8"/>
          <a:stretch/>
        </p:blipFill>
        <p:spPr>
          <a:xfrm>
            <a:off x="504825" y="2905125"/>
            <a:ext cx="333375" cy="457200"/>
          </a:xfrm>
          <a:prstGeom prst="rect">
            <a:avLst/>
          </a:prstGeom>
        </p:spPr>
      </p:pic>
      <p:sp>
        <p:nvSpPr>
          <p:cNvPr id="29" name="Rounded Rectangle 28">
            <a:extLst>
              <a:ext uri="{FF2B5EF4-FFF2-40B4-BE49-F238E27FC236}">
                <a16:creationId xmlns:a16="http://schemas.microsoft.com/office/drawing/2014/main" id="{015D1C53-1480-406E-95A5-3F548E019DA5}"/>
              </a:ext>
            </a:extLst>
          </p:cNvPr>
          <p:cNvSpPr>
            <a:spLocks noGrp="1"/>
          </p:cNvSpPr>
          <p:nvPr/>
        </p:nvSpPr>
        <p:spPr>
          <a:xfrm>
            <a:off x="904875" y="2971800"/>
            <a:ext cx="295275" cy="295275"/>
          </a:xfrm>
          <a:prstGeom prst="roundRect">
            <a:avLst>
              <a:gd name="adj" fmla="val 12903"/>
            </a:avLst>
          </a:prstGeom>
          <a:solidFill>
            <a:srgbClr val="FAFAFA"/>
          </a:solidFill>
          <a:ln w="9525">
            <a:solidFill>
              <a:srgbClr val="BAC5CF"/>
            </a:solidFill>
            <a:prstDash val="solid"/>
          </a:ln>
        </p:spPr>
        <p:txBody>
          <a:bodyPr/>
          <a:lstStyle/>
          <a:p>
            <a:endParaRPr lang="en-FR"/>
          </a:p>
        </p:txBody>
      </p:sp>
      <p:sp>
        <p:nvSpPr>
          <p:cNvPr id="30" name="Rectangle 29">
            <a:extLst>
              <a:ext uri="{FF2B5EF4-FFF2-40B4-BE49-F238E27FC236}">
                <a16:creationId xmlns:a16="http://schemas.microsoft.com/office/drawing/2014/main" id="{75F5758E-8241-416E-9235-D3365C8E06E1}"/>
              </a:ext>
            </a:extLst>
          </p:cNvPr>
          <p:cNvSpPr>
            <a:spLocks noGrp="1"/>
          </p:cNvSpPr>
          <p:nvPr/>
        </p:nvSpPr>
        <p:spPr>
          <a:xfrm>
            <a:off x="952500" y="3048000"/>
            <a:ext cx="200025" cy="114300"/>
          </a:xfrm>
          <a:prstGeom prst="rect">
            <a:avLst/>
          </a:prstGeom>
          <a:noFill/>
          <a:ln w="0">
            <a:noFill/>
            <a:prstDash val="solid"/>
          </a:ln>
        </p:spPr>
        <p:txBody>
          <a:bodyPr wrap="none" lIns="0" tIns="0" rIns="0" bIns="0" anchor="t"/>
          <a:lstStyle/>
          <a:p>
            <a:pPr algn="ctr">
              <a:lnSpc>
                <a:spcPct val="100000"/>
              </a:lnSpc>
              <a:buNone/>
              <a:defRPr sz="750" b="1" i="0">
                <a:solidFill>
                  <a:srgbClr val="111111"/>
                </a:solidFill>
                <a:latin typeface="Arial"/>
                <a:ea typeface="Arial"/>
                <a:cs typeface="Arial"/>
              </a:defRPr>
            </a:pPr>
            <a:r>
              <a:rPr sz="750" b="1" i="0">
                <a:solidFill>
                  <a:srgbClr val="111111"/>
                </a:solidFill>
                <a:latin typeface="Arial"/>
                <a:ea typeface="Arial"/>
                <a:cs typeface="Arial"/>
              </a:rPr>
              <a:t>VM</a:t>
            </a:r>
          </a:p>
        </p:txBody>
      </p:sp>
      <p:sp>
        <p:nvSpPr>
          <p:cNvPr id="31" name="Rounded Rectangle 30">
            <a:extLst>
              <a:ext uri="{FF2B5EF4-FFF2-40B4-BE49-F238E27FC236}">
                <a16:creationId xmlns:a16="http://schemas.microsoft.com/office/drawing/2014/main" id="{8E3B7C8C-5401-4836-B7F1-F7215B718DC2}"/>
              </a:ext>
            </a:extLst>
          </p:cNvPr>
          <p:cNvSpPr>
            <a:spLocks noGrp="1"/>
          </p:cNvSpPr>
          <p:nvPr/>
        </p:nvSpPr>
        <p:spPr>
          <a:xfrm>
            <a:off x="1285875" y="2971800"/>
            <a:ext cx="295275" cy="295275"/>
          </a:xfrm>
          <a:prstGeom prst="roundRect">
            <a:avLst>
              <a:gd name="adj" fmla="val 12903"/>
            </a:avLst>
          </a:prstGeom>
          <a:solidFill>
            <a:srgbClr val="FAFAFA"/>
          </a:solidFill>
          <a:ln w="9525">
            <a:solidFill>
              <a:srgbClr val="BAC5CF"/>
            </a:solidFill>
            <a:prstDash val="solid"/>
          </a:ln>
        </p:spPr>
        <p:txBody>
          <a:bodyPr/>
          <a:lstStyle/>
          <a:p>
            <a:endParaRPr lang="en-FR"/>
          </a:p>
        </p:txBody>
      </p:sp>
      <p:sp>
        <p:nvSpPr>
          <p:cNvPr id="32" name="Rectangle 31">
            <a:extLst>
              <a:ext uri="{FF2B5EF4-FFF2-40B4-BE49-F238E27FC236}">
                <a16:creationId xmlns:a16="http://schemas.microsoft.com/office/drawing/2014/main" id="{D4D7B0E1-6573-4B2D-AA61-FBDF21A4D4D3}"/>
              </a:ext>
            </a:extLst>
          </p:cNvPr>
          <p:cNvSpPr>
            <a:spLocks noGrp="1"/>
          </p:cNvSpPr>
          <p:nvPr/>
        </p:nvSpPr>
        <p:spPr>
          <a:xfrm>
            <a:off x="1333500" y="3048000"/>
            <a:ext cx="200025" cy="114300"/>
          </a:xfrm>
          <a:prstGeom prst="rect">
            <a:avLst/>
          </a:prstGeom>
          <a:noFill/>
          <a:ln w="0">
            <a:noFill/>
            <a:prstDash val="solid"/>
          </a:ln>
        </p:spPr>
        <p:txBody>
          <a:bodyPr wrap="none" lIns="0" tIns="0" rIns="0" bIns="0" anchor="t"/>
          <a:lstStyle/>
          <a:p>
            <a:pPr algn="ctr">
              <a:lnSpc>
                <a:spcPct val="100000"/>
              </a:lnSpc>
              <a:buNone/>
              <a:defRPr sz="750" b="1" i="0">
                <a:solidFill>
                  <a:srgbClr val="111111"/>
                </a:solidFill>
                <a:latin typeface="Arial"/>
                <a:ea typeface="Arial"/>
                <a:cs typeface="Arial"/>
              </a:defRPr>
            </a:pPr>
            <a:r>
              <a:rPr sz="750" b="1" i="0">
                <a:solidFill>
                  <a:srgbClr val="111111"/>
                </a:solidFill>
                <a:latin typeface="Arial"/>
                <a:ea typeface="Arial"/>
                <a:cs typeface="Arial"/>
              </a:rPr>
              <a:t>VM</a:t>
            </a:r>
          </a:p>
        </p:txBody>
      </p:sp>
      <p:sp>
        <p:nvSpPr>
          <p:cNvPr id="33" name="Rounded Rectangle 32">
            <a:extLst>
              <a:ext uri="{FF2B5EF4-FFF2-40B4-BE49-F238E27FC236}">
                <a16:creationId xmlns:a16="http://schemas.microsoft.com/office/drawing/2014/main" id="{21B2D86F-2090-4613-9A64-609220EF8D6C}"/>
              </a:ext>
            </a:extLst>
          </p:cNvPr>
          <p:cNvSpPr>
            <a:spLocks noGrp="1"/>
          </p:cNvSpPr>
          <p:nvPr/>
        </p:nvSpPr>
        <p:spPr>
          <a:xfrm>
            <a:off x="1666875" y="2971800"/>
            <a:ext cx="295275" cy="295275"/>
          </a:xfrm>
          <a:prstGeom prst="roundRect">
            <a:avLst>
              <a:gd name="adj" fmla="val 12903"/>
            </a:avLst>
          </a:prstGeom>
          <a:solidFill>
            <a:srgbClr val="FAFAFA"/>
          </a:solidFill>
          <a:ln w="9525">
            <a:solidFill>
              <a:srgbClr val="BAC5CF"/>
            </a:solidFill>
            <a:prstDash val="solid"/>
          </a:ln>
        </p:spPr>
        <p:txBody>
          <a:bodyPr/>
          <a:lstStyle/>
          <a:p>
            <a:endParaRPr lang="en-FR"/>
          </a:p>
        </p:txBody>
      </p:sp>
      <p:sp>
        <p:nvSpPr>
          <p:cNvPr id="34" name="Rectangle 33">
            <a:extLst>
              <a:ext uri="{FF2B5EF4-FFF2-40B4-BE49-F238E27FC236}">
                <a16:creationId xmlns:a16="http://schemas.microsoft.com/office/drawing/2014/main" id="{9BC1A62C-94B4-4D63-95EC-FA8D88A76B40}"/>
              </a:ext>
            </a:extLst>
          </p:cNvPr>
          <p:cNvSpPr>
            <a:spLocks noGrp="1"/>
          </p:cNvSpPr>
          <p:nvPr/>
        </p:nvSpPr>
        <p:spPr>
          <a:xfrm>
            <a:off x="1714500" y="3048000"/>
            <a:ext cx="200025" cy="114300"/>
          </a:xfrm>
          <a:prstGeom prst="rect">
            <a:avLst/>
          </a:prstGeom>
          <a:noFill/>
          <a:ln w="0">
            <a:noFill/>
            <a:prstDash val="solid"/>
          </a:ln>
        </p:spPr>
        <p:txBody>
          <a:bodyPr wrap="none" lIns="0" tIns="0" rIns="0" bIns="0" anchor="t"/>
          <a:lstStyle/>
          <a:p>
            <a:pPr algn="ctr">
              <a:lnSpc>
                <a:spcPct val="100000"/>
              </a:lnSpc>
              <a:buNone/>
              <a:defRPr sz="750" b="1" i="0">
                <a:solidFill>
                  <a:srgbClr val="111111"/>
                </a:solidFill>
                <a:latin typeface="Arial"/>
                <a:ea typeface="Arial"/>
                <a:cs typeface="Arial"/>
              </a:defRPr>
            </a:pPr>
            <a:r>
              <a:rPr sz="750" b="1" i="0">
                <a:solidFill>
                  <a:srgbClr val="111111"/>
                </a:solidFill>
                <a:latin typeface="Arial"/>
                <a:ea typeface="Arial"/>
                <a:cs typeface="Arial"/>
              </a:rPr>
              <a:t>VM</a:t>
            </a:r>
          </a:p>
        </p:txBody>
      </p:sp>
      <p:sp>
        <p:nvSpPr>
          <p:cNvPr id="35" name="Rectangle 34">
            <a:extLst>
              <a:ext uri="{FF2B5EF4-FFF2-40B4-BE49-F238E27FC236}">
                <a16:creationId xmlns:a16="http://schemas.microsoft.com/office/drawing/2014/main" id="{8ED1F153-145B-4E46-B081-D559AD3B820D}"/>
              </a:ext>
            </a:extLst>
          </p:cNvPr>
          <p:cNvSpPr>
            <a:spLocks noGrp="1"/>
          </p:cNvSpPr>
          <p:nvPr/>
        </p:nvSpPr>
        <p:spPr>
          <a:xfrm>
            <a:off x="2066925" y="3067050"/>
            <a:ext cx="247650" cy="142875"/>
          </a:xfrm>
          <a:prstGeom prst="rect">
            <a:avLst/>
          </a:prstGeom>
          <a:noFill/>
          <a:ln w="0">
            <a:noFill/>
            <a:prstDash val="solid"/>
          </a:ln>
        </p:spPr>
        <p:txBody>
          <a:bodyPr wrap="none" lIns="0" tIns="0" rIns="0" bIns="0" anchor="t"/>
          <a:lstStyle/>
          <a:p>
            <a:pPr algn="l">
              <a:lnSpc>
                <a:spcPct val="100000"/>
              </a:lnSpc>
              <a:buNone/>
              <a:defRPr sz="900" b="1" i="0">
                <a:solidFill>
                  <a:srgbClr val="111111"/>
                </a:solidFill>
                <a:latin typeface="Arial"/>
                <a:ea typeface="Arial"/>
                <a:cs typeface="Arial"/>
              </a:defRPr>
            </a:pPr>
            <a:r>
              <a:rPr sz="900" b="1" i="0">
                <a:solidFill>
                  <a:srgbClr val="111111"/>
                </a:solidFill>
                <a:latin typeface="Arial"/>
                <a:ea typeface="Arial"/>
                <a:cs typeface="Arial"/>
              </a:rPr>
              <a:t>...</a:t>
            </a:r>
          </a:p>
        </p:txBody>
      </p:sp>
      <p:sp>
        <p:nvSpPr>
          <p:cNvPr id="36" name="Rounded Rectangle 35">
            <a:extLst>
              <a:ext uri="{FF2B5EF4-FFF2-40B4-BE49-F238E27FC236}">
                <a16:creationId xmlns:a16="http://schemas.microsoft.com/office/drawing/2014/main" id="{C10885AF-7600-40AB-9466-621230DABC67}"/>
              </a:ext>
            </a:extLst>
          </p:cNvPr>
          <p:cNvSpPr>
            <a:spLocks noGrp="1"/>
          </p:cNvSpPr>
          <p:nvPr/>
        </p:nvSpPr>
        <p:spPr>
          <a:xfrm>
            <a:off x="2324100" y="2971800"/>
            <a:ext cx="295275" cy="295275"/>
          </a:xfrm>
          <a:prstGeom prst="roundRect">
            <a:avLst>
              <a:gd name="adj" fmla="val 12903"/>
            </a:avLst>
          </a:prstGeom>
          <a:solidFill>
            <a:srgbClr val="FAFAFA"/>
          </a:solidFill>
          <a:ln w="9525">
            <a:solidFill>
              <a:srgbClr val="BAC5CF"/>
            </a:solidFill>
            <a:prstDash val="solid"/>
          </a:ln>
        </p:spPr>
        <p:txBody>
          <a:bodyPr/>
          <a:lstStyle/>
          <a:p>
            <a:endParaRPr lang="en-FR"/>
          </a:p>
        </p:txBody>
      </p:sp>
      <p:sp>
        <p:nvSpPr>
          <p:cNvPr id="37" name="Rectangle 36">
            <a:extLst>
              <a:ext uri="{FF2B5EF4-FFF2-40B4-BE49-F238E27FC236}">
                <a16:creationId xmlns:a16="http://schemas.microsoft.com/office/drawing/2014/main" id="{401619FC-A122-4911-A981-A20D4D07ED37}"/>
              </a:ext>
            </a:extLst>
          </p:cNvPr>
          <p:cNvSpPr>
            <a:spLocks noGrp="1"/>
          </p:cNvSpPr>
          <p:nvPr/>
        </p:nvSpPr>
        <p:spPr>
          <a:xfrm>
            <a:off x="2371725" y="3048000"/>
            <a:ext cx="200025" cy="114300"/>
          </a:xfrm>
          <a:prstGeom prst="rect">
            <a:avLst/>
          </a:prstGeom>
          <a:noFill/>
          <a:ln w="0">
            <a:noFill/>
            <a:prstDash val="solid"/>
          </a:ln>
        </p:spPr>
        <p:txBody>
          <a:bodyPr wrap="none" lIns="0" tIns="0" rIns="0" bIns="0" anchor="t"/>
          <a:lstStyle/>
          <a:p>
            <a:pPr algn="ctr">
              <a:lnSpc>
                <a:spcPct val="100000"/>
              </a:lnSpc>
              <a:buNone/>
              <a:defRPr sz="750" b="1" i="0">
                <a:solidFill>
                  <a:srgbClr val="111111"/>
                </a:solidFill>
                <a:latin typeface="Arial"/>
                <a:ea typeface="Arial"/>
                <a:cs typeface="Arial"/>
              </a:defRPr>
            </a:pPr>
            <a:r>
              <a:rPr sz="750" b="1" i="0">
                <a:solidFill>
                  <a:srgbClr val="111111"/>
                </a:solidFill>
                <a:latin typeface="Arial"/>
                <a:ea typeface="Arial"/>
                <a:cs typeface="Arial"/>
              </a:rPr>
              <a:t>VM</a:t>
            </a:r>
          </a:p>
        </p:txBody>
      </p:sp>
      <p:pic>
        <p:nvPicPr>
          <p:cNvPr id="154" name="Picture 153"/>
          <p:cNvPicPr>
            <a:picLocks noChangeAspect="1"/>
          </p:cNvPicPr>
          <p:nvPr/>
        </p:nvPicPr>
        <p:blipFill>
          <a:blip r:embed="rId9"/>
          <a:stretch/>
        </p:blipFill>
        <p:spPr>
          <a:xfrm>
            <a:off x="2719388" y="2981325"/>
            <a:ext cx="247650" cy="381000"/>
          </a:xfrm>
          <a:prstGeom prst="rect">
            <a:avLst/>
          </a:prstGeom>
        </p:spPr>
      </p:pic>
      <p:sp>
        <p:nvSpPr>
          <p:cNvPr id="39" name="Rectangle 38">
            <a:extLst>
              <a:ext uri="{FF2B5EF4-FFF2-40B4-BE49-F238E27FC236}">
                <a16:creationId xmlns:a16="http://schemas.microsoft.com/office/drawing/2014/main" id="{D6A4C0DD-5324-4975-84C9-42D699D718E7}"/>
              </a:ext>
            </a:extLst>
          </p:cNvPr>
          <p:cNvSpPr>
            <a:spLocks noGrp="1"/>
          </p:cNvSpPr>
          <p:nvPr/>
        </p:nvSpPr>
        <p:spPr>
          <a:xfrm>
            <a:off x="1181100" y="3457575"/>
            <a:ext cx="1285875" cy="381000"/>
          </a:xfrm>
          <a:prstGeom prst="rect">
            <a:avLst/>
          </a:prstGeom>
          <a:noFill/>
          <a:ln w="0">
            <a:noFill/>
            <a:prstDash val="solid"/>
          </a:ln>
        </p:spPr>
        <p:txBody>
          <a:bodyPr wrap="square" lIns="0" tIns="0" rIns="0" bIns="0" anchor="t"/>
          <a:lstStyle/>
          <a:p>
            <a:pPr algn="ctr">
              <a:lnSpc>
                <a:spcPct val="112000"/>
              </a:lnSpc>
              <a:buNone/>
              <a:defRPr sz="900" b="1" i="0">
                <a:solidFill>
                  <a:srgbClr val="0B2B78"/>
                </a:solidFill>
                <a:latin typeface="Arial"/>
                <a:ea typeface="Arial"/>
                <a:cs typeface="Arial"/>
              </a:defRPr>
            </a:pPr>
            <a:r>
              <a:rPr sz="900" b="1" i="0">
                <a:solidFill>
                  <a:srgbClr val="0B2B78"/>
                </a:solidFill>
                <a:latin typeface="Arial"/>
                <a:ea typeface="Arial"/>
                <a:cs typeface="Arial"/>
              </a:rPr>
              <a:t>Your Existing</a:t>
            </a:r>
          </a:p>
          <a:p>
            <a:pPr algn="ctr">
              <a:lnSpc>
                <a:spcPct val="112000"/>
              </a:lnSpc>
              <a:buNone/>
              <a:defRPr sz="900" b="1" i="0">
                <a:solidFill>
                  <a:srgbClr val="0B2B78"/>
                </a:solidFill>
                <a:latin typeface="Arial"/>
                <a:ea typeface="Arial"/>
                <a:cs typeface="Arial"/>
              </a:defRPr>
            </a:pPr>
            <a:r>
              <a:rPr sz="900" b="1" i="0">
                <a:solidFill>
                  <a:srgbClr val="0B2B78"/>
                </a:solidFill>
                <a:latin typeface="Arial"/>
                <a:ea typeface="Arial"/>
                <a:cs typeface="Arial"/>
              </a:rPr>
              <a:t>VMware Environment</a:t>
            </a:r>
          </a:p>
        </p:txBody>
      </p:sp>
      <p:sp>
        <p:nvSpPr>
          <p:cNvPr id="40" name="Straight Connector 39">
            <a:extLst>
              <a:ext uri="{FF2B5EF4-FFF2-40B4-BE49-F238E27FC236}">
                <a16:creationId xmlns:a16="http://schemas.microsoft.com/office/drawing/2014/main" id="{1E88FD78-23FD-4569-842E-4DC9FE17E197}"/>
              </a:ext>
            </a:extLst>
          </p:cNvPr>
          <p:cNvSpPr>
            <a:spLocks noGrp="1"/>
          </p:cNvSpPr>
          <p:nvPr/>
        </p:nvSpPr>
        <p:spPr>
          <a:xfrm>
            <a:off x="523875" y="3933825"/>
            <a:ext cx="2400300" cy="0"/>
          </a:xfrm>
          <a:prstGeom prst="line">
            <a:avLst/>
          </a:prstGeom>
          <a:noFill/>
          <a:ln w="9525">
            <a:solidFill>
              <a:srgbClr val="D8DEDA"/>
            </a:solidFill>
            <a:prstDash val="solid"/>
          </a:ln>
        </p:spPr>
        <p:txBody>
          <a:bodyPr/>
          <a:lstStyle/>
          <a:p>
            <a:endParaRPr lang="en-FR"/>
          </a:p>
        </p:txBody>
      </p:sp>
      <p:pic>
        <p:nvPicPr>
          <p:cNvPr id="157" name="Picture 156"/>
          <p:cNvPicPr>
            <a:picLocks noChangeAspect="1"/>
          </p:cNvPicPr>
          <p:nvPr/>
        </p:nvPicPr>
        <p:blipFill>
          <a:blip r:embed="rId10"/>
          <a:stretch/>
        </p:blipFill>
        <p:spPr>
          <a:xfrm>
            <a:off x="519113" y="4114800"/>
            <a:ext cx="228600" cy="238125"/>
          </a:xfrm>
          <a:prstGeom prst="rect">
            <a:avLst/>
          </a:prstGeom>
        </p:spPr>
      </p:pic>
      <p:sp>
        <p:nvSpPr>
          <p:cNvPr id="42" name="Rectangle 41">
            <a:extLst>
              <a:ext uri="{FF2B5EF4-FFF2-40B4-BE49-F238E27FC236}">
                <a16:creationId xmlns:a16="http://schemas.microsoft.com/office/drawing/2014/main" id="{413622D2-8D66-42A6-A992-14BD39BC4D93}"/>
              </a:ext>
            </a:extLst>
          </p:cNvPr>
          <p:cNvSpPr>
            <a:spLocks noGrp="1"/>
          </p:cNvSpPr>
          <p:nvPr/>
        </p:nvSpPr>
        <p:spPr>
          <a:xfrm>
            <a:off x="895350" y="4133850"/>
            <a:ext cx="1952625" cy="171450"/>
          </a:xfrm>
          <a:prstGeom prst="rect">
            <a:avLst/>
          </a:prstGeom>
          <a:noFill/>
          <a:ln w="0">
            <a:noFill/>
            <a:prstDash val="solid"/>
          </a:ln>
        </p:spPr>
        <p:txBody>
          <a:bodyPr wrap="none" lIns="0" tIns="0" rIns="0" bIns="0" anchor="t"/>
          <a:lstStyle/>
          <a:p>
            <a:pPr algn="l">
              <a:lnSpc>
                <a:spcPct val="115000"/>
              </a:lnSpc>
              <a:buNone/>
              <a:defRPr sz="788" b="0" i="0">
                <a:solidFill>
                  <a:srgbClr val="111111"/>
                </a:solidFill>
                <a:latin typeface="Arial"/>
                <a:ea typeface="Arial"/>
                <a:cs typeface="Arial"/>
              </a:defRPr>
            </a:pPr>
            <a:r>
              <a:rPr sz="788" b="0" i="0">
                <a:solidFill>
                  <a:srgbClr val="111111"/>
                </a:solidFill>
                <a:latin typeface="Arial"/>
                <a:ea typeface="Arial"/>
                <a:cs typeface="Arial"/>
              </a:rPr>
              <a:t>Production workloads</a:t>
            </a:r>
          </a:p>
        </p:txBody>
      </p:sp>
      <p:pic>
        <p:nvPicPr>
          <p:cNvPr id="159" name="Picture 158"/>
          <p:cNvPicPr>
            <a:picLocks noChangeAspect="1"/>
          </p:cNvPicPr>
          <p:nvPr/>
        </p:nvPicPr>
        <p:blipFill>
          <a:blip r:embed="rId11"/>
          <a:stretch/>
        </p:blipFill>
        <p:spPr>
          <a:xfrm>
            <a:off x="523509" y="4448175"/>
            <a:ext cx="219808" cy="238125"/>
          </a:xfrm>
          <a:prstGeom prst="rect">
            <a:avLst/>
          </a:prstGeom>
        </p:spPr>
      </p:pic>
      <p:sp>
        <p:nvSpPr>
          <p:cNvPr id="44" name="Rectangle 43">
            <a:extLst>
              <a:ext uri="{FF2B5EF4-FFF2-40B4-BE49-F238E27FC236}">
                <a16:creationId xmlns:a16="http://schemas.microsoft.com/office/drawing/2014/main" id="{9A9ECA42-27F7-45FB-AE5F-6ECE73D0CB0A}"/>
              </a:ext>
            </a:extLst>
          </p:cNvPr>
          <p:cNvSpPr>
            <a:spLocks noGrp="1"/>
          </p:cNvSpPr>
          <p:nvPr/>
        </p:nvSpPr>
        <p:spPr>
          <a:xfrm>
            <a:off x="895350" y="4467225"/>
            <a:ext cx="1952625" cy="171450"/>
          </a:xfrm>
          <a:prstGeom prst="rect">
            <a:avLst/>
          </a:prstGeom>
          <a:noFill/>
          <a:ln w="0">
            <a:noFill/>
            <a:prstDash val="solid"/>
          </a:ln>
        </p:spPr>
        <p:txBody>
          <a:bodyPr wrap="none" lIns="0" tIns="0" rIns="0" bIns="0" anchor="t"/>
          <a:lstStyle/>
          <a:p>
            <a:pPr algn="l">
              <a:lnSpc>
                <a:spcPct val="115000"/>
              </a:lnSpc>
              <a:buNone/>
              <a:defRPr sz="788" b="0" i="0">
                <a:solidFill>
                  <a:srgbClr val="111111"/>
                </a:solidFill>
                <a:latin typeface="Arial"/>
                <a:ea typeface="Arial"/>
                <a:cs typeface="Arial"/>
              </a:defRPr>
            </a:pPr>
            <a:r>
              <a:rPr sz="788" b="0" i="0">
                <a:solidFill>
                  <a:srgbClr val="111111"/>
                </a:solidFill>
                <a:latin typeface="Arial"/>
                <a:ea typeface="Arial"/>
                <a:cs typeface="Arial"/>
              </a:rPr>
              <a:t>Critical business applications</a:t>
            </a:r>
          </a:p>
        </p:txBody>
      </p:sp>
      <p:pic>
        <p:nvPicPr>
          <p:cNvPr id="161" name="Picture 160"/>
          <p:cNvPicPr>
            <a:picLocks noChangeAspect="1"/>
          </p:cNvPicPr>
          <p:nvPr/>
        </p:nvPicPr>
        <p:blipFill>
          <a:blip r:embed="rId12"/>
          <a:stretch/>
        </p:blipFill>
        <p:spPr>
          <a:xfrm>
            <a:off x="514350" y="4791075"/>
            <a:ext cx="238125" cy="238125"/>
          </a:xfrm>
          <a:prstGeom prst="rect">
            <a:avLst/>
          </a:prstGeom>
        </p:spPr>
      </p:pic>
      <p:sp>
        <p:nvSpPr>
          <p:cNvPr id="46" name="Rectangle 45">
            <a:extLst>
              <a:ext uri="{FF2B5EF4-FFF2-40B4-BE49-F238E27FC236}">
                <a16:creationId xmlns:a16="http://schemas.microsoft.com/office/drawing/2014/main" id="{40F552E1-9799-43B7-9524-BA39905F402D}"/>
              </a:ext>
            </a:extLst>
          </p:cNvPr>
          <p:cNvSpPr>
            <a:spLocks noGrp="1"/>
          </p:cNvSpPr>
          <p:nvPr/>
        </p:nvSpPr>
        <p:spPr>
          <a:xfrm>
            <a:off x="895350" y="4810125"/>
            <a:ext cx="1952625" cy="171450"/>
          </a:xfrm>
          <a:prstGeom prst="rect">
            <a:avLst/>
          </a:prstGeom>
          <a:noFill/>
          <a:ln w="0">
            <a:noFill/>
            <a:prstDash val="solid"/>
          </a:ln>
        </p:spPr>
        <p:txBody>
          <a:bodyPr wrap="none" lIns="0" tIns="0" rIns="0" bIns="0" anchor="t"/>
          <a:lstStyle/>
          <a:p>
            <a:pPr algn="l">
              <a:lnSpc>
                <a:spcPct val="115000"/>
              </a:lnSpc>
              <a:buNone/>
              <a:defRPr sz="788" b="0" i="0">
                <a:solidFill>
                  <a:srgbClr val="111111"/>
                </a:solidFill>
                <a:latin typeface="Arial"/>
                <a:ea typeface="Arial"/>
                <a:cs typeface="Arial"/>
              </a:defRPr>
            </a:pPr>
            <a:r>
              <a:rPr sz="788" b="0" i="0">
                <a:solidFill>
                  <a:srgbClr val="111111"/>
                </a:solidFill>
                <a:latin typeface="Arial"/>
                <a:ea typeface="Arial"/>
                <a:cs typeface="Arial"/>
              </a:rPr>
              <a:t>Users &amp; business operations</a:t>
            </a:r>
          </a:p>
        </p:txBody>
      </p:sp>
      <p:pic>
        <p:nvPicPr>
          <p:cNvPr id="163" name="Picture 162"/>
          <p:cNvPicPr>
            <a:picLocks noChangeAspect="1"/>
          </p:cNvPicPr>
          <p:nvPr/>
        </p:nvPicPr>
        <p:blipFill>
          <a:blip r:embed="rId13"/>
          <a:stretch/>
        </p:blipFill>
        <p:spPr>
          <a:xfrm>
            <a:off x="514350" y="5143500"/>
            <a:ext cx="238125" cy="238125"/>
          </a:xfrm>
          <a:prstGeom prst="rect">
            <a:avLst/>
          </a:prstGeom>
        </p:spPr>
      </p:pic>
      <p:sp>
        <p:nvSpPr>
          <p:cNvPr id="48" name="Rectangle 47">
            <a:extLst>
              <a:ext uri="{FF2B5EF4-FFF2-40B4-BE49-F238E27FC236}">
                <a16:creationId xmlns:a16="http://schemas.microsoft.com/office/drawing/2014/main" id="{4F7F2423-F15C-468B-A5B7-0A1A72D1B906}"/>
              </a:ext>
            </a:extLst>
          </p:cNvPr>
          <p:cNvSpPr>
            <a:spLocks noGrp="1"/>
          </p:cNvSpPr>
          <p:nvPr/>
        </p:nvSpPr>
        <p:spPr>
          <a:xfrm>
            <a:off x="895350" y="5162550"/>
            <a:ext cx="1952625" cy="400050"/>
          </a:xfrm>
          <a:prstGeom prst="rect">
            <a:avLst/>
          </a:prstGeom>
          <a:noFill/>
          <a:ln w="0">
            <a:noFill/>
            <a:prstDash val="solid"/>
          </a:ln>
        </p:spPr>
        <p:txBody>
          <a:bodyPr wrap="none" lIns="0" tIns="0" rIns="0" bIns="0" anchor="t"/>
          <a:lstStyle/>
          <a:p>
            <a:pPr algn="l">
              <a:lnSpc>
                <a:spcPct val="115000"/>
              </a:lnSpc>
              <a:buNone/>
              <a:defRPr sz="788" b="0" i="0">
                <a:solidFill>
                  <a:srgbClr val="111111"/>
                </a:solidFill>
                <a:latin typeface="Arial"/>
                <a:ea typeface="Arial"/>
                <a:cs typeface="Arial"/>
              </a:defRPr>
            </a:pPr>
            <a:r>
              <a:rPr sz="788" b="0" i="0">
                <a:solidFill>
                  <a:srgbClr val="111111"/>
                </a:solidFill>
                <a:latin typeface="Arial"/>
                <a:ea typeface="Arial"/>
                <a:cs typeface="Arial"/>
              </a:rPr>
              <a:t>At risk from outages, disasters</a:t>
            </a:r>
          </a:p>
          <a:p>
            <a:pPr algn="l">
              <a:lnSpc>
                <a:spcPct val="115000"/>
              </a:lnSpc>
              <a:buNone/>
              <a:defRPr sz="788" b="0" i="0">
                <a:solidFill>
                  <a:srgbClr val="111111"/>
                </a:solidFill>
                <a:latin typeface="Arial"/>
                <a:ea typeface="Arial"/>
                <a:cs typeface="Arial"/>
              </a:defRPr>
            </a:pPr>
            <a:r>
              <a:rPr sz="788" b="0" i="0">
                <a:solidFill>
                  <a:srgbClr val="111111"/>
                </a:solidFill>
                <a:latin typeface="Arial"/>
                <a:ea typeface="Arial"/>
                <a:cs typeface="Arial"/>
              </a:rPr>
              <a:t>or cyber incidents</a:t>
            </a:r>
          </a:p>
        </p:txBody>
      </p:sp>
      <p:sp>
        <p:nvSpPr>
          <p:cNvPr id="49" name="Right Arrow 48">
            <a:extLst>
              <a:ext uri="{FF2B5EF4-FFF2-40B4-BE49-F238E27FC236}">
                <a16:creationId xmlns:a16="http://schemas.microsoft.com/office/drawing/2014/main" id="{5978E283-E303-4210-B94F-622F98F139BC}"/>
              </a:ext>
            </a:extLst>
          </p:cNvPr>
          <p:cNvSpPr>
            <a:spLocks noGrp="1"/>
          </p:cNvSpPr>
          <p:nvPr/>
        </p:nvSpPr>
        <p:spPr>
          <a:xfrm>
            <a:off x="3133725" y="3533775"/>
            <a:ext cx="323850" cy="323850"/>
          </a:xfrm>
          <a:prstGeom prst="rightArrow">
            <a:avLst/>
          </a:prstGeom>
          <a:solidFill>
            <a:srgbClr val="0B2B78"/>
          </a:solidFill>
          <a:ln w="0">
            <a:noFill/>
            <a:prstDash val="solid"/>
          </a:ln>
        </p:spPr>
        <p:txBody>
          <a:bodyPr/>
          <a:lstStyle/>
          <a:p>
            <a:endParaRPr lang="en-FR"/>
          </a:p>
        </p:txBody>
      </p:sp>
      <p:sp>
        <p:nvSpPr>
          <p:cNvPr id="50" name="Rounded Rectangle 49">
            <a:extLst>
              <a:ext uri="{FF2B5EF4-FFF2-40B4-BE49-F238E27FC236}">
                <a16:creationId xmlns:a16="http://schemas.microsoft.com/office/drawing/2014/main" id="{14E2E48A-04D8-43E1-A13D-B5FFB876C2DC}"/>
              </a:ext>
            </a:extLst>
          </p:cNvPr>
          <p:cNvSpPr>
            <a:spLocks noGrp="1"/>
          </p:cNvSpPr>
          <p:nvPr/>
        </p:nvSpPr>
        <p:spPr>
          <a:xfrm>
            <a:off x="3476625" y="2362200"/>
            <a:ext cx="2981325" cy="3333750"/>
          </a:xfrm>
          <a:prstGeom prst="roundRect">
            <a:avLst>
              <a:gd name="adj" fmla="val 2236"/>
            </a:avLst>
          </a:prstGeom>
          <a:solidFill>
            <a:srgbClr val="FFFFFF"/>
          </a:solidFill>
          <a:ln w="9525">
            <a:solidFill>
              <a:srgbClr val="3B7C62"/>
            </a:solidFill>
            <a:prstDash val="solid"/>
          </a:ln>
        </p:spPr>
        <p:style>
          <a:lnRef idx="0">
            <a:scrgbClr r="0" g="0" b="0"/>
          </a:lnRef>
          <a:fillRef idx="0">
            <a:scrgbClr r="0" g="0" b="0"/>
          </a:fillRef>
          <a:effectRef idx="4">
            <a:scrgbClr r="0" g="0" b="0"/>
          </a:effectRef>
          <a:fontRef idx="major"/>
        </p:style>
        <p:txBody>
          <a:bodyPr/>
          <a:lstStyle/>
          <a:p>
            <a:endParaRPr lang="en-FR"/>
          </a:p>
        </p:txBody>
      </p:sp>
      <p:sp>
        <p:nvSpPr>
          <p:cNvPr id="51" name="Rectangle 50">
            <a:extLst>
              <a:ext uri="{FF2B5EF4-FFF2-40B4-BE49-F238E27FC236}">
                <a16:creationId xmlns:a16="http://schemas.microsoft.com/office/drawing/2014/main" id="{64288B55-B434-4E02-8A40-1D8BDB0810E3}"/>
              </a:ext>
            </a:extLst>
          </p:cNvPr>
          <p:cNvSpPr>
            <a:spLocks noGrp="1"/>
          </p:cNvSpPr>
          <p:nvPr/>
        </p:nvSpPr>
        <p:spPr>
          <a:xfrm>
            <a:off x="4276725" y="2505075"/>
            <a:ext cx="1428750" cy="171450"/>
          </a:xfrm>
          <a:prstGeom prst="rect">
            <a:avLst/>
          </a:prstGeom>
          <a:noFill/>
          <a:ln w="0">
            <a:noFill/>
            <a:prstDash val="solid"/>
          </a:ln>
        </p:spPr>
        <p:txBody>
          <a:bodyPr wrap="none" lIns="0" tIns="0" rIns="0" bIns="0" anchor="t"/>
          <a:lstStyle/>
          <a:p>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3RD PARTY DR SOLUTIONS</a:t>
            </a:r>
          </a:p>
        </p:txBody>
      </p:sp>
      <p:pic>
        <p:nvPicPr>
          <p:cNvPr id="168" name="Picture 167"/>
          <p:cNvPicPr>
            <a:picLocks noChangeAspect="1"/>
          </p:cNvPicPr>
          <p:nvPr/>
        </p:nvPicPr>
        <p:blipFill>
          <a:blip r:embed="rId14"/>
          <a:stretch/>
        </p:blipFill>
        <p:spPr>
          <a:xfrm>
            <a:off x="3733800" y="3025461"/>
            <a:ext cx="619125" cy="597528"/>
          </a:xfrm>
          <a:prstGeom prst="rect">
            <a:avLst/>
          </a:prstGeom>
        </p:spPr>
      </p:pic>
      <p:pic>
        <p:nvPicPr>
          <p:cNvPr id="169" name="Picture 168"/>
          <p:cNvPicPr>
            <a:picLocks noChangeAspect="1"/>
          </p:cNvPicPr>
          <p:nvPr/>
        </p:nvPicPr>
        <p:blipFill>
          <a:blip r:embed="rId15"/>
          <a:stretch/>
        </p:blipFill>
        <p:spPr>
          <a:xfrm>
            <a:off x="4480047" y="3028950"/>
            <a:ext cx="612531" cy="523875"/>
          </a:xfrm>
          <a:prstGeom prst="rect">
            <a:avLst/>
          </a:prstGeom>
        </p:spPr>
      </p:pic>
      <p:pic>
        <p:nvPicPr>
          <p:cNvPr id="170" name="Picture 169"/>
          <p:cNvPicPr>
            <a:picLocks noChangeAspect="1"/>
          </p:cNvPicPr>
          <p:nvPr/>
        </p:nvPicPr>
        <p:blipFill>
          <a:blip r:embed="rId16"/>
          <a:stretch/>
        </p:blipFill>
        <p:spPr>
          <a:xfrm>
            <a:off x="5241059" y="3028950"/>
            <a:ext cx="585932" cy="552450"/>
          </a:xfrm>
          <a:prstGeom prst="rect">
            <a:avLst/>
          </a:prstGeom>
        </p:spPr>
      </p:pic>
      <p:pic>
        <p:nvPicPr>
          <p:cNvPr id="171" name="Picture 170"/>
          <p:cNvPicPr>
            <a:picLocks noChangeAspect="1"/>
          </p:cNvPicPr>
          <p:nvPr/>
        </p:nvPicPr>
        <p:blipFill>
          <a:blip r:embed="rId17"/>
          <a:stretch/>
        </p:blipFill>
        <p:spPr>
          <a:xfrm>
            <a:off x="5843043" y="3238500"/>
            <a:ext cx="582114" cy="295275"/>
          </a:xfrm>
          <a:prstGeom prst="rect">
            <a:avLst/>
          </a:prstGeom>
        </p:spPr>
      </p:pic>
      <p:sp>
        <p:nvSpPr>
          <p:cNvPr id="56" name="Rectangle 55">
            <a:extLst>
              <a:ext uri="{FF2B5EF4-FFF2-40B4-BE49-F238E27FC236}">
                <a16:creationId xmlns:a16="http://schemas.microsoft.com/office/drawing/2014/main" id="{E89A1072-F524-4B73-94E3-67E4F56738D1}"/>
              </a:ext>
            </a:extLst>
          </p:cNvPr>
          <p:cNvSpPr>
            <a:spLocks noGrp="1"/>
          </p:cNvSpPr>
          <p:nvPr/>
        </p:nvSpPr>
        <p:spPr>
          <a:xfrm>
            <a:off x="4171950" y="4000500"/>
            <a:ext cx="1714500" cy="171450"/>
          </a:xfrm>
          <a:prstGeom prst="rect">
            <a:avLst/>
          </a:prstGeom>
          <a:noFill/>
          <a:ln w="0">
            <a:noFill/>
            <a:prstDash val="solid"/>
          </a:ln>
        </p:spPr>
        <p:txBody>
          <a:bodyPr wrap="none" lIns="0" tIns="0" rIns="0" bIns="0" anchor="t"/>
          <a:lstStyle/>
          <a:p>
            <a:pPr algn="ctr">
              <a:lnSpc>
                <a:spcPct val="100000"/>
              </a:lnSpc>
              <a:buNone/>
              <a:defRPr sz="750" b="1" i="0">
                <a:solidFill>
                  <a:srgbClr val="003B25"/>
                </a:solidFill>
                <a:latin typeface="Arial"/>
                <a:ea typeface="Arial"/>
                <a:cs typeface="Arial"/>
              </a:defRPr>
            </a:pPr>
            <a:r>
              <a:rPr sz="750" b="1" i="0">
                <a:solidFill>
                  <a:srgbClr val="003B25"/>
                </a:solidFill>
                <a:latin typeface="Arial"/>
                <a:ea typeface="Arial"/>
                <a:cs typeface="Arial"/>
              </a:rPr>
              <a:t>... and other 3rd party DR solutions</a:t>
            </a:r>
          </a:p>
        </p:txBody>
      </p:sp>
      <p:sp>
        <p:nvSpPr>
          <p:cNvPr id="57" name="Straight Connector 56">
            <a:extLst>
              <a:ext uri="{FF2B5EF4-FFF2-40B4-BE49-F238E27FC236}">
                <a16:creationId xmlns:a16="http://schemas.microsoft.com/office/drawing/2014/main" id="{03A1097D-A240-42C8-AA9C-CBC85B2B1399}"/>
              </a:ext>
            </a:extLst>
          </p:cNvPr>
          <p:cNvSpPr>
            <a:spLocks noGrp="1"/>
          </p:cNvSpPr>
          <p:nvPr/>
        </p:nvSpPr>
        <p:spPr>
          <a:xfrm>
            <a:off x="3609975" y="4362450"/>
            <a:ext cx="2714625" cy="0"/>
          </a:xfrm>
          <a:prstGeom prst="line">
            <a:avLst/>
          </a:prstGeom>
          <a:noFill/>
          <a:ln w="9525">
            <a:solidFill>
              <a:srgbClr val="D8DEDA"/>
            </a:solidFill>
            <a:prstDash val="dash"/>
          </a:ln>
        </p:spPr>
        <p:txBody>
          <a:bodyPr/>
          <a:lstStyle/>
          <a:p>
            <a:endParaRPr lang="en-FR"/>
          </a:p>
        </p:txBody>
      </p:sp>
      <p:sp>
        <p:nvSpPr>
          <p:cNvPr id="58" name="Rectangle 57">
            <a:extLst>
              <a:ext uri="{FF2B5EF4-FFF2-40B4-BE49-F238E27FC236}">
                <a16:creationId xmlns:a16="http://schemas.microsoft.com/office/drawing/2014/main" id="{C77214DA-7389-4BA9-BED3-B7D0C28FDA17}"/>
              </a:ext>
            </a:extLst>
          </p:cNvPr>
          <p:cNvSpPr>
            <a:spLocks noGrp="1"/>
          </p:cNvSpPr>
          <p:nvPr/>
        </p:nvSpPr>
        <p:spPr>
          <a:xfrm>
            <a:off x="4324350" y="4543425"/>
            <a:ext cx="1333500" cy="161925"/>
          </a:xfrm>
          <a:prstGeom prst="rect">
            <a:avLst/>
          </a:prstGeom>
          <a:noFill/>
          <a:ln w="0">
            <a:noFill/>
            <a:prstDash val="solid"/>
          </a:ln>
        </p:spPr>
        <p:txBody>
          <a:bodyPr wrap="none" lIns="0" tIns="0" rIns="0" bIns="0" anchor="t"/>
          <a:lstStyle/>
          <a:p>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CONNECTIVITY OPTIONS</a:t>
            </a:r>
          </a:p>
        </p:txBody>
      </p:sp>
      <p:pic>
        <p:nvPicPr>
          <p:cNvPr id="175" name="Picture 174"/>
          <p:cNvPicPr>
            <a:picLocks noChangeAspect="1"/>
          </p:cNvPicPr>
          <p:nvPr/>
        </p:nvPicPr>
        <p:blipFill>
          <a:blip r:embed="rId18"/>
          <a:stretch/>
        </p:blipFill>
        <p:spPr>
          <a:xfrm>
            <a:off x="3819525" y="4876800"/>
            <a:ext cx="438150" cy="438150"/>
          </a:xfrm>
          <a:prstGeom prst="rect">
            <a:avLst/>
          </a:prstGeom>
        </p:spPr>
      </p:pic>
      <p:sp>
        <p:nvSpPr>
          <p:cNvPr id="60" name="Rectangle 59">
            <a:extLst>
              <a:ext uri="{FF2B5EF4-FFF2-40B4-BE49-F238E27FC236}">
                <a16:creationId xmlns:a16="http://schemas.microsoft.com/office/drawing/2014/main" id="{3D104460-6F4F-4530-9658-7A0B95326B53}"/>
              </a:ext>
            </a:extLst>
          </p:cNvPr>
          <p:cNvSpPr>
            <a:spLocks noGrp="1"/>
          </p:cNvSpPr>
          <p:nvPr/>
        </p:nvSpPr>
        <p:spPr>
          <a:xfrm>
            <a:off x="3743325" y="5391150"/>
            <a:ext cx="619125" cy="152400"/>
          </a:xfrm>
          <a:prstGeom prst="rect">
            <a:avLst/>
          </a:prstGeom>
          <a:noFill/>
          <a:ln w="0">
            <a:noFill/>
            <a:prstDash val="solid"/>
          </a:ln>
        </p:spPr>
        <p:txBody>
          <a:bodyPr wrap="none" lIns="0" tIns="0" rIns="0" bIns="0" anchor="t"/>
          <a:lstStyle/>
          <a:p>
            <a:pPr algn="ctr">
              <a:lnSpc>
                <a:spcPct val="100000"/>
              </a:lnSpc>
              <a:buNone/>
              <a:defRPr sz="750" b="0" i="0">
                <a:solidFill>
                  <a:srgbClr val="111111"/>
                </a:solidFill>
                <a:latin typeface="Arial"/>
                <a:ea typeface="Arial"/>
                <a:cs typeface="Arial"/>
              </a:defRPr>
            </a:pPr>
            <a:r>
              <a:rPr sz="750" b="0" i="0">
                <a:solidFill>
                  <a:srgbClr val="111111"/>
                </a:solidFill>
                <a:latin typeface="Arial"/>
                <a:ea typeface="Arial"/>
                <a:cs typeface="Arial"/>
              </a:rPr>
              <a:t>Internet</a:t>
            </a:r>
          </a:p>
        </p:txBody>
      </p:sp>
      <p:pic>
        <p:nvPicPr>
          <p:cNvPr id="177" name="Picture 176"/>
          <p:cNvPicPr>
            <a:picLocks noChangeAspect="1"/>
          </p:cNvPicPr>
          <p:nvPr/>
        </p:nvPicPr>
        <p:blipFill>
          <a:blip r:embed="rId19"/>
          <a:stretch/>
        </p:blipFill>
        <p:spPr>
          <a:xfrm>
            <a:off x="4778110" y="4876800"/>
            <a:ext cx="425979" cy="438150"/>
          </a:xfrm>
          <a:prstGeom prst="rect">
            <a:avLst/>
          </a:prstGeom>
        </p:spPr>
      </p:pic>
      <p:sp>
        <p:nvSpPr>
          <p:cNvPr id="62" name="Rectangle 61">
            <a:extLst>
              <a:ext uri="{FF2B5EF4-FFF2-40B4-BE49-F238E27FC236}">
                <a16:creationId xmlns:a16="http://schemas.microsoft.com/office/drawing/2014/main" id="{F0A84327-6E14-4522-94EF-1952C646D14D}"/>
              </a:ext>
            </a:extLst>
          </p:cNvPr>
          <p:cNvSpPr>
            <a:spLocks noGrp="1"/>
          </p:cNvSpPr>
          <p:nvPr/>
        </p:nvSpPr>
        <p:spPr>
          <a:xfrm>
            <a:off x="4695825" y="5391150"/>
            <a:ext cx="619125" cy="152400"/>
          </a:xfrm>
          <a:prstGeom prst="rect">
            <a:avLst/>
          </a:prstGeom>
          <a:noFill/>
          <a:ln w="0">
            <a:noFill/>
            <a:prstDash val="solid"/>
          </a:ln>
        </p:spPr>
        <p:txBody>
          <a:bodyPr wrap="none" lIns="0" tIns="0" rIns="0" bIns="0" anchor="t"/>
          <a:lstStyle/>
          <a:p>
            <a:pPr algn="ctr">
              <a:lnSpc>
                <a:spcPct val="100000"/>
              </a:lnSpc>
              <a:buNone/>
              <a:defRPr sz="750" b="0" i="0">
                <a:solidFill>
                  <a:srgbClr val="111111"/>
                </a:solidFill>
                <a:latin typeface="Arial"/>
                <a:ea typeface="Arial"/>
                <a:cs typeface="Arial"/>
              </a:defRPr>
            </a:pPr>
            <a:r>
              <a:rPr sz="750" b="0" i="0">
                <a:solidFill>
                  <a:srgbClr val="111111"/>
                </a:solidFill>
                <a:latin typeface="Arial"/>
                <a:ea typeface="Arial"/>
                <a:cs typeface="Arial"/>
              </a:rPr>
              <a:t>VPN</a:t>
            </a:r>
          </a:p>
        </p:txBody>
      </p:sp>
      <p:pic>
        <p:nvPicPr>
          <p:cNvPr id="179" name="Picture 178"/>
          <p:cNvPicPr>
            <a:picLocks noChangeAspect="1"/>
          </p:cNvPicPr>
          <p:nvPr/>
        </p:nvPicPr>
        <p:blipFill>
          <a:blip r:embed="rId20"/>
          <a:stretch/>
        </p:blipFill>
        <p:spPr>
          <a:xfrm>
            <a:off x="5730446" y="4876800"/>
            <a:ext cx="426308" cy="438150"/>
          </a:xfrm>
          <a:prstGeom prst="rect">
            <a:avLst/>
          </a:prstGeom>
        </p:spPr>
      </p:pic>
      <p:sp>
        <p:nvSpPr>
          <p:cNvPr id="64" name="Rectangle 63">
            <a:extLst>
              <a:ext uri="{FF2B5EF4-FFF2-40B4-BE49-F238E27FC236}">
                <a16:creationId xmlns:a16="http://schemas.microsoft.com/office/drawing/2014/main" id="{4E1CF4F6-B89D-477B-B1E8-6CC6F82959F0}"/>
              </a:ext>
            </a:extLst>
          </p:cNvPr>
          <p:cNvSpPr>
            <a:spLocks noGrp="1"/>
          </p:cNvSpPr>
          <p:nvPr/>
        </p:nvSpPr>
        <p:spPr>
          <a:xfrm>
            <a:off x="5648325" y="5391150"/>
            <a:ext cx="619125" cy="152400"/>
          </a:xfrm>
          <a:prstGeom prst="rect">
            <a:avLst/>
          </a:prstGeom>
          <a:noFill/>
          <a:ln w="0">
            <a:noFill/>
            <a:prstDash val="solid"/>
          </a:ln>
        </p:spPr>
        <p:txBody>
          <a:bodyPr wrap="none" lIns="0" tIns="0" rIns="0" bIns="0" anchor="t"/>
          <a:lstStyle/>
          <a:p>
            <a:pPr algn="ctr">
              <a:lnSpc>
                <a:spcPct val="100000"/>
              </a:lnSpc>
              <a:buNone/>
              <a:defRPr sz="750" b="0" i="0">
                <a:solidFill>
                  <a:srgbClr val="111111"/>
                </a:solidFill>
                <a:latin typeface="Arial"/>
                <a:ea typeface="Arial"/>
                <a:cs typeface="Arial"/>
              </a:defRPr>
            </a:pPr>
            <a:r>
              <a:rPr sz="750" b="0" i="0">
                <a:solidFill>
                  <a:srgbClr val="111111"/>
                </a:solidFill>
                <a:latin typeface="Arial"/>
                <a:ea typeface="Arial"/>
                <a:cs typeface="Arial"/>
              </a:rPr>
              <a:t>FastConnect</a:t>
            </a:r>
          </a:p>
        </p:txBody>
      </p:sp>
      <p:sp>
        <p:nvSpPr>
          <p:cNvPr id="65" name="Right Arrow 64">
            <a:extLst>
              <a:ext uri="{FF2B5EF4-FFF2-40B4-BE49-F238E27FC236}">
                <a16:creationId xmlns:a16="http://schemas.microsoft.com/office/drawing/2014/main" id="{A3966032-7426-420D-AEED-E02C51D501B5}"/>
              </a:ext>
            </a:extLst>
          </p:cNvPr>
          <p:cNvSpPr>
            <a:spLocks noGrp="1"/>
          </p:cNvSpPr>
          <p:nvPr/>
        </p:nvSpPr>
        <p:spPr>
          <a:xfrm>
            <a:off x="6515100" y="3533775"/>
            <a:ext cx="323850" cy="323850"/>
          </a:xfrm>
          <a:prstGeom prst="rightArrow">
            <a:avLst/>
          </a:prstGeom>
          <a:solidFill>
            <a:srgbClr val="E60000"/>
          </a:solidFill>
          <a:ln w="0">
            <a:noFill/>
            <a:prstDash val="solid"/>
          </a:ln>
        </p:spPr>
        <p:txBody>
          <a:bodyPr/>
          <a:lstStyle/>
          <a:p>
            <a:endParaRPr lang="en-FR"/>
          </a:p>
        </p:txBody>
      </p:sp>
      <p:sp>
        <p:nvSpPr>
          <p:cNvPr id="66" name="Rounded Rectangle 65">
            <a:extLst>
              <a:ext uri="{FF2B5EF4-FFF2-40B4-BE49-F238E27FC236}">
                <a16:creationId xmlns:a16="http://schemas.microsoft.com/office/drawing/2014/main" id="{560A6269-B85D-44CB-A8B2-2F895D402ACC}"/>
              </a:ext>
            </a:extLst>
          </p:cNvPr>
          <p:cNvSpPr>
            <a:spLocks noGrp="1"/>
          </p:cNvSpPr>
          <p:nvPr/>
        </p:nvSpPr>
        <p:spPr>
          <a:xfrm>
            <a:off x="6858000" y="2362200"/>
            <a:ext cx="2838450" cy="3333750"/>
          </a:xfrm>
          <a:prstGeom prst="roundRect">
            <a:avLst>
              <a:gd name="adj" fmla="val 2349"/>
            </a:avLst>
          </a:prstGeom>
          <a:solidFill>
            <a:srgbClr val="FFFFFF"/>
          </a:solidFill>
          <a:ln w="9525">
            <a:solidFill>
              <a:srgbClr val="E60000"/>
            </a:solidFill>
            <a:prstDash val="solid"/>
          </a:ln>
        </p:spPr>
        <p:style>
          <a:lnRef idx="0">
            <a:scrgbClr r="0" g="0" b="0"/>
          </a:lnRef>
          <a:fillRef idx="0">
            <a:scrgbClr r="0" g="0" b="0"/>
          </a:fillRef>
          <a:effectRef idx="4">
            <a:scrgbClr r="0" g="0" b="0"/>
          </a:effectRef>
          <a:fontRef idx="major"/>
        </p:style>
        <p:txBody>
          <a:bodyPr/>
          <a:lstStyle/>
          <a:p>
            <a:endParaRPr lang="en-FR"/>
          </a:p>
        </p:txBody>
      </p:sp>
      <p:sp>
        <p:nvSpPr>
          <p:cNvPr id="67" name="Rounded Rectangle 66">
            <a:extLst>
              <a:ext uri="{FF2B5EF4-FFF2-40B4-BE49-F238E27FC236}">
                <a16:creationId xmlns:a16="http://schemas.microsoft.com/office/drawing/2014/main" id="{3B882103-CB4B-4816-A3B9-02AF42EE0838}"/>
              </a:ext>
            </a:extLst>
          </p:cNvPr>
          <p:cNvSpPr>
            <a:spLocks noGrp="1"/>
          </p:cNvSpPr>
          <p:nvPr/>
        </p:nvSpPr>
        <p:spPr>
          <a:xfrm>
            <a:off x="6858000" y="2362200"/>
            <a:ext cx="2838450" cy="304800"/>
          </a:xfrm>
          <a:prstGeom prst="roundRect">
            <a:avLst>
              <a:gd name="adj" fmla="val 21875"/>
            </a:avLst>
          </a:prstGeom>
          <a:gradFill>
            <a:gsLst>
              <a:gs pos="0">
                <a:srgbClr val="D60000"/>
              </a:gs>
              <a:gs pos="100000">
                <a:srgbClr val="E00000"/>
              </a:gs>
            </a:gsLst>
            <a:lin ang="5400000"/>
          </a:gradFill>
          <a:ln w="0">
            <a:noFill/>
            <a:prstDash val="solid"/>
          </a:ln>
        </p:spPr>
        <p:txBody>
          <a:bodyPr/>
          <a:lstStyle/>
          <a:p>
            <a:endParaRPr lang="en-FR"/>
          </a:p>
        </p:txBody>
      </p:sp>
      <p:sp>
        <p:nvSpPr>
          <p:cNvPr id="68" name="Rectangle 67">
            <a:extLst>
              <a:ext uri="{FF2B5EF4-FFF2-40B4-BE49-F238E27FC236}">
                <a16:creationId xmlns:a16="http://schemas.microsoft.com/office/drawing/2014/main" id="{BB6FA99B-4050-403D-B087-3A230742973C}"/>
              </a:ext>
            </a:extLst>
          </p:cNvPr>
          <p:cNvSpPr>
            <a:spLocks noGrp="1"/>
          </p:cNvSpPr>
          <p:nvPr/>
        </p:nvSpPr>
        <p:spPr>
          <a:xfrm>
            <a:off x="6858000" y="2600325"/>
            <a:ext cx="2838450" cy="76200"/>
          </a:xfrm>
          <a:prstGeom prst="rect">
            <a:avLst/>
          </a:prstGeom>
          <a:solidFill>
            <a:srgbClr val="E00000"/>
          </a:solidFill>
          <a:ln w="0">
            <a:noFill/>
            <a:prstDash val="solid"/>
          </a:ln>
        </p:spPr>
        <p:txBody>
          <a:bodyPr/>
          <a:lstStyle/>
          <a:p>
            <a:endParaRPr lang="en-FR"/>
          </a:p>
        </p:txBody>
      </p:sp>
      <p:sp>
        <p:nvSpPr>
          <p:cNvPr id="69" name="Rectangle 68">
            <a:extLst>
              <a:ext uri="{FF2B5EF4-FFF2-40B4-BE49-F238E27FC236}">
                <a16:creationId xmlns:a16="http://schemas.microsoft.com/office/drawing/2014/main" id="{20D044B9-0754-4849-B95B-DEFA34102F4A}"/>
              </a:ext>
            </a:extLst>
          </p:cNvPr>
          <p:cNvSpPr>
            <a:spLocks noGrp="1"/>
          </p:cNvSpPr>
          <p:nvPr/>
        </p:nvSpPr>
        <p:spPr>
          <a:xfrm>
            <a:off x="7000875" y="2466975"/>
            <a:ext cx="2552700" cy="161925"/>
          </a:xfrm>
          <a:prstGeom prst="rect">
            <a:avLst/>
          </a:prstGeom>
          <a:noFill/>
          <a:ln w="0">
            <a:noFill/>
            <a:prstDash val="solid"/>
          </a:ln>
        </p:spPr>
        <p:txBody>
          <a:bodyPr wrap="none" lIns="0" tIns="0" rIns="0" bIns="0" anchor="t"/>
          <a:lstStyle/>
          <a:p>
            <a:pPr algn="ctr">
              <a:lnSpc>
                <a:spcPct val="100000"/>
              </a:lnSpc>
              <a:buNone/>
              <a:defRPr sz="825" b="1" i="0">
                <a:solidFill>
                  <a:srgbClr val="FFFFFF"/>
                </a:solidFill>
                <a:latin typeface="Arial"/>
                <a:ea typeface="Arial"/>
                <a:cs typeface="Arial"/>
              </a:defRPr>
            </a:pPr>
            <a:r>
              <a:rPr sz="825" b="1" i="0">
                <a:solidFill>
                  <a:srgbClr val="FFFFFF"/>
                </a:solidFill>
                <a:latin typeface="Arial"/>
                <a:ea typeface="Arial"/>
                <a:cs typeface="Arial"/>
              </a:rPr>
              <a:t>ORACLE CLOUD VMWARE SOLUTION (DR SITE)</a:t>
            </a:r>
          </a:p>
        </p:txBody>
      </p:sp>
      <p:sp>
        <p:nvSpPr>
          <p:cNvPr id="70" name="Rounded Rectangle 69">
            <a:extLst>
              <a:ext uri="{FF2B5EF4-FFF2-40B4-BE49-F238E27FC236}">
                <a16:creationId xmlns:a16="http://schemas.microsoft.com/office/drawing/2014/main" id="{16CCC9E5-95F7-48D5-B8F0-0AD4B268C8F5}"/>
              </a:ext>
            </a:extLst>
          </p:cNvPr>
          <p:cNvSpPr>
            <a:spLocks noGrp="1"/>
          </p:cNvSpPr>
          <p:nvPr/>
        </p:nvSpPr>
        <p:spPr>
          <a:xfrm>
            <a:off x="6962775" y="3000375"/>
            <a:ext cx="2600325" cy="1885950"/>
          </a:xfrm>
          <a:prstGeom prst="roundRect">
            <a:avLst>
              <a:gd name="adj" fmla="val 2525"/>
            </a:avLst>
          </a:prstGeom>
          <a:noFill/>
          <a:ln w="9525">
            <a:solidFill>
              <a:srgbClr val="FF3B30"/>
            </a:solidFill>
            <a:prstDash val="dash"/>
          </a:ln>
        </p:spPr>
        <p:txBody>
          <a:bodyPr/>
          <a:lstStyle/>
          <a:p>
            <a:endParaRPr lang="en-FR"/>
          </a:p>
        </p:txBody>
      </p:sp>
      <p:sp>
        <p:nvSpPr>
          <p:cNvPr id="71" name="Rectangle 70">
            <a:extLst>
              <a:ext uri="{FF2B5EF4-FFF2-40B4-BE49-F238E27FC236}">
                <a16:creationId xmlns:a16="http://schemas.microsoft.com/office/drawing/2014/main" id="{919D472F-82E2-48D8-9E3F-A7686BF6FC25}"/>
              </a:ext>
            </a:extLst>
          </p:cNvPr>
          <p:cNvSpPr>
            <a:spLocks noGrp="1"/>
          </p:cNvSpPr>
          <p:nvPr/>
        </p:nvSpPr>
        <p:spPr>
          <a:xfrm>
            <a:off x="7191375" y="2838450"/>
            <a:ext cx="2095500" cy="323850"/>
          </a:xfrm>
          <a:prstGeom prst="rect">
            <a:avLst/>
          </a:prstGeom>
          <a:solidFill>
            <a:srgbClr val="FFFFFF"/>
          </a:solidFill>
          <a:ln w="0">
            <a:noFill/>
            <a:prstDash val="solid"/>
          </a:ln>
        </p:spPr>
        <p:txBody>
          <a:bodyPr/>
          <a:lstStyle/>
          <a:p>
            <a:endParaRPr lang="en-FR"/>
          </a:p>
        </p:txBody>
      </p:sp>
      <p:pic>
        <p:nvPicPr>
          <p:cNvPr id="188" name="Picture 187"/>
          <p:cNvPicPr>
            <a:picLocks noChangeAspect="1"/>
          </p:cNvPicPr>
          <p:nvPr/>
        </p:nvPicPr>
        <p:blipFill>
          <a:blip r:embed="rId21"/>
          <a:stretch/>
        </p:blipFill>
        <p:spPr>
          <a:xfrm>
            <a:off x="7348538" y="2857500"/>
            <a:ext cx="333375" cy="342900"/>
          </a:xfrm>
          <a:prstGeom prst="rect">
            <a:avLst/>
          </a:prstGeom>
        </p:spPr>
      </p:pic>
      <p:sp>
        <p:nvSpPr>
          <p:cNvPr id="73" name="Rectangle 72">
            <a:extLst>
              <a:ext uri="{FF2B5EF4-FFF2-40B4-BE49-F238E27FC236}">
                <a16:creationId xmlns:a16="http://schemas.microsoft.com/office/drawing/2014/main" id="{B46BA02F-8ADF-404B-8A86-D364CB50F98F}"/>
              </a:ext>
            </a:extLst>
          </p:cNvPr>
          <p:cNvSpPr>
            <a:spLocks noGrp="1"/>
          </p:cNvSpPr>
          <p:nvPr/>
        </p:nvSpPr>
        <p:spPr>
          <a:xfrm>
            <a:off x="7715250" y="2962275"/>
            <a:ext cx="1762125" cy="152400"/>
          </a:xfrm>
          <a:prstGeom prst="rect">
            <a:avLst/>
          </a:prstGeom>
          <a:noFill/>
          <a:ln w="0">
            <a:noFill/>
            <a:prstDash val="solid"/>
          </a:ln>
        </p:spPr>
        <p:txBody>
          <a:bodyPr wrap="none" lIns="0" tIns="0" rIns="0" bIns="0" anchor="t"/>
          <a:lstStyle/>
          <a:p>
            <a:pPr algn="l">
              <a:lnSpc>
                <a:spcPct val="100000"/>
              </a:lnSpc>
              <a:buNone/>
              <a:defRPr sz="750" b="0" i="0">
                <a:solidFill>
                  <a:srgbClr val="111111"/>
                </a:solidFill>
                <a:latin typeface="Arial"/>
                <a:ea typeface="Arial"/>
                <a:cs typeface="Arial"/>
              </a:defRPr>
            </a:pPr>
            <a:r>
              <a:rPr sz="750" b="0" i="0">
                <a:solidFill>
                  <a:srgbClr val="111111"/>
                </a:solidFill>
                <a:latin typeface="Arial"/>
                <a:ea typeface="Arial"/>
                <a:cs typeface="Arial"/>
              </a:rPr>
              <a:t>OCI Virtual Cloud Network (VCN)</a:t>
            </a:r>
          </a:p>
        </p:txBody>
      </p:sp>
      <p:sp>
        <p:nvSpPr>
          <p:cNvPr id="74" name="Rounded Rectangle 73">
            <a:extLst>
              <a:ext uri="{FF2B5EF4-FFF2-40B4-BE49-F238E27FC236}">
                <a16:creationId xmlns:a16="http://schemas.microsoft.com/office/drawing/2014/main" id="{5977D99C-A6C9-43F9-9115-F8976F00D1B3}"/>
              </a:ext>
            </a:extLst>
          </p:cNvPr>
          <p:cNvSpPr>
            <a:spLocks noGrp="1"/>
          </p:cNvSpPr>
          <p:nvPr/>
        </p:nvSpPr>
        <p:spPr>
          <a:xfrm>
            <a:off x="7096125" y="3295650"/>
            <a:ext cx="2286000" cy="257175"/>
          </a:xfrm>
          <a:prstGeom prst="roundRect">
            <a:avLst>
              <a:gd name="adj" fmla="val 14815"/>
            </a:avLst>
          </a:prstGeom>
          <a:solidFill>
            <a:srgbClr val="003B25"/>
          </a:solidFill>
          <a:ln w="0">
            <a:noFill/>
            <a:prstDash val="solid"/>
          </a:ln>
        </p:spPr>
        <p:txBody>
          <a:bodyPr/>
          <a:lstStyle/>
          <a:p>
            <a:endParaRPr lang="en-FR"/>
          </a:p>
        </p:txBody>
      </p:sp>
      <p:sp>
        <p:nvSpPr>
          <p:cNvPr id="75" name="Rectangle 74">
            <a:extLst>
              <a:ext uri="{FF2B5EF4-FFF2-40B4-BE49-F238E27FC236}">
                <a16:creationId xmlns:a16="http://schemas.microsoft.com/office/drawing/2014/main" id="{FA78F8CC-726F-414C-A83E-E8D3EFBCA7A4}"/>
              </a:ext>
            </a:extLst>
          </p:cNvPr>
          <p:cNvSpPr>
            <a:spLocks noGrp="1"/>
          </p:cNvSpPr>
          <p:nvPr/>
        </p:nvSpPr>
        <p:spPr>
          <a:xfrm>
            <a:off x="7648575" y="3371850"/>
            <a:ext cx="1238250" cy="114300"/>
          </a:xfrm>
          <a:prstGeom prst="rect">
            <a:avLst/>
          </a:prstGeom>
          <a:noFill/>
          <a:ln w="0">
            <a:noFill/>
            <a:prstDash val="solid"/>
          </a:ln>
        </p:spPr>
        <p:txBody>
          <a:bodyPr wrap="none" lIns="0" tIns="0" rIns="0" bIns="0" anchor="t"/>
          <a:lstStyle/>
          <a:p>
            <a:pPr algn="ctr">
              <a:lnSpc>
                <a:spcPct val="100000"/>
              </a:lnSpc>
              <a:buNone/>
              <a:defRPr sz="690" b="1" i="0">
                <a:solidFill>
                  <a:srgbClr val="FFFFFF"/>
                </a:solidFill>
                <a:latin typeface="Arial"/>
                <a:ea typeface="Arial"/>
                <a:cs typeface="Arial"/>
              </a:defRPr>
            </a:pPr>
            <a:r>
              <a:rPr sz="690" b="1" i="0">
                <a:solidFill>
                  <a:srgbClr val="FFFFFF"/>
                </a:solidFill>
                <a:latin typeface="Arial"/>
                <a:ea typeface="Arial"/>
                <a:cs typeface="Arial"/>
              </a:rPr>
              <a:t>VMware Environment (DR)</a:t>
            </a:r>
          </a:p>
        </p:txBody>
      </p:sp>
      <p:sp>
        <p:nvSpPr>
          <p:cNvPr id="76" name="Rounded Rectangle 75">
            <a:extLst>
              <a:ext uri="{FF2B5EF4-FFF2-40B4-BE49-F238E27FC236}">
                <a16:creationId xmlns:a16="http://schemas.microsoft.com/office/drawing/2014/main" id="{99FF3F94-899E-4866-B995-4EE6A8CD0D64}"/>
              </a:ext>
            </a:extLst>
          </p:cNvPr>
          <p:cNvSpPr>
            <a:spLocks noGrp="1"/>
          </p:cNvSpPr>
          <p:nvPr/>
        </p:nvSpPr>
        <p:spPr>
          <a:xfrm>
            <a:off x="7105650" y="3638550"/>
            <a:ext cx="638175" cy="257175"/>
          </a:xfrm>
          <a:prstGeom prst="roundRect">
            <a:avLst>
              <a:gd name="adj" fmla="val 14815"/>
            </a:avLst>
          </a:prstGeom>
          <a:solidFill>
            <a:srgbClr val="003B25"/>
          </a:solidFill>
          <a:ln w="0">
            <a:noFill/>
            <a:prstDash val="solid"/>
          </a:ln>
        </p:spPr>
        <p:txBody>
          <a:bodyPr/>
          <a:lstStyle/>
          <a:p>
            <a:endParaRPr lang="en-FR"/>
          </a:p>
        </p:txBody>
      </p:sp>
      <p:sp>
        <p:nvSpPr>
          <p:cNvPr id="77" name="Rectangle 76">
            <a:extLst>
              <a:ext uri="{FF2B5EF4-FFF2-40B4-BE49-F238E27FC236}">
                <a16:creationId xmlns:a16="http://schemas.microsoft.com/office/drawing/2014/main" id="{72C6081C-E529-4DCA-84B2-51ADF3C67A76}"/>
              </a:ext>
            </a:extLst>
          </p:cNvPr>
          <p:cNvSpPr>
            <a:spLocks noGrp="1"/>
          </p:cNvSpPr>
          <p:nvPr/>
        </p:nvSpPr>
        <p:spPr>
          <a:xfrm>
            <a:off x="7153275" y="3714750"/>
            <a:ext cx="542925" cy="114300"/>
          </a:xfrm>
          <a:prstGeom prst="rect">
            <a:avLst/>
          </a:prstGeom>
          <a:noFill/>
          <a:ln w="0">
            <a:noFill/>
            <a:prstDash val="solid"/>
          </a:ln>
        </p:spPr>
        <p:txBody>
          <a:bodyPr wrap="none" lIns="0" tIns="0" rIns="0" bIns="0" anchor="t"/>
          <a:lstStyle/>
          <a:p>
            <a:pPr algn="ctr">
              <a:lnSpc>
                <a:spcPct val="100000"/>
              </a:lnSpc>
              <a:buNone/>
              <a:defRPr sz="630" b="0" i="0">
                <a:solidFill>
                  <a:srgbClr val="FFFFFF"/>
                </a:solidFill>
                <a:latin typeface="Arial"/>
                <a:ea typeface="Arial"/>
                <a:cs typeface="Arial"/>
              </a:defRPr>
            </a:pPr>
            <a:r>
              <a:rPr sz="630" b="0" i="0">
                <a:solidFill>
                  <a:srgbClr val="FFFFFF"/>
                </a:solidFill>
                <a:latin typeface="Arial"/>
                <a:ea typeface="Arial"/>
                <a:cs typeface="Arial"/>
              </a:rPr>
              <a:t>Compute</a:t>
            </a:r>
          </a:p>
        </p:txBody>
      </p:sp>
      <p:sp>
        <p:nvSpPr>
          <p:cNvPr id="78" name="Rounded Rectangle 77">
            <a:extLst>
              <a:ext uri="{FF2B5EF4-FFF2-40B4-BE49-F238E27FC236}">
                <a16:creationId xmlns:a16="http://schemas.microsoft.com/office/drawing/2014/main" id="{653F52B6-717A-464E-83D9-28CC9EF4C63B}"/>
              </a:ext>
            </a:extLst>
          </p:cNvPr>
          <p:cNvSpPr>
            <a:spLocks noGrp="1"/>
          </p:cNvSpPr>
          <p:nvPr/>
        </p:nvSpPr>
        <p:spPr>
          <a:xfrm>
            <a:off x="7915275" y="3638550"/>
            <a:ext cx="638175" cy="257175"/>
          </a:xfrm>
          <a:prstGeom prst="roundRect">
            <a:avLst>
              <a:gd name="adj" fmla="val 14815"/>
            </a:avLst>
          </a:prstGeom>
          <a:solidFill>
            <a:srgbClr val="003B25"/>
          </a:solidFill>
          <a:ln w="0">
            <a:noFill/>
            <a:prstDash val="solid"/>
          </a:ln>
        </p:spPr>
        <p:txBody>
          <a:bodyPr/>
          <a:lstStyle/>
          <a:p>
            <a:endParaRPr lang="en-FR"/>
          </a:p>
        </p:txBody>
      </p:sp>
      <p:sp>
        <p:nvSpPr>
          <p:cNvPr id="79" name="Rectangle 78">
            <a:extLst>
              <a:ext uri="{FF2B5EF4-FFF2-40B4-BE49-F238E27FC236}">
                <a16:creationId xmlns:a16="http://schemas.microsoft.com/office/drawing/2014/main" id="{F41D1919-A544-4E8B-90E7-45802FE06DF6}"/>
              </a:ext>
            </a:extLst>
          </p:cNvPr>
          <p:cNvSpPr>
            <a:spLocks noGrp="1"/>
          </p:cNvSpPr>
          <p:nvPr/>
        </p:nvSpPr>
        <p:spPr>
          <a:xfrm>
            <a:off x="7962900" y="3714750"/>
            <a:ext cx="542925" cy="114300"/>
          </a:xfrm>
          <a:prstGeom prst="rect">
            <a:avLst/>
          </a:prstGeom>
          <a:noFill/>
          <a:ln w="0">
            <a:noFill/>
            <a:prstDash val="solid"/>
          </a:ln>
        </p:spPr>
        <p:txBody>
          <a:bodyPr wrap="none" lIns="0" tIns="0" rIns="0" bIns="0" anchor="t"/>
          <a:lstStyle/>
          <a:p>
            <a:pPr algn="ctr">
              <a:lnSpc>
                <a:spcPct val="100000"/>
              </a:lnSpc>
              <a:buNone/>
              <a:defRPr sz="630" b="0" i="0">
                <a:solidFill>
                  <a:srgbClr val="FFFFFF"/>
                </a:solidFill>
                <a:latin typeface="Arial"/>
                <a:ea typeface="Arial"/>
                <a:cs typeface="Arial"/>
              </a:defRPr>
            </a:pPr>
            <a:r>
              <a:rPr sz="630" b="0" i="0">
                <a:solidFill>
                  <a:srgbClr val="FFFFFF"/>
                </a:solidFill>
                <a:latin typeface="Arial"/>
                <a:ea typeface="Arial"/>
                <a:cs typeface="Arial"/>
              </a:rPr>
              <a:t>Storage</a:t>
            </a:r>
          </a:p>
        </p:txBody>
      </p:sp>
      <p:sp>
        <p:nvSpPr>
          <p:cNvPr id="80" name="Rounded Rectangle 79">
            <a:extLst>
              <a:ext uri="{FF2B5EF4-FFF2-40B4-BE49-F238E27FC236}">
                <a16:creationId xmlns:a16="http://schemas.microsoft.com/office/drawing/2014/main" id="{4952F979-4C2B-4AB2-9F96-09B961F19A4D}"/>
              </a:ext>
            </a:extLst>
          </p:cNvPr>
          <p:cNvSpPr>
            <a:spLocks noGrp="1"/>
          </p:cNvSpPr>
          <p:nvPr/>
        </p:nvSpPr>
        <p:spPr>
          <a:xfrm>
            <a:off x="8743950" y="3638550"/>
            <a:ext cx="638175" cy="257175"/>
          </a:xfrm>
          <a:prstGeom prst="roundRect">
            <a:avLst>
              <a:gd name="adj" fmla="val 14815"/>
            </a:avLst>
          </a:prstGeom>
          <a:solidFill>
            <a:srgbClr val="003B25"/>
          </a:solidFill>
          <a:ln w="0">
            <a:noFill/>
            <a:prstDash val="solid"/>
          </a:ln>
        </p:spPr>
        <p:txBody>
          <a:bodyPr/>
          <a:lstStyle/>
          <a:p>
            <a:endParaRPr lang="en-FR"/>
          </a:p>
        </p:txBody>
      </p:sp>
      <p:sp>
        <p:nvSpPr>
          <p:cNvPr id="81" name="Rectangle 80">
            <a:extLst>
              <a:ext uri="{FF2B5EF4-FFF2-40B4-BE49-F238E27FC236}">
                <a16:creationId xmlns:a16="http://schemas.microsoft.com/office/drawing/2014/main" id="{E83AD443-5923-41E6-B0C8-F627A40BC82A}"/>
              </a:ext>
            </a:extLst>
          </p:cNvPr>
          <p:cNvSpPr>
            <a:spLocks noGrp="1"/>
          </p:cNvSpPr>
          <p:nvPr/>
        </p:nvSpPr>
        <p:spPr>
          <a:xfrm>
            <a:off x="8791575" y="3714750"/>
            <a:ext cx="542925" cy="114300"/>
          </a:xfrm>
          <a:prstGeom prst="rect">
            <a:avLst/>
          </a:prstGeom>
          <a:noFill/>
          <a:ln w="0">
            <a:noFill/>
            <a:prstDash val="solid"/>
          </a:ln>
        </p:spPr>
        <p:txBody>
          <a:bodyPr wrap="none" lIns="0" tIns="0" rIns="0" bIns="0" anchor="t"/>
          <a:lstStyle/>
          <a:p>
            <a:pPr algn="ctr">
              <a:lnSpc>
                <a:spcPct val="100000"/>
              </a:lnSpc>
              <a:buNone/>
              <a:defRPr sz="630" b="0" i="0">
                <a:solidFill>
                  <a:srgbClr val="FFFFFF"/>
                </a:solidFill>
                <a:latin typeface="Arial"/>
                <a:ea typeface="Arial"/>
                <a:cs typeface="Arial"/>
              </a:defRPr>
            </a:pPr>
            <a:r>
              <a:rPr sz="630" b="0" i="0">
                <a:solidFill>
                  <a:srgbClr val="FFFFFF"/>
                </a:solidFill>
                <a:latin typeface="Arial"/>
                <a:ea typeface="Arial"/>
                <a:cs typeface="Arial"/>
              </a:rPr>
              <a:t>Network</a:t>
            </a:r>
          </a:p>
        </p:txBody>
      </p:sp>
      <p:pic>
        <p:nvPicPr>
          <p:cNvPr id="198" name="Picture 197"/>
          <p:cNvPicPr>
            <a:picLocks noChangeAspect="1"/>
          </p:cNvPicPr>
          <p:nvPr/>
        </p:nvPicPr>
        <p:blipFill>
          <a:blip r:embed="rId22"/>
          <a:stretch/>
        </p:blipFill>
        <p:spPr>
          <a:xfrm>
            <a:off x="7229475" y="4115753"/>
            <a:ext cx="342900" cy="274320"/>
          </a:xfrm>
          <a:prstGeom prst="rect">
            <a:avLst/>
          </a:prstGeom>
        </p:spPr>
      </p:pic>
      <p:sp>
        <p:nvSpPr>
          <p:cNvPr id="83" name="Rectangle 82">
            <a:extLst>
              <a:ext uri="{FF2B5EF4-FFF2-40B4-BE49-F238E27FC236}">
                <a16:creationId xmlns:a16="http://schemas.microsoft.com/office/drawing/2014/main" id="{CFEA1D03-7553-484B-93F3-86BD1F0F75AC}"/>
              </a:ext>
            </a:extLst>
          </p:cNvPr>
          <p:cNvSpPr>
            <a:spLocks noGrp="1"/>
          </p:cNvSpPr>
          <p:nvPr/>
        </p:nvSpPr>
        <p:spPr>
          <a:xfrm>
            <a:off x="7105650" y="4514850"/>
            <a:ext cx="609600" cy="295275"/>
          </a:xfrm>
          <a:prstGeom prst="rect">
            <a:avLst/>
          </a:prstGeom>
          <a:noFill/>
          <a:ln w="0">
            <a:noFill/>
            <a:prstDash val="solid"/>
          </a:ln>
        </p:spPr>
        <p:txBody>
          <a:bodyPr wrap="square" lIns="0" tIns="0" rIns="0" bIns="0" anchor="t"/>
          <a:lstStyle/>
          <a:p>
            <a:pPr algn="ctr">
              <a:lnSpc>
                <a:spcPct val="100000"/>
              </a:lnSpc>
              <a:buNone/>
              <a:defRPr sz="630" b="0" i="0">
                <a:solidFill>
                  <a:srgbClr val="111111"/>
                </a:solidFill>
                <a:latin typeface="Arial"/>
                <a:ea typeface="Arial"/>
                <a:cs typeface="Arial"/>
              </a:defRPr>
            </a:pPr>
            <a:r>
              <a:rPr sz="630" b="0" i="0">
                <a:solidFill>
                  <a:srgbClr val="111111"/>
                </a:solidFill>
                <a:latin typeface="Arial"/>
                <a:ea typeface="Arial"/>
                <a:cs typeface="Arial"/>
              </a:rPr>
              <a:t>Bare Metal</a:t>
            </a:r>
          </a:p>
          <a:p>
            <a:pPr algn="ctr">
              <a:lnSpc>
                <a:spcPct val="100000"/>
              </a:lnSpc>
              <a:buNone/>
              <a:defRPr sz="630" b="0" i="0">
                <a:solidFill>
                  <a:srgbClr val="111111"/>
                </a:solidFill>
                <a:latin typeface="Arial"/>
                <a:ea typeface="Arial"/>
                <a:cs typeface="Arial"/>
              </a:defRPr>
            </a:pPr>
            <a:r>
              <a:rPr sz="630" b="0" i="0">
                <a:solidFill>
                  <a:srgbClr val="111111"/>
                </a:solidFill>
                <a:latin typeface="Arial"/>
                <a:ea typeface="Arial"/>
                <a:cs typeface="Arial"/>
              </a:rPr>
              <a:t>Compute</a:t>
            </a:r>
          </a:p>
        </p:txBody>
      </p:sp>
      <p:pic>
        <p:nvPicPr>
          <p:cNvPr id="200" name="Picture 199"/>
          <p:cNvPicPr>
            <a:picLocks noChangeAspect="1"/>
          </p:cNvPicPr>
          <p:nvPr/>
        </p:nvPicPr>
        <p:blipFill>
          <a:blip r:embed="rId22"/>
          <a:stretch/>
        </p:blipFill>
        <p:spPr>
          <a:xfrm>
            <a:off x="8086725" y="4115753"/>
            <a:ext cx="342900" cy="274320"/>
          </a:xfrm>
          <a:prstGeom prst="rect">
            <a:avLst/>
          </a:prstGeom>
        </p:spPr>
      </p:pic>
      <p:sp>
        <p:nvSpPr>
          <p:cNvPr id="85" name="Rectangle 84">
            <a:extLst>
              <a:ext uri="{FF2B5EF4-FFF2-40B4-BE49-F238E27FC236}">
                <a16:creationId xmlns:a16="http://schemas.microsoft.com/office/drawing/2014/main" id="{AF36A18E-5127-4C0F-914F-C5E2D474995B}"/>
              </a:ext>
            </a:extLst>
          </p:cNvPr>
          <p:cNvSpPr>
            <a:spLocks noGrp="1"/>
          </p:cNvSpPr>
          <p:nvPr/>
        </p:nvSpPr>
        <p:spPr>
          <a:xfrm>
            <a:off x="7962900" y="4514850"/>
            <a:ext cx="609600" cy="295275"/>
          </a:xfrm>
          <a:prstGeom prst="rect">
            <a:avLst/>
          </a:prstGeom>
          <a:noFill/>
          <a:ln w="0">
            <a:noFill/>
            <a:prstDash val="solid"/>
          </a:ln>
        </p:spPr>
        <p:txBody>
          <a:bodyPr wrap="square" lIns="0" tIns="0" rIns="0" bIns="0" anchor="t"/>
          <a:lstStyle/>
          <a:p>
            <a:pPr algn="ctr">
              <a:lnSpc>
                <a:spcPct val="100000"/>
              </a:lnSpc>
              <a:buNone/>
              <a:defRPr sz="630" b="0" i="0">
                <a:solidFill>
                  <a:srgbClr val="111111"/>
                </a:solidFill>
                <a:latin typeface="Arial"/>
                <a:ea typeface="Arial"/>
                <a:cs typeface="Arial"/>
              </a:defRPr>
            </a:pPr>
            <a:r>
              <a:rPr sz="630" b="0" i="0">
                <a:solidFill>
                  <a:srgbClr val="111111"/>
                </a:solidFill>
                <a:latin typeface="Arial"/>
                <a:ea typeface="Arial"/>
                <a:cs typeface="Arial"/>
              </a:rPr>
              <a:t>Bare Metal</a:t>
            </a:r>
          </a:p>
          <a:p>
            <a:pPr algn="ctr">
              <a:lnSpc>
                <a:spcPct val="100000"/>
              </a:lnSpc>
              <a:buNone/>
              <a:defRPr sz="630" b="0" i="0">
                <a:solidFill>
                  <a:srgbClr val="111111"/>
                </a:solidFill>
                <a:latin typeface="Arial"/>
                <a:ea typeface="Arial"/>
                <a:cs typeface="Arial"/>
              </a:defRPr>
            </a:pPr>
            <a:r>
              <a:rPr sz="630" b="0" i="0">
                <a:solidFill>
                  <a:srgbClr val="111111"/>
                </a:solidFill>
                <a:latin typeface="Arial"/>
                <a:ea typeface="Arial"/>
                <a:cs typeface="Arial"/>
              </a:rPr>
              <a:t>Compute</a:t>
            </a:r>
          </a:p>
        </p:txBody>
      </p:sp>
      <p:pic>
        <p:nvPicPr>
          <p:cNvPr id="202" name="Picture 201"/>
          <p:cNvPicPr>
            <a:picLocks noChangeAspect="1"/>
          </p:cNvPicPr>
          <p:nvPr/>
        </p:nvPicPr>
        <p:blipFill>
          <a:blip r:embed="rId22"/>
          <a:stretch/>
        </p:blipFill>
        <p:spPr>
          <a:xfrm>
            <a:off x="8943975" y="4115753"/>
            <a:ext cx="342900" cy="274320"/>
          </a:xfrm>
          <a:prstGeom prst="rect">
            <a:avLst/>
          </a:prstGeom>
        </p:spPr>
      </p:pic>
      <p:sp>
        <p:nvSpPr>
          <p:cNvPr id="87" name="Rectangle 86">
            <a:extLst>
              <a:ext uri="{FF2B5EF4-FFF2-40B4-BE49-F238E27FC236}">
                <a16:creationId xmlns:a16="http://schemas.microsoft.com/office/drawing/2014/main" id="{4035C2C7-42A8-4877-95B3-0BA6FA8045EE}"/>
              </a:ext>
            </a:extLst>
          </p:cNvPr>
          <p:cNvSpPr>
            <a:spLocks noGrp="1"/>
          </p:cNvSpPr>
          <p:nvPr/>
        </p:nvSpPr>
        <p:spPr>
          <a:xfrm>
            <a:off x="8820150" y="4514850"/>
            <a:ext cx="609600" cy="295275"/>
          </a:xfrm>
          <a:prstGeom prst="rect">
            <a:avLst/>
          </a:prstGeom>
          <a:noFill/>
          <a:ln w="0">
            <a:noFill/>
            <a:prstDash val="solid"/>
          </a:ln>
        </p:spPr>
        <p:txBody>
          <a:bodyPr wrap="square" lIns="0" tIns="0" rIns="0" bIns="0" anchor="t"/>
          <a:lstStyle/>
          <a:p>
            <a:pPr algn="ctr">
              <a:lnSpc>
                <a:spcPct val="100000"/>
              </a:lnSpc>
              <a:buNone/>
              <a:defRPr sz="630" b="0" i="0">
                <a:solidFill>
                  <a:srgbClr val="111111"/>
                </a:solidFill>
                <a:latin typeface="Arial"/>
                <a:ea typeface="Arial"/>
                <a:cs typeface="Arial"/>
              </a:defRPr>
            </a:pPr>
            <a:r>
              <a:rPr sz="630" b="0" i="0">
                <a:solidFill>
                  <a:srgbClr val="111111"/>
                </a:solidFill>
                <a:latin typeface="Arial"/>
                <a:ea typeface="Arial"/>
                <a:cs typeface="Arial"/>
              </a:rPr>
              <a:t>Bare Metal</a:t>
            </a:r>
          </a:p>
          <a:p>
            <a:pPr algn="ctr">
              <a:lnSpc>
                <a:spcPct val="100000"/>
              </a:lnSpc>
              <a:buNone/>
              <a:defRPr sz="630" b="0" i="0">
                <a:solidFill>
                  <a:srgbClr val="111111"/>
                </a:solidFill>
                <a:latin typeface="Arial"/>
                <a:ea typeface="Arial"/>
                <a:cs typeface="Arial"/>
              </a:defRPr>
            </a:pPr>
            <a:r>
              <a:rPr sz="630" b="0" i="0">
                <a:solidFill>
                  <a:srgbClr val="111111"/>
                </a:solidFill>
                <a:latin typeface="Arial"/>
                <a:ea typeface="Arial"/>
                <a:cs typeface="Arial"/>
              </a:rPr>
              <a:t>Compute</a:t>
            </a:r>
          </a:p>
        </p:txBody>
      </p:sp>
      <p:sp>
        <p:nvSpPr>
          <p:cNvPr id="88" name="Rounded Rectangle 87">
            <a:extLst>
              <a:ext uri="{FF2B5EF4-FFF2-40B4-BE49-F238E27FC236}">
                <a16:creationId xmlns:a16="http://schemas.microsoft.com/office/drawing/2014/main" id="{5D9A0B81-CBDD-40FB-93B5-7F15AF614228}"/>
              </a:ext>
            </a:extLst>
          </p:cNvPr>
          <p:cNvSpPr>
            <a:spLocks noGrp="1"/>
          </p:cNvSpPr>
          <p:nvPr/>
        </p:nvSpPr>
        <p:spPr>
          <a:xfrm>
            <a:off x="6962775" y="5029200"/>
            <a:ext cx="2600325" cy="523875"/>
          </a:xfrm>
          <a:prstGeom prst="roundRect">
            <a:avLst>
              <a:gd name="adj" fmla="val 10909"/>
            </a:avLst>
          </a:prstGeom>
          <a:solidFill>
            <a:srgbClr val="FDEDED"/>
          </a:solidFill>
          <a:ln w="0">
            <a:noFill/>
            <a:prstDash val="solid"/>
          </a:ln>
        </p:spPr>
        <p:txBody>
          <a:bodyPr/>
          <a:lstStyle/>
          <a:p>
            <a:endParaRPr lang="en-FR"/>
          </a:p>
        </p:txBody>
      </p:sp>
      <p:pic>
        <p:nvPicPr>
          <p:cNvPr id="205" name="Picture 204"/>
          <p:cNvPicPr>
            <a:picLocks noChangeAspect="1"/>
          </p:cNvPicPr>
          <p:nvPr/>
        </p:nvPicPr>
        <p:blipFill>
          <a:blip r:embed="rId23"/>
          <a:stretch/>
        </p:blipFill>
        <p:spPr>
          <a:xfrm>
            <a:off x="7100739" y="5143500"/>
            <a:ext cx="286048" cy="295275"/>
          </a:xfrm>
          <a:prstGeom prst="rect">
            <a:avLst/>
          </a:prstGeom>
        </p:spPr>
      </p:pic>
      <p:sp>
        <p:nvSpPr>
          <p:cNvPr id="90" name="Rectangle 89">
            <a:extLst>
              <a:ext uri="{FF2B5EF4-FFF2-40B4-BE49-F238E27FC236}">
                <a16:creationId xmlns:a16="http://schemas.microsoft.com/office/drawing/2014/main" id="{13863862-6F20-443B-8D66-53DF13D9A406}"/>
              </a:ext>
            </a:extLst>
          </p:cNvPr>
          <p:cNvSpPr>
            <a:spLocks noGrp="1"/>
          </p:cNvSpPr>
          <p:nvPr/>
        </p:nvSpPr>
        <p:spPr>
          <a:xfrm>
            <a:off x="7496175" y="5153025"/>
            <a:ext cx="1905000" cy="304800"/>
          </a:xfrm>
          <a:prstGeom prst="rect">
            <a:avLst/>
          </a:prstGeom>
          <a:noFill/>
          <a:ln w="0">
            <a:noFill/>
            <a:prstDash val="solid"/>
          </a:ln>
        </p:spPr>
        <p:txBody>
          <a:bodyPr wrap="square" lIns="0" tIns="0" rIns="0" bIns="0" anchor="t"/>
          <a:lstStyle/>
          <a:p>
            <a:pPr algn="l">
              <a:lnSpc>
                <a:spcPct val="110000"/>
              </a:lnSpc>
              <a:buNone/>
              <a:defRPr sz="750" b="0" i="0">
                <a:solidFill>
                  <a:srgbClr val="111111"/>
                </a:solidFill>
                <a:latin typeface="Arial"/>
                <a:ea typeface="Arial"/>
                <a:cs typeface="Arial"/>
              </a:defRPr>
            </a:pPr>
            <a:r>
              <a:rPr sz="750" b="0" i="0">
                <a:solidFill>
                  <a:srgbClr val="111111"/>
                </a:solidFill>
                <a:latin typeface="Arial"/>
                <a:ea typeface="Arial"/>
                <a:cs typeface="Arial"/>
              </a:rPr>
              <a:t>Isolated and protected DR environment</a:t>
            </a:r>
          </a:p>
          <a:p>
            <a:pPr algn="l">
              <a:lnSpc>
                <a:spcPct val="110000"/>
              </a:lnSpc>
              <a:buNone/>
              <a:defRPr sz="750" b="0" i="0">
                <a:solidFill>
                  <a:srgbClr val="111111"/>
                </a:solidFill>
                <a:latin typeface="Arial"/>
                <a:ea typeface="Arial"/>
                <a:cs typeface="Arial"/>
              </a:defRPr>
            </a:pPr>
            <a:r>
              <a:rPr sz="750" b="0" i="0">
                <a:solidFill>
                  <a:srgbClr val="111111"/>
                </a:solidFill>
                <a:latin typeface="Arial"/>
                <a:ea typeface="Arial"/>
                <a:cs typeface="Arial"/>
              </a:rPr>
              <a:t>on native OCI infrastructure</a:t>
            </a:r>
          </a:p>
        </p:txBody>
      </p:sp>
      <p:sp>
        <p:nvSpPr>
          <p:cNvPr id="91" name="Straight Connector 90">
            <a:extLst>
              <a:ext uri="{FF2B5EF4-FFF2-40B4-BE49-F238E27FC236}">
                <a16:creationId xmlns:a16="http://schemas.microsoft.com/office/drawing/2014/main" id="{FF5E0613-E6D8-40EE-A062-ACE6246B7A80}"/>
              </a:ext>
            </a:extLst>
          </p:cNvPr>
          <p:cNvSpPr>
            <a:spLocks noGrp="1"/>
          </p:cNvSpPr>
          <p:nvPr/>
        </p:nvSpPr>
        <p:spPr>
          <a:xfrm>
            <a:off x="9953625" y="1409700"/>
            <a:ext cx="0" cy="4457700"/>
          </a:xfrm>
          <a:prstGeom prst="line">
            <a:avLst/>
          </a:prstGeom>
          <a:noFill/>
          <a:ln w="9525">
            <a:solidFill>
              <a:srgbClr val="D8DEDA"/>
            </a:solidFill>
            <a:prstDash val="solid"/>
          </a:ln>
        </p:spPr>
        <p:txBody>
          <a:bodyPr/>
          <a:lstStyle/>
          <a:p>
            <a:endParaRPr lang="en-FR"/>
          </a:p>
        </p:txBody>
      </p:sp>
      <p:sp>
        <p:nvSpPr>
          <p:cNvPr id="92" name="Rectangle 91">
            <a:extLst>
              <a:ext uri="{FF2B5EF4-FFF2-40B4-BE49-F238E27FC236}">
                <a16:creationId xmlns:a16="http://schemas.microsoft.com/office/drawing/2014/main" id="{12076F34-908A-47F8-A47F-E0D0CC6FD5CA}"/>
              </a:ext>
            </a:extLst>
          </p:cNvPr>
          <p:cNvSpPr>
            <a:spLocks noGrp="1"/>
          </p:cNvSpPr>
          <p:nvPr/>
        </p:nvSpPr>
        <p:spPr>
          <a:xfrm>
            <a:off x="10144125" y="1752600"/>
            <a:ext cx="1524000" cy="180975"/>
          </a:xfrm>
          <a:prstGeom prst="rect">
            <a:avLst/>
          </a:prstGeom>
          <a:noFill/>
          <a:ln w="0">
            <a:noFill/>
            <a:prstDash val="solid"/>
          </a:ln>
        </p:spPr>
        <p:txBody>
          <a:bodyPr wrap="none" lIns="0" tIns="0" rIns="0" bIns="0" anchor="t"/>
          <a:lstStyle/>
          <a:p>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BUSINESS OUTCOMES</a:t>
            </a:r>
          </a:p>
        </p:txBody>
      </p:sp>
      <p:sp>
        <p:nvSpPr>
          <p:cNvPr id="93" name="Straight Connector 92">
            <a:extLst>
              <a:ext uri="{FF2B5EF4-FFF2-40B4-BE49-F238E27FC236}">
                <a16:creationId xmlns:a16="http://schemas.microsoft.com/office/drawing/2014/main" id="{4A857B32-5962-4564-AAF4-3426E2D07DF5}"/>
              </a:ext>
            </a:extLst>
          </p:cNvPr>
          <p:cNvSpPr>
            <a:spLocks noGrp="1"/>
          </p:cNvSpPr>
          <p:nvPr/>
        </p:nvSpPr>
        <p:spPr>
          <a:xfrm>
            <a:off x="10144125" y="1981200"/>
            <a:ext cx="1809750" cy="0"/>
          </a:xfrm>
          <a:prstGeom prst="line">
            <a:avLst/>
          </a:prstGeom>
          <a:noFill/>
          <a:ln w="9525">
            <a:solidFill>
              <a:srgbClr val="5B7F70"/>
            </a:solidFill>
            <a:prstDash val="solid"/>
          </a:ln>
        </p:spPr>
        <p:txBody>
          <a:bodyPr/>
          <a:lstStyle/>
          <a:p>
            <a:endParaRPr lang="en-FR"/>
          </a:p>
        </p:txBody>
      </p:sp>
      <p:pic>
        <p:nvPicPr>
          <p:cNvPr id="210" name="Picture 209"/>
          <p:cNvPicPr>
            <a:picLocks noChangeAspect="1"/>
          </p:cNvPicPr>
          <p:nvPr/>
        </p:nvPicPr>
        <p:blipFill>
          <a:blip r:embed="rId24"/>
          <a:stretch/>
        </p:blipFill>
        <p:spPr>
          <a:xfrm>
            <a:off x="10163175" y="2152650"/>
            <a:ext cx="447675" cy="447675"/>
          </a:xfrm>
          <a:prstGeom prst="rect">
            <a:avLst/>
          </a:prstGeom>
        </p:spPr>
      </p:pic>
      <p:sp>
        <p:nvSpPr>
          <p:cNvPr id="95" name="Rectangle 94">
            <a:extLst>
              <a:ext uri="{FF2B5EF4-FFF2-40B4-BE49-F238E27FC236}">
                <a16:creationId xmlns:a16="http://schemas.microsoft.com/office/drawing/2014/main" id="{BC0771C2-FA8B-42EB-ACFF-D87E67E7E659}"/>
              </a:ext>
            </a:extLst>
          </p:cNvPr>
          <p:cNvSpPr>
            <a:spLocks noGrp="1"/>
          </p:cNvSpPr>
          <p:nvPr/>
        </p:nvSpPr>
        <p:spPr>
          <a:xfrm>
            <a:off x="10706100" y="2162175"/>
            <a:ext cx="1219200" cy="152400"/>
          </a:xfrm>
          <a:prstGeom prst="rect">
            <a:avLst/>
          </a:prstGeom>
          <a:noFill/>
          <a:ln w="0">
            <a:noFill/>
            <a:prstDash val="solid"/>
          </a:ln>
        </p:spPr>
        <p:txBody>
          <a:bodyPr wrap="none" lIns="0" tIns="0" rIns="0" bIns="0" anchor="t"/>
          <a:lstStyle/>
          <a:p>
            <a:pPr algn="l">
              <a:lnSpc>
                <a:spcPct val="100000"/>
              </a:lnSpc>
              <a:buNone/>
              <a:defRPr sz="750" b="1" i="0">
                <a:solidFill>
                  <a:srgbClr val="003B25"/>
                </a:solidFill>
                <a:latin typeface="Arial"/>
                <a:ea typeface="Arial"/>
                <a:cs typeface="Arial"/>
              </a:defRPr>
            </a:pPr>
            <a:r>
              <a:rPr sz="750" b="1" i="0">
                <a:solidFill>
                  <a:srgbClr val="003B25"/>
                </a:solidFill>
                <a:latin typeface="Arial"/>
                <a:ea typeface="Arial"/>
                <a:cs typeface="Arial"/>
              </a:rPr>
              <a:t>Minimize downtime</a:t>
            </a:r>
          </a:p>
        </p:txBody>
      </p:sp>
      <p:sp>
        <p:nvSpPr>
          <p:cNvPr id="96" name="Rectangle 95">
            <a:extLst>
              <a:ext uri="{FF2B5EF4-FFF2-40B4-BE49-F238E27FC236}">
                <a16:creationId xmlns:a16="http://schemas.microsoft.com/office/drawing/2014/main" id="{A18726DA-D31D-429F-B817-31A6D310FF0E}"/>
              </a:ext>
            </a:extLst>
          </p:cNvPr>
          <p:cNvSpPr>
            <a:spLocks noGrp="1"/>
          </p:cNvSpPr>
          <p:nvPr/>
        </p:nvSpPr>
        <p:spPr>
          <a:xfrm>
            <a:off x="10706100" y="2324100"/>
            <a:ext cx="1295400" cy="419100"/>
          </a:xfrm>
          <a:prstGeom prst="rect">
            <a:avLst/>
          </a:prstGeom>
          <a:noFill/>
          <a:ln w="0">
            <a:noFill/>
            <a:prstDash val="solid"/>
          </a:ln>
        </p:spPr>
        <p:txBody>
          <a:bodyPr wrap="square" lIns="0" tIns="0" rIns="0" bIns="0" anchor="t"/>
          <a:lstStyle/>
          <a:p>
            <a:pPr algn="l">
              <a:lnSpc>
                <a:spcPct val="110000"/>
              </a:lnSpc>
              <a:buNone/>
              <a:defRPr sz="653" b="0" i="0">
                <a:solidFill>
                  <a:srgbClr val="111111"/>
                </a:solidFill>
                <a:latin typeface="Arial"/>
                <a:ea typeface="Arial"/>
                <a:cs typeface="Arial"/>
              </a:defRPr>
            </a:pPr>
            <a:r>
              <a:rPr sz="653" b="0" i="0">
                <a:solidFill>
                  <a:srgbClr val="111111"/>
                </a:solidFill>
                <a:latin typeface="Arial"/>
                <a:ea typeface="Arial"/>
                <a:cs typeface="Arial"/>
              </a:rPr>
              <a:t>Quick recovery to meet</a:t>
            </a:r>
          </a:p>
          <a:p>
            <a:pPr algn="l">
              <a:lnSpc>
                <a:spcPct val="110000"/>
              </a:lnSpc>
              <a:buNone/>
              <a:defRPr sz="653" b="0" i="0">
                <a:solidFill>
                  <a:srgbClr val="111111"/>
                </a:solidFill>
                <a:latin typeface="Arial"/>
                <a:ea typeface="Arial"/>
                <a:cs typeface="Arial"/>
              </a:defRPr>
            </a:pPr>
            <a:r>
              <a:rPr sz="653" b="0" i="0">
                <a:solidFill>
                  <a:srgbClr val="111111"/>
                </a:solidFill>
                <a:latin typeface="Arial"/>
                <a:ea typeface="Arial"/>
                <a:cs typeface="Arial"/>
              </a:rPr>
              <a:t>RTO &amp; RPO targets.</a:t>
            </a:r>
          </a:p>
        </p:txBody>
      </p:sp>
      <p:sp>
        <p:nvSpPr>
          <p:cNvPr id="97" name="Straight Connector 96">
            <a:extLst>
              <a:ext uri="{FF2B5EF4-FFF2-40B4-BE49-F238E27FC236}">
                <a16:creationId xmlns:a16="http://schemas.microsoft.com/office/drawing/2014/main" id="{629B3057-CA35-4101-82F8-35D38737FEFC}"/>
              </a:ext>
            </a:extLst>
          </p:cNvPr>
          <p:cNvSpPr>
            <a:spLocks noGrp="1"/>
          </p:cNvSpPr>
          <p:nvPr/>
        </p:nvSpPr>
        <p:spPr>
          <a:xfrm>
            <a:off x="10172700" y="2743200"/>
            <a:ext cx="1752600" cy="0"/>
          </a:xfrm>
          <a:prstGeom prst="line">
            <a:avLst/>
          </a:prstGeom>
          <a:noFill/>
          <a:ln w="9525">
            <a:solidFill>
              <a:srgbClr val="D8DEDA"/>
            </a:solidFill>
            <a:prstDash val="solid"/>
          </a:ln>
        </p:spPr>
        <p:txBody>
          <a:bodyPr/>
          <a:lstStyle/>
          <a:p>
            <a:endParaRPr lang="en-FR"/>
          </a:p>
        </p:txBody>
      </p:sp>
      <p:pic>
        <p:nvPicPr>
          <p:cNvPr id="214" name="Picture 213"/>
          <p:cNvPicPr>
            <a:picLocks noChangeAspect="1"/>
          </p:cNvPicPr>
          <p:nvPr/>
        </p:nvPicPr>
        <p:blipFill>
          <a:blip r:embed="rId25"/>
          <a:stretch/>
        </p:blipFill>
        <p:spPr>
          <a:xfrm>
            <a:off x="10163175" y="2895600"/>
            <a:ext cx="447675" cy="447675"/>
          </a:xfrm>
          <a:prstGeom prst="rect">
            <a:avLst/>
          </a:prstGeom>
        </p:spPr>
      </p:pic>
      <p:sp>
        <p:nvSpPr>
          <p:cNvPr id="99" name="Rectangle 98">
            <a:extLst>
              <a:ext uri="{FF2B5EF4-FFF2-40B4-BE49-F238E27FC236}">
                <a16:creationId xmlns:a16="http://schemas.microsoft.com/office/drawing/2014/main" id="{14B3E80C-1548-4CE3-A8B8-E151D17CE0C2}"/>
              </a:ext>
            </a:extLst>
          </p:cNvPr>
          <p:cNvSpPr>
            <a:spLocks noGrp="1"/>
          </p:cNvSpPr>
          <p:nvPr/>
        </p:nvSpPr>
        <p:spPr>
          <a:xfrm>
            <a:off x="10706100" y="2905125"/>
            <a:ext cx="1219200" cy="152400"/>
          </a:xfrm>
          <a:prstGeom prst="rect">
            <a:avLst/>
          </a:prstGeom>
          <a:noFill/>
          <a:ln w="0">
            <a:noFill/>
            <a:prstDash val="solid"/>
          </a:ln>
        </p:spPr>
        <p:txBody>
          <a:bodyPr wrap="none" lIns="0" tIns="0" rIns="0" bIns="0" anchor="t"/>
          <a:lstStyle/>
          <a:p>
            <a:pPr algn="l">
              <a:lnSpc>
                <a:spcPct val="100000"/>
              </a:lnSpc>
              <a:buNone/>
              <a:defRPr sz="750" b="1" i="0">
                <a:solidFill>
                  <a:srgbClr val="003B25"/>
                </a:solidFill>
                <a:latin typeface="Arial"/>
                <a:ea typeface="Arial"/>
                <a:cs typeface="Arial"/>
              </a:defRPr>
            </a:pPr>
            <a:r>
              <a:rPr sz="750" b="1" i="0">
                <a:solidFill>
                  <a:srgbClr val="003B25"/>
                </a:solidFill>
                <a:latin typeface="Arial"/>
                <a:ea typeface="Arial"/>
                <a:cs typeface="Arial"/>
              </a:rPr>
              <a:t>Protect your data</a:t>
            </a:r>
          </a:p>
        </p:txBody>
      </p:sp>
      <p:sp>
        <p:nvSpPr>
          <p:cNvPr id="100" name="Rectangle 99">
            <a:extLst>
              <a:ext uri="{FF2B5EF4-FFF2-40B4-BE49-F238E27FC236}">
                <a16:creationId xmlns:a16="http://schemas.microsoft.com/office/drawing/2014/main" id="{41B1DEC2-09AD-4644-94D8-F1D9BD68C5B6}"/>
              </a:ext>
            </a:extLst>
          </p:cNvPr>
          <p:cNvSpPr>
            <a:spLocks noGrp="1"/>
          </p:cNvSpPr>
          <p:nvPr/>
        </p:nvSpPr>
        <p:spPr>
          <a:xfrm>
            <a:off x="10706100" y="3067050"/>
            <a:ext cx="1295400" cy="419100"/>
          </a:xfrm>
          <a:prstGeom prst="rect">
            <a:avLst/>
          </a:prstGeom>
          <a:noFill/>
          <a:ln w="0">
            <a:noFill/>
            <a:prstDash val="solid"/>
          </a:ln>
        </p:spPr>
        <p:txBody>
          <a:bodyPr wrap="square" lIns="0" tIns="0" rIns="0" bIns="0" anchor="t"/>
          <a:lstStyle/>
          <a:p>
            <a:pPr algn="l">
              <a:lnSpc>
                <a:spcPct val="110000"/>
              </a:lnSpc>
              <a:buNone/>
              <a:defRPr sz="653" b="0" i="0">
                <a:solidFill>
                  <a:srgbClr val="111111"/>
                </a:solidFill>
                <a:latin typeface="Arial"/>
                <a:ea typeface="Arial"/>
                <a:cs typeface="Arial"/>
              </a:defRPr>
            </a:pPr>
            <a:r>
              <a:rPr sz="653" b="0" i="0">
                <a:solidFill>
                  <a:srgbClr val="111111"/>
                </a:solidFill>
                <a:latin typeface="Arial"/>
                <a:ea typeface="Arial"/>
                <a:cs typeface="Arial"/>
              </a:rPr>
              <a:t>Recover from corruption,</a:t>
            </a:r>
          </a:p>
          <a:p>
            <a:pPr algn="l">
              <a:lnSpc>
                <a:spcPct val="110000"/>
              </a:lnSpc>
              <a:buNone/>
              <a:defRPr sz="653" b="0" i="0">
                <a:solidFill>
                  <a:srgbClr val="111111"/>
                </a:solidFill>
                <a:latin typeface="Arial"/>
                <a:ea typeface="Arial"/>
                <a:cs typeface="Arial"/>
              </a:defRPr>
            </a:pPr>
            <a:r>
              <a:rPr sz="653" b="0" i="0">
                <a:solidFill>
                  <a:srgbClr val="111111"/>
                </a:solidFill>
                <a:latin typeface="Arial"/>
                <a:ea typeface="Arial"/>
                <a:cs typeface="Arial"/>
              </a:rPr>
              <a:t>ransomware or disasters.</a:t>
            </a:r>
          </a:p>
        </p:txBody>
      </p:sp>
      <p:sp>
        <p:nvSpPr>
          <p:cNvPr id="101" name="Straight Connector 100">
            <a:extLst>
              <a:ext uri="{FF2B5EF4-FFF2-40B4-BE49-F238E27FC236}">
                <a16:creationId xmlns:a16="http://schemas.microsoft.com/office/drawing/2014/main" id="{F2D3C9CF-3DB8-4ED3-BCFD-536FDC82B6DB}"/>
              </a:ext>
            </a:extLst>
          </p:cNvPr>
          <p:cNvSpPr>
            <a:spLocks noGrp="1"/>
          </p:cNvSpPr>
          <p:nvPr/>
        </p:nvSpPr>
        <p:spPr>
          <a:xfrm>
            <a:off x="10172700" y="3486150"/>
            <a:ext cx="1752600" cy="0"/>
          </a:xfrm>
          <a:prstGeom prst="line">
            <a:avLst/>
          </a:prstGeom>
          <a:noFill/>
          <a:ln w="9525">
            <a:solidFill>
              <a:srgbClr val="D8DEDA"/>
            </a:solidFill>
            <a:prstDash val="solid"/>
          </a:ln>
        </p:spPr>
        <p:txBody>
          <a:bodyPr/>
          <a:lstStyle/>
          <a:p>
            <a:endParaRPr lang="en-FR"/>
          </a:p>
        </p:txBody>
      </p:sp>
      <p:pic>
        <p:nvPicPr>
          <p:cNvPr id="218" name="Picture 217"/>
          <p:cNvPicPr>
            <a:picLocks noChangeAspect="1"/>
          </p:cNvPicPr>
          <p:nvPr/>
        </p:nvPicPr>
        <p:blipFill>
          <a:blip r:embed="rId26"/>
          <a:stretch/>
        </p:blipFill>
        <p:spPr>
          <a:xfrm>
            <a:off x="10163175" y="3638550"/>
            <a:ext cx="447675" cy="447675"/>
          </a:xfrm>
          <a:prstGeom prst="rect">
            <a:avLst/>
          </a:prstGeom>
        </p:spPr>
      </p:pic>
      <p:sp>
        <p:nvSpPr>
          <p:cNvPr id="103" name="Rectangle 102">
            <a:extLst>
              <a:ext uri="{FF2B5EF4-FFF2-40B4-BE49-F238E27FC236}">
                <a16:creationId xmlns:a16="http://schemas.microsoft.com/office/drawing/2014/main" id="{469773F1-547B-4CC5-B79F-75602C0D55EA}"/>
              </a:ext>
            </a:extLst>
          </p:cNvPr>
          <p:cNvSpPr>
            <a:spLocks noGrp="1"/>
          </p:cNvSpPr>
          <p:nvPr/>
        </p:nvSpPr>
        <p:spPr>
          <a:xfrm>
            <a:off x="10706100" y="3648075"/>
            <a:ext cx="1219200" cy="285750"/>
          </a:xfrm>
          <a:prstGeom prst="rect">
            <a:avLst/>
          </a:prstGeom>
          <a:noFill/>
          <a:ln w="0">
            <a:noFill/>
            <a:prstDash val="solid"/>
          </a:ln>
        </p:spPr>
        <p:txBody>
          <a:bodyPr wrap="none" lIns="0" tIns="0" rIns="0" bIns="0" anchor="t"/>
          <a:lstStyle/>
          <a:p>
            <a:pPr algn="l">
              <a:lnSpc>
                <a:spcPct val="100000"/>
              </a:lnSpc>
              <a:buNone/>
              <a:defRPr sz="750" b="1" i="0">
                <a:solidFill>
                  <a:srgbClr val="003B25"/>
                </a:solidFill>
                <a:latin typeface="Arial"/>
                <a:ea typeface="Arial"/>
                <a:cs typeface="Arial"/>
              </a:defRPr>
            </a:pPr>
            <a:r>
              <a:rPr sz="750" b="1" i="0">
                <a:solidFill>
                  <a:srgbClr val="003B25"/>
                </a:solidFill>
                <a:latin typeface="Arial"/>
                <a:ea typeface="Arial"/>
                <a:cs typeface="Arial"/>
              </a:rPr>
              <a:t>Consistent VMware</a:t>
            </a:r>
          </a:p>
          <a:p>
            <a:pPr algn="l">
              <a:lnSpc>
                <a:spcPct val="100000"/>
              </a:lnSpc>
              <a:buNone/>
              <a:defRPr sz="750" b="1" i="0">
                <a:solidFill>
                  <a:srgbClr val="003B25"/>
                </a:solidFill>
                <a:latin typeface="Arial"/>
                <a:ea typeface="Arial"/>
                <a:cs typeface="Arial"/>
              </a:defRPr>
            </a:pPr>
            <a:r>
              <a:rPr sz="750" b="1" i="0">
                <a:solidFill>
                  <a:srgbClr val="003B25"/>
                </a:solidFill>
                <a:latin typeface="Arial"/>
                <a:ea typeface="Arial"/>
                <a:cs typeface="Arial"/>
              </a:rPr>
              <a:t>experience</a:t>
            </a:r>
          </a:p>
        </p:txBody>
      </p:sp>
      <p:sp>
        <p:nvSpPr>
          <p:cNvPr id="104" name="Rectangle 103">
            <a:extLst>
              <a:ext uri="{FF2B5EF4-FFF2-40B4-BE49-F238E27FC236}">
                <a16:creationId xmlns:a16="http://schemas.microsoft.com/office/drawing/2014/main" id="{2C1DCB54-2048-4A6C-A502-168BDAFBE704}"/>
              </a:ext>
            </a:extLst>
          </p:cNvPr>
          <p:cNvSpPr>
            <a:spLocks noGrp="1"/>
          </p:cNvSpPr>
          <p:nvPr/>
        </p:nvSpPr>
        <p:spPr>
          <a:xfrm>
            <a:off x="10706100" y="3952875"/>
            <a:ext cx="1295400" cy="419100"/>
          </a:xfrm>
          <a:prstGeom prst="rect">
            <a:avLst/>
          </a:prstGeom>
          <a:noFill/>
          <a:ln w="0">
            <a:noFill/>
            <a:prstDash val="solid"/>
          </a:ln>
        </p:spPr>
        <p:txBody>
          <a:bodyPr wrap="square" lIns="0" tIns="0" rIns="0" bIns="0" anchor="t"/>
          <a:lstStyle/>
          <a:p>
            <a:pPr algn="l">
              <a:lnSpc>
                <a:spcPct val="110000"/>
              </a:lnSpc>
              <a:buNone/>
              <a:defRPr sz="653" b="0" i="0">
                <a:solidFill>
                  <a:srgbClr val="111111"/>
                </a:solidFill>
                <a:latin typeface="Arial"/>
                <a:ea typeface="Arial"/>
                <a:cs typeface="Arial"/>
              </a:defRPr>
            </a:pPr>
            <a:r>
              <a:rPr sz="653" b="0" i="0">
                <a:solidFill>
                  <a:srgbClr val="111111"/>
                </a:solidFill>
                <a:latin typeface="Arial"/>
                <a:ea typeface="Arial"/>
                <a:cs typeface="Arial"/>
              </a:rPr>
              <a:t>Same tools, processes</a:t>
            </a:r>
          </a:p>
          <a:p>
            <a:pPr algn="l">
              <a:lnSpc>
                <a:spcPct val="110000"/>
              </a:lnSpc>
              <a:buNone/>
              <a:defRPr sz="653" b="0" i="0">
                <a:solidFill>
                  <a:srgbClr val="111111"/>
                </a:solidFill>
                <a:latin typeface="Arial"/>
                <a:ea typeface="Arial"/>
                <a:cs typeface="Arial"/>
              </a:defRPr>
            </a:pPr>
            <a:r>
              <a:rPr sz="653" b="0" i="0">
                <a:solidFill>
                  <a:srgbClr val="111111"/>
                </a:solidFill>
                <a:latin typeface="Arial"/>
                <a:ea typeface="Arial"/>
                <a:cs typeface="Arial"/>
              </a:rPr>
              <a:t>and skillsets.</a:t>
            </a:r>
          </a:p>
        </p:txBody>
      </p:sp>
      <p:sp>
        <p:nvSpPr>
          <p:cNvPr id="105" name="Straight Connector 104">
            <a:extLst>
              <a:ext uri="{FF2B5EF4-FFF2-40B4-BE49-F238E27FC236}">
                <a16:creationId xmlns:a16="http://schemas.microsoft.com/office/drawing/2014/main" id="{C2A6082F-710F-408B-AAC6-6690C837E37D}"/>
              </a:ext>
            </a:extLst>
          </p:cNvPr>
          <p:cNvSpPr>
            <a:spLocks noGrp="1"/>
          </p:cNvSpPr>
          <p:nvPr/>
        </p:nvSpPr>
        <p:spPr>
          <a:xfrm>
            <a:off x="10172700" y="4229100"/>
            <a:ext cx="1752600" cy="0"/>
          </a:xfrm>
          <a:prstGeom prst="line">
            <a:avLst/>
          </a:prstGeom>
          <a:noFill/>
          <a:ln w="9525">
            <a:solidFill>
              <a:srgbClr val="D8DEDA"/>
            </a:solidFill>
            <a:prstDash val="solid"/>
          </a:ln>
        </p:spPr>
        <p:txBody>
          <a:bodyPr/>
          <a:lstStyle/>
          <a:p>
            <a:endParaRPr lang="en-FR"/>
          </a:p>
        </p:txBody>
      </p:sp>
      <p:pic>
        <p:nvPicPr>
          <p:cNvPr id="222" name="Picture 221"/>
          <p:cNvPicPr>
            <a:picLocks noChangeAspect="1"/>
          </p:cNvPicPr>
          <p:nvPr/>
        </p:nvPicPr>
        <p:blipFill>
          <a:blip r:embed="rId27"/>
          <a:stretch/>
        </p:blipFill>
        <p:spPr>
          <a:xfrm>
            <a:off x="10163175" y="4381500"/>
            <a:ext cx="447675" cy="447675"/>
          </a:xfrm>
          <a:prstGeom prst="rect">
            <a:avLst/>
          </a:prstGeom>
        </p:spPr>
      </p:pic>
      <p:sp>
        <p:nvSpPr>
          <p:cNvPr id="107" name="Rectangle 106">
            <a:extLst>
              <a:ext uri="{FF2B5EF4-FFF2-40B4-BE49-F238E27FC236}">
                <a16:creationId xmlns:a16="http://schemas.microsoft.com/office/drawing/2014/main" id="{ED13CF9F-B498-4921-99AB-319D71B97CC3}"/>
              </a:ext>
            </a:extLst>
          </p:cNvPr>
          <p:cNvSpPr>
            <a:spLocks noGrp="1"/>
          </p:cNvSpPr>
          <p:nvPr/>
        </p:nvSpPr>
        <p:spPr>
          <a:xfrm>
            <a:off x="10706100" y="4391025"/>
            <a:ext cx="1219200" cy="152400"/>
          </a:xfrm>
          <a:prstGeom prst="rect">
            <a:avLst/>
          </a:prstGeom>
          <a:noFill/>
          <a:ln w="0">
            <a:noFill/>
            <a:prstDash val="solid"/>
          </a:ln>
        </p:spPr>
        <p:txBody>
          <a:bodyPr wrap="none" lIns="0" tIns="0" rIns="0" bIns="0" anchor="t"/>
          <a:lstStyle/>
          <a:p>
            <a:pPr algn="l">
              <a:lnSpc>
                <a:spcPct val="100000"/>
              </a:lnSpc>
              <a:buNone/>
              <a:defRPr sz="750" b="1" i="0">
                <a:solidFill>
                  <a:srgbClr val="003B25"/>
                </a:solidFill>
                <a:latin typeface="Arial"/>
                <a:ea typeface="Arial"/>
                <a:cs typeface="Arial"/>
              </a:defRPr>
            </a:pPr>
            <a:r>
              <a:rPr sz="750" b="1" i="0">
                <a:solidFill>
                  <a:srgbClr val="003B25"/>
                </a:solidFill>
                <a:latin typeface="Arial"/>
                <a:ea typeface="Arial"/>
                <a:cs typeface="Arial"/>
              </a:rPr>
              <a:t>Test and validate</a:t>
            </a:r>
          </a:p>
        </p:txBody>
      </p:sp>
      <p:sp>
        <p:nvSpPr>
          <p:cNvPr id="108" name="Rectangle 107">
            <a:extLst>
              <a:ext uri="{FF2B5EF4-FFF2-40B4-BE49-F238E27FC236}">
                <a16:creationId xmlns:a16="http://schemas.microsoft.com/office/drawing/2014/main" id="{FCA7281E-20F2-4C59-9155-B743AF9B1B48}"/>
              </a:ext>
            </a:extLst>
          </p:cNvPr>
          <p:cNvSpPr>
            <a:spLocks noGrp="1"/>
          </p:cNvSpPr>
          <p:nvPr/>
        </p:nvSpPr>
        <p:spPr>
          <a:xfrm>
            <a:off x="10706100" y="4552950"/>
            <a:ext cx="1295400" cy="419100"/>
          </a:xfrm>
          <a:prstGeom prst="rect">
            <a:avLst/>
          </a:prstGeom>
          <a:noFill/>
          <a:ln w="0">
            <a:noFill/>
            <a:prstDash val="solid"/>
          </a:ln>
        </p:spPr>
        <p:txBody>
          <a:bodyPr wrap="square" lIns="0" tIns="0" rIns="0" bIns="0" anchor="t"/>
          <a:lstStyle/>
          <a:p>
            <a:pPr algn="l">
              <a:lnSpc>
                <a:spcPct val="110000"/>
              </a:lnSpc>
              <a:buNone/>
              <a:defRPr sz="653" b="0" i="0">
                <a:solidFill>
                  <a:srgbClr val="111111"/>
                </a:solidFill>
                <a:latin typeface="Arial"/>
                <a:ea typeface="Arial"/>
                <a:cs typeface="Arial"/>
              </a:defRPr>
            </a:pPr>
            <a:r>
              <a:rPr sz="653" b="0" i="0">
                <a:solidFill>
                  <a:srgbClr val="111111"/>
                </a:solidFill>
                <a:latin typeface="Arial"/>
                <a:ea typeface="Arial"/>
                <a:cs typeface="Arial"/>
              </a:rPr>
              <a:t>Schedule DR drills</a:t>
            </a:r>
          </a:p>
          <a:p>
            <a:pPr algn="l">
              <a:lnSpc>
                <a:spcPct val="110000"/>
              </a:lnSpc>
              <a:buNone/>
              <a:defRPr sz="653" b="0" i="0">
                <a:solidFill>
                  <a:srgbClr val="111111"/>
                </a:solidFill>
                <a:latin typeface="Arial"/>
                <a:ea typeface="Arial"/>
                <a:cs typeface="Arial"/>
              </a:defRPr>
            </a:pPr>
            <a:r>
              <a:rPr sz="653" b="0" i="0">
                <a:solidFill>
                  <a:srgbClr val="111111"/>
                </a:solidFill>
                <a:latin typeface="Arial"/>
                <a:ea typeface="Arial"/>
                <a:cs typeface="Arial"/>
              </a:rPr>
              <a:t>without impacting</a:t>
            </a:r>
          </a:p>
          <a:p>
            <a:pPr algn="l">
              <a:lnSpc>
                <a:spcPct val="110000"/>
              </a:lnSpc>
              <a:buNone/>
              <a:defRPr sz="653" b="0" i="0">
                <a:solidFill>
                  <a:srgbClr val="111111"/>
                </a:solidFill>
                <a:latin typeface="Arial"/>
                <a:ea typeface="Arial"/>
                <a:cs typeface="Arial"/>
              </a:defRPr>
            </a:pPr>
            <a:r>
              <a:rPr sz="653" b="0" i="0">
                <a:solidFill>
                  <a:srgbClr val="111111"/>
                </a:solidFill>
                <a:latin typeface="Arial"/>
                <a:ea typeface="Arial"/>
                <a:cs typeface="Arial"/>
              </a:rPr>
              <a:t>production.</a:t>
            </a:r>
          </a:p>
        </p:txBody>
      </p:sp>
      <p:sp>
        <p:nvSpPr>
          <p:cNvPr id="109" name="Straight Connector 108">
            <a:extLst>
              <a:ext uri="{FF2B5EF4-FFF2-40B4-BE49-F238E27FC236}">
                <a16:creationId xmlns:a16="http://schemas.microsoft.com/office/drawing/2014/main" id="{EB9FCB0A-5D65-49DB-873A-06D8422D58A5}"/>
              </a:ext>
            </a:extLst>
          </p:cNvPr>
          <p:cNvSpPr>
            <a:spLocks noGrp="1"/>
          </p:cNvSpPr>
          <p:nvPr/>
        </p:nvSpPr>
        <p:spPr>
          <a:xfrm>
            <a:off x="10172700" y="4972050"/>
            <a:ext cx="1752600" cy="0"/>
          </a:xfrm>
          <a:prstGeom prst="line">
            <a:avLst/>
          </a:prstGeom>
          <a:noFill/>
          <a:ln w="9525">
            <a:solidFill>
              <a:srgbClr val="D8DEDA"/>
            </a:solidFill>
            <a:prstDash val="solid"/>
          </a:ln>
        </p:spPr>
        <p:txBody>
          <a:bodyPr/>
          <a:lstStyle/>
          <a:p>
            <a:endParaRPr lang="en-FR"/>
          </a:p>
        </p:txBody>
      </p:sp>
      <p:pic>
        <p:nvPicPr>
          <p:cNvPr id="226" name="Picture 225"/>
          <p:cNvPicPr>
            <a:picLocks noChangeAspect="1"/>
          </p:cNvPicPr>
          <p:nvPr/>
        </p:nvPicPr>
        <p:blipFill>
          <a:blip r:embed="rId28"/>
          <a:stretch/>
        </p:blipFill>
        <p:spPr>
          <a:xfrm>
            <a:off x="10163175" y="5172075"/>
            <a:ext cx="447675" cy="447675"/>
          </a:xfrm>
          <a:prstGeom prst="rect">
            <a:avLst/>
          </a:prstGeom>
        </p:spPr>
      </p:pic>
      <p:sp>
        <p:nvSpPr>
          <p:cNvPr id="111" name="Rectangle 110">
            <a:extLst>
              <a:ext uri="{FF2B5EF4-FFF2-40B4-BE49-F238E27FC236}">
                <a16:creationId xmlns:a16="http://schemas.microsoft.com/office/drawing/2014/main" id="{C193FF7F-1E8C-48E6-9EDA-B8309E99D0CA}"/>
              </a:ext>
            </a:extLst>
          </p:cNvPr>
          <p:cNvSpPr>
            <a:spLocks noGrp="1"/>
          </p:cNvSpPr>
          <p:nvPr/>
        </p:nvSpPr>
        <p:spPr>
          <a:xfrm>
            <a:off x="10706100" y="5181600"/>
            <a:ext cx="1219200" cy="152400"/>
          </a:xfrm>
          <a:prstGeom prst="rect">
            <a:avLst/>
          </a:prstGeom>
          <a:noFill/>
          <a:ln w="0">
            <a:noFill/>
            <a:prstDash val="solid"/>
          </a:ln>
        </p:spPr>
        <p:txBody>
          <a:bodyPr wrap="none" lIns="0" tIns="0" rIns="0" bIns="0" anchor="t"/>
          <a:lstStyle/>
          <a:p>
            <a:pPr algn="l">
              <a:lnSpc>
                <a:spcPct val="100000"/>
              </a:lnSpc>
              <a:buNone/>
              <a:defRPr sz="750" b="1" i="0">
                <a:solidFill>
                  <a:srgbClr val="003B25"/>
                </a:solidFill>
                <a:latin typeface="Arial"/>
                <a:ea typeface="Arial"/>
                <a:cs typeface="Arial"/>
              </a:defRPr>
            </a:pPr>
            <a:r>
              <a:rPr sz="750" b="1" i="0">
                <a:solidFill>
                  <a:srgbClr val="003B25"/>
                </a:solidFill>
                <a:latin typeface="Arial"/>
                <a:ea typeface="Arial"/>
                <a:cs typeface="Arial"/>
              </a:rPr>
              <a:t>Cost effective</a:t>
            </a:r>
          </a:p>
        </p:txBody>
      </p:sp>
      <p:sp>
        <p:nvSpPr>
          <p:cNvPr id="112" name="Rectangle 111">
            <a:extLst>
              <a:ext uri="{FF2B5EF4-FFF2-40B4-BE49-F238E27FC236}">
                <a16:creationId xmlns:a16="http://schemas.microsoft.com/office/drawing/2014/main" id="{D7203644-5C9D-47DD-B3CD-B6DE62E1813F}"/>
              </a:ext>
            </a:extLst>
          </p:cNvPr>
          <p:cNvSpPr>
            <a:spLocks noGrp="1"/>
          </p:cNvSpPr>
          <p:nvPr/>
        </p:nvSpPr>
        <p:spPr>
          <a:xfrm>
            <a:off x="10706100" y="5343525"/>
            <a:ext cx="1295400" cy="419100"/>
          </a:xfrm>
          <a:prstGeom prst="rect">
            <a:avLst/>
          </a:prstGeom>
          <a:noFill/>
          <a:ln w="0">
            <a:noFill/>
            <a:prstDash val="solid"/>
          </a:ln>
        </p:spPr>
        <p:txBody>
          <a:bodyPr wrap="square" lIns="0" tIns="0" rIns="0" bIns="0" anchor="t"/>
          <a:lstStyle/>
          <a:p>
            <a:pPr algn="l">
              <a:lnSpc>
                <a:spcPct val="110000"/>
              </a:lnSpc>
              <a:buNone/>
              <a:defRPr sz="653" b="0" i="0">
                <a:solidFill>
                  <a:srgbClr val="111111"/>
                </a:solidFill>
                <a:latin typeface="Arial"/>
                <a:ea typeface="Arial"/>
                <a:cs typeface="Arial"/>
              </a:defRPr>
            </a:pPr>
            <a:r>
              <a:rPr sz="653" b="0" i="0">
                <a:solidFill>
                  <a:srgbClr val="111111"/>
                </a:solidFill>
                <a:latin typeface="Arial"/>
                <a:ea typeface="Arial"/>
                <a:cs typeface="Arial"/>
              </a:rPr>
              <a:t>Pay for capacity only</a:t>
            </a:r>
          </a:p>
          <a:p>
            <a:pPr algn="l">
              <a:lnSpc>
                <a:spcPct val="110000"/>
              </a:lnSpc>
              <a:buNone/>
              <a:defRPr sz="653" b="0" i="0">
                <a:solidFill>
                  <a:srgbClr val="111111"/>
                </a:solidFill>
                <a:latin typeface="Arial"/>
                <a:ea typeface="Arial"/>
                <a:cs typeface="Arial"/>
              </a:defRPr>
            </a:pPr>
            <a:r>
              <a:rPr sz="653" b="0" i="0">
                <a:solidFill>
                  <a:srgbClr val="111111"/>
                </a:solidFill>
                <a:latin typeface="Arial"/>
                <a:ea typeface="Arial"/>
                <a:cs typeface="Arial"/>
              </a:rPr>
              <a:t>when you need it.</a:t>
            </a:r>
          </a:p>
        </p:txBody>
      </p:sp>
      <p:sp>
        <p:nvSpPr>
          <p:cNvPr id="113" name="Rounded Rectangle 112">
            <a:extLst>
              <a:ext uri="{FF2B5EF4-FFF2-40B4-BE49-F238E27FC236}">
                <a16:creationId xmlns:a16="http://schemas.microsoft.com/office/drawing/2014/main" id="{1F42245C-EE41-4BC5-B4DF-B62B4A980CFC}"/>
              </a:ext>
            </a:extLst>
          </p:cNvPr>
          <p:cNvSpPr>
            <a:spLocks noGrp="1"/>
          </p:cNvSpPr>
          <p:nvPr/>
        </p:nvSpPr>
        <p:spPr>
          <a:xfrm>
            <a:off x="333375" y="5905500"/>
            <a:ext cx="9363075" cy="685800"/>
          </a:xfrm>
          <a:prstGeom prst="roundRect">
            <a:avLst>
              <a:gd name="adj" fmla="val 9722"/>
            </a:avLst>
          </a:prstGeom>
          <a:gradFill>
            <a:gsLst>
              <a:gs pos="0">
                <a:srgbClr val="003B25"/>
              </a:gs>
              <a:gs pos="100000">
                <a:srgbClr val="06482D"/>
              </a:gs>
            </a:gsLst>
            <a:lin ang="5400000"/>
          </a:gradFill>
          <a:ln w="0">
            <a:noFill/>
            <a:prstDash val="solid"/>
          </a:ln>
        </p:spPr>
        <p:style>
          <a:lnRef idx="0">
            <a:scrgbClr r="0" g="0" b="0"/>
          </a:lnRef>
          <a:fillRef idx="0">
            <a:scrgbClr r="0" g="0" b="0"/>
          </a:fillRef>
          <a:effectRef idx="4">
            <a:scrgbClr r="0" g="0" b="0"/>
          </a:effectRef>
          <a:fontRef idx="major"/>
        </p:style>
        <p:txBody>
          <a:bodyPr/>
          <a:lstStyle/>
          <a:p>
            <a:endParaRPr lang="en-FR"/>
          </a:p>
        </p:txBody>
      </p:sp>
      <p:pic>
        <p:nvPicPr>
          <p:cNvPr id="230" name="Picture 229"/>
          <p:cNvPicPr>
            <a:picLocks noChangeAspect="1"/>
          </p:cNvPicPr>
          <p:nvPr/>
        </p:nvPicPr>
        <p:blipFill>
          <a:blip r:embed="rId29"/>
          <a:stretch/>
        </p:blipFill>
        <p:spPr>
          <a:xfrm>
            <a:off x="495300" y="5995829"/>
            <a:ext cx="552450" cy="543243"/>
          </a:xfrm>
          <a:prstGeom prst="rect">
            <a:avLst/>
          </a:prstGeom>
        </p:spPr>
      </p:pic>
      <p:sp>
        <p:nvSpPr>
          <p:cNvPr id="115" name="Rectangle 114">
            <a:extLst>
              <a:ext uri="{FF2B5EF4-FFF2-40B4-BE49-F238E27FC236}">
                <a16:creationId xmlns:a16="http://schemas.microsoft.com/office/drawing/2014/main" id="{CFC41103-AE2F-44DE-A1AC-42A27133954E}"/>
              </a:ext>
            </a:extLst>
          </p:cNvPr>
          <p:cNvSpPr>
            <a:spLocks noGrp="1"/>
          </p:cNvSpPr>
          <p:nvPr/>
        </p:nvSpPr>
        <p:spPr>
          <a:xfrm>
            <a:off x="1190625" y="6067425"/>
            <a:ext cx="7239000" cy="228600"/>
          </a:xfrm>
          <a:prstGeom prst="rect">
            <a:avLst/>
          </a:prstGeom>
          <a:noFill/>
          <a:ln w="0">
            <a:noFill/>
            <a:prstDash val="solid"/>
          </a:ln>
        </p:spPr>
        <p:txBody>
          <a:bodyPr wrap="none" lIns="0" tIns="0" rIns="0" bIns="0" anchor="t"/>
          <a:lstStyle/>
          <a:p>
            <a:pPr algn="l">
              <a:lnSpc>
                <a:spcPct val="100000"/>
              </a:lnSpc>
              <a:buNone/>
              <a:defRPr sz="1350" b="1" i="0">
                <a:solidFill>
                  <a:srgbClr val="FFFFFF"/>
                </a:solidFill>
                <a:latin typeface="Arial"/>
                <a:ea typeface="Arial"/>
                <a:cs typeface="Arial"/>
              </a:defRPr>
            </a:pPr>
            <a:r>
              <a:rPr sz="1350" b="1" i="0">
                <a:solidFill>
                  <a:srgbClr val="FFFFFF"/>
                </a:solidFill>
                <a:latin typeface="Arial"/>
                <a:ea typeface="Arial"/>
                <a:cs typeface="Arial"/>
              </a:rPr>
              <a:t>Schedule, test and execute your Disaster Recovery plan with confidence.</a:t>
            </a:r>
          </a:p>
        </p:txBody>
      </p:sp>
      <p:sp>
        <p:nvSpPr>
          <p:cNvPr id="116" name="Rectangle 115">
            <a:extLst>
              <a:ext uri="{FF2B5EF4-FFF2-40B4-BE49-F238E27FC236}">
                <a16:creationId xmlns:a16="http://schemas.microsoft.com/office/drawing/2014/main" id="{D7A1E564-4CE8-4E81-A177-2B960F586A9A}"/>
              </a:ext>
            </a:extLst>
          </p:cNvPr>
          <p:cNvSpPr>
            <a:spLocks noGrp="1"/>
          </p:cNvSpPr>
          <p:nvPr/>
        </p:nvSpPr>
        <p:spPr>
          <a:xfrm>
            <a:off x="1190625" y="6343650"/>
            <a:ext cx="6858000" cy="180975"/>
          </a:xfrm>
          <a:prstGeom prst="rect">
            <a:avLst/>
          </a:prstGeom>
          <a:noFill/>
          <a:ln w="0">
            <a:noFill/>
            <a:prstDash val="solid"/>
          </a:ln>
        </p:spPr>
        <p:txBody>
          <a:bodyPr wrap="none" lIns="0" tIns="0" rIns="0" bIns="0" anchor="t"/>
          <a:lstStyle/>
          <a:p>
            <a:pPr algn="l">
              <a:lnSpc>
                <a:spcPct val="100000"/>
              </a:lnSpc>
              <a:buNone/>
              <a:defRPr sz="1050" b="0" i="0">
                <a:solidFill>
                  <a:srgbClr val="FFFFFF"/>
                </a:solidFill>
                <a:latin typeface="Arial"/>
                <a:ea typeface="Arial"/>
                <a:cs typeface="Arial"/>
              </a:defRPr>
            </a:pPr>
            <a:r>
              <a:rPr sz="1050" b="0" i="0">
                <a:solidFill>
                  <a:srgbClr val="FFFFFF"/>
                </a:solidFill>
                <a:latin typeface="Arial"/>
                <a:ea typeface="Arial"/>
                <a:cs typeface="Arial"/>
              </a:rPr>
              <a:t>Move workloads on-demand and restore operations quickly when it matters most.</a:t>
            </a:r>
          </a:p>
        </p:txBody>
      </p:sp>
    </p:spTree>
    <p:extLst>
      <p:ext uri="{BB962C8B-B14F-4D97-AF65-F5344CB8AC3E}">
        <p14:creationId xmlns:p14="http://schemas.microsoft.com/office/powerpoint/2010/main" val="553220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9F7"/>
        </a:solidFill>
        <a:effectLst/>
      </p:bgPr>
    </p:bg>
    <p:spTree>
      <p:nvGrpSpPr>
        <p:cNvPr id="1" name=""/>
        <p:cNvGrpSpPr/>
        <p:nvPr/>
      </p:nvGrpSpPr>
      <p:grpSpPr>
        <a:xfrm>
          <a:off x="0" y="0"/>
          <a:ext cx="0" cy="0"/>
          <a:chOff x="0" y="0"/>
          <a:chExt cx="0" cy="0"/>
        </a:xfrm>
      </p:grpSpPr>
      <p:sp>
        <p:nvSpPr>
          <p:cNvPr id="51" name="Oval 50">
            <a:extLst>
              <a:ext uri="{FF2B5EF4-FFF2-40B4-BE49-F238E27FC236}">
                <a16:creationId xmlns:a16="http://schemas.microsoft.com/office/drawing/2014/main" id="{73A5942D-D23C-45E6-ACE1-2F77352B9317}"/>
              </a:ext>
            </a:extLst>
          </p:cNvPr>
          <p:cNvSpPr>
            <a:spLocks noGrp="1"/>
          </p:cNvSpPr>
          <p:nvPr/>
        </p:nvSpPr>
        <p:spPr>
          <a:xfrm>
            <a:off x="5133975" y="657225"/>
            <a:ext cx="38100" cy="38100"/>
          </a:xfrm>
          <a:prstGeom prst="ellipse">
            <a:avLst/>
          </a:prstGeom>
          <a:solidFill>
            <a:srgbClr val="E6E9E7"/>
          </a:solidFill>
          <a:ln w="0">
            <a:noFill/>
            <a:prstDash val="solid"/>
          </a:ln>
        </p:spPr>
        <p:txBody>
          <a:bodyPr/>
          <a:lstStyle/>
          <a:p>
            <a:endParaRPr lang="en-FR"/>
          </a:p>
        </p:txBody>
      </p:sp>
      <p:sp>
        <p:nvSpPr>
          <p:cNvPr id="2" name="Oval 1">
            <a:extLst>
              <a:ext uri="{FF2B5EF4-FFF2-40B4-BE49-F238E27FC236}">
                <a16:creationId xmlns:a16="http://schemas.microsoft.com/office/drawing/2014/main" id="{73088BEA-17DF-442D-9BC7-02155DD5C445}"/>
              </a:ext>
            </a:extLst>
          </p:cNvPr>
          <p:cNvSpPr>
            <a:spLocks noGrp="1"/>
          </p:cNvSpPr>
          <p:nvPr/>
        </p:nvSpPr>
        <p:spPr>
          <a:xfrm>
            <a:off x="6181725" y="685800"/>
            <a:ext cx="28575" cy="28575"/>
          </a:xfrm>
          <a:prstGeom prst="ellipse">
            <a:avLst/>
          </a:prstGeom>
          <a:solidFill>
            <a:srgbClr val="E6E9E7"/>
          </a:solidFill>
          <a:ln w="0">
            <a:noFill/>
            <a:prstDash val="solid"/>
          </a:ln>
        </p:spPr>
        <p:txBody>
          <a:bodyPr/>
          <a:lstStyle/>
          <a:p>
            <a:endParaRPr lang="en-FR"/>
          </a:p>
        </p:txBody>
      </p:sp>
      <p:sp>
        <p:nvSpPr>
          <p:cNvPr id="3" name="Oval 2">
            <a:extLst>
              <a:ext uri="{FF2B5EF4-FFF2-40B4-BE49-F238E27FC236}">
                <a16:creationId xmlns:a16="http://schemas.microsoft.com/office/drawing/2014/main" id="{FF40793F-68B7-4A09-857E-9B1E1E9D9BCF}"/>
              </a:ext>
            </a:extLst>
          </p:cNvPr>
          <p:cNvSpPr>
            <a:spLocks noGrp="1"/>
          </p:cNvSpPr>
          <p:nvPr/>
        </p:nvSpPr>
        <p:spPr>
          <a:xfrm>
            <a:off x="7239000" y="504825"/>
            <a:ext cx="57150" cy="57150"/>
          </a:xfrm>
          <a:prstGeom prst="ellipse">
            <a:avLst/>
          </a:prstGeom>
          <a:solidFill>
            <a:srgbClr val="E6E9E7"/>
          </a:solidFill>
          <a:ln w="0">
            <a:noFill/>
            <a:prstDash val="solid"/>
          </a:ln>
        </p:spPr>
        <p:txBody>
          <a:bodyPr/>
          <a:lstStyle/>
          <a:p>
            <a:endParaRPr lang="en-FR"/>
          </a:p>
        </p:txBody>
      </p:sp>
      <p:sp>
        <p:nvSpPr>
          <p:cNvPr id="4" name="Oval 3">
            <a:extLst>
              <a:ext uri="{FF2B5EF4-FFF2-40B4-BE49-F238E27FC236}">
                <a16:creationId xmlns:a16="http://schemas.microsoft.com/office/drawing/2014/main" id="{674B1F8E-B96D-4B16-B046-787E8702A629}"/>
              </a:ext>
            </a:extLst>
          </p:cNvPr>
          <p:cNvSpPr>
            <a:spLocks noGrp="1"/>
          </p:cNvSpPr>
          <p:nvPr/>
        </p:nvSpPr>
        <p:spPr>
          <a:xfrm>
            <a:off x="11010900" y="1123950"/>
            <a:ext cx="19050" cy="19050"/>
          </a:xfrm>
          <a:prstGeom prst="ellipse">
            <a:avLst/>
          </a:prstGeom>
          <a:solidFill>
            <a:srgbClr val="E6E9E7"/>
          </a:solidFill>
          <a:ln w="0">
            <a:noFill/>
            <a:prstDash val="solid"/>
          </a:ln>
        </p:spPr>
        <p:txBody>
          <a:bodyPr/>
          <a:lstStyle/>
          <a:p>
            <a:endParaRPr lang="en-FR"/>
          </a:p>
        </p:txBody>
      </p:sp>
      <p:sp>
        <p:nvSpPr>
          <p:cNvPr id="5" name="Oval 4">
            <a:extLst>
              <a:ext uri="{FF2B5EF4-FFF2-40B4-BE49-F238E27FC236}">
                <a16:creationId xmlns:a16="http://schemas.microsoft.com/office/drawing/2014/main" id="{ECE320BA-C63B-4BBF-94C5-92BE5192DC61}"/>
              </a:ext>
            </a:extLst>
          </p:cNvPr>
          <p:cNvSpPr>
            <a:spLocks noGrp="1"/>
          </p:cNvSpPr>
          <p:nvPr/>
        </p:nvSpPr>
        <p:spPr>
          <a:xfrm>
            <a:off x="9220200" y="1581150"/>
            <a:ext cx="38100" cy="38100"/>
          </a:xfrm>
          <a:prstGeom prst="ellipse">
            <a:avLst/>
          </a:prstGeom>
          <a:solidFill>
            <a:srgbClr val="E6E9E7"/>
          </a:solidFill>
          <a:ln w="0">
            <a:noFill/>
            <a:prstDash val="solid"/>
          </a:ln>
        </p:spPr>
        <p:txBody>
          <a:bodyPr/>
          <a:lstStyle/>
          <a:p>
            <a:endParaRPr lang="en-FR"/>
          </a:p>
        </p:txBody>
      </p:sp>
      <p:sp>
        <p:nvSpPr>
          <p:cNvPr id="6" name="Oval 5">
            <a:extLst>
              <a:ext uri="{FF2B5EF4-FFF2-40B4-BE49-F238E27FC236}">
                <a16:creationId xmlns:a16="http://schemas.microsoft.com/office/drawing/2014/main" id="{AF232F3B-1324-4364-BD60-137FAF1990F8}"/>
              </a:ext>
            </a:extLst>
          </p:cNvPr>
          <p:cNvSpPr>
            <a:spLocks noGrp="1"/>
          </p:cNvSpPr>
          <p:nvPr/>
        </p:nvSpPr>
        <p:spPr>
          <a:xfrm>
            <a:off x="11410950" y="1647825"/>
            <a:ext cx="28575" cy="28575"/>
          </a:xfrm>
          <a:prstGeom prst="ellipse">
            <a:avLst/>
          </a:prstGeom>
          <a:solidFill>
            <a:srgbClr val="E6E9E7"/>
          </a:solidFill>
          <a:ln w="0">
            <a:noFill/>
            <a:prstDash val="solid"/>
          </a:ln>
        </p:spPr>
        <p:txBody>
          <a:bodyPr/>
          <a:lstStyle/>
          <a:p>
            <a:endParaRPr lang="en-FR"/>
          </a:p>
        </p:txBody>
      </p:sp>
      <p:sp>
        <p:nvSpPr>
          <p:cNvPr id="7" name="Oval 6">
            <a:extLst>
              <a:ext uri="{FF2B5EF4-FFF2-40B4-BE49-F238E27FC236}">
                <a16:creationId xmlns:a16="http://schemas.microsoft.com/office/drawing/2014/main" id="{12DA0ADF-18D5-4143-BAFB-C1D4E0322D43}"/>
              </a:ext>
            </a:extLst>
          </p:cNvPr>
          <p:cNvSpPr>
            <a:spLocks noGrp="1"/>
          </p:cNvSpPr>
          <p:nvPr/>
        </p:nvSpPr>
        <p:spPr>
          <a:xfrm>
            <a:off x="9982200" y="3000375"/>
            <a:ext cx="28575" cy="28575"/>
          </a:xfrm>
          <a:prstGeom prst="ellipse">
            <a:avLst/>
          </a:prstGeom>
          <a:solidFill>
            <a:srgbClr val="E6E9E7"/>
          </a:solidFill>
          <a:ln w="0">
            <a:noFill/>
            <a:prstDash val="solid"/>
          </a:ln>
        </p:spPr>
        <p:txBody>
          <a:bodyPr/>
          <a:lstStyle/>
          <a:p>
            <a:endParaRPr lang="en-FR"/>
          </a:p>
        </p:txBody>
      </p:sp>
      <p:sp>
        <p:nvSpPr>
          <p:cNvPr id="8" name="Oval 7">
            <a:extLst>
              <a:ext uri="{FF2B5EF4-FFF2-40B4-BE49-F238E27FC236}">
                <a16:creationId xmlns:a16="http://schemas.microsoft.com/office/drawing/2014/main" id="{8EF1F3FD-6495-4F9F-8163-4CEB685C76C1}"/>
              </a:ext>
            </a:extLst>
          </p:cNvPr>
          <p:cNvSpPr>
            <a:spLocks noGrp="1"/>
          </p:cNvSpPr>
          <p:nvPr/>
        </p:nvSpPr>
        <p:spPr>
          <a:xfrm>
            <a:off x="9344025" y="4781550"/>
            <a:ext cx="47625" cy="47625"/>
          </a:xfrm>
          <a:prstGeom prst="ellipse">
            <a:avLst/>
          </a:prstGeom>
          <a:solidFill>
            <a:srgbClr val="E6E9E7"/>
          </a:solidFill>
          <a:ln w="0">
            <a:noFill/>
            <a:prstDash val="solid"/>
          </a:ln>
        </p:spPr>
        <p:txBody>
          <a:bodyPr/>
          <a:lstStyle/>
          <a:p>
            <a:endParaRPr lang="en-FR"/>
          </a:p>
        </p:txBody>
      </p:sp>
      <p:sp>
        <p:nvSpPr>
          <p:cNvPr id="9" name="Oval 8">
            <a:extLst>
              <a:ext uri="{FF2B5EF4-FFF2-40B4-BE49-F238E27FC236}">
                <a16:creationId xmlns:a16="http://schemas.microsoft.com/office/drawing/2014/main" id="{B3A8DECC-6222-4521-82D5-B349CA05389D}"/>
              </a:ext>
            </a:extLst>
          </p:cNvPr>
          <p:cNvSpPr>
            <a:spLocks noGrp="1"/>
          </p:cNvSpPr>
          <p:nvPr/>
        </p:nvSpPr>
        <p:spPr>
          <a:xfrm>
            <a:off x="11658600" y="5848350"/>
            <a:ext cx="38100" cy="38100"/>
          </a:xfrm>
          <a:prstGeom prst="ellipse">
            <a:avLst/>
          </a:prstGeom>
          <a:solidFill>
            <a:srgbClr val="E6E9E7"/>
          </a:solidFill>
          <a:ln w="0">
            <a:noFill/>
            <a:prstDash val="solid"/>
          </a:ln>
        </p:spPr>
        <p:txBody>
          <a:bodyPr/>
          <a:lstStyle/>
          <a:p>
            <a:endParaRPr lang="en-FR"/>
          </a:p>
        </p:txBody>
      </p:sp>
      <p:pic>
        <p:nvPicPr>
          <p:cNvPr id="61" name="Picture 60"/>
          <p:cNvPicPr>
            <a:picLocks noChangeAspect="1"/>
          </p:cNvPicPr>
          <p:nvPr/>
        </p:nvPicPr>
        <p:blipFill>
          <a:blip r:embed="rId3"/>
          <a:stretch/>
        </p:blipFill>
        <p:spPr>
          <a:xfrm>
            <a:off x="361950" y="357187"/>
            <a:ext cx="1927741" cy="600075"/>
          </a:xfrm>
          <a:prstGeom prst="rect">
            <a:avLst/>
          </a:prstGeom>
        </p:spPr>
      </p:pic>
      <p:sp>
        <p:nvSpPr>
          <p:cNvPr id="12" name="Rectangle 11">
            <a:extLst>
              <a:ext uri="{FF2B5EF4-FFF2-40B4-BE49-F238E27FC236}">
                <a16:creationId xmlns:a16="http://schemas.microsoft.com/office/drawing/2014/main" id="{181FA5E6-65B3-42DA-A23A-AE93E6720CB2}"/>
              </a:ext>
            </a:extLst>
          </p:cNvPr>
          <p:cNvSpPr>
            <a:spLocks noGrp="1"/>
          </p:cNvSpPr>
          <p:nvPr/>
        </p:nvSpPr>
        <p:spPr>
          <a:xfrm>
            <a:off x="361950" y="1133475"/>
            <a:ext cx="6286500" cy="523875"/>
          </a:xfrm>
          <a:prstGeom prst="rect">
            <a:avLst/>
          </a:prstGeom>
          <a:noFill/>
          <a:ln w="0">
            <a:noFill/>
            <a:prstDash val="solid"/>
          </a:ln>
        </p:spPr>
        <p:txBody>
          <a:bodyPr wrap="none" lIns="0" tIns="0" rIns="0" bIns="0" anchor="t"/>
          <a:lstStyle/>
          <a:p>
            <a:pPr algn="l">
              <a:lnSpc>
                <a:spcPct val="100000"/>
              </a:lnSpc>
              <a:buNone/>
              <a:defRPr sz="3150" b="1" i="0">
                <a:solidFill>
                  <a:srgbClr val="003B25"/>
                </a:solidFill>
                <a:latin typeface="Arial"/>
                <a:ea typeface="Arial"/>
                <a:cs typeface="Arial"/>
              </a:defRPr>
            </a:pPr>
            <a:r>
              <a:rPr sz="3150" b="1" i="0">
                <a:solidFill>
                  <a:srgbClr val="003B25"/>
                </a:solidFill>
                <a:latin typeface="Arial"/>
                <a:ea typeface="Arial"/>
                <a:cs typeface="Arial"/>
              </a:rPr>
              <a:t>Assumptions &amp; Methodology</a:t>
            </a:r>
          </a:p>
        </p:txBody>
      </p:sp>
      <p:sp>
        <p:nvSpPr>
          <p:cNvPr id="13" name="Rectangle 12">
            <a:extLst>
              <a:ext uri="{FF2B5EF4-FFF2-40B4-BE49-F238E27FC236}">
                <a16:creationId xmlns:a16="http://schemas.microsoft.com/office/drawing/2014/main" id="{B629860D-8183-4AA2-8F53-EEB151589651}"/>
              </a:ext>
            </a:extLst>
          </p:cNvPr>
          <p:cNvSpPr>
            <a:spLocks noGrp="1"/>
          </p:cNvSpPr>
          <p:nvPr/>
        </p:nvSpPr>
        <p:spPr>
          <a:xfrm>
            <a:off x="371475" y="1676400"/>
            <a:ext cx="381000" cy="38100"/>
          </a:xfrm>
          <a:prstGeom prst="rect">
            <a:avLst/>
          </a:prstGeom>
          <a:solidFill>
            <a:srgbClr val="F00000"/>
          </a:solidFill>
          <a:ln w="0">
            <a:noFill/>
            <a:prstDash val="solid"/>
          </a:ln>
        </p:spPr>
        <p:txBody>
          <a:bodyPr/>
          <a:lstStyle/>
          <a:p>
            <a:endParaRPr lang="en-FR"/>
          </a:p>
        </p:txBody>
      </p:sp>
      <p:sp>
        <p:nvSpPr>
          <p:cNvPr id="14" name="Rectangle 13">
            <a:extLst>
              <a:ext uri="{FF2B5EF4-FFF2-40B4-BE49-F238E27FC236}">
                <a16:creationId xmlns:a16="http://schemas.microsoft.com/office/drawing/2014/main" id="{3E173982-393B-42AC-A28E-FA0B0948FCC0}"/>
              </a:ext>
            </a:extLst>
          </p:cNvPr>
          <p:cNvSpPr>
            <a:spLocks noGrp="1"/>
          </p:cNvSpPr>
          <p:nvPr/>
        </p:nvSpPr>
        <p:spPr>
          <a:xfrm>
            <a:off x="390525" y="1838325"/>
            <a:ext cx="6096000" cy="457200"/>
          </a:xfrm>
          <a:prstGeom prst="rect">
            <a:avLst/>
          </a:prstGeom>
          <a:noFill/>
          <a:ln w="0">
            <a:noFill/>
            <a:prstDash val="solid"/>
          </a:ln>
        </p:spPr>
        <p:txBody>
          <a:bodyPr wrap="square" lIns="0" tIns="0" rIns="0" bIns="0" anchor="t"/>
          <a:lstStyle/>
          <a:p>
            <a:pPr algn="l">
              <a:lnSpc>
                <a:spcPct val="115000"/>
              </a:lnSpc>
              <a:buNone/>
              <a:defRPr sz="1200" b="0" i="0">
                <a:solidFill>
                  <a:srgbClr val="111111"/>
                </a:solidFill>
                <a:latin typeface="Arial"/>
                <a:ea typeface="Arial"/>
                <a:cs typeface="Arial"/>
              </a:defRPr>
            </a:pPr>
            <a:r>
              <a:rPr sz="1200" b="0" i="0">
                <a:solidFill>
                  <a:srgbClr val="111111"/>
                </a:solidFill>
                <a:latin typeface="Arial"/>
                <a:ea typeface="Arial"/>
                <a:cs typeface="Arial"/>
              </a:rPr>
              <a:t>The proposed sizing is based on the information provided by the customer</a:t>
            </a:r>
          </a:p>
          <a:p>
            <a:pPr algn="l">
              <a:lnSpc>
                <a:spcPct val="115000"/>
              </a:lnSpc>
              <a:buNone/>
              <a:defRPr sz="1200" b="0" i="0">
                <a:solidFill>
                  <a:srgbClr val="111111"/>
                </a:solidFill>
                <a:latin typeface="Arial"/>
                <a:ea typeface="Arial"/>
                <a:cs typeface="Arial"/>
              </a:defRPr>
            </a:pPr>
            <a:r>
              <a:rPr sz="1200" b="0" i="0">
                <a:solidFill>
                  <a:srgbClr val="111111"/>
                </a:solidFill>
                <a:latin typeface="Arial"/>
                <a:ea typeface="Arial"/>
                <a:cs typeface="Arial"/>
              </a:rPr>
              <a:t>and the following assumptions and methodology.</a:t>
            </a:r>
          </a:p>
        </p:txBody>
      </p:sp>
      <p:sp>
        <p:nvSpPr>
          <p:cNvPr id="15" name="Rounded Rectangle 14">
            <a:extLst>
              <a:ext uri="{FF2B5EF4-FFF2-40B4-BE49-F238E27FC236}">
                <a16:creationId xmlns:a16="http://schemas.microsoft.com/office/drawing/2014/main" id="{D05FD567-6830-4B7C-A6B4-1C17F3F5C538}"/>
              </a:ext>
            </a:extLst>
          </p:cNvPr>
          <p:cNvSpPr>
            <a:spLocks noGrp="1"/>
          </p:cNvSpPr>
          <p:nvPr/>
        </p:nvSpPr>
        <p:spPr>
          <a:xfrm>
            <a:off x="381000" y="2343150"/>
            <a:ext cx="7391400" cy="3676650"/>
          </a:xfrm>
          <a:prstGeom prst="roundRect">
            <a:avLst>
              <a:gd name="adj" fmla="val 1813"/>
            </a:avLst>
          </a:prstGeom>
          <a:solidFill>
            <a:srgbClr val="FFFFFF"/>
          </a:solidFill>
          <a:ln w="9525">
            <a:solidFill>
              <a:srgbClr val="CED6D1"/>
            </a:solidFill>
            <a:prstDash val="solid"/>
          </a:ln>
        </p:spPr>
        <p:style>
          <a:lnRef idx="0">
            <a:scrgbClr r="0" g="0" b="0"/>
          </a:lnRef>
          <a:fillRef idx="0">
            <a:scrgbClr r="0" g="0" b="0"/>
          </a:fillRef>
          <a:effectRef idx="4">
            <a:scrgbClr r="0" g="0" b="0"/>
          </a:effectRef>
          <a:fontRef idx="major"/>
        </p:style>
        <p:txBody>
          <a:bodyPr/>
          <a:lstStyle/>
          <a:p>
            <a:endParaRPr lang="en-FR"/>
          </a:p>
        </p:txBody>
      </p:sp>
      <p:sp>
        <p:nvSpPr>
          <p:cNvPr id="16" name="Rounded Rectangle 15">
            <a:extLst>
              <a:ext uri="{FF2B5EF4-FFF2-40B4-BE49-F238E27FC236}">
                <a16:creationId xmlns:a16="http://schemas.microsoft.com/office/drawing/2014/main" id="{7E7120EA-B371-422A-9F44-F023B4B89BD2}"/>
              </a:ext>
            </a:extLst>
          </p:cNvPr>
          <p:cNvSpPr>
            <a:spLocks noGrp="1"/>
          </p:cNvSpPr>
          <p:nvPr/>
        </p:nvSpPr>
        <p:spPr>
          <a:xfrm>
            <a:off x="381000" y="2343150"/>
            <a:ext cx="7391400" cy="361950"/>
          </a:xfrm>
          <a:prstGeom prst="roundRect">
            <a:avLst>
              <a:gd name="adj" fmla="val 18421"/>
            </a:avLst>
          </a:prstGeom>
          <a:gradFill>
            <a:gsLst>
              <a:gs pos="0">
                <a:srgbClr val="00351F"/>
              </a:gs>
              <a:gs pos="100000">
                <a:srgbClr val="075431"/>
              </a:gs>
            </a:gsLst>
            <a:lin ang="0"/>
          </a:gradFill>
          <a:ln w="0">
            <a:noFill/>
            <a:prstDash val="solid"/>
          </a:ln>
        </p:spPr>
        <p:txBody>
          <a:bodyPr/>
          <a:lstStyle/>
          <a:p>
            <a:endParaRPr lang="en-FR"/>
          </a:p>
        </p:txBody>
      </p:sp>
      <p:pic>
        <p:nvPicPr>
          <p:cNvPr id="67" name="Picture 66"/>
          <p:cNvPicPr>
            <a:picLocks noChangeAspect="1"/>
          </p:cNvPicPr>
          <p:nvPr/>
        </p:nvPicPr>
        <p:blipFill>
          <a:blip r:embed="rId4"/>
          <a:stretch/>
        </p:blipFill>
        <p:spPr>
          <a:xfrm>
            <a:off x="617492" y="2390775"/>
            <a:ext cx="260441" cy="276225"/>
          </a:xfrm>
          <a:prstGeom prst="rect">
            <a:avLst/>
          </a:prstGeom>
        </p:spPr>
      </p:pic>
      <p:sp>
        <p:nvSpPr>
          <p:cNvPr id="18" name="Rectangle 17">
            <a:extLst>
              <a:ext uri="{FF2B5EF4-FFF2-40B4-BE49-F238E27FC236}">
                <a16:creationId xmlns:a16="http://schemas.microsoft.com/office/drawing/2014/main" id="{E91505E6-4E87-4F2F-9412-FA897C3D79C8}"/>
              </a:ext>
            </a:extLst>
          </p:cNvPr>
          <p:cNvSpPr>
            <a:spLocks noGrp="1"/>
          </p:cNvSpPr>
          <p:nvPr/>
        </p:nvSpPr>
        <p:spPr>
          <a:xfrm>
            <a:off x="1019175" y="2438400"/>
            <a:ext cx="2095500" cy="209550"/>
          </a:xfrm>
          <a:prstGeom prst="rect">
            <a:avLst/>
          </a:prstGeom>
          <a:noFill/>
          <a:ln w="0">
            <a:noFill/>
            <a:prstDash val="solid"/>
          </a:ln>
        </p:spPr>
        <p:txBody>
          <a:bodyPr wrap="none" lIns="0" tIns="0" rIns="0" bIns="0" anchor="t"/>
          <a:lstStyle/>
          <a:p>
            <a:pPr algn="l">
              <a:lnSpc>
                <a:spcPct val="100000"/>
              </a:lnSpc>
              <a:buNone/>
              <a:defRPr sz="1200" b="1" i="0">
                <a:solidFill>
                  <a:srgbClr val="FFFFFF"/>
                </a:solidFill>
                <a:latin typeface="Arial"/>
                <a:ea typeface="Arial"/>
                <a:cs typeface="Arial"/>
              </a:defRPr>
            </a:pPr>
            <a:r>
              <a:rPr sz="1200" b="1" i="0">
                <a:solidFill>
                  <a:srgbClr val="FFFFFF"/>
                </a:solidFill>
                <a:latin typeface="Arial"/>
                <a:ea typeface="Arial"/>
                <a:cs typeface="Arial"/>
              </a:rPr>
              <a:t>Sizing Methodology</a:t>
            </a:r>
          </a:p>
        </p:txBody>
      </p:sp>
      <p:pic>
        <p:nvPicPr>
          <p:cNvPr id="69" name="Picture 68"/>
          <p:cNvPicPr>
            <a:picLocks noChangeAspect="1"/>
          </p:cNvPicPr>
          <p:nvPr/>
        </p:nvPicPr>
        <p:blipFill>
          <a:blip r:embed="rId5"/>
          <a:stretch/>
        </p:blipFill>
        <p:spPr>
          <a:xfrm>
            <a:off x="600075" y="2779303"/>
            <a:ext cx="466725" cy="451669"/>
          </a:xfrm>
          <a:prstGeom prst="rect">
            <a:avLst/>
          </a:prstGeom>
        </p:spPr>
      </p:pic>
      <p:sp>
        <p:nvSpPr>
          <p:cNvPr id="20" name="Rectangle 19">
            <a:extLst>
              <a:ext uri="{FF2B5EF4-FFF2-40B4-BE49-F238E27FC236}">
                <a16:creationId xmlns:a16="http://schemas.microsoft.com/office/drawing/2014/main" id="{42908386-5A93-4A58-A462-83A24A156EB4}"/>
              </a:ext>
            </a:extLst>
          </p:cNvPr>
          <p:cNvSpPr>
            <a:spLocks noGrp="1"/>
          </p:cNvSpPr>
          <p:nvPr/>
        </p:nvSpPr>
        <p:spPr>
          <a:xfrm>
            <a:off x="1333500" y="2914650"/>
            <a:ext cx="2047875" cy="209550"/>
          </a:xfrm>
          <a:prstGeom prst="rect">
            <a:avLst/>
          </a:prstGeom>
          <a:noFill/>
          <a:ln w="0">
            <a:noFill/>
            <a:prstDash val="solid"/>
          </a:ln>
        </p:spPr>
        <p:txBody>
          <a:bodyPr wrap="none" lIns="0" tIns="0" rIns="0" bIns="0" anchor="t"/>
          <a:lstStyle/>
          <a:p>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Data Source</a:t>
            </a:r>
          </a:p>
        </p:txBody>
      </p:sp>
      <p:sp>
        <p:nvSpPr>
          <p:cNvPr id="21" name="Straight Connector 20">
            <a:extLst>
              <a:ext uri="{FF2B5EF4-FFF2-40B4-BE49-F238E27FC236}">
                <a16:creationId xmlns:a16="http://schemas.microsoft.com/office/drawing/2014/main" id="{74A58121-1B16-4F12-92B5-F259AF492CB0}"/>
              </a:ext>
            </a:extLst>
          </p:cNvPr>
          <p:cNvSpPr>
            <a:spLocks noGrp="1"/>
          </p:cNvSpPr>
          <p:nvPr/>
        </p:nvSpPr>
        <p:spPr>
          <a:xfrm>
            <a:off x="3333750" y="2828925"/>
            <a:ext cx="0" cy="314325"/>
          </a:xfrm>
          <a:prstGeom prst="line">
            <a:avLst/>
          </a:prstGeom>
          <a:noFill/>
          <a:ln w="9525">
            <a:solidFill>
              <a:srgbClr val="CBD2CE"/>
            </a:solidFill>
            <a:prstDash val="solid"/>
          </a:ln>
        </p:spPr>
        <p:txBody>
          <a:bodyPr/>
          <a:lstStyle/>
          <a:p>
            <a:endParaRPr lang="en-FR"/>
          </a:p>
        </p:txBody>
      </p:sp>
      <p:sp>
        <p:nvSpPr>
          <p:cNvPr id="22" name="Rectangle 21">
            <a:extLst>
              <a:ext uri="{FF2B5EF4-FFF2-40B4-BE49-F238E27FC236}">
                <a16:creationId xmlns:a16="http://schemas.microsoft.com/office/drawing/2014/main" id="{71D931CB-6DBE-4D20-B729-98885198EFAC}"/>
              </a:ext>
            </a:extLst>
          </p:cNvPr>
          <p:cNvSpPr>
            <a:spLocks noGrp="1"/>
          </p:cNvSpPr>
          <p:nvPr/>
        </p:nvSpPr>
        <p:spPr>
          <a:xfrm>
            <a:off x="3676650" y="2828925"/>
            <a:ext cx="3714750" cy="400050"/>
          </a:xfrm>
          <a:prstGeom prst="rect">
            <a:avLst/>
          </a:prstGeom>
          <a:noFill/>
          <a:ln w="0">
            <a:noFill/>
            <a:prstDash val="solid"/>
          </a:ln>
        </p:spPr>
        <p:txBody>
          <a:bodyPr wrap="square" lIns="0" tIns="0" rIns="0" bIns="0" anchor="t"/>
          <a:lstStyle/>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RVTools export provided by the customer</a:t>
            </a:r>
          </a:p>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(Analysis Date: May 08, 2025)</a:t>
            </a:r>
          </a:p>
        </p:txBody>
      </p:sp>
      <p:sp>
        <p:nvSpPr>
          <p:cNvPr id="23" name="Straight Connector 22">
            <a:extLst>
              <a:ext uri="{FF2B5EF4-FFF2-40B4-BE49-F238E27FC236}">
                <a16:creationId xmlns:a16="http://schemas.microsoft.com/office/drawing/2014/main" id="{23397379-0F76-4614-83F5-A13601AE9797}"/>
              </a:ext>
            </a:extLst>
          </p:cNvPr>
          <p:cNvSpPr>
            <a:spLocks noGrp="1"/>
          </p:cNvSpPr>
          <p:nvPr/>
        </p:nvSpPr>
        <p:spPr>
          <a:xfrm>
            <a:off x="600075" y="3264218"/>
            <a:ext cx="6981825" cy="0"/>
          </a:xfrm>
          <a:prstGeom prst="line">
            <a:avLst/>
          </a:prstGeom>
          <a:noFill/>
          <a:ln w="9525">
            <a:solidFill>
              <a:srgbClr val="DDE2DE"/>
            </a:solidFill>
            <a:prstDash val="solid"/>
          </a:ln>
        </p:spPr>
        <p:txBody>
          <a:bodyPr/>
          <a:lstStyle/>
          <a:p>
            <a:endParaRPr lang="en-FR"/>
          </a:p>
        </p:txBody>
      </p:sp>
      <p:pic>
        <p:nvPicPr>
          <p:cNvPr id="74" name="Picture 73"/>
          <p:cNvPicPr>
            <a:picLocks noChangeAspect="1"/>
          </p:cNvPicPr>
          <p:nvPr/>
        </p:nvPicPr>
        <p:blipFill>
          <a:blip r:embed="rId6"/>
          <a:stretch/>
        </p:blipFill>
        <p:spPr>
          <a:xfrm>
            <a:off x="600075" y="3309845"/>
            <a:ext cx="466725" cy="451669"/>
          </a:xfrm>
          <a:prstGeom prst="rect">
            <a:avLst/>
          </a:prstGeom>
        </p:spPr>
      </p:pic>
      <p:sp>
        <p:nvSpPr>
          <p:cNvPr id="25" name="Rectangle 24">
            <a:extLst>
              <a:ext uri="{FF2B5EF4-FFF2-40B4-BE49-F238E27FC236}">
                <a16:creationId xmlns:a16="http://schemas.microsoft.com/office/drawing/2014/main" id="{DE8908F2-D896-472D-AF70-B94F25AE6292}"/>
              </a:ext>
            </a:extLst>
          </p:cNvPr>
          <p:cNvSpPr>
            <a:spLocks noGrp="1"/>
          </p:cNvSpPr>
          <p:nvPr/>
        </p:nvSpPr>
        <p:spPr>
          <a:xfrm>
            <a:off x="1333500" y="3445193"/>
            <a:ext cx="2047875" cy="209550"/>
          </a:xfrm>
          <a:prstGeom prst="rect">
            <a:avLst/>
          </a:prstGeom>
          <a:noFill/>
          <a:ln w="0">
            <a:noFill/>
            <a:prstDash val="solid"/>
          </a:ln>
        </p:spPr>
        <p:txBody>
          <a:bodyPr wrap="none" lIns="0" tIns="0" rIns="0" bIns="0" anchor="t"/>
          <a:lstStyle/>
          <a:p>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Sizing Approach</a:t>
            </a:r>
          </a:p>
        </p:txBody>
      </p:sp>
      <p:sp>
        <p:nvSpPr>
          <p:cNvPr id="26" name="Straight Connector 25">
            <a:extLst>
              <a:ext uri="{FF2B5EF4-FFF2-40B4-BE49-F238E27FC236}">
                <a16:creationId xmlns:a16="http://schemas.microsoft.com/office/drawing/2014/main" id="{CFDEC23A-6F66-49D5-87D3-62C87F39D16D}"/>
              </a:ext>
            </a:extLst>
          </p:cNvPr>
          <p:cNvSpPr>
            <a:spLocks noGrp="1"/>
          </p:cNvSpPr>
          <p:nvPr/>
        </p:nvSpPr>
        <p:spPr>
          <a:xfrm>
            <a:off x="3333750" y="3359468"/>
            <a:ext cx="0" cy="314325"/>
          </a:xfrm>
          <a:prstGeom prst="line">
            <a:avLst/>
          </a:prstGeom>
          <a:noFill/>
          <a:ln w="9525">
            <a:solidFill>
              <a:srgbClr val="CBD2CE"/>
            </a:solidFill>
            <a:prstDash val="solid"/>
          </a:ln>
        </p:spPr>
        <p:txBody>
          <a:bodyPr/>
          <a:lstStyle/>
          <a:p>
            <a:endParaRPr lang="en-FR"/>
          </a:p>
        </p:txBody>
      </p:sp>
      <p:sp>
        <p:nvSpPr>
          <p:cNvPr id="27" name="Rectangle 26">
            <a:extLst>
              <a:ext uri="{FF2B5EF4-FFF2-40B4-BE49-F238E27FC236}">
                <a16:creationId xmlns:a16="http://schemas.microsoft.com/office/drawing/2014/main" id="{0ECE9441-9ABA-4D86-B0D0-CA3DF1A3EB96}"/>
              </a:ext>
            </a:extLst>
          </p:cNvPr>
          <p:cNvSpPr>
            <a:spLocks noGrp="1"/>
          </p:cNvSpPr>
          <p:nvPr/>
        </p:nvSpPr>
        <p:spPr>
          <a:xfrm>
            <a:off x="3676650" y="3359468"/>
            <a:ext cx="3714750" cy="400050"/>
          </a:xfrm>
          <a:prstGeom prst="rect">
            <a:avLst/>
          </a:prstGeom>
          <a:noFill/>
          <a:ln w="0">
            <a:noFill/>
            <a:prstDash val="solid"/>
          </a:ln>
        </p:spPr>
        <p:txBody>
          <a:bodyPr wrap="square" lIns="0" tIns="0" rIns="0" bIns="0" anchor="t"/>
          <a:lstStyle/>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Capacity based on current utilization</a:t>
            </a:r>
          </a:p>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and projected growth</a:t>
            </a:r>
          </a:p>
        </p:txBody>
      </p:sp>
      <p:sp>
        <p:nvSpPr>
          <p:cNvPr id="28" name="Straight Connector 27">
            <a:extLst>
              <a:ext uri="{FF2B5EF4-FFF2-40B4-BE49-F238E27FC236}">
                <a16:creationId xmlns:a16="http://schemas.microsoft.com/office/drawing/2014/main" id="{45CE46C6-B9C0-4849-A834-96BE06538FA8}"/>
              </a:ext>
            </a:extLst>
          </p:cNvPr>
          <p:cNvSpPr>
            <a:spLocks noGrp="1"/>
          </p:cNvSpPr>
          <p:nvPr/>
        </p:nvSpPr>
        <p:spPr>
          <a:xfrm>
            <a:off x="600075" y="3794760"/>
            <a:ext cx="6981825" cy="0"/>
          </a:xfrm>
          <a:prstGeom prst="line">
            <a:avLst/>
          </a:prstGeom>
          <a:noFill/>
          <a:ln w="9525">
            <a:solidFill>
              <a:srgbClr val="DDE2DE"/>
            </a:solidFill>
            <a:prstDash val="solid"/>
          </a:ln>
        </p:spPr>
        <p:txBody>
          <a:bodyPr/>
          <a:lstStyle/>
          <a:p>
            <a:endParaRPr lang="en-FR"/>
          </a:p>
        </p:txBody>
      </p:sp>
      <p:pic>
        <p:nvPicPr>
          <p:cNvPr id="79" name="Picture 78"/>
          <p:cNvPicPr>
            <a:picLocks noChangeAspect="1"/>
          </p:cNvPicPr>
          <p:nvPr/>
        </p:nvPicPr>
        <p:blipFill>
          <a:blip r:embed="rId7"/>
          <a:stretch/>
        </p:blipFill>
        <p:spPr>
          <a:xfrm>
            <a:off x="600075" y="3836686"/>
            <a:ext cx="466725" cy="459074"/>
          </a:xfrm>
          <a:prstGeom prst="rect">
            <a:avLst/>
          </a:prstGeom>
        </p:spPr>
      </p:pic>
      <p:sp>
        <p:nvSpPr>
          <p:cNvPr id="30" name="Rectangle 29">
            <a:extLst>
              <a:ext uri="{FF2B5EF4-FFF2-40B4-BE49-F238E27FC236}">
                <a16:creationId xmlns:a16="http://schemas.microsoft.com/office/drawing/2014/main" id="{78085D01-F2D9-4FF8-AFE8-59DAD7CB0343}"/>
              </a:ext>
            </a:extLst>
          </p:cNvPr>
          <p:cNvSpPr>
            <a:spLocks noGrp="1"/>
          </p:cNvSpPr>
          <p:nvPr/>
        </p:nvSpPr>
        <p:spPr>
          <a:xfrm>
            <a:off x="1333500" y="3975735"/>
            <a:ext cx="2047875" cy="209550"/>
          </a:xfrm>
          <a:prstGeom prst="rect">
            <a:avLst/>
          </a:prstGeom>
          <a:noFill/>
          <a:ln w="0">
            <a:noFill/>
            <a:prstDash val="solid"/>
          </a:ln>
        </p:spPr>
        <p:txBody>
          <a:bodyPr wrap="none" lIns="0" tIns="0" rIns="0" bIns="0" anchor="t"/>
          <a:lstStyle/>
          <a:p>
            <a:pPr algn="l">
              <a:lnSpc>
                <a:spcPct val="100000"/>
              </a:lnSpc>
              <a:buNone/>
              <a:defRPr sz="1125" b="1" i="0">
                <a:solidFill>
                  <a:srgbClr val="003B25"/>
                </a:solidFill>
                <a:latin typeface="Arial"/>
                <a:ea typeface="Arial"/>
                <a:cs typeface="Arial"/>
              </a:defRPr>
            </a:pPr>
            <a:r>
              <a:rPr sz="1125" b="1" i="0" dirty="0">
                <a:solidFill>
                  <a:srgbClr val="003B25"/>
                </a:solidFill>
                <a:latin typeface="Arial"/>
                <a:ea typeface="Arial"/>
                <a:cs typeface="Arial"/>
              </a:rPr>
              <a:t>CPU Contention Ratio</a:t>
            </a:r>
          </a:p>
        </p:txBody>
      </p:sp>
      <p:sp>
        <p:nvSpPr>
          <p:cNvPr id="31" name="Straight Connector 30">
            <a:extLst>
              <a:ext uri="{FF2B5EF4-FFF2-40B4-BE49-F238E27FC236}">
                <a16:creationId xmlns:a16="http://schemas.microsoft.com/office/drawing/2014/main" id="{72944B4F-936E-4666-BCB5-19428C80B4D4}"/>
              </a:ext>
            </a:extLst>
          </p:cNvPr>
          <p:cNvSpPr>
            <a:spLocks noGrp="1"/>
          </p:cNvSpPr>
          <p:nvPr/>
        </p:nvSpPr>
        <p:spPr>
          <a:xfrm>
            <a:off x="3333750" y="3890010"/>
            <a:ext cx="0" cy="314325"/>
          </a:xfrm>
          <a:prstGeom prst="line">
            <a:avLst/>
          </a:prstGeom>
          <a:noFill/>
          <a:ln w="9525">
            <a:solidFill>
              <a:srgbClr val="CBD2CE"/>
            </a:solidFill>
            <a:prstDash val="solid"/>
          </a:ln>
        </p:spPr>
        <p:txBody>
          <a:bodyPr/>
          <a:lstStyle/>
          <a:p>
            <a:endParaRPr lang="en-FR"/>
          </a:p>
        </p:txBody>
      </p:sp>
      <p:sp>
        <p:nvSpPr>
          <p:cNvPr id="32" name="Rectangle 31">
            <a:extLst>
              <a:ext uri="{FF2B5EF4-FFF2-40B4-BE49-F238E27FC236}">
                <a16:creationId xmlns:a16="http://schemas.microsoft.com/office/drawing/2014/main" id="{4BB2C1F5-D562-49B2-9F9A-0CC0CC218F6B}"/>
              </a:ext>
            </a:extLst>
          </p:cNvPr>
          <p:cNvSpPr>
            <a:spLocks noGrp="1"/>
          </p:cNvSpPr>
          <p:nvPr/>
        </p:nvSpPr>
        <p:spPr>
          <a:xfrm>
            <a:off x="3676650" y="3890010"/>
            <a:ext cx="762000" cy="209550"/>
          </a:xfrm>
          <a:prstGeom prst="rect">
            <a:avLst/>
          </a:prstGeom>
          <a:noFill/>
          <a:ln w="0">
            <a:noFill/>
            <a:prstDash val="solid"/>
          </a:ln>
        </p:spPr>
        <p:txBody>
          <a:bodyPr wrap="none" lIns="0" tIns="0" rIns="0" bIns="0" anchor="t"/>
          <a:lstStyle/>
          <a:p>
            <a:pPr algn="l">
              <a:lnSpc>
                <a:spcPct val="100000"/>
              </a:lnSpc>
              <a:buNone/>
              <a:defRPr sz="1425" b="1" i="0">
                <a:solidFill>
                  <a:srgbClr val="111111"/>
                </a:solidFill>
                <a:latin typeface="Arial"/>
                <a:ea typeface="Arial"/>
                <a:cs typeface="Arial"/>
              </a:defRPr>
            </a:pPr>
            <a:r>
              <a:rPr sz="1425" b="1" i="0">
                <a:solidFill>
                  <a:srgbClr val="111111"/>
                </a:solidFill>
                <a:latin typeface="Arial"/>
                <a:ea typeface="Arial"/>
                <a:cs typeface="Arial"/>
              </a:rPr>
              <a:t>1:6</a:t>
            </a:r>
          </a:p>
        </p:txBody>
      </p:sp>
      <p:sp>
        <p:nvSpPr>
          <p:cNvPr id="33" name="Rectangle 32">
            <a:extLst>
              <a:ext uri="{FF2B5EF4-FFF2-40B4-BE49-F238E27FC236}">
                <a16:creationId xmlns:a16="http://schemas.microsoft.com/office/drawing/2014/main" id="{C1010FD1-CF72-4430-AE27-159930A3A4CD}"/>
              </a:ext>
            </a:extLst>
          </p:cNvPr>
          <p:cNvSpPr>
            <a:spLocks noGrp="1"/>
          </p:cNvSpPr>
          <p:nvPr/>
        </p:nvSpPr>
        <p:spPr>
          <a:xfrm>
            <a:off x="3676650" y="4109085"/>
            <a:ext cx="3714750" cy="171450"/>
          </a:xfrm>
          <a:prstGeom prst="rect">
            <a:avLst/>
          </a:prstGeom>
          <a:noFill/>
          <a:ln w="0">
            <a:noFill/>
            <a:prstDash val="solid"/>
          </a:ln>
        </p:spPr>
        <p:txBody>
          <a:bodyPr wrap="none" lIns="0" tIns="0" rIns="0" bIns="0" anchor="t"/>
          <a:lstStyle/>
          <a:p>
            <a:pPr algn="l">
              <a:lnSpc>
                <a:spcPct val="100000"/>
              </a:lnSpc>
              <a:buNone/>
              <a:defRPr sz="975" b="0" i="0">
                <a:solidFill>
                  <a:srgbClr val="111111"/>
                </a:solidFill>
                <a:latin typeface="Arial"/>
                <a:ea typeface="Arial"/>
                <a:cs typeface="Arial"/>
              </a:defRPr>
            </a:pPr>
            <a:r>
              <a:rPr sz="975" b="0" i="0">
                <a:solidFill>
                  <a:srgbClr val="111111"/>
                </a:solidFill>
                <a:latin typeface="Arial"/>
                <a:ea typeface="Arial"/>
                <a:cs typeface="Arial"/>
              </a:rPr>
              <a:t>(Industry standard for medium consolidation)</a:t>
            </a:r>
          </a:p>
        </p:txBody>
      </p:sp>
      <p:sp>
        <p:nvSpPr>
          <p:cNvPr id="34" name="Straight Connector 33">
            <a:extLst>
              <a:ext uri="{FF2B5EF4-FFF2-40B4-BE49-F238E27FC236}">
                <a16:creationId xmlns:a16="http://schemas.microsoft.com/office/drawing/2014/main" id="{02CD068C-C8FC-47C9-BB57-3D4C64351CFA}"/>
              </a:ext>
            </a:extLst>
          </p:cNvPr>
          <p:cNvSpPr>
            <a:spLocks noGrp="1"/>
          </p:cNvSpPr>
          <p:nvPr/>
        </p:nvSpPr>
        <p:spPr>
          <a:xfrm>
            <a:off x="600075" y="4325303"/>
            <a:ext cx="6981825" cy="0"/>
          </a:xfrm>
          <a:prstGeom prst="line">
            <a:avLst/>
          </a:prstGeom>
          <a:noFill/>
          <a:ln w="9525">
            <a:solidFill>
              <a:srgbClr val="DDE2DE"/>
            </a:solidFill>
            <a:prstDash val="solid"/>
          </a:ln>
        </p:spPr>
        <p:txBody>
          <a:bodyPr/>
          <a:lstStyle/>
          <a:p>
            <a:endParaRPr lang="en-FR"/>
          </a:p>
        </p:txBody>
      </p:sp>
      <p:pic>
        <p:nvPicPr>
          <p:cNvPr id="85" name="Picture 84"/>
          <p:cNvPicPr>
            <a:picLocks noChangeAspect="1"/>
          </p:cNvPicPr>
          <p:nvPr/>
        </p:nvPicPr>
        <p:blipFill>
          <a:blip r:embed="rId8"/>
          <a:stretch/>
        </p:blipFill>
        <p:spPr>
          <a:xfrm>
            <a:off x="600075" y="4367228"/>
            <a:ext cx="466725" cy="459074"/>
          </a:xfrm>
          <a:prstGeom prst="rect">
            <a:avLst/>
          </a:prstGeom>
        </p:spPr>
      </p:pic>
      <p:sp>
        <p:nvSpPr>
          <p:cNvPr id="36" name="Rectangle 35">
            <a:extLst>
              <a:ext uri="{FF2B5EF4-FFF2-40B4-BE49-F238E27FC236}">
                <a16:creationId xmlns:a16="http://schemas.microsoft.com/office/drawing/2014/main" id="{35B0B338-2A00-4402-837C-6832FD369235}"/>
              </a:ext>
            </a:extLst>
          </p:cNvPr>
          <p:cNvSpPr>
            <a:spLocks noGrp="1"/>
          </p:cNvSpPr>
          <p:nvPr/>
        </p:nvSpPr>
        <p:spPr>
          <a:xfrm>
            <a:off x="1333500" y="4506278"/>
            <a:ext cx="2047875" cy="209550"/>
          </a:xfrm>
          <a:prstGeom prst="rect">
            <a:avLst/>
          </a:prstGeom>
          <a:noFill/>
          <a:ln w="0">
            <a:noFill/>
            <a:prstDash val="solid"/>
          </a:ln>
        </p:spPr>
        <p:txBody>
          <a:bodyPr wrap="none" lIns="0" tIns="0" rIns="0" bIns="0" anchor="t"/>
          <a:lstStyle/>
          <a:p>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Average Utilization</a:t>
            </a:r>
          </a:p>
        </p:txBody>
      </p:sp>
      <p:sp>
        <p:nvSpPr>
          <p:cNvPr id="37" name="Straight Connector 36">
            <a:extLst>
              <a:ext uri="{FF2B5EF4-FFF2-40B4-BE49-F238E27FC236}">
                <a16:creationId xmlns:a16="http://schemas.microsoft.com/office/drawing/2014/main" id="{0004D49C-3CEF-4D64-8EE4-5C2EF19B65F0}"/>
              </a:ext>
            </a:extLst>
          </p:cNvPr>
          <p:cNvSpPr>
            <a:spLocks noGrp="1"/>
          </p:cNvSpPr>
          <p:nvPr/>
        </p:nvSpPr>
        <p:spPr>
          <a:xfrm>
            <a:off x="3333750" y="4420553"/>
            <a:ext cx="0" cy="314325"/>
          </a:xfrm>
          <a:prstGeom prst="line">
            <a:avLst/>
          </a:prstGeom>
          <a:noFill/>
          <a:ln w="9525">
            <a:solidFill>
              <a:srgbClr val="CBD2CE"/>
            </a:solidFill>
            <a:prstDash val="solid"/>
          </a:ln>
        </p:spPr>
        <p:txBody>
          <a:bodyPr/>
          <a:lstStyle/>
          <a:p>
            <a:endParaRPr lang="en-FR"/>
          </a:p>
        </p:txBody>
      </p:sp>
      <p:sp>
        <p:nvSpPr>
          <p:cNvPr id="38" name="Rectangle 37">
            <a:extLst>
              <a:ext uri="{FF2B5EF4-FFF2-40B4-BE49-F238E27FC236}">
                <a16:creationId xmlns:a16="http://schemas.microsoft.com/office/drawing/2014/main" id="{B09B219E-B635-42E5-8711-6CCAA05CC5BA}"/>
              </a:ext>
            </a:extLst>
          </p:cNvPr>
          <p:cNvSpPr>
            <a:spLocks noGrp="1"/>
          </p:cNvSpPr>
          <p:nvPr/>
        </p:nvSpPr>
        <p:spPr>
          <a:xfrm>
            <a:off x="3676650" y="4420553"/>
            <a:ext cx="3714750" cy="400050"/>
          </a:xfrm>
          <a:prstGeom prst="rect">
            <a:avLst/>
          </a:prstGeom>
          <a:noFill/>
          <a:ln w="0">
            <a:noFill/>
            <a:prstDash val="solid"/>
          </a:ln>
        </p:spPr>
        <p:txBody>
          <a:bodyPr wrap="square" lIns="0" tIns="0" rIns="0" bIns="0" anchor="t"/>
          <a:lstStyle/>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vCPU: 50%</a:t>
            </a:r>
          </a:p>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vMEM: 60%</a:t>
            </a:r>
          </a:p>
        </p:txBody>
      </p:sp>
      <p:sp>
        <p:nvSpPr>
          <p:cNvPr id="39" name="Straight Connector 38">
            <a:extLst>
              <a:ext uri="{FF2B5EF4-FFF2-40B4-BE49-F238E27FC236}">
                <a16:creationId xmlns:a16="http://schemas.microsoft.com/office/drawing/2014/main" id="{B5294845-2E5B-41F1-8CD4-A4D7AFAA9406}"/>
              </a:ext>
            </a:extLst>
          </p:cNvPr>
          <p:cNvSpPr>
            <a:spLocks noGrp="1"/>
          </p:cNvSpPr>
          <p:nvPr/>
        </p:nvSpPr>
        <p:spPr>
          <a:xfrm>
            <a:off x="600075" y="4855845"/>
            <a:ext cx="6981825" cy="0"/>
          </a:xfrm>
          <a:prstGeom prst="line">
            <a:avLst/>
          </a:prstGeom>
          <a:noFill/>
          <a:ln w="9525">
            <a:solidFill>
              <a:srgbClr val="DDE2DE"/>
            </a:solidFill>
            <a:prstDash val="solid"/>
          </a:ln>
        </p:spPr>
        <p:txBody>
          <a:bodyPr/>
          <a:lstStyle/>
          <a:p>
            <a:endParaRPr lang="en-FR"/>
          </a:p>
        </p:txBody>
      </p:sp>
      <p:pic>
        <p:nvPicPr>
          <p:cNvPr id="90" name="Picture 89"/>
          <p:cNvPicPr>
            <a:picLocks noChangeAspect="1"/>
          </p:cNvPicPr>
          <p:nvPr/>
        </p:nvPicPr>
        <p:blipFill>
          <a:blip r:embed="rId9"/>
          <a:stretch/>
        </p:blipFill>
        <p:spPr>
          <a:xfrm>
            <a:off x="600075" y="4897771"/>
            <a:ext cx="466725" cy="459074"/>
          </a:xfrm>
          <a:prstGeom prst="rect">
            <a:avLst/>
          </a:prstGeom>
        </p:spPr>
      </p:pic>
      <p:sp>
        <p:nvSpPr>
          <p:cNvPr id="41" name="Rectangle 40">
            <a:extLst>
              <a:ext uri="{FF2B5EF4-FFF2-40B4-BE49-F238E27FC236}">
                <a16:creationId xmlns:a16="http://schemas.microsoft.com/office/drawing/2014/main" id="{3237AD7F-4836-4176-AF9D-C45EBA307DA5}"/>
              </a:ext>
            </a:extLst>
          </p:cNvPr>
          <p:cNvSpPr>
            <a:spLocks noGrp="1"/>
          </p:cNvSpPr>
          <p:nvPr/>
        </p:nvSpPr>
        <p:spPr>
          <a:xfrm>
            <a:off x="1333500" y="5036820"/>
            <a:ext cx="2047875" cy="209550"/>
          </a:xfrm>
          <a:prstGeom prst="rect">
            <a:avLst/>
          </a:prstGeom>
          <a:noFill/>
          <a:ln w="0">
            <a:noFill/>
            <a:prstDash val="solid"/>
          </a:ln>
        </p:spPr>
        <p:txBody>
          <a:bodyPr wrap="none" lIns="0" tIns="0" rIns="0" bIns="0" anchor="t"/>
          <a:lstStyle/>
          <a:p>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Target Utilization</a:t>
            </a:r>
          </a:p>
        </p:txBody>
      </p:sp>
      <p:sp>
        <p:nvSpPr>
          <p:cNvPr id="42" name="Straight Connector 41">
            <a:extLst>
              <a:ext uri="{FF2B5EF4-FFF2-40B4-BE49-F238E27FC236}">
                <a16:creationId xmlns:a16="http://schemas.microsoft.com/office/drawing/2014/main" id="{4D9346C3-2665-41B0-99E5-1FA2EBA0C533}"/>
              </a:ext>
            </a:extLst>
          </p:cNvPr>
          <p:cNvSpPr>
            <a:spLocks noGrp="1"/>
          </p:cNvSpPr>
          <p:nvPr/>
        </p:nvSpPr>
        <p:spPr>
          <a:xfrm>
            <a:off x="3333750" y="4951095"/>
            <a:ext cx="0" cy="314325"/>
          </a:xfrm>
          <a:prstGeom prst="line">
            <a:avLst/>
          </a:prstGeom>
          <a:noFill/>
          <a:ln w="9525">
            <a:solidFill>
              <a:srgbClr val="CBD2CE"/>
            </a:solidFill>
            <a:prstDash val="solid"/>
          </a:ln>
        </p:spPr>
        <p:txBody>
          <a:bodyPr/>
          <a:lstStyle/>
          <a:p>
            <a:endParaRPr lang="en-FR"/>
          </a:p>
        </p:txBody>
      </p:sp>
      <p:sp>
        <p:nvSpPr>
          <p:cNvPr id="43" name="Rectangle 42">
            <a:extLst>
              <a:ext uri="{FF2B5EF4-FFF2-40B4-BE49-F238E27FC236}">
                <a16:creationId xmlns:a16="http://schemas.microsoft.com/office/drawing/2014/main" id="{DBC0D906-17E6-4658-8738-8B3675430291}"/>
              </a:ext>
            </a:extLst>
          </p:cNvPr>
          <p:cNvSpPr>
            <a:spLocks noGrp="1"/>
          </p:cNvSpPr>
          <p:nvPr/>
        </p:nvSpPr>
        <p:spPr>
          <a:xfrm>
            <a:off x="3676650" y="4951095"/>
            <a:ext cx="3714750" cy="400050"/>
          </a:xfrm>
          <a:prstGeom prst="rect">
            <a:avLst/>
          </a:prstGeom>
          <a:noFill/>
          <a:ln w="0">
            <a:noFill/>
            <a:prstDash val="solid"/>
          </a:ln>
        </p:spPr>
        <p:txBody>
          <a:bodyPr wrap="square" lIns="0" tIns="0" rIns="0" bIns="0" anchor="t"/>
          <a:lstStyle/>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80%</a:t>
            </a:r>
          </a:p>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(For both vCPU and vMEM)</a:t>
            </a:r>
          </a:p>
        </p:txBody>
      </p:sp>
      <p:sp>
        <p:nvSpPr>
          <p:cNvPr id="44" name="Straight Connector 43">
            <a:extLst>
              <a:ext uri="{FF2B5EF4-FFF2-40B4-BE49-F238E27FC236}">
                <a16:creationId xmlns:a16="http://schemas.microsoft.com/office/drawing/2014/main" id="{76C190DA-7557-4EF8-A3B4-C1CD1D532610}"/>
              </a:ext>
            </a:extLst>
          </p:cNvPr>
          <p:cNvSpPr>
            <a:spLocks noGrp="1"/>
          </p:cNvSpPr>
          <p:nvPr/>
        </p:nvSpPr>
        <p:spPr>
          <a:xfrm>
            <a:off x="600075" y="5386388"/>
            <a:ext cx="6981825" cy="0"/>
          </a:xfrm>
          <a:prstGeom prst="line">
            <a:avLst/>
          </a:prstGeom>
          <a:noFill/>
          <a:ln w="9525">
            <a:solidFill>
              <a:srgbClr val="DDE2DE"/>
            </a:solidFill>
            <a:prstDash val="solid"/>
          </a:ln>
        </p:spPr>
        <p:txBody>
          <a:bodyPr/>
          <a:lstStyle/>
          <a:p>
            <a:endParaRPr lang="en-FR"/>
          </a:p>
        </p:txBody>
      </p:sp>
      <p:pic>
        <p:nvPicPr>
          <p:cNvPr id="95" name="Picture 94"/>
          <p:cNvPicPr>
            <a:picLocks noChangeAspect="1"/>
          </p:cNvPicPr>
          <p:nvPr/>
        </p:nvPicPr>
        <p:blipFill>
          <a:blip r:embed="rId10"/>
          <a:stretch/>
        </p:blipFill>
        <p:spPr>
          <a:xfrm>
            <a:off x="600075" y="5424488"/>
            <a:ext cx="466725" cy="466725"/>
          </a:xfrm>
          <a:prstGeom prst="rect">
            <a:avLst/>
          </a:prstGeom>
        </p:spPr>
      </p:pic>
      <p:sp>
        <p:nvSpPr>
          <p:cNvPr id="46" name="Rectangle 45">
            <a:extLst>
              <a:ext uri="{FF2B5EF4-FFF2-40B4-BE49-F238E27FC236}">
                <a16:creationId xmlns:a16="http://schemas.microsoft.com/office/drawing/2014/main" id="{1AAF8FDE-50FC-4C3F-9F81-15310F8F98EE}"/>
              </a:ext>
            </a:extLst>
          </p:cNvPr>
          <p:cNvSpPr>
            <a:spLocks noGrp="1"/>
          </p:cNvSpPr>
          <p:nvPr/>
        </p:nvSpPr>
        <p:spPr>
          <a:xfrm>
            <a:off x="1333500" y="5567363"/>
            <a:ext cx="2047875" cy="209550"/>
          </a:xfrm>
          <a:prstGeom prst="rect">
            <a:avLst/>
          </a:prstGeom>
          <a:noFill/>
          <a:ln w="0">
            <a:noFill/>
            <a:prstDash val="solid"/>
          </a:ln>
        </p:spPr>
        <p:txBody>
          <a:bodyPr wrap="none" lIns="0" tIns="0" rIns="0" bIns="0" anchor="t"/>
          <a:lstStyle/>
          <a:p>
            <a:pPr algn="l">
              <a:lnSpc>
                <a:spcPct val="100000"/>
              </a:lnSpc>
              <a:buNone/>
              <a:defRPr sz="1125" b="1" i="0">
                <a:solidFill>
                  <a:srgbClr val="003B25"/>
                </a:solidFill>
                <a:latin typeface="Arial"/>
                <a:ea typeface="Arial"/>
                <a:cs typeface="Arial"/>
              </a:defRPr>
            </a:pPr>
            <a:r>
              <a:rPr sz="1125" b="1" i="0">
                <a:solidFill>
                  <a:srgbClr val="003B25"/>
                </a:solidFill>
                <a:latin typeface="Arial"/>
                <a:ea typeface="Arial"/>
                <a:cs typeface="Arial"/>
              </a:rPr>
              <a:t>Storage Type</a:t>
            </a:r>
          </a:p>
        </p:txBody>
      </p:sp>
      <p:sp>
        <p:nvSpPr>
          <p:cNvPr id="47" name="Straight Connector 46">
            <a:extLst>
              <a:ext uri="{FF2B5EF4-FFF2-40B4-BE49-F238E27FC236}">
                <a16:creationId xmlns:a16="http://schemas.microsoft.com/office/drawing/2014/main" id="{FFEF831B-5985-4EBD-83C8-50668461DF24}"/>
              </a:ext>
            </a:extLst>
          </p:cNvPr>
          <p:cNvSpPr>
            <a:spLocks noGrp="1"/>
          </p:cNvSpPr>
          <p:nvPr/>
        </p:nvSpPr>
        <p:spPr>
          <a:xfrm>
            <a:off x="3333750" y="5481638"/>
            <a:ext cx="0" cy="314325"/>
          </a:xfrm>
          <a:prstGeom prst="line">
            <a:avLst/>
          </a:prstGeom>
          <a:noFill/>
          <a:ln w="9525">
            <a:solidFill>
              <a:srgbClr val="CBD2CE"/>
            </a:solidFill>
            <a:prstDash val="solid"/>
          </a:ln>
        </p:spPr>
        <p:txBody>
          <a:bodyPr/>
          <a:lstStyle/>
          <a:p>
            <a:endParaRPr lang="en-FR"/>
          </a:p>
        </p:txBody>
      </p:sp>
      <p:sp>
        <p:nvSpPr>
          <p:cNvPr id="48" name="Rectangle 47">
            <a:extLst>
              <a:ext uri="{FF2B5EF4-FFF2-40B4-BE49-F238E27FC236}">
                <a16:creationId xmlns:a16="http://schemas.microsoft.com/office/drawing/2014/main" id="{FCCC5123-50EE-49F7-9C4E-AD8B5F15572B}"/>
              </a:ext>
            </a:extLst>
          </p:cNvPr>
          <p:cNvSpPr>
            <a:spLocks noGrp="1"/>
          </p:cNvSpPr>
          <p:nvPr/>
        </p:nvSpPr>
        <p:spPr>
          <a:xfrm>
            <a:off x="3676650" y="5481638"/>
            <a:ext cx="3714750" cy="400050"/>
          </a:xfrm>
          <a:prstGeom prst="rect">
            <a:avLst/>
          </a:prstGeom>
          <a:noFill/>
          <a:ln w="0">
            <a:noFill/>
            <a:prstDash val="solid"/>
          </a:ln>
        </p:spPr>
        <p:txBody>
          <a:bodyPr wrap="square" lIns="0" tIns="0" rIns="0" bIns="0" anchor="t"/>
          <a:lstStyle/>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OCI Block Volume</a:t>
            </a:r>
          </a:p>
          <a:p>
            <a:pPr algn="l">
              <a:lnSpc>
                <a:spcPct val="112000"/>
              </a:lnSpc>
              <a:buNone/>
              <a:defRPr sz="1125" b="0" i="0">
                <a:solidFill>
                  <a:srgbClr val="111111"/>
                </a:solidFill>
                <a:latin typeface="Arial"/>
                <a:ea typeface="Arial"/>
                <a:cs typeface="Arial"/>
              </a:defRPr>
            </a:pPr>
            <a:r>
              <a:rPr sz="1125" b="0" i="0">
                <a:solidFill>
                  <a:srgbClr val="111111"/>
                </a:solidFill>
                <a:latin typeface="Arial"/>
                <a:ea typeface="Arial"/>
                <a:cs typeface="Arial"/>
              </a:rPr>
              <a:t>(Block Storage)</a:t>
            </a:r>
          </a:p>
        </p:txBody>
      </p:sp>
      <p:sp>
        <p:nvSpPr>
          <p:cNvPr id="49" name="Rectangle 48">
            <a:extLst>
              <a:ext uri="{FF2B5EF4-FFF2-40B4-BE49-F238E27FC236}">
                <a16:creationId xmlns:a16="http://schemas.microsoft.com/office/drawing/2014/main" id="{16E4D860-FD45-4FE4-BDF9-3E6C0A6C9676}"/>
              </a:ext>
            </a:extLst>
          </p:cNvPr>
          <p:cNvSpPr>
            <a:spLocks noGrp="1"/>
          </p:cNvSpPr>
          <p:nvPr/>
        </p:nvSpPr>
        <p:spPr>
          <a:xfrm>
            <a:off x="1133475" y="6553200"/>
            <a:ext cx="5143500" cy="171450"/>
          </a:xfrm>
          <a:prstGeom prst="rect">
            <a:avLst/>
          </a:prstGeom>
          <a:noFill/>
          <a:ln w="0">
            <a:noFill/>
            <a:prstDash val="solid"/>
          </a:ln>
        </p:spPr>
        <p:txBody>
          <a:bodyPr wrap="none" lIns="0" tIns="0" rIns="0" bIns="0" anchor="t"/>
          <a:lstStyle/>
          <a:p>
            <a:pPr algn="l">
              <a:lnSpc>
                <a:spcPct val="100000"/>
              </a:lnSpc>
              <a:buNone/>
              <a:defRPr sz="675" b="0" i="0">
                <a:solidFill>
                  <a:srgbClr val="555555"/>
                </a:solidFill>
                <a:latin typeface="Arial"/>
                <a:ea typeface="Arial"/>
                <a:cs typeface="Arial"/>
              </a:defRPr>
            </a:pPr>
            <a:r>
              <a:rPr sz="675" b="0" i="0">
                <a:solidFill>
                  <a:srgbClr val="555555"/>
                </a:solidFill>
                <a:latin typeface="Arial"/>
                <a:ea typeface="Arial"/>
                <a:cs typeface="Arial"/>
              </a:rPr>
              <a:t>Copyright © 2026, Oracle and/or its affiliates | Confidential: Internal/Restricted/Highly Restricted</a:t>
            </a:r>
          </a:p>
        </p:txBody>
      </p:sp>
      <p:pic>
        <p:nvPicPr>
          <p:cNvPr id="100" name="Picture 99"/>
          <p:cNvPicPr>
            <a:picLocks noChangeAspect="1"/>
          </p:cNvPicPr>
          <p:nvPr/>
        </p:nvPicPr>
        <p:blipFill>
          <a:blip r:embed="rId11"/>
          <a:stretch/>
        </p:blipFill>
        <p:spPr>
          <a:xfrm>
            <a:off x="11391900" y="6479151"/>
            <a:ext cx="400050" cy="329073"/>
          </a:xfrm>
          <a:prstGeom prst="rect">
            <a:avLst/>
          </a:prstGeom>
        </p:spPr>
      </p:pic>
    </p:spTree>
    <p:extLst>
      <p:ext uri="{BB962C8B-B14F-4D97-AF65-F5344CB8AC3E}">
        <p14:creationId xmlns:p14="http://schemas.microsoft.com/office/powerpoint/2010/main" val="948357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AF8"/>
        </a:solidFill>
        <a:effectLst/>
      </p:bgPr>
    </p:bg>
    <p:spTree>
      <p:nvGrpSpPr>
        <p:cNvPr id="1" name=""/>
        <p:cNvGrpSpPr/>
        <p:nvPr/>
      </p:nvGrpSpPr>
      <p:grpSpPr>
        <a:xfrm>
          <a:off x="0" y="0"/>
          <a:ext cx="0" cy="0"/>
          <a:chOff x="0" y="0"/>
          <a:chExt cx="0" cy="0"/>
        </a:xfrm>
      </p:grpSpPr>
      <p:sp>
        <p:nvSpPr>
          <p:cNvPr id="75" name="Oval 74">
            <a:extLst>
              <a:ext uri="{FF2B5EF4-FFF2-40B4-BE49-F238E27FC236}">
                <a16:creationId xmlns:a16="http://schemas.microsoft.com/office/drawing/2014/main" id="{21F0DC85-8080-41CB-9F08-90BF24F47782}"/>
              </a:ext>
            </a:extLst>
          </p:cNvPr>
          <p:cNvSpPr>
            <a:spLocks noGrp="1"/>
          </p:cNvSpPr>
          <p:nvPr/>
        </p:nvSpPr>
        <p:spPr>
          <a:xfrm>
            <a:off x="219075" y="2838450"/>
            <a:ext cx="47625" cy="47625"/>
          </a:xfrm>
          <a:prstGeom prst="ellipse">
            <a:avLst/>
          </a:prstGeom>
          <a:solidFill>
            <a:srgbClr val="E6E8E6"/>
          </a:solidFill>
          <a:ln w="0">
            <a:noFill/>
            <a:prstDash val="solid"/>
          </a:ln>
        </p:spPr>
        <p:txBody>
          <a:bodyPr/>
          <a:lstStyle/>
          <a:p>
            <a:endParaRPr lang="en-FR"/>
          </a:p>
        </p:txBody>
      </p:sp>
      <p:sp>
        <p:nvSpPr>
          <p:cNvPr id="2" name="Oval 1">
            <a:extLst>
              <a:ext uri="{FF2B5EF4-FFF2-40B4-BE49-F238E27FC236}">
                <a16:creationId xmlns:a16="http://schemas.microsoft.com/office/drawing/2014/main" id="{2F83E7F2-4739-496D-AEA1-9C7E9AF7442A}"/>
              </a:ext>
            </a:extLst>
          </p:cNvPr>
          <p:cNvSpPr>
            <a:spLocks noGrp="1"/>
          </p:cNvSpPr>
          <p:nvPr/>
        </p:nvSpPr>
        <p:spPr>
          <a:xfrm>
            <a:off x="5133975" y="552450"/>
            <a:ext cx="38100" cy="38100"/>
          </a:xfrm>
          <a:prstGeom prst="ellipse">
            <a:avLst/>
          </a:prstGeom>
          <a:solidFill>
            <a:srgbClr val="E6E8E6"/>
          </a:solidFill>
          <a:ln w="0">
            <a:noFill/>
            <a:prstDash val="solid"/>
          </a:ln>
        </p:spPr>
        <p:txBody>
          <a:bodyPr/>
          <a:lstStyle/>
          <a:p>
            <a:endParaRPr lang="en-FR"/>
          </a:p>
        </p:txBody>
      </p:sp>
      <p:sp>
        <p:nvSpPr>
          <p:cNvPr id="3" name="Oval 2">
            <a:extLst>
              <a:ext uri="{FF2B5EF4-FFF2-40B4-BE49-F238E27FC236}">
                <a16:creationId xmlns:a16="http://schemas.microsoft.com/office/drawing/2014/main" id="{50365660-F790-4395-BCCA-A1B5A74443CB}"/>
              </a:ext>
            </a:extLst>
          </p:cNvPr>
          <p:cNvSpPr>
            <a:spLocks noGrp="1"/>
          </p:cNvSpPr>
          <p:nvPr/>
        </p:nvSpPr>
        <p:spPr>
          <a:xfrm>
            <a:off x="5638800" y="933450"/>
            <a:ext cx="38100" cy="38100"/>
          </a:xfrm>
          <a:prstGeom prst="ellipse">
            <a:avLst/>
          </a:prstGeom>
          <a:solidFill>
            <a:srgbClr val="E6E8E6"/>
          </a:solidFill>
          <a:ln w="0">
            <a:noFill/>
            <a:prstDash val="solid"/>
          </a:ln>
        </p:spPr>
        <p:txBody>
          <a:bodyPr/>
          <a:lstStyle/>
          <a:p>
            <a:endParaRPr lang="en-FR"/>
          </a:p>
        </p:txBody>
      </p:sp>
      <p:sp>
        <p:nvSpPr>
          <p:cNvPr id="4" name="Oval 3">
            <a:extLst>
              <a:ext uri="{FF2B5EF4-FFF2-40B4-BE49-F238E27FC236}">
                <a16:creationId xmlns:a16="http://schemas.microsoft.com/office/drawing/2014/main" id="{9375D8DC-CA5F-40B0-B7BF-056CF93CA4C9}"/>
              </a:ext>
            </a:extLst>
          </p:cNvPr>
          <p:cNvSpPr>
            <a:spLocks noGrp="1"/>
          </p:cNvSpPr>
          <p:nvPr/>
        </p:nvSpPr>
        <p:spPr>
          <a:xfrm>
            <a:off x="5810250" y="552450"/>
            <a:ext cx="28575" cy="28575"/>
          </a:xfrm>
          <a:prstGeom prst="ellipse">
            <a:avLst/>
          </a:prstGeom>
          <a:solidFill>
            <a:srgbClr val="E6E8E6"/>
          </a:solidFill>
          <a:ln w="0">
            <a:noFill/>
            <a:prstDash val="solid"/>
          </a:ln>
        </p:spPr>
        <p:txBody>
          <a:bodyPr/>
          <a:lstStyle/>
          <a:p>
            <a:endParaRPr lang="en-FR"/>
          </a:p>
        </p:txBody>
      </p:sp>
      <p:sp>
        <p:nvSpPr>
          <p:cNvPr id="5" name="Oval 4">
            <a:extLst>
              <a:ext uri="{FF2B5EF4-FFF2-40B4-BE49-F238E27FC236}">
                <a16:creationId xmlns:a16="http://schemas.microsoft.com/office/drawing/2014/main" id="{9B4636DC-97BE-46CA-BEB6-6BF5B65A7B74}"/>
              </a:ext>
            </a:extLst>
          </p:cNvPr>
          <p:cNvSpPr>
            <a:spLocks noGrp="1"/>
          </p:cNvSpPr>
          <p:nvPr/>
        </p:nvSpPr>
        <p:spPr>
          <a:xfrm>
            <a:off x="4505325" y="981075"/>
            <a:ext cx="57150" cy="57150"/>
          </a:xfrm>
          <a:prstGeom prst="ellipse">
            <a:avLst/>
          </a:prstGeom>
          <a:solidFill>
            <a:srgbClr val="E6E8E6"/>
          </a:solidFill>
          <a:ln w="0">
            <a:noFill/>
            <a:prstDash val="solid"/>
          </a:ln>
        </p:spPr>
        <p:txBody>
          <a:bodyPr/>
          <a:lstStyle/>
          <a:p>
            <a:endParaRPr lang="en-FR"/>
          </a:p>
        </p:txBody>
      </p:sp>
      <p:sp>
        <p:nvSpPr>
          <p:cNvPr id="6" name="Oval 5">
            <a:extLst>
              <a:ext uri="{FF2B5EF4-FFF2-40B4-BE49-F238E27FC236}">
                <a16:creationId xmlns:a16="http://schemas.microsoft.com/office/drawing/2014/main" id="{567805AE-F6C9-426B-897E-D76835211245}"/>
              </a:ext>
            </a:extLst>
          </p:cNvPr>
          <p:cNvSpPr>
            <a:spLocks noGrp="1"/>
          </p:cNvSpPr>
          <p:nvPr/>
        </p:nvSpPr>
        <p:spPr>
          <a:xfrm>
            <a:off x="5705475" y="990600"/>
            <a:ext cx="38100" cy="38100"/>
          </a:xfrm>
          <a:prstGeom prst="ellipse">
            <a:avLst/>
          </a:prstGeom>
          <a:solidFill>
            <a:srgbClr val="E6E8E6"/>
          </a:solidFill>
          <a:ln w="0">
            <a:noFill/>
            <a:prstDash val="solid"/>
          </a:ln>
        </p:spPr>
        <p:txBody>
          <a:bodyPr/>
          <a:lstStyle/>
          <a:p>
            <a:endParaRPr lang="en-FR"/>
          </a:p>
        </p:txBody>
      </p:sp>
      <p:sp>
        <p:nvSpPr>
          <p:cNvPr id="7" name="Oval 6">
            <a:extLst>
              <a:ext uri="{FF2B5EF4-FFF2-40B4-BE49-F238E27FC236}">
                <a16:creationId xmlns:a16="http://schemas.microsoft.com/office/drawing/2014/main" id="{B71CAA8A-0646-4E30-A41C-31D47C1744F5}"/>
              </a:ext>
            </a:extLst>
          </p:cNvPr>
          <p:cNvSpPr>
            <a:spLocks noGrp="1"/>
          </p:cNvSpPr>
          <p:nvPr/>
        </p:nvSpPr>
        <p:spPr>
          <a:xfrm>
            <a:off x="6096000" y="1162050"/>
            <a:ext cx="38100" cy="38100"/>
          </a:xfrm>
          <a:prstGeom prst="ellipse">
            <a:avLst/>
          </a:prstGeom>
          <a:solidFill>
            <a:srgbClr val="E6E8E6"/>
          </a:solidFill>
          <a:ln w="0">
            <a:noFill/>
            <a:prstDash val="solid"/>
          </a:ln>
        </p:spPr>
        <p:txBody>
          <a:bodyPr/>
          <a:lstStyle/>
          <a:p>
            <a:endParaRPr lang="en-FR"/>
          </a:p>
        </p:txBody>
      </p:sp>
      <p:sp>
        <p:nvSpPr>
          <p:cNvPr id="8" name="Oval 7">
            <a:extLst>
              <a:ext uri="{FF2B5EF4-FFF2-40B4-BE49-F238E27FC236}">
                <a16:creationId xmlns:a16="http://schemas.microsoft.com/office/drawing/2014/main" id="{8004BEBF-6AFB-4C2C-929C-BF89C0BEE4CC}"/>
              </a:ext>
            </a:extLst>
          </p:cNvPr>
          <p:cNvSpPr>
            <a:spLocks noGrp="1"/>
          </p:cNvSpPr>
          <p:nvPr/>
        </p:nvSpPr>
        <p:spPr>
          <a:xfrm>
            <a:off x="6753225" y="1304925"/>
            <a:ext cx="28575" cy="28575"/>
          </a:xfrm>
          <a:prstGeom prst="ellipse">
            <a:avLst/>
          </a:prstGeom>
          <a:solidFill>
            <a:srgbClr val="E6E8E6"/>
          </a:solidFill>
          <a:ln w="0">
            <a:noFill/>
            <a:prstDash val="solid"/>
          </a:ln>
        </p:spPr>
        <p:txBody>
          <a:bodyPr/>
          <a:lstStyle/>
          <a:p>
            <a:endParaRPr lang="en-FR"/>
          </a:p>
        </p:txBody>
      </p:sp>
      <p:sp>
        <p:nvSpPr>
          <p:cNvPr id="9" name="Oval 8">
            <a:extLst>
              <a:ext uri="{FF2B5EF4-FFF2-40B4-BE49-F238E27FC236}">
                <a16:creationId xmlns:a16="http://schemas.microsoft.com/office/drawing/2014/main" id="{971687F6-47A9-4150-89D4-7D270B8B3DC6}"/>
              </a:ext>
            </a:extLst>
          </p:cNvPr>
          <p:cNvSpPr>
            <a:spLocks noGrp="1"/>
          </p:cNvSpPr>
          <p:nvPr/>
        </p:nvSpPr>
        <p:spPr>
          <a:xfrm>
            <a:off x="7239000" y="381000"/>
            <a:ext cx="66675" cy="66675"/>
          </a:xfrm>
          <a:prstGeom prst="ellipse">
            <a:avLst/>
          </a:prstGeom>
          <a:solidFill>
            <a:srgbClr val="E6E8E6"/>
          </a:solidFill>
          <a:ln w="0">
            <a:noFill/>
            <a:prstDash val="solid"/>
          </a:ln>
        </p:spPr>
        <p:txBody>
          <a:bodyPr/>
          <a:lstStyle/>
          <a:p>
            <a:endParaRPr lang="en-FR"/>
          </a:p>
        </p:txBody>
      </p:sp>
      <p:sp>
        <p:nvSpPr>
          <p:cNvPr id="10" name="Oval 9">
            <a:extLst>
              <a:ext uri="{FF2B5EF4-FFF2-40B4-BE49-F238E27FC236}">
                <a16:creationId xmlns:a16="http://schemas.microsoft.com/office/drawing/2014/main" id="{22DB11DC-8AE3-4708-B895-9DCF02DCCDCD}"/>
              </a:ext>
            </a:extLst>
          </p:cNvPr>
          <p:cNvSpPr>
            <a:spLocks noGrp="1"/>
          </p:cNvSpPr>
          <p:nvPr/>
        </p:nvSpPr>
        <p:spPr>
          <a:xfrm>
            <a:off x="8839200" y="790575"/>
            <a:ext cx="28575" cy="28575"/>
          </a:xfrm>
          <a:prstGeom prst="ellipse">
            <a:avLst/>
          </a:prstGeom>
          <a:solidFill>
            <a:srgbClr val="E6E8E6"/>
          </a:solidFill>
          <a:ln w="0">
            <a:noFill/>
            <a:prstDash val="solid"/>
          </a:ln>
        </p:spPr>
        <p:txBody>
          <a:bodyPr/>
          <a:lstStyle/>
          <a:p>
            <a:endParaRPr lang="en-FR"/>
          </a:p>
        </p:txBody>
      </p:sp>
      <p:sp>
        <p:nvSpPr>
          <p:cNvPr id="11" name="Oval 10">
            <a:extLst>
              <a:ext uri="{FF2B5EF4-FFF2-40B4-BE49-F238E27FC236}">
                <a16:creationId xmlns:a16="http://schemas.microsoft.com/office/drawing/2014/main" id="{4170C531-2321-40E2-8044-BC5E8CA5BB58}"/>
              </a:ext>
            </a:extLst>
          </p:cNvPr>
          <p:cNvSpPr>
            <a:spLocks noGrp="1"/>
          </p:cNvSpPr>
          <p:nvPr/>
        </p:nvSpPr>
        <p:spPr>
          <a:xfrm>
            <a:off x="9048750" y="1495425"/>
            <a:ext cx="28575" cy="28575"/>
          </a:xfrm>
          <a:prstGeom prst="ellipse">
            <a:avLst/>
          </a:prstGeom>
          <a:solidFill>
            <a:srgbClr val="E6E8E6"/>
          </a:solidFill>
          <a:ln w="0">
            <a:noFill/>
            <a:prstDash val="solid"/>
          </a:ln>
        </p:spPr>
        <p:txBody>
          <a:bodyPr/>
          <a:lstStyle/>
          <a:p>
            <a:endParaRPr lang="en-FR"/>
          </a:p>
        </p:txBody>
      </p:sp>
      <p:sp>
        <p:nvSpPr>
          <p:cNvPr id="12" name="Oval 11">
            <a:extLst>
              <a:ext uri="{FF2B5EF4-FFF2-40B4-BE49-F238E27FC236}">
                <a16:creationId xmlns:a16="http://schemas.microsoft.com/office/drawing/2014/main" id="{7A4DA6F0-0E7F-4975-91FC-B8833E1EF25E}"/>
              </a:ext>
            </a:extLst>
          </p:cNvPr>
          <p:cNvSpPr>
            <a:spLocks noGrp="1"/>
          </p:cNvSpPr>
          <p:nvPr/>
        </p:nvSpPr>
        <p:spPr>
          <a:xfrm>
            <a:off x="9239250" y="1647825"/>
            <a:ext cx="28575" cy="28575"/>
          </a:xfrm>
          <a:prstGeom prst="ellipse">
            <a:avLst/>
          </a:prstGeom>
          <a:solidFill>
            <a:srgbClr val="E6E8E6"/>
          </a:solidFill>
          <a:ln w="0">
            <a:noFill/>
            <a:prstDash val="solid"/>
          </a:ln>
        </p:spPr>
        <p:txBody>
          <a:bodyPr/>
          <a:lstStyle/>
          <a:p>
            <a:endParaRPr lang="en-FR"/>
          </a:p>
        </p:txBody>
      </p:sp>
      <p:sp>
        <p:nvSpPr>
          <p:cNvPr id="13" name="Oval 12">
            <a:extLst>
              <a:ext uri="{FF2B5EF4-FFF2-40B4-BE49-F238E27FC236}">
                <a16:creationId xmlns:a16="http://schemas.microsoft.com/office/drawing/2014/main" id="{30D3E989-E565-43CA-B47B-51F6E2E6D5A5}"/>
              </a:ext>
            </a:extLst>
          </p:cNvPr>
          <p:cNvSpPr>
            <a:spLocks noGrp="1"/>
          </p:cNvSpPr>
          <p:nvPr/>
        </p:nvSpPr>
        <p:spPr>
          <a:xfrm>
            <a:off x="9944100" y="2076450"/>
            <a:ext cx="47625" cy="47625"/>
          </a:xfrm>
          <a:prstGeom prst="ellipse">
            <a:avLst/>
          </a:prstGeom>
          <a:solidFill>
            <a:srgbClr val="E6E8E6"/>
          </a:solidFill>
          <a:ln w="0">
            <a:noFill/>
            <a:prstDash val="solid"/>
          </a:ln>
        </p:spPr>
        <p:txBody>
          <a:bodyPr/>
          <a:lstStyle/>
          <a:p>
            <a:endParaRPr lang="en-FR"/>
          </a:p>
        </p:txBody>
      </p:sp>
      <p:sp>
        <p:nvSpPr>
          <p:cNvPr id="14" name="Oval 13">
            <a:extLst>
              <a:ext uri="{FF2B5EF4-FFF2-40B4-BE49-F238E27FC236}">
                <a16:creationId xmlns:a16="http://schemas.microsoft.com/office/drawing/2014/main" id="{E90AC5F6-AD11-4372-9904-82389EC0DDD8}"/>
              </a:ext>
            </a:extLst>
          </p:cNvPr>
          <p:cNvSpPr>
            <a:spLocks noGrp="1"/>
          </p:cNvSpPr>
          <p:nvPr/>
        </p:nvSpPr>
        <p:spPr>
          <a:xfrm>
            <a:off x="11258550" y="228600"/>
            <a:ext cx="28575" cy="28575"/>
          </a:xfrm>
          <a:prstGeom prst="ellipse">
            <a:avLst/>
          </a:prstGeom>
          <a:solidFill>
            <a:srgbClr val="E6E8E6"/>
          </a:solidFill>
          <a:ln w="0">
            <a:noFill/>
            <a:prstDash val="solid"/>
          </a:ln>
        </p:spPr>
        <p:txBody>
          <a:bodyPr/>
          <a:lstStyle/>
          <a:p>
            <a:endParaRPr lang="en-FR"/>
          </a:p>
        </p:txBody>
      </p:sp>
      <p:sp>
        <p:nvSpPr>
          <p:cNvPr id="15" name="Oval 14">
            <a:extLst>
              <a:ext uri="{FF2B5EF4-FFF2-40B4-BE49-F238E27FC236}">
                <a16:creationId xmlns:a16="http://schemas.microsoft.com/office/drawing/2014/main" id="{7B52B2D8-D6B9-4D4D-B2A5-2C8D8AA80805}"/>
              </a:ext>
            </a:extLst>
          </p:cNvPr>
          <p:cNvSpPr>
            <a:spLocks noGrp="1"/>
          </p:cNvSpPr>
          <p:nvPr/>
        </p:nvSpPr>
        <p:spPr>
          <a:xfrm>
            <a:off x="11306175" y="466725"/>
            <a:ext cx="38100" cy="38100"/>
          </a:xfrm>
          <a:prstGeom prst="ellipse">
            <a:avLst/>
          </a:prstGeom>
          <a:solidFill>
            <a:srgbClr val="E6E8E6"/>
          </a:solidFill>
          <a:ln w="0">
            <a:noFill/>
            <a:prstDash val="solid"/>
          </a:ln>
        </p:spPr>
        <p:txBody>
          <a:bodyPr/>
          <a:lstStyle/>
          <a:p>
            <a:endParaRPr lang="en-FR"/>
          </a:p>
        </p:txBody>
      </p:sp>
      <p:sp>
        <p:nvSpPr>
          <p:cNvPr id="16" name="Oval 15">
            <a:extLst>
              <a:ext uri="{FF2B5EF4-FFF2-40B4-BE49-F238E27FC236}">
                <a16:creationId xmlns:a16="http://schemas.microsoft.com/office/drawing/2014/main" id="{69CE3ABD-20CA-492A-A395-49E29EFAB399}"/>
              </a:ext>
            </a:extLst>
          </p:cNvPr>
          <p:cNvSpPr>
            <a:spLocks noGrp="1"/>
          </p:cNvSpPr>
          <p:nvPr/>
        </p:nvSpPr>
        <p:spPr>
          <a:xfrm>
            <a:off x="11811000" y="723900"/>
            <a:ext cx="38100" cy="38100"/>
          </a:xfrm>
          <a:prstGeom prst="ellipse">
            <a:avLst/>
          </a:prstGeom>
          <a:solidFill>
            <a:srgbClr val="E6E8E6"/>
          </a:solidFill>
          <a:ln w="0">
            <a:noFill/>
            <a:prstDash val="solid"/>
          </a:ln>
        </p:spPr>
        <p:txBody>
          <a:bodyPr/>
          <a:lstStyle/>
          <a:p>
            <a:endParaRPr lang="en-FR"/>
          </a:p>
        </p:txBody>
      </p:sp>
      <p:sp>
        <p:nvSpPr>
          <p:cNvPr id="17" name="Oval 16">
            <a:extLst>
              <a:ext uri="{FF2B5EF4-FFF2-40B4-BE49-F238E27FC236}">
                <a16:creationId xmlns:a16="http://schemas.microsoft.com/office/drawing/2014/main" id="{B88F33C5-401C-4533-ABE2-633CA7C878A6}"/>
              </a:ext>
            </a:extLst>
          </p:cNvPr>
          <p:cNvSpPr>
            <a:spLocks noGrp="1"/>
          </p:cNvSpPr>
          <p:nvPr/>
        </p:nvSpPr>
        <p:spPr>
          <a:xfrm>
            <a:off x="11991975" y="1181100"/>
            <a:ext cx="47625" cy="47625"/>
          </a:xfrm>
          <a:prstGeom prst="ellipse">
            <a:avLst/>
          </a:prstGeom>
          <a:solidFill>
            <a:srgbClr val="E6E8E6"/>
          </a:solidFill>
          <a:ln w="0">
            <a:noFill/>
            <a:prstDash val="solid"/>
          </a:ln>
        </p:spPr>
        <p:txBody>
          <a:bodyPr/>
          <a:lstStyle/>
          <a:p>
            <a:endParaRPr lang="en-FR"/>
          </a:p>
        </p:txBody>
      </p:sp>
      <p:sp>
        <p:nvSpPr>
          <p:cNvPr id="18" name="Oval 17">
            <a:extLst>
              <a:ext uri="{FF2B5EF4-FFF2-40B4-BE49-F238E27FC236}">
                <a16:creationId xmlns:a16="http://schemas.microsoft.com/office/drawing/2014/main" id="{81912CAD-A491-40CB-BE59-97E8CE401F65}"/>
              </a:ext>
            </a:extLst>
          </p:cNvPr>
          <p:cNvSpPr>
            <a:spLocks noGrp="1"/>
          </p:cNvSpPr>
          <p:nvPr/>
        </p:nvSpPr>
        <p:spPr>
          <a:xfrm>
            <a:off x="0" y="3028950"/>
            <a:ext cx="1381125" cy="1219200"/>
          </a:xfrm>
          <a:prstGeom prst="ellipse">
            <a:avLst/>
          </a:prstGeom>
          <a:solidFill>
            <a:srgbClr val="F5F8F6"/>
          </a:solidFill>
          <a:ln w="9525">
            <a:solidFill>
              <a:srgbClr val="E3E8E5"/>
            </a:solidFill>
            <a:prstDash val="dot"/>
          </a:ln>
        </p:spPr>
        <p:txBody>
          <a:bodyPr/>
          <a:lstStyle/>
          <a:p>
            <a:endParaRPr lang="en-FR"/>
          </a:p>
        </p:txBody>
      </p:sp>
      <p:pic>
        <p:nvPicPr>
          <p:cNvPr id="94" name="Picture 93"/>
          <p:cNvPicPr>
            <a:picLocks noChangeAspect="1"/>
          </p:cNvPicPr>
          <p:nvPr/>
        </p:nvPicPr>
        <p:blipFill>
          <a:blip r:embed="rId3"/>
          <a:stretch/>
        </p:blipFill>
        <p:spPr>
          <a:xfrm>
            <a:off x="426149" y="276225"/>
            <a:ext cx="1824228" cy="542925"/>
          </a:xfrm>
          <a:prstGeom prst="rect">
            <a:avLst/>
          </a:prstGeom>
          <a:noFill/>
        </p:spPr>
      </p:pic>
      <p:sp>
        <p:nvSpPr>
          <p:cNvPr id="21" name="Rectangle 20">
            <a:extLst>
              <a:ext uri="{FF2B5EF4-FFF2-40B4-BE49-F238E27FC236}">
                <a16:creationId xmlns:a16="http://schemas.microsoft.com/office/drawing/2014/main" id="{C287F6CF-5BDC-4BBA-BB60-B25AA48793ED}"/>
              </a:ext>
            </a:extLst>
          </p:cNvPr>
          <p:cNvSpPr>
            <a:spLocks noGrp="1"/>
          </p:cNvSpPr>
          <p:nvPr/>
        </p:nvSpPr>
        <p:spPr>
          <a:xfrm>
            <a:off x="400050" y="1118185"/>
            <a:ext cx="4953000" cy="495300"/>
          </a:xfrm>
          <a:prstGeom prst="rect">
            <a:avLst/>
          </a:prstGeom>
          <a:noFill/>
          <a:ln w="0">
            <a:noFill/>
            <a:prstDash val="solid"/>
          </a:ln>
        </p:spPr>
        <p:txBody>
          <a:bodyPr wrap="none" lIns="0" tIns="0" rIns="0" bIns="0" anchor="t"/>
          <a:lstStyle/>
          <a:p>
            <a:pPr algn="l">
              <a:lnSpc>
                <a:spcPct val="100000"/>
              </a:lnSpc>
              <a:buNone/>
              <a:defRPr sz="3150" b="1" i="0">
                <a:solidFill>
                  <a:srgbClr val="003B25"/>
                </a:solidFill>
                <a:latin typeface="Arial"/>
                <a:ea typeface="Arial"/>
                <a:cs typeface="Arial"/>
              </a:defRPr>
            </a:pPr>
            <a:r>
              <a:rPr sz="3150" b="1" i="0" dirty="0">
                <a:solidFill>
                  <a:srgbClr val="003B25"/>
                </a:solidFill>
                <a:latin typeface="Arial"/>
                <a:ea typeface="Arial"/>
                <a:cs typeface="Arial"/>
              </a:rPr>
              <a:t>Current Environment</a:t>
            </a:r>
          </a:p>
        </p:txBody>
      </p:sp>
      <p:sp>
        <p:nvSpPr>
          <p:cNvPr id="22" name="Rectangle 21">
            <a:extLst>
              <a:ext uri="{FF2B5EF4-FFF2-40B4-BE49-F238E27FC236}">
                <a16:creationId xmlns:a16="http://schemas.microsoft.com/office/drawing/2014/main" id="{7181C17D-13DF-4692-BC64-FC2AD05459C9}"/>
              </a:ext>
            </a:extLst>
          </p:cNvPr>
          <p:cNvSpPr>
            <a:spLocks noGrp="1"/>
          </p:cNvSpPr>
          <p:nvPr/>
        </p:nvSpPr>
        <p:spPr>
          <a:xfrm>
            <a:off x="400050" y="1704975"/>
            <a:ext cx="371475" cy="38100"/>
          </a:xfrm>
          <a:prstGeom prst="rect">
            <a:avLst/>
          </a:prstGeom>
          <a:solidFill>
            <a:srgbClr val="F00000"/>
          </a:solidFill>
          <a:ln w="0">
            <a:noFill/>
            <a:prstDash val="solid"/>
          </a:ln>
        </p:spPr>
        <p:txBody>
          <a:bodyPr/>
          <a:lstStyle/>
          <a:p>
            <a:endParaRPr lang="en-FR"/>
          </a:p>
        </p:txBody>
      </p:sp>
      <p:sp>
        <p:nvSpPr>
          <p:cNvPr id="23" name="Rectangle 22">
            <a:extLst>
              <a:ext uri="{FF2B5EF4-FFF2-40B4-BE49-F238E27FC236}">
                <a16:creationId xmlns:a16="http://schemas.microsoft.com/office/drawing/2014/main" id="{CF1157D8-7FA6-44EE-9ABA-8C1B2D76EB92}"/>
              </a:ext>
            </a:extLst>
          </p:cNvPr>
          <p:cNvSpPr>
            <a:spLocks noGrp="1"/>
          </p:cNvSpPr>
          <p:nvPr/>
        </p:nvSpPr>
        <p:spPr>
          <a:xfrm>
            <a:off x="400050" y="1885950"/>
            <a:ext cx="5334000" cy="209550"/>
          </a:xfrm>
          <a:prstGeom prst="rect">
            <a:avLst/>
          </a:prstGeom>
          <a:noFill/>
          <a:ln w="0">
            <a:noFill/>
            <a:prstDash val="solid"/>
          </a:ln>
        </p:spPr>
        <p:txBody>
          <a:bodyPr wrap="none" lIns="0" tIns="0" rIns="0" bIns="0" anchor="t"/>
          <a:lstStyle/>
          <a:p>
            <a:pPr algn="l">
              <a:lnSpc>
                <a:spcPct val="100000"/>
              </a:lnSpc>
              <a:buNone/>
              <a:defRPr sz="1200" b="0" i="0">
                <a:solidFill>
                  <a:srgbClr val="111111"/>
                </a:solidFill>
                <a:latin typeface="Arial"/>
                <a:ea typeface="Arial"/>
                <a:cs typeface="Arial"/>
              </a:defRPr>
            </a:pPr>
            <a:r>
              <a:rPr sz="1200" b="0" i="0">
                <a:solidFill>
                  <a:srgbClr val="111111"/>
                </a:solidFill>
                <a:latin typeface="Arial"/>
                <a:ea typeface="Arial"/>
                <a:cs typeface="Arial"/>
              </a:rPr>
              <a:t>Analysis based on RVTools data shared by the customer.</a:t>
            </a:r>
          </a:p>
        </p:txBody>
      </p:sp>
      <p:sp>
        <p:nvSpPr>
          <p:cNvPr id="24" name="Rounded Rectangle 23">
            <a:extLst>
              <a:ext uri="{FF2B5EF4-FFF2-40B4-BE49-F238E27FC236}">
                <a16:creationId xmlns:a16="http://schemas.microsoft.com/office/drawing/2014/main" id="{7742F759-7FA3-4F04-BD5F-BC22AB94CD82}"/>
              </a:ext>
            </a:extLst>
          </p:cNvPr>
          <p:cNvSpPr>
            <a:spLocks noGrp="1"/>
          </p:cNvSpPr>
          <p:nvPr/>
        </p:nvSpPr>
        <p:spPr>
          <a:xfrm>
            <a:off x="400050" y="2181225"/>
            <a:ext cx="11334750" cy="2152650"/>
          </a:xfrm>
          <a:prstGeom prst="roundRect">
            <a:avLst>
              <a:gd name="adj" fmla="val 3097"/>
            </a:avLst>
          </a:prstGeom>
          <a:solidFill>
            <a:srgbClr val="FFFFFF"/>
          </a:solidFill>
          <a:ln w="9525">
            <a:solidFill>
              <a:srgbClr val="D9DEDA"/>
            </a:solidFill>
            <a:prstDash val="solid"/>
          </a:ln>
        </p:spPr>
        <p:style>
          <a:lnRef idx="0">
            <a:scrgbClr r="0" g="0" b="0"/>
          </a:lnRef>
          <a:fillRef idx="0">
            <a:scrgbClr r="0" g="0" b="0"/>
          </a:fillRef>
          <a:effectRef idx="4">
            <a:scrgbClr r="0" g="0" b="0"/>
          </a:effectRef>
          <a:fontRef idx="major"/>
        </p:style>
        <p:txBody>
          <a:bodyPr/>
          <a:lstStyle/>
          <a:p>
            <a:endParaRPr lang="en-FR"/>
          </a:p>
        </p:txBody>
      </p:sp>
      <p:sp>
        <p:nvSpPr>
          <p:cNvPr id="25" name="Rounded Rectangle 24">
            <a:extLst>
              <a:ext uri="{FF2B5EF4-FFF2-40B4-BE49-F238E27FC236}">
                <a16:creationId xmlns:a16="http://schemas.microsoft.com/office/drawing/2014/main" id="{B404DBE3-517A-4268-99D5-24CDE97D5A55}"/>
              </a:ext>
            </a:extLst>
          </p:cNvPr>
          <p:cNvSpPr>
            <a:spLocks noGrp="1"/>
          </p:cNvSpPr>
          <p:nvPr/>
        </p:nvSpPr>
        <p:spPr>
          <a:xfrm>
            <a:off x="400050" y="2181225"/>
            <a:ext cx="11334750" cy="419100"/>
          </a:xfrm>
          <a:prstGeom prst="roundRect">
            <a:avLst>
              <a:gd name="adj" fmla="val 15909"/>
            </a:avLst>
          </a:prstGeom>
          <a:gradFill>
            <a:gsLst>
              <a:gs pos="0">
                <a:srgbClr val="003B25"/>
              </a:gs>
              <a:gs pos="100000">
                <a:srgbClr val="0A4B30"/>
              </a:gs>
            </a:gsLst>
            <a:lin ang="5400000"/>
          </a:gradFill>
          <a:ln w="0">
            <a:noFill/>
            <a:prstDash val="solid"/>
          </a:ln>
        </p:spPr>
        <p:txBody>
          <a:bodyPr/>
          <a:lstStyle/>
          <a:p>
            <a:endParaRPr lang="en-FR"/>
          </a:p>
        </p:txBody>
      </p:sp>
      <p:sp>
        <p:nvSpPr>
          <p:cNvPr id="26" name="Rectangle 25">
            <a:extLst>
              <a:ext uri="{FF2B5EF4-FFF2-40B4-BE49-F238E27FC236}">
                <a16:creationId xmlns:a16="http://schemas.microsoft.com/office/drawing/2014/main" id="{F149E187-8D0C-45BD-B937-45018F857AE1}"/>
              </a:ext>
            </a:extLst>
          </p:cNvPr>
          <p:cNvSpPr>
            <a:spLocks noGrp="1"/>
          </p:cNvSpPr>
          <p:nvPr/>
        </p:nvSpPr>
        <p:spPr>
          <a:xfrm>
            <a:off x="400050" y="2514600"/>
            <a:ext cx="11334750" cy="85725"/>
          </a:xfrm>
          <a:prstGeom prst="rect">
            <a:avLst/>
          </a:prstGeom>
          <a:gradFill>
            <a:gsLst>
              <a:gs pos="0">
                <a:srgbClr val="003B25"/>
              </a:gs>
              <a:gs pos="100000">
                <a:srgbClr val="0A4B30"/>
              </a:gs>
            </a:gsLst>
            <a:lin ang="5400000"/>
          </a:gradFill>
          <a:ln w="0">
            <a:noFill/>
            <a:prstDash val="solid"/>
          </a:ln>
        </p:spPr>
        <p:txBody>
          <a:bodyPr/>
          <a:lstStyle/>
          <a:p>
            <a:endParaRPr lang="en-FR"/>
          </a:p>
        </p:txBody>
      </p:sp>
      <p:pic>
        <p:nvPicPr>
          <p:cNvPr id="101" name="Picture 100"/>
          <p:cNvPicPr>
            <a:picLocks noChangeAspect="1"/>
          </p:cNvPicPr>
          <p:nvPr/>
        </p:nvPicPr>
        <p:blipFill>
          <a:blip r:embed="rId4"/>
          <a:stretch/>
        </p:blipFill>
        <p:spPr>
          <a:xfrm>
            <a:off x="600075" y="2261185"/>
            <a:ext cx="285750" cy="278230"/>
          </a:xfrm>
          <a:prstGeom prst="rect">
            <a:avLst/>
          </a:prstGeom>
        </p:spPr>
      </p:pic>
      <p:sp>
        <p:nvSpPr>
          <p:cNvPr id="28" name="Rectangle 27">
            <a:extLst>
              <a:ext uri="{FF2B5EF4-FFF2-40B4-BE49-F238E27FC236}">
                <a16:creationId xmlns:a16="http://schemas.microsoft.com/office/drawing/2014/main" id="{1FCDE930-188D-4EA2-8394-918FC60EA432}"/>
              </a:ext>
            </a:extLst>
          </p:cNvPr>
          <p:cNvSpPr>
            <a:spLocks noGrp="1"/>
          </p:cNvSpPr>
          <p:nvPr/>
        </p:nvSpPr>
        <p:spPr>
          <a:xfrm>
            <a:off x="981075" y="2333625"/>
            <a:ext cx="2381250" cy="209550"/>
          </a:xfrm>
          <a:prstGeom prst="rect">
            <a:avLst/>
          </a:prstGeom>
          <a:noFill/>
          <a:ln w="0">
            <a:noFill/>
            <a:prstDash val="solid"/>
          </a:ln>
        </p:spPr>
        <p:txBody>
          <a:bodyPr wrap="none" lIns="0" tIns="0" rIns="0" bIns="0" anchor="t"/>
          <a:lstStyle/>
          <a:p>
            <a:pPr algn="l">
              <a:lnSpc>
                <a:spcPct val="100000"/>
              </a:lnSpc>
              <a:buNone/>
              <a:defRPr sz="1350" b="1" i="0">
                <a:solidFill>
                  <a:srgbClr val="FFFFFF"/>
                </a:solidFill>
                <a:latin typeface="Arial"/>
                <a:ea typeface="Arial"/>
                <a:cs typeface="Arial"/>
              </a:defRPr>
            </a:pPr>
            <a:r>
              <a:rPr sz="1350" b="1" i="0">
                <a:solidFill>
                  <a:srgbClr val="FFFFFF"/>
                </a:solidFill>
                <a:latin typeface="Arial"/>
                <a:ea typeface="Arial"/>
                <a:cs typeface="Arial"/>
              </a:rPr>
              <a:t>Datacenter 1 – CLIENT</a:t>
            </a:r>
          </a:p>
        </p:txBody>
      </p:sp>
      <p:sp>
        <p:nvSpPr>
          <p:cNvPr id="29" name="Straight Connector 28">
            <a:extLst>
              <a:ext uri="{FF2B5EF4-FFF2-40B4-BE49-F238E27FC236}">
                <a16:creationId xmlns:a16="http://schemas.microsoft.com/office/drawing/2014/main" id="{073F4B3D-A689-436F-BCE6-8235406074F8}"/>
              </a:ext>
            </a:extLst>
          </p:cNvPr>
          <p:cNvSpPr>
            <a:spLocks noGrp="1"/>
          </p:cNvSpPr>
          <p:nvPr/>
        </p:nvSpPr>
        <p:spPr>
          <a:xfrm>
            <a:off x="3200400" y="2857500"/>
            <a:ext cx="0" cy="1028700"/>
          </a:xfrm>
          <a:prstGeom prst="line">
            <a:avLst/>
          </a:prstGeom>
          <a:noFill/>
          <a:ln w="9525">
            <a:solidFill>
              <a:srgbClr val="C9CECA"/>
            </a:solidFill>
            <a:prstDash val="solid"/>
          </a:ln>
        </p:spPr>
        <p:txBody>
          <a:bodyPr/>
          <a:lstStyle/>
          <a:p>
            <a:endParaRPr lang="en-FR"/>
          </a:p>
        </p:txBody>
      </p:sp>
      <p:sp>
        <p:nvSpPr>
          <p:cNvPr id="30" name="Straight Connector 29">
            <a:extLst>
              <a:ext uri="{FF2B5EF4-FFF2-40B4-BE49-F238E27FC236}">
                <a16:creationId xmlns:a16="http://schemas.microsoft.com/office/drawing/2014/main" id="{FB60119E-4550-4C62-A1C7-2490DD52390F}"/>
              </a:ext>
            </a:extLst>
          </p:cNvPr>
          <p:cNvSpPr>
            <a:spLocks noGrp="1"/>
          </p:cNvSpPr>
          <p:nvPr/>
        </p:nvSpPr>
        <p:spPr>
          <a:xfrm>
            <a:off x="5981700" y="2857500"/>
            <a:ext cx="0" cy="1028700"/>
          </a:xfrm>
          <a:prstGeom prst="line">
            <a:avLst/>
          </a:prstGeom>
          <a:noFill/>
          <a:ln w="9525">
            <a:solidFill>
              <a:srgbClr val="C9CECA"/>
            </a:solidFill>
            <a:prstDash val="solid"/>
          </a:ln>
        </p:spPr>
        <p:txBody>
          <a:bodyPr/>
          <a:lstStyle/>
          <a:p>
            <a:endParaRPr lang="en-FR"/>
          </a:p>
        </p:txBody>
      </p:sp>
      <p:sp>
        <p:nvSpPr>
          <p:cNvPr id="31" name="Straight Connector 30">
            <a:extLst>
              <a:ext uri="{FF2B5EF4-FFF2-40B4-BE49-F238E27FC236}">
                <a16:creationId xmlns:a16="http://schemas.microsoft.com/office/drawing/2014/main" id="{635B3C01-9C5E-4AA0-AC7B-F394D0687E36}"/>
              </a:ext>
            </a:extLst>
          </p:cNvPr>
          <p:cNvSpPr>
            <a:spLocks noGrp="1"/>
          </p:cNvSpPr>
          <p:nvPr/>
        </p:nvSpPr>
        <p:spPr>
          <a:xfrm>
            <a:off x="8724900" y="2857500"/>
            <a:ext cx="0" cy="1028700"/>
          </a:xfrm>
          <a:prstGeom prst="line">
            <a:avLst/>
          </a:prstGeom>
          <a:noFill/>
          <a:ln w="9525">
            <a:solidFill>
              <a:srgbClr val="C9CECA"/>
            </a:solidFill>
            <a:prstDash val="solid"/>
          </a:ln>
        </p:spPr>
        <p:txBody>
          <a:bodyPr/>
          <a:lstStyle/>
          <a:p>
            <a:endParaRPr lang="en-FR"/>
          </a:p>
        </p:txBody>
      </p:sp>
      <p:sp>
        <p:nvSpPr>
          <p:cNvPr id="32" name="Rectangle 31">
            <a:extLst>
              <a:ext uri="{FF2B5EF4-FFF2-40B4-BE49-F238E27FC236}">
                <a16:creationId xmlns:a16="http://schemas.microsoft.com/office/drawing/2014/main" id="{B59BC397-1AED-455B-BFE0-6D1460C9CD8C}"/>
              </a:ext>
            </a:extLst>
          </p:cNvPr>
          <p:cNvSpPr>
            <a:spLocks noGrp="1"/>
          </p:cNvSpPr>
          <p:nvPr/>
        </p:nvSpPr>
        <p:spPr>
          <a:xfrm>
            <a:off x="1171575" y="3362325"/>
            <a:ext cx="1333500" cy="190500"/>
          </a:xfrm>
          <a:prstGeom prst="rect">
            <a:avLst/>
          </a:prstGeom>
          <a:noFill/>
          <a:ln w="0">
            <a:noFill/>
            <a:prstDash val="solid"/>
          </a:ln>
        </p:spPr>
        <p:txBody>
          <a:bodyPr wrap="none" lIns="0" tIns="0" rIns="0" bIns="0" anchor="t"/>
          <a:lstStyle/>
          <a:p>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VMs</a:t>
            </a:r>
          </a:p>
        </p:txBody>
      </p:sp>
      <p:sp>
        <p:nvSpPr>
          <p:cNvPr id="33" name="Rectangle 32">
            <a:extLst>
              <a:ext uri="{FF2B5EF4-FFF2-40B4-BE49-F238E27FC236}">
                <a16:creationId xmlns:a16="http://schemas.microsoft.com/office/drawing/2014/main" id="{127C50D5-D813-45E0-8A65-C431BD0456FE}"/>
              </a:ext>
            </a:extLst>
          </p:cNvPr>
          <p:cNvSpPr>
            <a:spLocks noGrp="1"/>
          </p:cNvSpPr>
          <p:nvPr/>
        </p:nvSpPr>
        <p:spPr>
          <a:xfrm>
            <a:off x="1171575" y="3609975"/>
            <a:ext cx="1333500" cy="247650"/>
          </a:xfrm>
          <a:prstGeom prst="rect">
            <a:avLst/>
          </a:prstGeom>
          <a:noFill/>
          <a:ln w="0">
            <a:noFill/>
            <a:prstDash val="solid"/>
          </a:ln>
        </p:spPr>
        <p:txBody>
          <a:bodyPr wrap="none" lIns="0" tIns="0" rIns="0" bIns="0" anchor="t"/>
          <a:lstStyle/>
          <a:p>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20,100</a:t>
            </a:r>
          </a:p>
        </p:txBody>
      </p:sp>
      <p:pic>
        <p:nvPicPr>
          <p:cNvPr id="108" name="Picture 107"/>
          <p:cNvPicPr>
            <a:picLocks noChangeAspect="1"/>
          </p:cNvPicPr>
          <p:nvPr/>
        </p:nvPicPr>
        <p:blipFill>
          <a:blip r:embed="rId5"/>
          <a:stretch/>
        </p:blipFill>
        <p:spPr>
          <a:xfrm>
            <a:off x="1590675" y="2781300"/>
            <a:ext cx="495300" cy="495300"/>
          </a:xfrm>
          <a:prstGeom prst="rect">
            <a:avLst/>
          </a:prstGeom>
        </p:spPr>
      </p:pic>
      <p:sp>
        <p:nvSpPr>
          <p:cNvPr id="35" name="Rectangle 34">
            <a:extLst>
              <a:ext uri="{FF2B5EF4-FFF2-40B4-BE49-F238E27FC236}">
                <a16:creationId xmlns:a16="http://schemas.microsoft.com/office/drawing/2014/main" id="{CCA77633-015F-457C-984D-6673C096DB92}"/>
              </a:ext>
            </a:extLst>
          </p:cNvPr>
          <p:cNvSpPr>
            <a:spLocks noGrp="1"/>
          </p:cNvSpPr>
          <p:nvPr/>
        </p:nvSpPr>
        <p:spPr>
          <a:xfrm>
            <a:off x="3952875" y="3362325"/>
            <a:ext cx="1333500" cy="190500"/>
          </a:xfrm>
          <a:prstGeom prst="rect">
            <a:avLst/>
          </a:prstGeom>
          <a:noFill/>
          <a:ln w="0">
            <a:noFill/>
            <a:prstDash val="solid"/>
          </a:ln>
        </p:spPr>
        <p:txBody>
          <a:bodyPr wrap="none" lIns="0" tIns="0" rIns="0" bIns="0" anchor="t"/>
          <a:lstStyle/>
          <a:p>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vCPUs</a:t>
            </a:r>
          </a:p>
        </p:txBody>
      </p:sp>
      <p:sp>
        <p:nvSpPr>
          <p:cNvPr id="36" name="Rectangle 35">
            <a:extLst>
              <a:ext uri="{FF2B5EF4-FFF2-40B4-BE49-F238E27FC236}">
                <a16:creationId xmlns:a16="http://schemas.microsoft.com/office/drawing/2014/main" id="{D3349B43-D610-4795-98E9-37BED54D9ECE}"/>
              </a:ext>
            </a:extLst>
          </p:cNvPr>
          <p:cNvSpPr>
            <a:spLocks noGrp="1"/>
          </p:cNvSpPr>
          <p:nvPr/>
        </p:nvSpPr>
        <p:spPr>
          <a:xfrm>
            <a:off x="3952875" y="3609975"/>
            <a:ext cx="1333500" cy="247650"/>
          </a:xfrm>
          <a:prstGeom prst="rect">
            <a:avLst/>
          </a:prstGeom>
          <a:noFill/>
          <a:ln w="0">
            <a:noFill/>
            <a:prstDash val="solid"/>
          </a:ln>
        </p:spPr>
        <p:txBody>
          <a:bodyPr wrap="none" lIns="0" tIns="0" rIns="0" bIns="0" anchor="t"/>
          <a:lstStyle/>
          <a:p>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3,000</a:t>
            </a:r>
          </a:p>
        </p:txBody>
      </p:sp>
      <p:pic>
        <p:nvPicPr>
          <p:cNvPr id="111" name="Picture 110"/>
          <p:cNvPicPr>
            <a:picLocks noChangeAspect="1"/>
          </p:cNvPicPr>
          <p:nvPr/>
        </p:nvPicPr>
        <p:blipFill>
          <a:blip r:embed="rId6"/>
          <a:stretch/>
        </p:blipFill>
        <p:spPr>
          <a:xfrm>
            <a:off x="4371975" y="2781300"/>
            <a:ext cx="495300" cy="495300"/>
          </a:xfrm>
          <a:prstGeom prst="rect">
            <a:avLst/>
          </a:prstGeom>
        </p:spPr>
      </p:pic>
      <p:sp>
        <p:nvSpPr>
          <p:cNvPr id="38" name="Rectangle 37">
            <a:extLst>
              <a:ext uri="{FF2B5EF4-FFF2-40B4-BE49-F238E27FC236}">
                <a16:creationId xmlns:a16="http://schemas.microsoft.com/office/drawing/2014/main" id="{52A61E4A-8FF4-4FA2-BD1B-74AD7A47DE93}"/>
              </a:ext>
            </a:extLst>
          </p:cNvPr>
          <p:cNvSpPr>
            <a:spLocks noGrp="1"/>
          </p:cNvSpPr>
          <p:nvPr/>
        </p:nvSpPr>
        <p:spPr>
          <a:xfrm>
            <a:off x="6696075" y="3362325"/>
            <a:ext cx="1333500" cy="190500"/>
          </a:xfrm>
          <a:prstGeom prst="rect">
            <a:avLst/>
          </a:prstGeom>
          <a:noFill/>
          <a:ln w="0">
            <a:noFill/>
            <a:prstDash val="solid"/>
          </a:ln>
        </p:spPr>
        <p:txBody>
          <a:bodyPr wrap="none" lIns="0" tIns="0" rIns="0" bIns="0" anchor="t"/>
          <a:lstStyle/>
          <a:p>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vRAM (GB)</a:t>
            </a:r>
          </a:p>
        </p:txBody>
      </p:sp>
      <p:sp>
        <p:nvSpPr>
          <p:cNvPr id="39" name="Rectangle 38">
            <a:extLst>
              <a:ext uri="{FF2B5EF4-FFF2-40B4-BE49-F238E27FC236}">
                <a16:creationId xmlns:a16="http://schemas.microsoft.com/office/drawing/2014/main" id="{90A624D4-C31B-42AE-A588-376259BB8A49}"/>
              </a:ext>
            </a:extLst>
          </p:cNvPr>
          <p:cNvSpPr>
            <a:spLocks noGrp="1"/>
          </p:cNvSpPr>
          <p:nvPr/>
        </p:nvSpPr>
        <p:spPr>
          <a:xfrm>
            <a:off x="6696075" y="3609975"/>
            <a:ext cx="1333500" cy="247650"/>
          </a:xfrm>
          <a:prstGeom prst="rect">
            <a:avLst/>
          </a:prstGeom>
          <a:noFill/>
          <a:ln w="0">
            <a:noFill/>
            <a:prstDash val="solid"/>
          </a:ln>
        </p:spPr>
        <p:txBody>
          <a:bodyPr wrap="none" lIns="0" tIns="0" rIns="0" bIns="0" anchor="t"/>
          <a:lstStyle/>
          <a:p>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30,000</a:t>
            </a:r>
          </a:p>
        </p:txBody>
      </p:sp>
      <p:pic>
        <p:nvPicPr>
          <p:cNvPr id="114" name="Picture 113"/>
          <p:cNvPicPr>
            <a:picLocks noChangeAspect="1"/>
          </p:cNvPicPr>
          <p:nvPr/>
        </p:nvPicPr>
        <p:blipFill>
          <a:blip r:embed="rId7"/>
          <a:stretch/>
        </p:blipFill>
        <p:spPr>
          <a:xfrm>
            <a:off x="7115175" y="2781300"/>
            <a:ext cx="495300" cy="495300"/>
          </a:xfrm>
          <a:prstGeom prst="rect">
            <a:avLst/>
          </a:prstGeom>
        </p:spPr>
      </p:pic>
      <p:sp>
        <p:nvSpPr>
          <p:cNvPr id="41" name="Rectangle 40">
            <a:extLst>
              <a:ext uri="{FF2B5EF4-FFF2-40B4-BE49-F238E27FC236}">
                <a16:creationId xmlns:a16="http://schemas.microsoft.com/office/drawing/2014/main" id="{8F1EB62F-0498-4D60-9534-8F4AE5E5A7C5}"/>
              </a:ext>
            </a:extLst>
          </p:cNvPr>
          <p:cNvSpPr>
            <a:spLocks noGrp="1"/>
          </p:cNvSpPr>
          <p:nvPr/>
        </p:nvSpPr>
        <p:spPr>
          <a:xfrm>
            <a:off x="9448800" y="3362325"/>
            <a:ext cx="1333500" cy="190500"/>
          </a:xfrm>
          <a:prstGeom prst="rect">
            <a:avLst/>
          </a:prstGeom>
          <a:noFill/>
          <a:ln w="0">
            <a:noFill/>
            <a:prstDash val="solid"/>
          </a:ln>
        </p:spPr>
        <p:txBody>
          <a:bodyPr wrap="none" lIns="0" tIns="0" rIns="0" bIns="0" anchor="t"/>
          <a:lstStyle/>
          <a:p>
            <a:pPr algn="ctr">
              <a:lnSpc>
                <a:spcPct val="100000"/>
              </a:lnSpc>
              <a:buNone/>
              <a:defRPr sz="1050" b="1" i="0">
                <a:solidFill>
                  <a:srgbClr val="111111"/>
                </a:solidFill>
                <a:latin typeface="Arial"/>
                <a:ea typeface="Arial"/>
                <a:cs typeface="Arial"/>
              </a:defRPr>
            </a:pPr>
            <a:r>
              <a:rPr sz="1050" b="1" i="0">
                <a:solidFill>
                  <a:srgbClr val="111111"/>
                </a:solidFill>
                <a:latin typeface="Arial"/>
                <a:ea typeface="Arial"/>
                <a:cs typeface="Arial"/>
              </a:rPr>
              <a:t>Storage (TB)</a:t>
            </a:r>
          </a:p>
        </p:txBody>
      </p:sp>
      <p:sp>
        <p:nvSpPr>
          <p:cNvPr id="42" name="Rectangle 41">
            <a:extLst>
              <a:ext uri="{FF2B5EF4-FFF2-40B4-BE49-F238E27FC236}">
                <a16:creationId xmlns:a16="http://schemas.microsoft.com/office/drawing/2014/main" id="{84830E81-2535-4FE2-8239-D8779C43C1A8}"/>
              </a:ext>
            </a:extLst>
          </p:cNvPr>
          <p:cNvSpPr>
            <a:spLocks noGrp="1"/>
          </p:cNvSpPr>
          <p:nvPr/>
        </p:nvSpPr>
        <p:spPr>
          <a:xfrm>
            <a:off x="9448800" y="3609975"/>
            <a:ext cx="1333500" cy="247650"/>
          </a:xfrm>
          <a:prstGeom prst="rect">
            <a:avLst/>
          </a:prstGeom>
          <a:noFill/>
          <a:ln w="0">
            <a:noFill/>
            <a:prstDash val="solid"/>
          </a:ln>
        </p:spPr>
        <p:txBody>
          <a:bodyPr wrap="none" lIns="0" tIns="0" rIns="0" bIns="0" anchor="t"/>
          <a:lstStyle/>
          <a:p>
            <a:pPr algn="ctr">
              <a:lnSpc>
                <a:spcPct val="100000"/>
              </a:lnSpc>
              <a:buNone/>
              <a:defRPr sz="1650" b="1" i="0">
                <a:solidFill>
                  <a:srgbClr val="003B25"/>
                </a:solidFill>
                <a:latin typeface="Arial"/>
                <a:ea typeface="Arial"/>
                <a:cs typeface="Arial"/>
              </a:defRPr>
            </a:pPr>
            <a:r>
              <a:rPr sz="1650" b="1" i="0">
                <a:solidFill>
                  <a:srgbClr val="003B25"/>
                </a:solidFill>
                <a:latin typeface="Arial"/>
                <a:ea typeface="Arial"/>
                <a:cs typeface="Arial"/>
              </a:rPr>
              <a:t>210</a:t>
            </a:r>
          </a:p>
        </p:txBody>
      </p:sp>
      <p:pic>
        <p:nvPicPr>
          <p:cNvPr id="117" name="Picture 116"/>
          <p:cNvPicPr>
            <a:picLocks noChangeAspect="1"/>
          </p:cNvPicPr>
          <p:nvPr/>
        </p:nvPicPr>
        <p:blipFill>
          <a:blip r:embed="rId8"/>
          <a:stretch/>
        </p:blipFill>
        <p:spPr>
          <a:xfrm>
            <a:off x="9867900" y="2781300"/>
            <a:ext cx="495300" cy="495300"/>
          </a:xfrm>
          <a:prstGeom prst="rect">
            <a:avLst/>
          </a:prstGeom>
        </p:spPr>
      </p:pic>
      <p:sp>
        <p:nvSpPr>
          <p:cNvPr id="44" name="Rectangle 43">
            <a:extLst>
              <a:ext uri="{FF2B5EF4-FFF2-40B4-BE49-F238E27FC236}">
                <a16:creationId xmlns:a16="http://schemas.microsoft.com/office/drawing/2014/main" id="{40B2A91E-AAE2-4FEB-AD52-D18E23D0EC0B}"/>
              </a:ext>
            </a:extLst>
          </p:cNvPr>
          <p:cNvSpPr>
            <a:spLocks noGrp="1"/>
          </p:cNvSpPr>
          <p:nvPr/>
        </p:nvSpPr>
        <p:spPr>
          <a:xfrm>
            <a:off x="1323975" y="3876675"/>
            <a:ext cx="428625" cy="171450"/>
          </a:xfrm>
          <a:prstGeom prst="rect">
            <a:avLst/>
          </a:prstGeom>
          <a:noFill/>
          <a:ln w="0">
            <a:noFill/>
            <a:prstDash val="solid"/>
          </a:ln>
        </p:spPr>
        <p:txBody>
          <a:bodyPr wrap="none" lIns="0" tIns="0" rIns="0" bIns="0" anchor="t"/>
          <a:lstStyle/>
          <a:p>
            <a:pPr algn="r">
              <a:lnSpc>
                <a:spcPct val="100000"/>
              </a:lnSpc>
              <a:buNone/>
              <a:defRPr sz="825" b="0" i="0">
                <a:solidFill>
                  <a:srgbClr val="111111"/>
                </a:solidFill>
                <a:latin typeface="Arial"/>
                <a:ea typeface="Arial"/>
                <a:cs typeface="Arial"/>
              </a:defRPr>
            </a:pPr>
            <a:r>
              <a:rPr sz="825" b="0" i="0">
                <a:solidFill>
                  <a:srgbClr val="111111"/>
                </a:solidFill>
                <a:latin typeface="Arial"/>
                <a:ea typeface="Arial"/>
                <a:cs typeface="Arial"/>
              </a:rPr>
              <a:t>18,400</a:t>
            </a:r>
          </a:p>
        </p:txBody>
      </p:sp>
      <p:sp>
        <p:nvSpPr>
          <p:cNvPr id="45" name="Rectangle 44">
            <a:extLst>
              <a:ext uri="{FF2B5EF4-FFF2-40B4-BE49-F238E27FC236}">
                <a16:creationId xmlns:a16="http://schemas.microsoft.com/office/drawing/2014/main" id="{277AB89B-0977-4880-A97D-D7648C371A3B}"/>
              </a:ext>
            </a:extLst>
          </p:cNvPr>
          <p:cNvSpPr>
            <a:spLocks noGrp="1"/>
          </p:cNvSpPr>
          <p:nvPr/>
        </p:nvSpPr>
        <p:spPr>
          <a:xfrm>
            <a:off x="1800225" y="3876675"/>
            <a:ext cx="809625" cy="171450"/>
          </a:xfrm>
          <a:prstGeom prst="rect">
            <a:avLst/>
          </a:prstGeom>
          <a:noFill/>
          <a:ln w="0">
            <a:noFill/>
            <a:prstDash val="solid"/>
          </a:ln>
        </p:spPr>
        <p:txBody>
          <a:bodyPr wrap="none" lIns="0" tIns="0" rIns="0" bIns="0" anchor="t"/>
          <a:lstStyle/>
          <a:p>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Powered On</a:t>
            </a:r>
          </a:p>
        </p:txBody>
      </p:sp>
      <p:sp>
        <p:nvSpPr>
          <p:cNvPr id="46" name="Rectangle 45">
            <a:extLst>
              <a:ext uri="{FF2B5EF4-FFF2-40B4-BE49-F238E27FC236}">
                <a16:creationId xmlns:a16="http://schemas.microsoft.com/office/drawing/2014/main" id="{F7F48385-3BC4-475A-A935-67C101D814FB}"/>
              </a:ext>
            </a:extLst>
          </p:cNvPr>
          <p:cNvSpPr>
            <a:spLocks noGrp="1"/>
          </p:cNvSpPr>
          <p:nvPr/>
        </p:nvSpPr>
        <p:spPr>
          <a:xfrm>
            <a:off x="1323975" y="4067175"/>
            <a:ext cx="428625" cy="171450"/>
          </a:xfrm>
          <a:prstGeom prst="rect">
            <a:avLst/>
          </a:prstGeom>
          <a:noFill/>
          <a:ln w="0">
            <a:noFill/>
            <a:prstDash val="solid"/>
          </a:ln>
        </p:spPr>
        <p:txBody>
          <a:bodyPr wrap="none" lIns="0" tIns="0" rIns="0" bIns="0" anchor="t"/>
          <a:lstStyle/>
          <a:p>
            <a:pPr algn="r">
              <a:lnSpc>
                <a:spcPct val="100000"/>
              </a:lnSpc>
              <a:buNone/>
              <a:defRPr sz="825" b="0" i="0">
                <a:solidFill>
                  <a:srgbClr val="111111"/>
                </a:solidFill>
                <a:latin typeface="Arial"/>
                <a:ea typeface="Arial"/>
                <a:cs typeface="Arial"/>
              </a:defRPr>
            </a:pPr>
            <a:r>
              <a:rPr sz="825" b="0" i="0">
                <a:solidFill>
                  <a:srgbClr val="111111"/>
                </a:solidFill>
                <a:latin typeface="Arial"/>
                <a:ea typeface="Arial"/>
                <a:cs typeface="Arial"/>
              </a:rPr>
              <a:t>1,700</a:t>
            </a:r>
          </a:p>
        </p:txBody>
      </p:sp>
      <p:sp>
        <p:nvSpPr>
          <p:cNvPr id="47" name="Rectangle 46">
            <a:extLst>
              <a:ext uri="{FF2B5EF4-FFF2-40B4-BE49-F238E27FC236}">
                <a16:creationId xmlns:a16="http://schemas.microsoft.com/office/drawing/2014/main" id="{4F72CCE0-CF33-447A-9A99-12F0DB96E23B}"/>
              </a:ext>
            </a:extLst>
          </p:cNvPr>
          <p:cNvSpPr>
            <a:spLocks noGrp="1"/>
          </p:cNvSpPr>
          <p:nvPr/>
        </p:nvSpPr>
        <p:spPr>
          <a:xfrm>
            <a:off x="1800225" y="4067175"/>
            <a:ext cx="876300" cy="171450"/>
          </a:xfrm>
          <a:prstGeom prst="rect">
            <a:avLst/>
          </a:prstGeom>
          <a:noFill/>
          <a:ln w="0">
            <a:noFill/>
            <a:prstDash val="solid"/>
          </a:ln>
        </p:spPr>
        <p:txBody>
          <a:bodyPr wrap="none" lIns="0" tIns="0" rIns="0" bIns="0" anchor="t"/>
          <a:lstStyle/>
          <a:p>
            <a:pPr algn="l">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Powered Off</a:t>
            </a:r>
          </a:p>
        </p:txBody>
      </p:sp>
      <p:sp>
        <p:nvSpPr>
          <p:cNvPr id="48" name="Rounded Rectangle 47">
            <a:extLst>
              <a:ext uri="{FF2B5EF4-FFF2-40B4-BE49-F238E27FC236}">
                <a16:creationId xmlns:a16="http://schemas.microsoft.com/office/drawing/2014/main" id="{298F7E7A-D055-437F-B62D-B044692E6F88}"/>
              </a:ext>
            </a:extLst>
          </p:cNvPr>
          <p:cNvSpPr>
            <a:spLocks noGrp="1"/>
          </p:cNvSpPr>
          <p:nvPr/>
        </p:nvSpPr>
        <p:spPr>
          <a:xfrm>
            <a:off x="400050" y="4486275"/>
            <a:ext cx="11334750" cy="1009650"/>
          </a:xfrm>
          <a:prstGeom prst="roundRect">
            <a:avLst>
              <a:gd name="adj" fmla="val 6604"/>
            </a:avLst>
          </a:prstGeom>
          <a:solidFill>
            <a:srgbClr val="F3F7F5"/>
          </a:solidFill>
          <a:ln w="9525">
            <a:solidFill>
              <a:srgbClr val="D9DEDA"/>
            </a:solidFill>
            <a:prstDash val="solid"/>
          </a:ln>
        </p:spPr>
        <p:style>
          <a:lnRef idx="0">
            <a:scrgbClr r="0" g="0" b="0"/>
          </a:lnRef>
          <a:fillRef idx="0">
            <a:scrgbClr r="0" g="0" b="0"/>
          </a:fillRef>
          <a:effectRef idx="4">
            <a:scrgbClr r="0" g="0" b="0"/>
          </a:effectRef>
          <a:fontRef idx="major"/>
        </p:style>
        <p:txBody>
          <a:bodyPr/>
          <a:lstStyle/>
          <a:p>
            <a:endParaRPr lang="en-FR"/>
          </a:p>
        </p:txBody>
      </p:sp>
      <p:sp>
        <p:nvSpPr>
          <p:cNvPr id="49" name="Rounded Rectangle 48">
            <a:extLst>
              <a:ext uri="{FF2B5EF4-FFF2-40B4-BE49-F238E27FC236}">
                <a16:creationId xmlns:a16="http://schemas.microsoft.com/office/drawing/2014/main" id="{F92C2AB9-B877-4DDB-BCDD-C92BBFD94A50}"/>
              </a:ext>
            </a:extLst>
          </p:cNvPr>
          <p:cNvSpPr>
            <a:spLocks noGrp="1"/>
          </p:cNvSpPr>
          <p:nvPr/>
        </p:nvSpPr>
        <p:spPr>
          <a:xfrm>
            <a:off x="400050" y="4486275"/>
            <a:ext cx="1819275" cy="1009650"/>
          </a:xfrm>
          <a:prstGeom prst="roundRect">
            <a:avLst>
              <a:gd name="adj" fmla="val 6604"/>
            </a:avLst>
          </a:prstGeom>
          <a:gradFill>
            <a:gsLst>
              <a:gs pos="0">
                <a:srgbClr val="003B25"/>
              </a:gs>
              <a:gs pos="100000">
                <a:srgbClr val="0A4B30"/>
              </a:gs>
            </a:gsLst>
            <a:lin ang="5400000"/>
          </a:gradFill>
          <a:ln w="0">
            <a:noFill/>
            <a:prstDash val="solid"/>
          </a:ln>
        </p:spPr>
        <p:txBody>
          <a:bodyPr/>
          <a:lstStyle/>
          <a:p>
            <a:endParaRPr lang="en-FR"/>
          </a:p>
        </p:txBody>
      </p:sp>
      <p:sp>
        <p:nvSpPr>
          <p:cNvPr id="50" name="Rectangle 49">
            <a:extLst>
              <a:ext uri="{FF2B5EF4-FFF2-40B4-BE49-F238E27FC236}">
                <a16:creationId xmlns:a16="http://schemas.microsoft.com/office/drawing/2014/main" id="{47D07B68-7D3B-4636-AEC8-6CB4A4FC4595}"/>
              </a:ext>
            </a:extLst>
          </p:cNvPr>
          <p:cNvSpPr>
            <a:spLocks noGrp="1"/>
          </p:cNvSpPr>
          <p:nvPr/>
        </p:nvSpPr>
        <p:spPr>
          <a:xfrm>
            <a:off x="1447800" y="4486275"/>
            <a:ext cx="771525" cy="1009650"/>
          </a:xfrm>
          <a:prstGeom prst="rect">
            <a:avLst/>
          </a:prstGeom>
          <a:gradFill>
            <a:gsLst>
              <a:gs pos="0">
                <a:srgbClr val="003B25"/>
              </a:gs>
              <a:gs pos="100000">
                <a:srgbClr val="0A4B30"/>
              </a:gs>
            </a:gsLst>
            <a:lin ang="5400000"/>
          </a:gradFill>
          <a:ln w="0">
            <a:noFill/>
            <a:prstDash val="solid"/>
          </a:ln>
        </p:spPr>
        <p:txBody>
          <a:bodyPr/>
          <a:lstStyle/>
          <a:p>
            <a:endParaRPr lang="en-FR"/>
          </a:p>
        </p:txBody>
      </p:sp>
      <p:pic>
        <p:nvPicPr>
          <p:cNvPr id="125" name="Picture 124"/>
          <p:cNvPicPr>
            <a:picLocks noChangeAspect="1"/>
          </p:cNvPicPr>
          <p:nvPr/>
        </p:nvPicPr>
        <p:blipFill>
          <a:blip r:embed="rId9"/>
          <a:stretch/>
        </p:blipFill>
        <p:spPr>
          <a:xfrm>
            <a:off x="1076325" y="4671030"/>
            <a:ext cx="476250" cy="468690"/>
          </a:xfrm>
          <a:prstGeom prst="rect">
            <a:avLst/>
          </a:prstGeom>
        </p:spPr>
      </p:pic>
      <p:sp>
        <p:nvSpPr>
          <p:cNvPr id="52" name="Rectangle 51">
            <a:extLst>
              <a:ext uri="{FF2B5EF4-FFF2-40B4-BE49-F238E27FC236}">
                <a16:creationId xmlns:a16="http://schemas.microsoft.com/office/drawing/2014/main" id="{7135EB0C-DEDC-471B-8F07-A8F41F1E2D6A}"/>
              </a:ext>
            </a:extLst>
          </p:cNvPr>
          <p:cNvSpPr>
            <a:spLocks noGrp="1"/>
          </p:cNvSpPr>
          <p:nvPr/>
        </p:nvSpPr>
        <p:spPr>
          <a:xfrm>
            <a:off x="666750" y="5162550"/>
            <a:ext cx="1257300" cy="209550"/>
          </a:xfrm>
          <a:prstGeom prst="rect">
            <a:avLst/>
          </a:prstGeom>
          <a:noFill/>
          <a:ln w="0">
            <a:noFill/>
            <a:prstDash val="solid"/>
          </a:ln>
        </p:spPr>
        <p:txBody>
          <a:bodyPr wrap="none" lIns="0" tIns="0" rIns="0" bIns="0" anchor="t"/>
          <a:lstStyle/>
          <a:p>
            <a:pPr algn="ctr">
              <a:lnSpc>
                <a:spcPct val="100000"/>
              </a:lnSpc>
              <a:buNone/>
              <a:defRPr sz="1200" b="1" i="0">
                <a:solidFill>
                  <a:srgbClr val="FFFFFF"/>
                </a:solidFill>
                <a:latin typeface="Arial"/>
                <a:ea typeface="Arial"/>
                <a:cs typeface="Arial"/>
              </a:defRPr>
            </a:pPr>
            <a:r>
              <a:rPr sz="1200" b="1" i="0" dirty="0">
                <a:solidFill>
                  <a:srgbClr val="FFFFFF"/>
                </a:solidFill>
                <a:latin typeface="Arial"/>
                <a:ea typeface="Arial"/>
                <a:cs typeface="Arial"/>
              </a:rPr>
              <a:t>Total Environment</a:t>
            </a:r>
          </a:p>
        </p:txBody>
      </p:sp>
      <p:sp>
        <p:nvSpPr>
          <p:cNvPr id="53" name="Straight Connector 52">
            <a:extLst>
              <a:ext uri="{FF2B5EF4-FFF2-40B4-BE49-F238E27FC236}">
                <a16:creationId xmlns:a16="http://schemas.microsoft.com/office/drawing/2014/main" id="{6A04919F-C898-4046-9165-502C7FD7BAF0}"/>
              </a:ext>
            </a:extLst>
          </p:cNvPr>
          <p:cNvSpPr>
            <a:spLocks noGrp="1"/>
          </p:cNvSpPr>
          <p:nvPr/>
        </p:nvSpPr>
        <p:spPr>
          <a:xfrm>
            <a:off x="4686300" y="4714875"/>
            <a:ext cx="0" cy="590550"/>
          </a:xfrm>
          <a:prstGeom prst="line">
            <a:avLst/>
          </a:prstGeom>
          <a:noFill/>
          <a:ln w="9525">
            <a:solidFill>
              <a:srgbClr val="C9CECA"/>
            </a:solidFill>
            <a:prstDash val="solid"/>
          </a:ln>
        </p:spPr>
        <p:txBody>
          <a:bodyPr/>
          <a:lstStyle/>
          <a:p>
            <a:endParaRPr lang="en-FR"/>
          </a:p>
        </p:txBody>
      </p:sp>
      <p:sp>
        <p:nvSpPr>
          <p:cNvPr id="54" name="Straight Connector 53">
            <a:extLst>
              <a:ext uri="{FF2B5EF4-FFF2-40B4-BE49-F238E27FC236}">
                <a16:creationId xmlns:a16="http://schemas.microsoft.com/office/drawing/2014/main" id="{279DB36C-681C-4FD2-A588-9A4BF85211F2}"/>
              </a:ext>
            </a:extLst>
          </p:cNvPr>
          <p:cNvSpPr>
            <a:spLocks noGrp="1"/>
          </p:cNvSpPr>
          <p:nvPr/>
        </p:nvSpPr>
        <p:spPr>
          <a:xfrm>
            <a:off x="7029450" y="4714875"/>
            <a:ext cx="0" cy="590550"/>
          </a:xfrm>
          <a:prstGeom prst="line">
            <a:avLst/>
          </a:prstGeom>
          <a:noFill/>
          <a:ln w="9525">
            <a:solidFill>
              <a:srgbClr val="C9CECA"/>
            </a:solidFill>
            <a:prstDash val="solid"/>
          </a:ln>
        </p:spPr>
        <p:txBody>
          <a:bodyPr/>
          <a:lstStyle/>
          <a:p>
            <a:endParaRPr lang="en-FR"/>
          </a:p>
        </p:txBody>
      </p:sp>
      <p:sp>
        <p:nvSpPr>
          <p:cNvPr id="55" name="Straight Connector 54">
            <a:extLst>
              <a:ext uri="{FF2B5EF4-FFF2-40B4-BE49-F238E27FC236}">
                <a16:creationId xmlns:a16="http://schemas.microsoft.com/office/drawing/2014/main" id="{C8F92710-B721-4F19-B1ED-A9D5B1B54C85}"/>
              </a:ext>
            </a:extLst>
          </p:cNvPr>
          <p:cNvSpPr>
            <a:spLocks noGrp="1"/>
          </p:cNvSpPr>
          <p:nvPr/>
        </p:nvSpPr>
        <p:spPr>
          <a:xfrm>
            <a:off x="9486900" y="4714875"/>
            <a:ext cx="0" cy="590550"/>
          </a:xfrm>
          <a:prstGeom prst="line">
            <a:avLst/>
          </a:prstGeom>
          <a:noFill/>
          <a:ln w="9525">
            <a:solidFill>
              <a:srgbClr val="C9CECA"/>
            </a:solidFill>
            <a:prstDash val="solid"/>
          </a:ln>
        </p:spPr>
        <p:txBody>
          <a:bodyPr/>
          <a:lstStyle/>
          <a:p>
            <a:endParaRPr lang="en-FR"/>
          </a:p>
        </p:txBody>
      </p:sp>
      <p:sp>
        <p:nvSpPr>
          <p:cNvPr id="56" name="Rectangle 55">
            <a:extLst>
              <a:ext uri="{FF2B5EF4-FFF2-40B4-BE49-F238E27FC236}">
                <a16:creationId xmlns:a16="http://schemas.microsoft.com/office/drawing/2014/main" id="{347AE0DB-5FC1-4C08-A3B9-5D2E17AF0014}"/>
              </a:ext>
            </a:extLst>
          </p:cNvPr>
          <p:cNvSpPr>
            <a:spLocks noGrp="1"/>
          </p:cNvSpPr>
          <p:nvPr/>
        </p:nvSpPr>
        <p:spPr>
          <a:xfrm>
            <a:off x="3343275" y="4714875"/>
            <a:ext cx="1143000" cy="171450"/>
          </a:xfrm>
          <a:prstGeom prst="rect">
            <a:avLst/>
          </a:prstGeom>
          <a:noFill/>
          <a:ln w="0">
            <a:noFill/>
            <a:prstDash val="solid"/>
          </a:ln>
        </p:spPr>
        <p:txBody>
          <a:bodyPr wrap="none" lIns="0" tIns="0" rIns="0" bIns="0" anchor="t"/>
          <a:lstStyle/>
          <a:p>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VMs</a:t>
            </a:r>
          </a:p>
        </p:txBody>
      </p:sp>
      <p:sp>
        <p:nvSpPr>
          <p:cNvPr id="57" name="Rectangle 56">
            <a:extLst>
              <a:ext uri="{FF2B5EF4-FFF2-40B4-BE49-F238E27FC236}">
                <a16:creationId xmlns:a16="http://schemas.microsoft.com/office/drawing/2014/main" id="{51D8B33B-988C-462B-91B7-386F22B8BCA6}"/>
              </a:ext>
            </a:extLst>
          </p:cNvPr>
          <p:cNvSpPr>
            <a:spLocks noGrp="1"/>
          </p:cNvSpPr>
          <p:nvPr/>
        </p:nvSpPr>
        <p:spPr>
          <a:xfrm>
            <a:off x="3343275" y="4972050"/>
            <a:ext cx="1143000" cy="257175"/>
          </a:xfrm>
          <a:prstGeom prst="rect">
            <a:avLst/>
          </a:prstGeom>
          <a:noFill/>
          <a:ln w="0">
            <a:noFill/>
            <a:prstDash val="solid"/>
          </a:ln>
        </p:spPr>
        <p:txBody>
          <a:bodyPr wrap="none" lIns="0" tIns="0" rIns="0" bIns="0" anchor="t"/>
          <a:lstStyle/>
          <a:p>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20,100</a:t>
            </a:r>
          </a:p>
        </p:txBody>
      </p:sp>
      <p:pic>
        <p:nvPicPr>
          <p:cNvPr id="132" name="Picture 131"/>
          <p:cNvPicPr>
            <a:picLocks noChangeAspect="1"/>
          </p:cNvPicPr>
          <p:nvPr/>
        </p:nvPicPr>
        <p:blipFill>
          <a:blip r:embed="rId10"/>
          <a:stretch/>
        </p:blipFill>
        <p:spPr>
          <a:xfrm>
            <a:off x="2887742" y="4905375"/>
            <a:ext cx="396716" cy="323850"/>
          </a:xfrm>
          <a:prstGeom prst="rect">
            <a:avLst/>
          </a:prstGeom>
        </p:spPr>
      </p:pic>
      <p:sp>
        <p:nvSpPr>
          <p:cNvPr id="59" name="Rectangle 58">
            <a:extLst>
              <a:ext uri="{FF2B5EF4-FFF2-40B4-BE49-F238E27FC236}">
                <a16:creationId xmlns:a16="http://schemas.microsoft.com/office/drawing/2014/main" id="{8DF81488-E310-4D2F-9D0F-A65D6E2C5976}"/>
              </a:ext>
            </a:extLst>
          </p:cNvPr>
          <p:cNvSpPr>
            <a:spLocks noGrp="1"/>
          </p:cNvSpPr>
          <p:nvPr/>
        </p:nvSpPr>
        <p:spPr>
          <a:xfrm>
            <a:off x="3286125" y="5229225"/>
            <a:ext cx="1285875" cy="171450"/>
          </a:xfrm>
          <a:prstGeom prst="rect">
            <a:avLst/>
          </a:prstGeom>
          <a:noFill/>
          <a:ln w="0">
            <a:noFill/>
            <a:prstDash val="solid"/>
          </a:ln>
        </p:spPr>
        <p:txBody>
          <a:bodyPr wrap="none" lIns="0" tIns="0" rIns="0" bIns="0" anchor="t"/>
          <a:lstStyle/>
          <a:p>
            <a:pPr algn="ctr">
              <a:lnSpc>
                <a:spcPct val="100000"/>
              </a:lnSpc>
              <a:buNone/>
              <a:defRPr sz="825" b="1" i="0">
                <a:solidFill>
                  <a:srgbClr val="111111"/>
                </a:solidFill>
                <a:latin typeface="Arial"/>
                <a:ea typeface="Arial"/>
                <a:cs typeface="Arial"/>
              </a:defRPr>
            </a:pPr>
            <a:r>
              <a:rPr sz="825" b="1" i="0">
                <a:solidFill>
                  <a:srgbClr val="111111"/>
                </a:solidFill>
                <a:latin typeface="Arial"/>
                <a:ea typeface="Arial"/>
                <a:cs typeface="Arial"/>
              </a:rPr>
              <a:t>18,400 Powered On</a:t>
            </a:r>
          </a:p>
        </p:txBody>
      </p:sp>
      <p:sp>
        <p:nvSpPr>
          <p:cNvPr id="60" name="Rectangle 59">
            <a:extLst>
              <a:ext uri="{FF2B5EF4-FFF2-40B4-BE49-F238E27FC236}">
                <a16:creationId xmlns:a16="http://schemas.microsoft.com/office/drawing/2014/main" id="{51FD95D0-64F2-4723-B4EF-3731265C852D}"/>
              </a:ext>
            </a:extLst>
          </p:cNvPr>
          <p:cNvSpPr>
            <a:spLocks noGrp="1"/>
          </p:cNvSpPr>
          <p:nvPr/>
        </p:nvSpPr>
        <p:spPr>
          <a:xfrm>
            <a:off x="3286125" y="5391150"/>
            <a:ext cx="1285875" cy="171450"/>
          </a:xfrm>
          <a:prstGeom prst="rect">
            <a:avLst/>
          </a:prstGeom>
          <a:noFill/>
          <a:ln w="0">
            <a:noFill/>
            <a:prstDash val="solid"/>
          </a:ln>
        </p:spPr>
        <p:txBody>
          <a:bodyPr wrap="none" lIns="0" tIns="0" rIns="0" bIns="0" anchor="t"/>
          <a:lstStyle/>
          <a:p>
            <a:pPr algn="ctr">
              <a:lnSpc>
                <a:spcPct val="100000"/>
              </a:lnSpc>
              <a:buNone/>
              <a:defRPr sz="825" b="1" i="0">
                <a:solidFill>
                  <a:srgbClr val="111111"/>
                </a:solidFill>
                <a:latin typeface="Arial"/>
                <a:ea typeface="Arial"/>
                <a:cs typeface="Arial"/>
              </a:defRPr>
            </a:pPr>
            <a:r>
              <a:rPr sz="825" b="1" i="0">
                <a:solidFill>
                  <a:srgbClr val="111111"/>
                </a:solidFill>
                <a:latin typeface="Arial"/>
                <a:ea typeface="Arial"/>
                <a:cs typeface="Arial"/>
              </a:rPr>
              <a:t>1,700 Powered Off</a:t>
            </a:r>
          </a:p>
        </p:txBody>
      </p:sp>
      <p:sp>
        <p:nvSpPr>
          <p:cNvPr id="61" name="Rectangle 60">
            <a:extLst>
              <a:ext uri="{FF2B5EF4-FFF2-40B4-BE49-F238E27FC236}">
                <a16:creationId xmlns:a16="http://schemas.microsoft.com/office/drawing/2014/main" id="{9F4CC3CC-C30D-4DD3-B648-2B2F6B76145C}"/>
              </a:ext>
            </a:extLst>
          </p:cNvPr>
          <p:cNvSpPr>
            <a:spLocks noGrp="1"/>
          </p:cNvSpPr>
          <p:nvPr/>
        </p:nvSpPr>
        <p:spPr>
          <a:xfrm>
            <a:off x="5743575" y="4714875"/>
            <a:ext cx="1143000" cy="171450"/>
          </a:xfrm>
          <a:prstGeom prst="rect">
            <a:avLst/>
          </a:prstGeom>
          <a:noFill/>
          <a:ln w="0">
            <a:noFill/>
            <a:prstDash val="solid"/>
          </a:ln>
        </p:spPr>
        <p:txBody>
          <a:bodyPr wrap="none" lIns="0" tIns="0" rIns="0" bIns="0" anchor="t"/>
          <a:lstStyle/>
          <a:p>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vCPUs</a:t>
            </a:r>
          </a:p>
        </p:txBody>
      </p:sp>
      <p:sp>
        <p:nvSpPr>
          <p:cNvPr id="62" name="Rectangle 61">
            <a:extLst>
              <a:ext uri="{FF2B5EF4-FFF2-40B4-BE49-F238E27FC236}">
                <a16:creationId xmlns:a16="http://schemas.microsoft.com/office/drawing/2014/main" id="{E325BBAA-CE89-47A2-A7F4-5A715EE06FCB}"/>
              </a:ext>
            </a:extLst>
          </p:cNvPr>
          <p:cNvSpPr>
            <a:spLocks noGrp="1"/>
          </p:cNvSpPr>
          <p:nvPr/>
        </p:nvSpPr>
        <p:spPr>
          <a:xfrm>
            <a:off x="5743575" y="4972050"/>
            <a:ext cx="1143000" cy="257175"/>
          </a:xfrm>
          <a:prstGeom prst="rect">
            <a:avLst/>
          </a:prstGeom>
          <a:noFill/>
          <a:ln w="0">
            <a:noFill/>
            <a:prstDash val="solid"/>
          </a:ln>
        </p:spPr>
        <p:txBody>
          <a:bodyPr wrap="none" lIns="0" tIns="0" rIns="0" bIns="0" anchor="t"/>
          <a:lstStyle/>
          <a:p>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3,000</a:t>
            </a:r>
          </a:p>
        </p:txBody>
      </p:sp>
      <p:pic>
        <p:nvPicPr>
          <p:cNvPr id="137" name="Picture 136"/>
          <p:cNvPicPr>
            <a:picLocks noChangeAspect="1"/>
          </p:cNvPicPr>
          <p:nvPr/>
        </p:nvPicPr>
        <p:blipFill>
          <a:blip r:embed="rId11"/>
          <a:stretch/>
        </p:blipFill>
        <p:spPr>
          <a:xfrm>
            <a:off x="5190898" y="4905375"/>
            <a:ext cx="362404" cy="323850"/>
          </a:xfrm>
          <a:prstGeom prst="rect">
            <a:avLst/>
          </a:prstGeom>
        </p:spPr>
      </p:pic>
      <p:sp>
        <p:nvSpPr>
          <p:cNvPr id="64" name="Rectangle 63">
            <a:extLst>
              <a:ext uri="{FF2B5EF4-FFF2-40B4-BE49-F238E27FC236}">
                <a16:creationId xmlns:a16="http://schemas.microsoft.com/office/drawing/2014/main" id="{E2B940B4-7B6B-4837-992C-0BD50611487D}"/>
              </a:ext>
            </a:extLst>
          </p:cNvPr>
          <p:cNvSpPr>
            <a:spLocks noGrp="1"/>
          </p:cNvSpPr>
          <p:nvPr/>
        </p:nvSpPr>
        <p:spPr>
          <a:xfrm>
            <a:off x="8048625" y="4714875"/>
            <a:ext cx="1428750" cy="171450"/>
          </a:xfrm>
          <a:prstGeom prst="rect">
            <a:avLst/>
          </a:prstGeom>
          <a:noFill/>
          <a:ln w="0">
            <a:noFill/>
            <a:prstDash val="solid"/>
          </a:ln>
        </p:spPr>
        <p:txBody>
          <a:bodyPr wrap="none" lIns="0" tIns="0" rIns="0" bIns="0" anchor="t"/>
          <a:lstStyle/>
          <a:p>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vRAM (GB)</a:t>
            </a:r>
          </a:p>
        </p:txBody>
      </p:sp>
      <p:sp>
        <p:nvSpPr>
          <p:cNvPr id="65" name="Rectangle 64">
            <a:extLst>
              <a:ext uri="{FF2B5EF4-FFF2-40B4-BE49-F238E27FC236}">
                <a16:creationId xmlns:a16="http://schemas.microsoft.com/office/drawing/2014/main" id="{56B58190-EEA5-42BC-BCEE-C9F09864DABB}"/>
              </a:ext>
            </a:extLst>
          </p:cNvPr>
          <p:cNvSpPr>
            <a:spLocks noGrp="1"/>
          </p:cNvSpPr>
          <p:nvPr/>
        </p:nvSpPr>
        <p:spPr>
          <a:xfrm>
            <a:off x="8048625" y="4972050"/>
            <a:ext cx="1428750" cy="257175"/>
          </a:xfrm>
          <a:prstGeom prst="rect">
            <a:avLst/>
          </a:prstGeom>
          <a:noFill/>
          <a:ln w="0">
            <a:noFill/>
            <a:prstDash val="solid"/>
          </a:ln>
        </p:spPr>
        <p:txBody>
          <a:bodyPr wrap="none" lIns="0" tIns="0" rIns="0" bIns="0" anchor="t"/>
          <a:lstStyle/>
          <a:p>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30,000</a:t>
            </a:r>
          </a:p>
        </p:txBody>
      </p:sp>
      <p:pic>
        <p:nvPicPr>
          <p:cNvPr id="140" name="Picture 139"/>
          <p:cNvPicPr>
            <a:picLocks noChangeAspect="1"/>
          </p:cNvPicPr>
          <p:nvPr/>
        </p:nvPicPr>
        <p:blipFill>
          <a:blip r:embed="rId12"/>
          <a:stretch/>
        </p:blipFill>
        <p:spPr>
          <a:xfrm>
            <a:off x="7477125" y="4907280"/>
            <a:ext cx="400050" cy="320040"/>
          </a:xfrm>
          <a:prstGeom prst="rect">
            <a:avLst/>
          </a:prstGeom>
        </p:spPr>
      </p:pic>
      <p:sp>
        <p:nvSpPr>
          <p:cNvPr id="67" name="Rectangle 66">
            <a:extLst>
              <a:ext uri="{FF2B5EF4-FFF2-40B4-BE49-F238E27FC236}">
                <a16:creationId xmlns:a16="http://schemas.microsoft.com/office/drawing/2014/main" id="{BA2E8F4D-19EC-4045-BD00-D33C490582FA}"/>
              </a:ext>
            </a:extLst>
          </p:cNvPr>
          <p:cNvSpPr>
            <a:spLocks noGrp="1"/>
          </p:cNvSpPr>
          <p:nvPr/>
        </p:nvSpPr>
        <p:spPr>
          <a:xfrm>
            <a:off x="10306050" y="4714875"/>
            <a:ext cx="1504950" cy="171450"/>
          </a:xfrm>
          <a:prstGeom prst="rect">
            <a:avLst/>
          </a:prstGeom>
          <a:noFill/>
          <a:ln w="0">
            <a:noFill/>
            <a:prstDash val="solid"/>
          </a:ln>
        </p:spPr>
        <p:txBody>
          <a:bodyPr wrap="none" lIns="0" tIns="0" rIns="0" bIns="0" anchor="t"/>
          <a:lstStyle/>
          <a:p>
            <a:pPr algn="ctr">
              <a:lnSpc>
                <a:spcPct val="100000"/>
              </a:lnSpc>
              <a:buNone/>
              <a:defRPr sz="900" b="1" i="0">
                <a:solidFill>
                  <a:srgbClr val="003B25"/>
                </a:solidFill>
                <a:latin typeface="Arial"/>
                <a:ea typeface="Arial"/>
                <a:cs typeface="Arial"/>
              </a:defRPr>
            </a:pPr>
            <a:r>
              <a:rPr sz="900" b="1" i="0">
                <a:solidFill>
                  <a:srgbClr val="003B25"/>
                </a:solidFill>
                <a:latin typeface="Arial"/>
                <a:ea typeface="Arial"/>
                <a:cs typeface="Arial"/>
              </a:rPr>
              <a:t>Total Storage (TB)</a:t>
            </a:r>
          </a:p>
        </p:txBody>
      </p:sp>
      <p:sp>
        <p:nvSpPr>
          <p:cNvPr id="68" name="Rectangle 67">
            <a:extLst>
              <a:ext uri="{FF2B5EF4-FFF2-40B4-BE49-F238E27FC236}">
                <a16:creationId xmlns:a16="http://schemas.microsoft.com/office/drawing/2014/main" id="{53CE7ECC-6CED-4750-B06E-332986EBDB45}"/>
              </a:ext>
            </a:extLst>
          </p:cNvPr>
          <p:cNvSpPr>
            <a:spLocks noGrp="1"/>
          </p:cNvSpPr>
          <p:nvPr/>
        </p:nvSpPr>
        <p:spPr>
          <a:xfrm>
            <a:off x="10306050" y="4972050"/>
            <a:ext cx="1504950" cy="257175"/>
          </a:xfrm>
          <a:prstGeom prst="rect">
            <a:avLst/>
          </a:prstGeom>
          <a:noFill/>
          <a:ln w="0">
            <a:noFill/>
            <a:prstDash val="solid"/>
          </a:ln>
        </p:spPr>
        <p:txBody>
          <a:bodyPr wrap="none" lIns="0" tIns="0" rIns="0" bIns="0" anchor="t"/>
          <a:lstStyle/>
          <a:p>
            <a:pPr algn="ctr">
              <a:lnSpc>
                <a:spcPct val="100000"/>
              </a:lnSpc>
              <a:buNone/>
              <a:defRPr sz="1725" b="1" i="0">
                <a:solidFill>
                  <a:srgbClr val="003B25"/>
                </a:solidFill>
                <a:latin typeface="Arial"/>
                <a:ea typeface="Arial"/>
                <a:cs typeface="Arial"/>
              </a:defRPr>
            </a:pPr>
            <a:r>
              <a:rPr sz="1725" b="1" i="0">
                <a:solidFill>
                  <a:srgbClr val="003B25"/>
                </a:solidFill>
                <a:latin typeface="Arial"/>
                <a:ea typeface="Arial"/>
                <a:cs typeface="Arial"/>
              </a:rPr>
              <a:t>210</a:t>
            </a:r>
          </a:p>
        </p:txBody>
      </p:sp>
      <p:pic>
        <p:nvPicPr>
          <p:cNvPr id="143" name="Picture 142"/>
          <p:cNvPicPr>
            <a:picLocks noChangeAspect="1"/>
          </p:cNvPicPr>
          <p:nvPr/>
        </p:nvPicPr>
        <p:blipFill>
          <a:blip r:embed="rId13"/>
          <a:stretch/>
        </p:blipFill>
        <p:spPr>
          <a:xfrm>
            <a:off x="9960531" y="4905375"/>
            <a:ext cx="348139" cy="323850"/>
          </a:xfrm>
          <a:prstGeom prst="rect">
            <a:avLst/>
          </a:prstGeom>
        </p:spPr>
      </p:pic>
      <p:sp>
        <p:nvSpPr>
          <p:cNvPr id="70" name="Rounded Rectangle 69">
            <a:extLst>
              <a:ext uri="{FF2B5EF4-FFF2-40B4-BE49-F238E27FC236}">
                <a16:creationId xmlns:a16="http://schemas.microsoft.com/office/drawing/2014/main" id="{B6E9607F-C2EC-477A-BAF6-C5E067CAF87D}"/>
              </a:ext>
            </a:extLst>
          </p:cNvPr>
          <p:cNvSpPr>
            <a:spLocks noGrp="1"/>
          </p:cNvSpPr>
          <p:nvPr/>
        </p:nvSpPr>
        <p:spPr>
          <a:xfrm>
            <a:off x="400050" y="5734050"/>
            <a:ext cx="11334750" cy="476250"/>
          </a:xfrm>
          <a:prstGeom prst="roundRect">
            <a:avLst>
              <a:gd name="adj" fmla="val 12000"/>
            </a:avLst>
          </a:prstGeom>
          <a:solidFill>
            <a:srgbClr val="FFFFFF"/>
          </a:solidFill>
          <a:ln w="9525">
            <a:solidFill>
              <a:srgbClr val="D9DEDA"/>
            </a:solidFill>
            <a:prstDash val="solid"/>
          </a:ln>
        </p:spPr>
        <p:txBody>
          <a:bodyPr/>
          <a:lstStyle/>
          <a:p>
            <a:endParaRPr lang="en-FR"/>
          </a:p>
        </p:txBody>
      </p:sp>
      <p:pic>
        <p:nvPicPr>
          <p:cNvPr id="145" name="Picture 144"/>
          <p:cNvPicPr>
            <a:picLocks noChangeAspect="1"/>
          </p:cNvPicPr>
          <p:nvPr/>
        </p:nvPicPr>
        <p:blipFill>
          <a:blip r:embed="rId14"/>
          <a:stretch/>
        </p:blipFill>
        <p:spPr>
          <a:xfrm>
            <a:off x="632416" y="5838825"/>
            <a:ext cx="316319" cy="323850"/>
          </a:xfrm>
          <a:prstGeom prst="rect">
            <a:avLst/>
          </a:prstGeom>
        </p:spPr>
      </p:pic>
      <p:sp>
        <p:nvSpPr>
          <p:cNvPr id="72" name="Rectangle 71">
            <a:extLst>
              <a:ext uri="{FF2B5EF4-FFF2-40B4-BE49-F238E27FC236}">
                <a16:creationId xmlns:a16="http://schemas.microsoft.com/office/drawing/2014/main" id="{C928459C-9AA2-4970-83C9-66B7F0DEE5BA}"/>
              </a:ext>
            </a:extLst>
          </p:cNvPr>
          <p:cNvSpPr>
            <a:spLocks noGrp="1"/>
          </p:cNvSpPr>
          <p:nvPr/>
        </p:nvSpPr>
        <p:spPr>
          <a:xfrm>
            <a:off x="1085850" y="5934075"/>
            <a:ext cx="9334500" cy="209550"/>
          </a:xfrm>
          <a:prstGeom prst="rect">
            <a:avLst/>
          </a:prstGeom>
          <a:noFill/>
          <a:ln w="0">
            <a:noFill/>
            <a:prstDash val="solid"/>
          </a:ln>
        </p:spPr>
        <p:txBody>
          <a:bodyPr wrap="none" lIns="0" tIns="0" rIns="0" bIns="0" anchor="t"/>
          <a:lstStyle/>
          <a:p>
            <a:pPr algn="l">
              <a:lnSpc>
                <a:spcPct val="100000"/>
              </a:lnSpc>
              <a:buNone/>
              <a:defRPr sz="1050" b="0" i="0">
                <a:solidFill>
                  <a:srgbClr val="111111"/>
                </a:solidFill>
                <a:latin typeface="Arial"/>
                <a:ea typeface="Arial"/>
                <a:cs typeface="Arial"/>
              </a:defRPr>
            </a:pPr>
            <a:r>
              <a:rPr sz="1050" b="0" i="0" dirty="0">
                <a:solidFill>
                  <a:srgbClr val="111111"/>
                </a:solidFill>
                <a:latin typeface="Arial"/>
                <a:ea typeface="Arial"/>
                <a:cs typeface="Arial"/>
              </a:rPr>
              <a:t>This sizing is based on the information available at the time of analysis and should be validated during the detailed design phase.</a:t>
            </a:r>
          </a:p>
        </p:txBody>
      </p:sp>
      <p:sp>
        <p:nvSpPr>
          <p:cNvPr id="73" name="Rectangle 72">
            <a:extLst>
              <a:ext uri="{FF2B5EF4-FFF2-40B4-BE49-F238E27FC236}">
                <a16:creationId xmlns:a16="http://schemas.microsoft.com/office/drawing/2014/main" id="{B0FDF0E8-75F0-4E20-AB65-98949A664606}"/>
              </a:ext>
            </a:extLst>
          </p:cNvPr>
          <p:cNvSpPr>
            <a:spLocks noGrp="1"/>
          </p:cNvSpPr>
          <p:nvPr/>
        </p:nvSpPr>
        <p:spPr>
          <a:xfrm>
            <a:off x="1133475" y="6553200"/>
            <a:ext cx="5334000" cy="152400"/>
          </a:xfrm>
          <a:prstGeom prst="rect">
            <a:avLst/>
          </a:prstGeom>
          <a:noFill/>
          <a:ln w="0">
            <a:noFill/>
            <a:prstDash val="solid"/>
          </a:ln>
        </p:spPr>
        <p:txBody>
          <a:bodyPr wrap="none" lIns="0" tIns="0" rIns="0" bIns="0" anchor="t"/>
          <a:lstStyle/>
          <a:p>
            <a:pPr algn="l">
              <a:lnSpc>
                <a:spcPct val="100000"/>
              </a:lnSpc>
              <a:buNone/>
              <a:defRPr sz="675" b="0" i="0">
                <a:solidFill>
                  <a:srgbClr val="5E5E5E"/>
                </a:solidFill>
                <a:latin typeface="Arial"/>
                <a:ea typeface="Arial"/>
                <a:cs typeface="Arial"/>
              </a:defRPr>
            </a:pPr>
            <a:r>
              <a:rPr sz="675" b="0" i="0">
                <a:solidFill>
                  <a:srgbClr val="5E5E5E"/>
                </a:solidFill>
                <a:latin typeface="Arial"/>
                <a:ea typeface="Arial"/>
                <a:cs typeface="Arial"/>
              </a:rPr>
              <a:t>Copyright © 2026, Oracle and/or its affiliates | Confidential: Internal/Restricted/Highly Restricted</a:t>
            </a:r>
          </a:p>
        </p:txBody>
      </p:sp>
      <p:pic>
        <p:nvPicPr>
          <p:cNvPr id="148" name="Picture 147"/>
          <p:cNvPicPr>
            <a:picLocks noChangeAspect="1"/>
          </p:cNvPicPr>
          <p:nvPr/>
        </p:nvPicPr>
        <p:blipFill>
          <a:blip r:embed="rId15"/>
          <a:stretch/>
        </p:blipFill>
        <p:spPr>
          <a:xfrm>
            <a:off x="11382375" y="6459855"/>
            <a:ext cx="419100" cy="396240"/>
          </a:xfrm>
          <a:prstGeom prst="rect">
            <a:avLst/>
          </a:prstGeom>
        </p:spPr>
      </p:pic>
    </p:spTree>
    <p:extLst>
      <p:ext uri="{BB962C8B-B14F-4D97-AF65-F5344CB8AC3E}">
        <p14:creationId xmlns:p14="http://schemas.microsoft.com/office/powerpoint/2010/main" val="1621222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AF8"/>
        </a:solidFill>
        <a:effectLst/>
      </p:bgPr>
    </p:bg>
    <p:spTree>
      <p:nvGrpSpPr>
        <p:cNvPr id="1" name=""/>
        <p:cNvGrpSpPr/>
        <p:nvPr/>
      </p:nvGrpSpPr>
      <p:grpSpPr>
        <a:xfrm>
          <a:off x="0" y="0"/>
          <a:ext cx="0" cy="0"/>
          <a:chOff x="0" y="0"/>
          <a:chExt cx="0" cy="0"/>
        </a:xfrm>
      </p:grpSpPr>
      <p:sp>
        <p:nvSpPr>
          <p:cNvPr id="65" name="Oval 64">
            <a:extLst>
              <a:ext uri="{FF2B5EF4-FFF2-40B4-BE49-F238E27FC236}">
                <a16:creationId xmlns:a16="http://schemas.microsoft.com/office/drawing/2014/main" id="{903C0CCB-6C32-4383-BD8E-369B89B3B108}"/>
              </a:ext>
            </a:extLst>
          </p:cNvPr>
          <p:cNvSpPr>
            <a:spLocks noGrp="1"/>
          </p:cNvSpPr>
          <p:nvPr/>
        </p:nvSpPr>
        <p:spPr>
          <a:xfrm>
            <a:off x="7239000" y="371475"/>
            <a:ext cx="66675" cy="66675"/>
          </a:xfrm>
          <a:prstGeom prst="ellipse">
            <a:avLst/>
          </a:prstGeom>
          <a:solidFill>
            <a:srgbClr val="E7E9E7"/>
          </a:solidFill>
          <a:ln w="0">
            <a:noFill/>
            <a:prstDash val="solid"/>
          </a:ln>
        </p:spPr>
        <p:txBody>
          <a:bodyPr/>
          <a:lstStyle/>
          <a:p>
            <a:endParaRPr lang="en-FR"/>
          </a:p>
        </p:txBody>
      </p:sp>
      <p:sp>
        <p:nvSpPr>
          <p:cNvPr id="2" name="Oval 1">
            <a:extLst>
              <a:ext uri="{FF2B5EF4-FFF2-40B4-BE49-F238E27FC236}">
                <a16:creationId xmlns:a16="http://schemas.microsoft.com/office/drawing/2014/main" id="{B7552526-EDFC-4FEC-8429-83B0C3678D1B}"/>
              </a:ext>
            </a:extLst>
          </p:cNvPr>
          <p:cNvSpPr>
            <a:spLocks noGrp="1"/>
          </p:cNvSpPr>
          <p:nvPr/>
        </p:nvSpPr>
        <p:spPr>
          <a:xfrm>
            <a:off x="4495800" y="981075"/>
            <a:ext cx="47625" cy="47625"/>
          </a:xfrm>
          <a:prstGeom prst="ellipse">
            <a:avLst/>
          </a:prstGeom>
          <a:solidFill>
            <a:srgbClr val="E7E9E7"/>
          </a:solidFill>
          <a:ln w="0">
            <a:noFill/>
            <a:prstDash val="solid"/>
          </a:ln>
        </p:spPr>
        <p:txBody>
          <a:bodyPr/>
          <a:lstStyle/>
          <a:p>
            <a:endParaRPr lang="en-FR"/>
          </a:p>
        </p:txBody>
      </p:sp>
      <p:sp>
        <p:nvSpPr>
          <p:cNvPr id="3" name="Oval 2">
            <a:extLst>
              <a:ext uri="{FF2B5EF4-FFF2-40B4-BE49-F238E27FC236}">
                <a16:creationId xmlns:a16="http://schemas.microsoft.com/office/drawing/2014/main" id="{B1DA383F-3F21-4112-BBDC-0AB1B2A8C67B}"/>
              </a:ext>
            </a:extLst>
          </p:cNvPr>
          <p:cNvSpPr>
            <a:spLocks noGrp="1"/>
          </p:cNvSpPr>
          <p:nvPr/>
        </p:nvSpPr>
        <p:spPr>
          <a:xfrm>
            <a:off x="5133975" y="552450"/>
            <a:ext cx="38100" cy="38100"/>
          </a:xfrm>
          <a:prstGeom prst="ellipse">
            <a:avLst/>
          </a:prstGeom>
          <a:solidFill>
            <a:srgbClr val="E7E9E7"/>
          </a:solidFill>
          <a:ln w="0">
            <a:noFill/>
            <a:prstDash val="solid"/>
          </a:ln>
        </p:spPr>
        <p:txBody>
          <a:bodyPr/>
          <a:lstStyle/>
          <a:p>
            <a:endParaRPr lang="en-FR"/>
          </a:p>
        </p:txBody>
      </p:sp>
      <p:sp>
        <p:nvSpPr>
          <p:cNvPr id="4" name="Oval 3">
            <a:extLst>
              <a:ext uri="{FF2B5EF4-FFF2-40B4-BE49-F238E27FC236}">
                <a16:creationId xmlns:a16="http://schemas.microsoft.com/office/drawing/2014/main" id="{20059669-08BE-4709-8AB5-5D775C69905A}"/>
              </a:ext>
            </a:extLst>
          </p:cNvPr>
          <p:cNvSpPr>
            <a:spLocks noGrp="1"/>
          </p:cNvSpPr>
          <p:nvPr/>
        </p:nvSpPr>
        <p:spPr>
          <a:xfrm>
            <a:off x="5810250" y="866775"/>
            <a:ext cx="28575" cy="28575"/>
          </a:xfrm>
          <a:prstGeom prst="ellipse">
            <a:avLst/>
          </a:prstGeom>
          <a:solidFill>
            <a:srgbClr val="E7E9E7"/>
          </a:solidFill>
          <a:ln w="0">
            <a:noFill/>
            <a:prstDash val="solid"/>
          </a:ln>
        </p:spPr>
        <p:txBody>
          <a:bodyPr/>
          <a:lstStyle/>
          <a:p>
            <a:endParaRPr lang="en-FR"/>
          </a:p>
        </p:txBody>
      </p:sp>
      <p:sp>
        <p:nvSpPr>
          <p:cNvPr id="5" name="Oval 4">
            <a:extLst>
              <a:ext uri="{FF2B5EF4-FFF2-40B4-BE49-F238E27FC236}">
                <a16:creationId xmlns:a16="http://schemas.microsoft.com/office/drawing/2014/main" id="{7DF4C908-95C0-454C-90C3-9D496D1DDD44}"/>
              </a:ext>
            </a:extLst>
          </p:cNvPr>
          <p:cNvSpPr>
            <a:spLocks noGrp="1"/>
          </p:cNvSpPr>
          <p:nvPr/>
        </p:nvSpPr>
        <p:spPr>
          <a:xfrm>
            <a:off x="11306175" y="666750"/>
            <a:ext cx="28575" cy="28575"/>
          </a:xfrm>
          <a:prstGeom prst="ellipse">
            <a:avLst/>
          </a:prstGeom>
          <a:solidFill>
            <a:srgbClr val="E7E9E7"/>
          </a:solidFill>
          <a:ln w="0">
            <a:noFill/>
            <a:prstDash val="solid"/>
          </a:ln>
        </p:spPr>
        <p:txBody>
          <a:bodyPr/>
          <a:lstStyle/>
          <a:p>
            <a:endParaRPr lang="en-FR"/>
          </a:p>
        </p:txBody>
      </p:sp>
      <p:sp>
        <p:nvSpPr>
          <p:cNvPr id="6" name="Oval 5">
            <a:extLst>
              <a:ext uri="{FF2B5EF4-FFF2-40B4-BE49-F238E27FC236}">
                <a16:creationId xmlns:a16="http://schemas.microsoft.com/office/drawing/2014/main" id="{42AFBF0C-6A20-4CF1-81BA-ACD71ECCA01D}"/>
              </a:ext>
            </a:extLst>
          </p:cNvPr>
          <p:cNvSpPr>
            <a:spLocks noGrp="1"/>
          </p:cNvSpPr>
          <p:nvPr/>
        </p:nvSpPr>
        <p:spPr>
          <a:xfrm>
            <a:off x="11801475" y="714375"/>
            <a:ext cx="28575" cy="28575"/>
          </a:xfrm>
          <a:prstGeom prst="ellipse">
            <a:avLst/>
          </a:prstGeom>
          <a:solidFill>
            <a:srgbClr val="E7E9E7"/>
          </a:solidFill>
          <a:ln w="0">
            <a:noFill/>
            <a:prstDash val="solid"/>
          </a:ln>
        </p:spPr>
        <p:txBody>
          <a:bodyPr/>
          <a:lstStyle/>
          <a:p>
            <a:endParaRPr lang="en-FR"/>
          </a:p>
        </p:txBody>
      </p:sp>
      <p:sp>
        <p:nvSpPr>
          <p:cNvPr id="7" name="Oval 6">
            <a:extLst>
              <a:ext uri="{FF2B5EF4-FFF2-40B4-BE49-F238E27FC236}">
                <a16:creationId xmlns:a16="http://schemas.microsoft.com/office/drawing/2014/main" id="{8A1E2B4B-12C6-4379-BB5F-CD7BD45CDC67}"/>
              </a:ext>
            </a:extLst>
          </p:cNvPr>
          <p:cNvSpPr>
            <a:spLocks noGrp="1"/>
          </p:cNvSpPr>
          <p:nvPr/>
        </p:nvSpPr>
        <p:spPr>
          <a:xfrm>
            <a:off x="4972050" y="3371850"/>
            <a:ext cx="38100" cy="38100"/>
          </a:xfrm>
          <a:prstGeom prst="ellipse">
            <a:avLst/>
          </a:prstGeom>
          <a:solidFill>
            <a:srgbClr val="E7E9E7"/>
          </a:solidFill>
          <a:ln w="0">
            <a:noFill/>
            <a:prstDash val="solid"/>
          </a:ln>
        </p:spPr>
        <p:txBody>
          <a:bodyPr/>
          <a:lstStyle/>
          <a:p>
            <a:endParaRPr lang="en-FR"/>
          </a:p>
        </p:txBody>
      </p:sp>
      <p:sp>
        <p:nvSpPr>
          <p:cNvPr id="8" name="Oval 7">
            <a:extLst>
              <a:ext uri="{FF2B5EF4-FFF2-40B4-BE49-F238E27FC236}">
                <a16:creationId xmlns:a16="http://schemas.microsoft.com/office/drawing/2014/main" id="{392CB55E-0957-4BA5-9E15-5C689F4C062B}"/>
              </a:ext>
            </a:extLst>
          </p:cNvPr>
          <p:cNvSpPr>
            <a:spLocks noGrp="1"/>
          </p:cNvSpPr>
          <p:nvPr/>
        </p:nvSpPr>
        <p:spPr>
          <a:xfrm>
            <a:off x="12020550" y="6353175"/>
            <a:ext cx="47625" cy="47625"/>
          </a:xfrm>
          <a:prstGeom prst="ellipse">
            <a:avLst/>
          </a:prstGeom>
          <a:solidFill>
            <a:srgbClr val="E7E9E7"/>
          </a:solidFill>
          <a:ln w="0">
            <a:noFill/>
            <a:prstDash val="solid"/>
          </a:ln>
        </p:spPr>
        <p:txBody>
          <a:bodyPr/>
          <a:lstStyle/>
          <a:p>
            <a:endParaRPr lang="en-FR"/>
          </a:p>
        </p:txBody>
      </p:sp>
      <p:sp>
        <p:nvSpPr>
          <p:cNvPr id="9" name="Oval 8">
            <a:extLst>
              <a:ext uri="{FF2B5EF4-FFF2-40B4-BE49-F238E27FC236}">
                <a16:creationId xmlns:a16="http://schemas.microsoft.com/office/drawing/2014/main" id="{93CED1F2-9B01-4DEB-8205-9F726CA98EFC}"/>
              </a:ext>
            </a:extLst>
          </p:cNvPr>
          <p:cNvSpPr>
            <a:spLocks noGrp="1"/>
          </p:cNvSpPr>
          <p:nvPr/>
        </p:nvSpPr>
        <p:spPr>
          <a:xfrm>
            <a:off x="0" y="3714750"/>
            <a:ext cx="1381125" cy="1714500"/>
          </a:xfrm>
          <a:prstGeom prst="ellipse">
            <a:avLst/>
          </a:prstGeom>
          <a:solidFill>
            <a:srgbClr val="F7FAF8"/>
          </a:solidFill>
          <a:ln w="9525">
            <a:solidFill>
              <a:srgbClr val="E0E6E2"/>
            </a:solidFill>
            <a:prstDash val="dot"/>
          </a:ln>
        </p:spPr>
        <p:txBody>
          <a:bodyPr/>
          <a:lstStyle/>
          <a:p>
            <a:endParaRPr lang="en-FR"/>
          </a:p>
        </p:txBody>
      </p:sp>
      <p:sp>
        <p:nvSpPr>
          <p:cNvPr id="10" name="Oval 9">
            <a:extLst>
              <a:ext uri="{FF2B5EF4-FFF2-40B4-BE49-F238E27FC236}">
                <a16:creationId xmlns:a16="http://schemas.microsoft.com/office/drawing/2014/main" id="{0CD4014B-8B32-4715-85BA-46C6B837B943}"/>
              </a:ext>
            </a:extLst>
          </p:cNvPr>
          <p:cNvSpPr>
            <a:spLocks noGrp="1"/>
          </p:cNvSpPr>
          <p:nvPr/>
        </p:nvSpPr>
        <p:spPr>
          <a:xfrm>
            <a:off x="0" y="5762625"/>
            <a:ext cx="2952750" cy="1095375"/>
          </a:xfrm>
          <a:prstGeom prst="ellipse">
            <a:avLst/>
          </a:prstGeom>
          <a:solidFill>
            <a:srgbClr val="F7FAF8"/>
          </a:solidFill>
          <a:ln w="9525">
            <a:solidFill>
              <a:srgbClr val="E0E6E2"/>
            </a:solidFill>
            <a:prstDash val="dot"/>
          </a:ln>
        </p:spPr>
        <p:txBody>
          <a:bodyPr/>
          <a:lstStyle/>
          <a:p>
            <a:endParaRPr lang="en-FR"/>
          </a:p>
        </p:txBody>
      </p:sp>
      <p:pic>
        <p:nvPicPr>
          <p:cNvPr id="75" name="Picture 74"/>
          <p:cNvPicPr>
            <a:picLocks noChangeAspect="1"/>
          </p:cNvPicPr>
          <p:nvPr/>
        </p:nvPicPr>
        <p:blipFill>
          <a:blip r:embed="rId3"/>
          <a:stretch/>
        </p:blipFill>
        <p:spPr>
          <a:xfrm>
            <a:off x="342900" y="266700"/>
            <a:ext cx="1876425" cy="523875"/>
          </a:xfrm>
          <a:prstGeom prst="rect">
            <a:avLst/>
          </a:prstGeom>
        </p:spPr>
      </p:pic>
      <p:sp>
        <p:nvSpPr>
          <p:cNvPr id="12" name="Rectangle 11">
            <a:extLst>
              <a:ext uri="{FF2B5EF4-FFF2-40B4-BE49-F238E27FC236}">
                <a16:creationId xmlns:a16="http://schemas.microsoft.com/office/drawing/2014/main" id="{441D191A-36BA-4DDF-9CD4-DD0DD4AEEDDC}"/>
              </a:ext>
            </a:extLst>
          </p:cNvPr>
          <p:cNvSpPr>
            <a:spLocks noGrp="1"/>
          </p:cNvSpPr>
          <p:nvPr/>
        </p:nvSpPr>
        <p:spPr>
          <a:xfrm>
            <a:off x="352425" y="1200150"/>
            <a:ext cx="4953000" cy="438150"/>
          </a:xfrm>
          <a:prstGeom prst="rect">
            <a:avLst/>
          </a:prstGeom>
          <a:noFill/>
          <a:ln w="0">
            <a:noFill/>
            <a:prstDash val="solid"/>
          </a:ln>
        </p:spPr>
        <p:txBody>
          <a:bodyPr wrap="none" lIns="0" tIns="0" rIns="0" bIns="0" anchor="t"/>
          <a:lstStyle/>
          <a:p>
            <a:pPr algn="l">
              <a:lnSpc>
                <a:spcPct val="100000"/>
              </a:lnSpc>
              <a:buNone/>
              <a:defRPr sz="2700" b="1" i="0">
                <a:solidFill>
                  <a:srgbClr val="003B25"/>
                </a:solidFill>
                <a:latin typeface="Arial"/>
                <a:ea typeface="Arial"/>
                <a:cs typeface="Arial"/>
              </a:defRPr>
            </a:pPr>
            <a:r>
              <a:rPr sz="2700" b="1" i="0">
                <a:solidFill>
                  <a:srgbClr val="003B25"/>
                </a:solidFill>
                <a:latin typeface="Arial"/>
                <a:ea typeface="Arial"/>
                <a:cs typeface="Arial"/>
              </a:rPr>
              <a:t>Infrastructure Sizing Summary</a:t>
            </a:r>
          </a:p>
        </p:txBody>
      </p:sp>
      <p:sp>
        <p:nvSpPr>
          <p:cNvPr id="13" name="Rectangle 12">
            <a:extLst>
              <a:ext uri="{FF2B5EF4-FFF2-40B4-BE49-F238E27FC236}">
                <a16:creationId xmlns:a16="http://schemas.microsoft.com/office/drawing/2014/main" id="{A3B2E046-C85F-4A39-BEEF-139B34452E9C}"/>
              </a:ext>
            </a:extLst>
          </p:cNvPr>
          <p:cNvSpPr>
            <a:spLocks noGrp="1"/>
          </p:cNvSpPr>
          <p:nvPr/>
        </p:nvSpPr>
        <p:spPr>
          <a:xfrm>
            <a:off x="352425" y="1657350"/>
            <a:ext cx="381000" cy="38100"/>
          </a:xfrm>
          <a:prstGeom prst="rect">
            <a:avLst/>
          </a:prstGeom>
          <a:solidFill>
            <a:srgbClr val="F00000"/>
          </a:solidFill>
          <a:ln w="0">
            <a:noFill/>
            <a:prstDash val="solid"/>
          </a:ln>
        </p:spPr>
        <p:txBody>
          <a:bodyPr/>
          <a:lstStyle/>
          <a:p>
            <a:endParaRPr lang="en-FR"/>
          </a:p>
        </p:txBody>
      </p:sp>
      <p:sp>
        <p:nvSpPr>
          <p:cNvPr id="14" name="Rectangle 13">
            <a:extLst>
              <a:ext uri="{FF2B5EF4-FFF2-40B4-BE49-F238E27FC236}">
                <a16:creationId xmlns:a16="http://schemas.microsoft.com/office/drawing/2014/main" id="{D5DD4476-54EB-446C-A8D2-4D5A415824F4}"/>
              </a:ext>
            </a:extLst>
          </p:cNvPr>
          <p:cNvSpPr>
            <a:spLocks noGrp="1"/>
          </p:cNvSpPr>
          <p:nvPr/>
        </p:nvSpPr>
        <p:spPr>
          <a:xfrm>
            <a:off x="352425" y="1876425"/>
            <a:ext cx="6286500" cy="371475"/>
          </a:xfrm>
          <a:prstGeom prst="rect">
            <a:avLst/>
          </a:prstGeom>
          <a:noFill/>
          <a:ln w="0">
            <a:noFill/>
            <a:prstDash val="solid"/>
          </a:ln>
        </p:spPr>
        <p:txBody>
          <a:bodyPr wrap="square" lIns="0" tIns="0" rIns="0" bIns="0" anchor="t"/>
          <a:lstStyle/>
          <a:p>
            <a:pPr algn="l">
              <a:lnSpc>
                <a:spcPct val="110000"/>
              </a:lnSpc>
              <a:buNone/>
              <a:defRPr sz="1013" b="0" i="0">
                <a:solidFill>
                  <a:srgbClr val="111111"/>
                </a:solidFill>
                <a:latin typeface="Arial"/>
                <a:ea typeface="Arial"/>
                <a:cs typeface="Arial"/>
              </a:defRPr>
            </a:pPr>
            <a:r>
              <a:rPr sz="1013" b="0" i="0">
                <a:solidFill>
                  <a:srgbClr val="111111"/>
                </a:solidFill>
                <a:latin typeface="Arial"/>
                <a:ea typeface="Arial"/>
                <a:cs typeface="Arial"/>
              </a:rPr>
              <a:t>The following architecture on Oracle Cloud VMware Solution (OCVS) has been designed</a:t>
            </a:r>
          </a:p>
          <a:p>
            <a:pPr algn="l">
              <a:lnSpc>
                <a:spcPct val="110000"/>
              </a:lnSpc>
              <a:buNone/>
              <a:defRPr sz="1013" b="0" i="0">
                <a:solidFill>
                  <a:srgbClr val="111111"/>
                </a:solidFill>
                <a:latin typeface="Arial"/>
                <a:ea typeface="Arial"/>
                <a:cs typeface="Arial"/>
              </a:defRPr>
            </a:pPr>
            <a:r>
              <a:rPr sz="1013" b="0" i="0">
                <a:solidFill>
                  <a:srgbClr val="111111"/>
                </a:solidFill>
                <a:latin typeface="Arial"/>
                <a:ea typeface="Arial"/>
                <a:cs typeface="Arial"/>
              </a:rPr>
              <a:t>to support the customer's current environment with room for future growth.</a:t>
            </a:r>
          </a:p>
        </p:txBody>
      </p:sp>
      <p:sp>
        <p:nvSpPr>
          <p:cNvPr id="15" name="Rounded Rectangle 14">
            <a:extLst>
              <a:ext uri="{FF2B5EF4-FFF2-40B4-BE49-F238E27FC236}">
                <a16:creationId xmlns:a16="http://schemas.microsoft.com/office/drawing/2014/main" id="{63B7720D-CE76-4909-8B22-13176D9406FD}"/>
              </a:ext>
            </a:extLst>
          </p:cNvPr>
          <p:cNvSpPr>
            <a:spLocks noGrp="1"/>
          </p:cNvSpPr>
          <p:nvPr/>
        </p:nvSpPr>
        <p:spPr>
          <a:xfrm>
            <a:off x="361950" y="2600325"/>
            <a:ext cx="4572000" cy="2790825"/>
          </a:xfrm>
          <a:prstGeom prst="roundRect">
            <a:avLst>
              <a:gd name="adj" fmla="val 2389"/>
            </a:avLst>
          </a:prstGeom>
          <a:solidFill>
            <a:srgbClr val="FFFFFF"/>
          </a:solidFill>
          <a:ln w="9525">
            <a:solidFill>
              <a:srgbClr val="D9DEDA"/>
            </a:solidFill>
            <a:prstDash val="solid"/>
          </a:ln>
        </p:spPr>
        <p:style>
          <a:lnRef idx="0">
            <a:scrgbClr r="0" g="0" b="0"/>
          </a:lnRef>
          <a:fillRef idx="0">
            <a:scrgbClr r="0" g="0" b="0"/>
          </a:fillRef>
          <a:effectRef idx="4">
            <a:scrgbClr r="0" g="0" b="0"/>
          </a:effectRef>
          <a:fontRef idx="major"/>
        </p:style>
        <p:txBody>
          <a:bodyPr/>
          <a:lstStyle/>
          <a:p>
            <a:endParaRPr lang="en-FR"/>
          </a:p>
        </p:txBody>
      </p:sp>
      <p:sp>
        <p:nvSpPr>
          <p:cNvPr id="16" name="Rounded Rectangle 15">
            <a:extLst>
              <a:ext uri="{FF2B5EF4-FFF2-40B4-BE49-F238E27FC236}">
                <a16:creationId xmlns:a16="http://schemas.microsoft.com/office/drawing/2014/main" id="{0DF6C480-65BB-494C-9EC9-69955CD78592}"/>
              </a:ext>
            </a:extLst>
          </p:cNvPr>
          <p:cNvSpPr>
            <a:spLocks noGrp="1"/>
          </p:cNvSpPr>
          <p:nvPr/>
        </p:nvSpPr>
        <p:spPr>
          <a:xfrm>
            <a:off x="361950" y="2600325"/>
            <a:ext cx="4572000" cy="342900"/>
          </a:xfrm>
          <a:prstGeom prst="roundRect">
            <a:avLst>
              <a:gd name="adj" fmla="val 19444"/>
            </a:avLst>
          </a:prstGeom>
          <a:gradFill>
            <a:gsLst>
              <a:gs pos="0">
                <a:srgbClr val="003B25"/>
              </a:gs>
              <a:gs pos="100000">
                <a:srgbClr val="0B4B30"/>
              </a:gs>
            </a:gsLst>
            <a:lin ang="5400000"/>
          </a:gradFill>
          <a:ln w="0">
            <a:noFill/>
            <a:prstDash val="solid"/>
          </a:ln>
        </p:spPr>
        <p:txBody>
          <a:bodyPr/>
          <a:lstStyle/>
          <a:p>
            <a:endParaRPr lang="en-FR"/>
          </a:p>
        </p:txBody>
      </p:sp>
      <p:sp>
        <p:nvSpPr>
          <p:cNvPr id="17" name="Rectangle 16">
            <a:extLst>
              <a:ext uri="{FF2B5EF4-FFF2-40B4-BE49-F238E27FC236}">
                <a16:creationId xmlns:a16="http://schemas.microsoft.com/office/drawing/2014/main" id="{79235A43-973B-49B6-A560-C27C9DB572AA}"/>
              </a:ext>
            </a:extLst>
          </p:cNvPr>
          <p:cNvSpPr>
            <a:spLocks noGrp="1"/>
          </p:cNvSpPr>
          <p:nvPr/>
        </p:nvSpPr>
        <p:spPr>
          <a:xfrm>
            <a:off x="361950" y="2876550"/>
            <a:ext cx="4572000" cy="66675"/>
          </a:xfrm>
          <a:prstGeom prst="rect">
            <a:avLst/>
          </a:prstGeom>
          <a:gradFill>
            <a:gsLst>
              <a:gs pos="0">
                <a:srgbClr val="003B25"/>
              </a:gs>
              <a:gs pos="100000">
                <a:srgbClr val="0B4B30"/>
              </a:gs>
            </a:gsLst>
            <a:lin ang="5400000"/>
          </a:gradFill>
          <a:ln w="0">
            <a:noFill/>
            <a:prstDash val="solid"/>
          </a:ln>
        </p:spPr>
        <p:txBody>
          <a:bodyPr/>
          <a:lstStyle/>
          <a:p>
            <a:endParaRPr lang="en-FR"/>
          </a:p>
        </p:txBody>
      </p:sp>
      <p:pic>
        <p:nvPicPr>
          <p:cNvPr id="82" name="Picture 81"/>
          <p:cNvPicPr>
            <a:picLocks noChangeAspect="1"/>
          </p:cNvPicPr>
          <p:nvPr/>
        </p:nvPicPr>
        <p:blipFill>
          <a:blip r:embed="rId4"/>
          <a:stretch/>
        </p:blipFill>
        <p:spPr>
          <a:xfrm>
            <a:off x="604647" y="2676525"/>
            <a:ext cx="219456" cy="228600"/>
          </a:xfrm>
          <a:prstGeom prst="rect">
            <a:avLst/>
          </a:prstGeom>
        </p:spPr>
      </p:pic>
      <p:sp>
        <p:nvSpPr>
          <p:cNvPr id="19" name="Rectangle 18">
            <a:extLst>
              <a:ext uri="{FF2B5EF4-FFF2-40B4-BE49-F238E27FC236}">
                <a16:creationId xmlns:a16="http://schemas.microsoft.com/office/drawing/2014/main" id="{84BF706F-C741-4C7C-970A-E6742E5CFC29}"/>
              </a:ext>
            </a:extLst>
          </p:cNvPr>
          <p:cNvSpPr>
            <a:spLocks noGrp="1"/>
          </p:cNvSpPr>
          <p:nvPr/>
        </p:nvSpPr>
        <p:spPr>
          <a:xfrm>
            <a:off x="962025" y="2724150"/>
            <a:ext cx="1714500" cy="161925"/>
          </a:xfrm>
          <a:prstGeom prst="rect">
            <a:avLst/>
          </a:prstGeom>
          <a:noFill/>
          <a:ln w="0">
            <a:noFill/>
            <a:prstDash val="solid"/>
          </a:ln>
        </p:spPr>
        <p:txBody>
          <a:bodyPr wrap="none" lIns="0" tIns="0" rIns="0" bIns="0" anchor="t"/>
          <a:lstStyle/>
          <a:p>
            <a:pPr algn="l">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Proposed Architecture</a:t>
            </a:r>
          </a:p>
        </p:txBody>
      </p:sp>
      <p:pic>
        <p:nvPicPr>
          <p:cNvPr id="84" name="Picture 83"/>
          <p:cNvPicPr>
            <a:picLocks noChangeAspect="1"/>
          </p:cNvPicPr>
          <p:nvPr/>
        </p:nvPicPr>
        <p:blipFill>
          <a:blip r:embed="rId5"/>
          <a:stretch/>
        </p:blipFill>
        <p:spPr>
          <a:xfrm>
            <a:off x="600075" y="3098346"/>
            <a:ext cx="304800" cy="261257"/>
          </a:xfrm>
          <a:prstGeom prst="rect">
            <a:avLst/>
          </a:prstGeom>
        </p:spPr>
      </p:pic>
      <p:sp>
        <p:nvSpPr>
          <p:cNvPr id="21" name="Rectangle 20">
            <a:extLst>
              <a:ext uri="{FF2B5EF4-FFF2-40B4-BE49-F238E27FC236}">
                <a16:creationId xmlns:a16="http://schemas.microsoft.com/office/drawing/2014/main" id="{509699EE-677C-42DF-8083-4185311A3D1D}"/>
              </a:ext>
            </a:extLst>
          </p:cNvPr>
          <p:cNvSpPr>
            <a:spLocks noGrp="1"/>
          </p:cNvSpPr>
          <p:nvPr/>
        </p:nvSpPr>
        <p:spPr>
          <a:xfrm>
            <a:off x="1095375" y="3143250"/>
            <a:ext cx="1143000" cy="171450"/>
          </a:xfrm>
          <a:prstGeom prst="rect">
            <a:avLst/>
          </a:prstGeom>
          <a:noFill/>
          <a:ln w="0">
            <a:noFill/>
            <a:prstDash val="solid"/>
          </a:ln>
        </p:spPr>
        <p:txBody>
          <a:bodyPr wrap="none" lIns="0" tIns="0" rIns="0" bIns="0" anchor="t"/>
          <a:lstStyle/>
          <a:p>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SDDCs</a:t>
            </a:r>
          </a:p>
        </p:txBody>
      </p:sp>
      <p:sp>
        <p:nvSpPr>
          <p:cNvPr id="22" name="Rectangle 21">
            <a:extLst>
              <a:ext uri="{FF2B5EF4-FFF2-40B4-BE49-F238E27FC236}">
                <a16:creationId xmlns:a16="http://schemas.microsoft.com/office/drawing/2014/main" id="{EA0CDC46-31BA-4F3B-B2F7-0CD1DB4E4ACD}"/>
              </a:ext>
            </a:extLst>
          </p:cNvPr>
          <p:cNvSpPr>
            <a:spLocks noGrp="1"/>
          </p:cNvSpPr>
          <p:nvPr/>
        </p:nvSpPr>
        <p:spPr>
          <a:xfrm>
            <a:off x="2714625" y="3143250"/>
            <a:ext cx="1571625" cy="171450"/>
          </a:xfrm>
          <a:prstGeom prst="rect">
            <a:avLst/>
          </a:prstGeom>
          <a:noFill/>
          <a:ln w="0">
            <a:noFill/>
            <a:prstDash val="solid"/>
          </a:ln>
        </p:spPr>
        <p:txBody>
          <a:bodyPr wrap="none" lIns="0" tIns="0" rIns="0" bIns="0" anchor="t"/>
          <a:lstStyle/>
          <a:p>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1</a:t>
            </a:r>
          </a:p>
        </p:txBody>
      </p:sp>
      <p:sp>
        <p:nvSpPr>
          <p:cNvPr id="23" name="Straight Connector 22">
            <a:extLst>
              <a:ext uri="{FF2B5EF4-FFF2-40B4-BE49-F238E27FC236}">
                <a16:creationId xmlns:a16="http://schemas.microsoft.com/office/drawing/2014/main" id="{C28279BA-06DE-441C-B66F-073288F09C70}"/>
              </a:ext>
            </a:extLst>
          </p:cNvPr>
          <p:cNvSpPr>
            <a:spLocks noGrp="1"/>
          </p:cNvSpPr>
          <p:nvPr/>
        </p:nvSpPr>
        <p:spPr>
          <a:xfrm>
            <a:off x="971550" y="3390900"/>
            <a:ext cx="3743325" cy="0"/>
          </a:xfrm>
          <a:prstGeom prst="line">
            <a:avLst/>
          </a:prstGeom>
          <a:noFill/>
          <a:ln w="9525">
            <a:solidFill>
              <a:srgbClr val="D8DDD9"/>
            </a:solidFill>
            <a:prstDash val="solid"/>
          </a:ln>
        </p:spPr>
        <p:txBody>
          <a:bodyPr/>
          <a:lstStyle/>
          <a:p>
            <a:endParaRPr lang="en-FR"/>
          </a:p>
        </p:txBody>
      </p:sp>
      <p:pic>
        <p:nvPicPr>
          <p:cNvPr id="88" name="Picture 87"/>
          <p:cNvPicPr>
            <a:picLocks noChangeAspect="1"/>
          </p:cNvPicPr>
          <p:nvPr/>
        </p:nvPicPr>
        <p:blipFill>
          <a:blip r:embed="rId6"/>
          <a:stretch/>
        </p:blipFill>
        <p:spPr>
          <a:xfrm>
            <a:off x="628015" y="3495675"/>
            <a:ext cx="248920" cy="266700"/>
          </a:xfrm>
          <a:prstGeom prst="rect">
            <a:avLst/>
          </a:prstGeom>
        </p:spPr>
      </p:pic>
      <p:sp>
        <p:nvSpPr>
          <p:cNvPr id="25" name="Rectangle 24">
            <a:extLst>
              <a:ext uri="{FF2B5EF4-FFF2-40B4-BE49-F238E27FC236}">
                <a16:creationId xmlns:a16="http://schemas.microsoft.com/office/drawing/2014/main" id="{256F7DCC-DF91-4471-A4FF-4A3AD34D84C7}"/>
              </a:ext>
            </a:extLst>
          </p:cNvPr>
          <p:cNvSpPr>
            <a:spLocks noGrp="1"/>
          </p:cNvSpPr>
          <p:nvPr/>
        </p:nvSpPr>
        <p:spPr>
          <a:xfrm>
            <a:off x="1095375" y="3543300"/>
            <a:ext cx="1143000" cy="171450"/>
          </a:xfrm>
          <a:prstGeom prst="rect">
            <a:avLst/>
          </a:prstGeom>
          <a:noFill/>
          <a:ln w="0">
            <a:noFill/>
            <a:prstDash val="solid"/>
          </a:ln>
        </p:spPr>
        <p:txBody>
          <a:bodyPr wrap="none" lIns="0" tIns="0" rIns="0" bIns="0" anchor="t"/>
          <a:lstStyle/>
          <a:p>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Clusters</a:t>
            </a:r>
          </a:p>
        </p:txBody>
      </p:sp>
      <p:sp>
        <p:nvSpPr>
          <p:cNvPr id="26" name="Rectangle 25">
            <a:extLst>
              <a:ext uri="{FF2B5EF4-FFF2-40B4-BE49-F238E27FC236}">
                <a16:creationId xmlns:a16="http://schemas.microsoft.com/office/drawing/2014/main" id="{3732A7B4-3A88-4F3B-85BE-10458DDFFC15}"/>
              </a:ext>
            </a:extLst>
          </p:cNvPr>
          <p:cNvSpPr>
            <a:spLocks noGrp="1"/>
          </p:cNvSpPr>
          <p:nvPr/>
        </p:nvSpPr>
        <p:spPr>
          <a:xfrm>
            <a:off x="2714625" y="3543300"/>
            <a:ext cx="1571625" cy="171450"/>
          </a:xfrm>
          <a:prstGeom prst="rect">
            <a:avLst/>
          </a:prstGeom>
          <a:noFill/>
          <a:ln w="0">
            <a:noFill/>
            <a:prstDash val="solid"/>
          </a:ln>
        </p:spPr>
        <p:txBody>
          <a:bodyPr wrap="none" lIns="0" tIns="0" rIns="0" bIns="0" anchor="t"/>
          <a:lstStyle/>
          <a:p>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1</a:t>
            </a:r>
          </a:p>
        </p:txBody>
      </p:sp>
      <p:sp>
        <p:nvSpPr>
          <p:cNvPr id="27" name="Straight Connector 26">
            <a:extLst>
              <a:ext uri="{FF2B5EF4-FFF2-40B4-BE49-F238E27FC236}">
                <a16:creationId xmlns:a16="http://schemas.microsoft.com/office/drawing/2014/main" id="{FBF22472-0225-4133-8415-2EA7ECD90EFA}"/>
              </a:ext>
            </a:extLst>
          </p:cNvPr>
          <p:cNvSpPr>
            <a:spLocks noGrp="1"/>
          </p:cNvSpPr>
          <p:nvPr/>
        </p:nvSpPr>
        <p:spPr>
          <a:xfrm>
            <a:off x="971550" y="3790950"/>
            <a:ext cx="3743325" cy="0"/>
          </a:xfrm>
          <a:prstGeom prst="line">
            <a:avLst/>
          </a:prstGeom>
          <a:noFill/>
          <a:ln w="9525">
            <a:solidFill>
              <a:srgbClr val="D8DDD9"/>
            </a:solidFill>
            <a:prstDash val="solid"/>
          </a:ln>
        </p:spPr>
        <p:txBody>
          <a:bodyPr/>
          <a:lstStyle/>
          <a:p>
            <a:endParaRPr lang="en-FR"/>
          </a:p>
        </p:txBody>
      </p:sp>
      <p:pic>
        <p:nvPicPr>
          <p:cNvPr id="92" name="Picture 91"/>
          <p:cNvPicPr>
            <a:picLocks noChangeAspect="1"/>
          </p:cNvPicPr>
          <p:nvPr/>
        </p:nvPicPr>
        <p:blipFill>
          <a:blip r:embed="rId7"/>
          <a:stretch/>
        </p:blipFill>
        <p:spPr>
          <a:xfrm>
            <a:off x="619125" y="3876675"/>
            <a:ext cx="266700" cy="266700"/>
          </a:xfrm>
          <a:prstGeom prst="rect">
            <a:avLst/>
          </a:prstGeom>
        </p:spPr>
      </p:pic>
      <p:sp>
        <p:nvSpPr>
          <p:cNvPr id="29" name="Rectangle 28">
            <a:extLst>
              <a:ext uri="{FF2B5EF4-FFF2-40B4-BE49-F238E27FC236}">
                <a16:creationId xmlns:a16="http://schemas.microsoft.com/office/drawing/2014/main" id="{92EBD8D0-6200-44BB-B234-8E0C2461857E}"/>
              </a:ext>
            </a:extLst>
          </p:cNvPr>
          <p:cNvSpPr>
            <a:spLocks noGrp="1"/>
          </p:cNvSpPr>
          <p:nvPr/>
        </p:nvSpPr>
        <p:spPr>
          <a:xfrm>
            <a:off x="1095375" y="3924300"/>
            <a:ext cx="1143000" cy="171450"/>
          </a:xfrm>
          <a:prstGeom prst="rect">
            <a:avLst/>
          </a:prstGeom>
          <a:noFill/>
          <a:ln w="0">
            <a:noFill/>
            <a:prstDash val="solid"/>
          </a:ln>
        </p:spPr>
        <p:txBody>
          <a:bodyPr wrap="none" lIns="0" tIns="0" rIns="0" bIns="0" anchor="t"/>
          <a:lstStyle/>
          <a:p>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Hosts</a:t>
            </a:r>
          </a:p>
        </p:txBody>
      </p:sp>
      <p:sp>
        <p:nvSpPr>
          <p:cNvPr id="30" name="Rectangle 29">
            <a:extLst>
              <a:ext uri="{FF2B5EF4-FFF2-40B4-BE49-F238E27FC236}">
                <a16:creationId xmlns:a16="http://schemas.microsoft.com/office/drawing/2014/main" id="{8BCBCBFE-8FBA-4B24-AE05-54385D787A82}"/>
              </a:ext>
            </a:extLst>
          </p:cNvPr>
          <p:cNvSpPr>
            <a:spLocks noGrp="1"/>
          </p:cNvSpPr>
          <p:nvPr/>
        </p:nvSpPr>
        <p:spPr>
          <a:xfrm>
            <a:off x="2714625" y="3924300"/>
            <a:ext cx="1571625" cy="171450"/>
          </a:xfrm>
          <a:prstGeom prst="rect">
            <a:avLst/>
          </a:prstGeom>
          <a:noFill/>
          <a:ln w="0">
            <a:noFill/>
            <a:prstDash val="solid"/>
          </a:ln>
        </p:spPr>
        <p:txBody>
          <a:bodyPr wrap="none" lIns="0" tIns="0" rIns="0" bIns="0" anchor="t"/>
          <a:lstStyle/>
          <a:p>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4</a:t>
            </a:r>
          </a:p>
        </p:txBody>
      </p:sp>
      <p:sp>
        <p:nvSpPr>
          <p:cNvPr id="31" name="Straight Connector 30">
            <a:extLst>
              <a:ext uri="{FF2B5EF4-FFF2-40B4-BE49-F238E27FC236}">
                <a16:creationId xmlns:a16="http://schemas.microsoft.com/office/drawing/2014/main" id="{97B67929-BE78-46B8-BE26-E454604B77F2}"/>
              </a:ext>
            </a:extLst>
          </p:cNvPr>
          <p:cNvSpPr>
            <a:spLocks noGrp="1"/>
          </p:cNvSpPr>
          <p:nvPr/>
        </p:nvSpPr>
        <p:spPr>
          <a:xfrm>
            <a:off x="971550" y="4171950"/>
            <a:ext cx="3743325" cy="0"/>
          </a:xfrm>
          <a:prstGeom prst="line">
            <a:avLst/>
          </a:prstGeom>
          <a:noFill/>
          <a:ln w="9525">
            <a:solidFill>
              <a:srgbClr val="D8DDD9"/>
            </a:solidFill>
            <a:prstDash val="solid"/>
          </a:ln>
        </p:spPr>
        <p:txBody>
          <a:bodyPr/>
          <a:lstStyle/>
          <a:p>
            <a:endParaRPr lang="en-FR"/>
          </a:p>
        </p:txBody>
      </p:sp>
      <p:pic>
        <p:nvPicPr>
          <p:cNvPr id="96" name="Picture 95"/>
          <p:cNvPicPr>
            <a:picLocks noChangeAspect="1"/>
          </p:cNvPicPr>
          <p:nvPr/>
        </p:nvPicPr>
        <p:blipFill>
          <a:blip r:embed="rId8"/>
          <a:stretch/>
        </p:blipFill>
        <p:spPr>
          <a:xfrm>
            <a:off x="619125" y="4267200"/>
            <a:ext cx="266700" cy="266700"/>
          </a:xfrm>
          <a:prstGeom prst="rect">
            <a:avLst/>
          </a:prstGeom>
        </p:spPr>
      </p:pic>
      <p:sp>
        <p:nvSpPr>
          <p:cNvPr id="33" name="Rectangle 32">
            <a:extLst>
              <a:ext uri="{FF2B5EF4-FFF2-40B4-BE49-F238E27FC236}">
                <a16:creationId xmlns:a16="http://schemas.microsoft.com/office/drawing/2014/main" id="{611C5C49-7C43-4926-A4CD-0D62BD0CA685}"/>
              </a:ext>
            </a:extLst>
          </p:cNvPr>
          <p:cNvSpPr>
            <a:spLocks noGrp="1"/>
          </p:cNvSpPr>
          <p:nvPr/>
        </p:nvSpPr>
        <p:spPr>
          <a:xfrm>
            <a:off x="1095375" y="4314825"/>
            <a:ext cx="1143000" cy="171450"/>
          </a:xfrm>
          <a:prstGeom prst="rect">
            <a:avLst/>
          </a:prstGeom>
          <a:noFill/>
          <a:ln w="0">
            <a:noFill/>
            <a:prstDash val="solid"/>
          </a:ln>
        </p:spPr>
        <p:txBody>
          <a:bodyPr wrap="none" lIns="0" tIns="0" rIns="0" bIns="0" anchor="t"/>
          <a:lstStyle/>
          <a:p>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Shape</a:t>
            </a:r>
          </a:p>
        </p:txBody>
      </p:sp>
      <p:sp>
        <p:nvSpPr>
          <p:cNvPr id="34" name="Rectangle 33">
            <a:extLst>
              <a:ext uri="{FF2B5EF4-FFF2-40B4-BE49-F238E27FC236}">
                <a16:creationId xmlns:a16="http://schemas.microsoft.com/office/drawing/2014/main" id="{9DB25AF8-EA9B-43F4-A3C2-ED13FE3B18C4}"/>
              </a:ext>
            </a:extLst>
          </p:cNvPr>
          <p:cNvSpPr>
            <a:spLocks noGrp="1"/>
          </p:cNvSpPr>
          <p:nvPr/>
        </p:nvSpPr>
        <p:spPr>
          <a:xfrm>
            <a:off x="2714625" y="4314825"/>
            <a:ext cx="1571625" cy="171450"/>
          </a:xfrm>
          <a:prstGeom prst="rect">
            <a:avLst/>
          </a:prstGeom>
          <a:noFill/>
          <a:ln w="0">
            <a:noFill/>
            <a:prstDash val="solid"/>
          </a:ln>
        </p:spPr>
        <p:txBody>
          <a:bodyPr wrap="none" lIns="0" tIns="0" rIns="0" bIns="0" anchor="t"/>
          <a:lstStyle/>
          <a:p>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AMD E4</a:t>
            </a:r>
          </a:p>
        </p:txBody>
      </p:sp>
      <p:sp>
        <p:nvSpPr>
          <p:cNvPr id="35" name="Straight Connector 34">
            <a:extLst>
              <a:ext uri="{FF2B5EF4-FFF2-40B4-BE49-F238E27FC236}">
                <a16:creationId xmlns:a16="http://schemas.microsoft.com/office/drawing/2014/main" id="{174C5339-3927-452C-833D-022327F62FE9}"/>
              </a:ext>
            </a:extLst>
          </p:cNvPr>
          <p:cNvSpPr>
            <a:spLocks noGrp="1"/>
          </p:cNvSpPr>
          <p:nvPr/>
        </p:nvSpPr>
        <p:spPr>
          <a:xfrm>
            <a:off x="971550" y="4562475"/>
            <a:ext cx="3743325" cy="0"/>
          </a:xfrm>
          <a:prstGeom prst="line">
            <a:avLst/>
          </a:prstGeom>
          <a:noFill/>
          <a:ln w="9525">
            <a:solidFill>
              <a:srgbClr val="D8DDD9"/>
            </a:solidFill>
            <a:prstDash val="solid"/>
          </a:ln>
        </p:spPr>
        <p:txBody>
          <a:bodyPr/>
          <a:lstStyle/>
          <a:p>
            <a:endParaRPr lang="en-FR"/>
          </a:p>
        </p:txBody>
      </p:sp>
      <p:pic>
        <p:nvPicPr>
          <p:cNvPr id="100" name="Picture 99"/>
          <p:cNvPicPr>
            <a:picLocks noChangeAspect="1"/>
          </p:cNvPicPr>
          <p:nvPr/>
        </p:nvPicPr>
        <p:blipFill>
          <a:blip r:embed="rId9"/>
          <a:stretch/>
        </p:blipFill>
        <p:spPr>
          <a:xfrm>
            <a:off x="623427" y="4657725"/>
            <a:ext cx="258097" cy="266700"/>
          </a:xfrm>
          <a:prstGeom prst="rect">
            <a:avLst/>
          </a:prstGeom>
        </p:spPr>
      </p:pic>
      <p:sp>
        <p:nvSpPr>
          <p:cNvPr id="37" name="Rectangle 36">
            <a:extLst>
              <a:ext uri="{FF2B5EF4-FFF2-40B4-BE49-F238E27FC236}">
                <a16:creationId xmlns:a16="http://schemas.microsoft.com/office/drawing/2014/main" id="{A296B6A2-1EAE-4DF0-B44E-8318BD4233C2}"/>
              </a:ext>
            </a:extLst>
          </p:cNvPr>
          <p:cNvSpPr>
            <a:spLocks noGrp="1"/>
          </p:cNvSpPr>
          <p:nvPr/>
        </p:nvSpPr>
        <p:spPr>
          <a:xfrm>
            <a:off x="1095375" y="4705350"/>
            <a:ext cx="1143000" cy="171450"/>
          </a:xfrm>
          <a:prstGeom prst="rect">
            <a:avLst/>
          </a:prstGeom>
          <a:noFill/>
          <a:ln w="0">
            <a:noFill/>
            <a:prstDash val="solid"/>
          </a:ln>
        </p:spPr>
        <p:txBody>
          <a:bodyPr wrap="none" lIns="0" tIns="0" rIns="0" bIns="0" anchor="t"/>
          <a:lstStyle/>
          <a:p>
            <a:pPr algn="l">
              <a:lnSpc>
                <a:spcPct val="100000"/>
              </a:lnSpc>
              <a:buNone/>
              <a:defRPr sz="1013" b="1" i="0">
                <a:solidFill>
                  <a:srgbClr val="003B25"/>
                </a:solidFill>
                <a:latin typeface="Arial"/>
                <a:ea typeface="Arial"/>
                <a:cs typeface="Arial"/>
              </a:defRPr>
            </a:pPr>
            <a:r>
              <a:rPr sz="1013" b="1" i="0">
                <a:solidFill>
                  <a:srgbClr val="003B25"/>
                </a:solidFill>
                <a:latin typeface="Arial"/>
                <a:ea typeface="Arial"/>
                <a:cs typeface="Arial"/>
              </a:rPr>
              <a:t>Storage</a:t>
            </a:r>
          </a:p>
        </p:txBody>
      </p:sp>
      <p:sp>
        <p:nvSpPr>
          <p:cNvPr id="38" name="Rectangle 37">
            <a:extLst>
              <a:ext uri="{FF2B5EF4-FFF2-40B4-BE49-F238E27FC236}">
                <a16:creationId xmlns:a16="http://schemas.microsoft.com/office/drawing/2014/main" id="{571D8DEA-6CCE-4396-A35E-1C8C5E110E93}"/>
              </a:ext>
            </a:extLst>
          </p:cNvPr>
          <p:cNvSpPr>
            <a:spLocks noGrp="1"/>
          </p:cNvSpPr>
          <p:nvPr/>
        </p:nvSpPr>
        <p:spPr>
          <a:xfrm>
            <a:off x="2714625" y="4705350"/>
            <a:ext cx="1571625" cy="171450"/>
          </a:xfrm>
          <a:prstGeom prst="rect">
            <a:avLst/>
          </a:prstGeom>
          <a:noFill/>
          <a:ln w="0">
            <a:noFill/>
            <a:prstDash val="solid"/>
          </a:ln>
        </p:spPr>
        <p:txBody>
          <a:bodyPr wrap="none" lIns="0" tIns="0" rIns="0" bIns="0" anchor="t"/>
          <a:lstStyle/>
          <a:p>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200 TB</a:t>
            </a:r>
          </a:p>
        </p:txBody>
      </p:sp>
      <p:sp>
        <p:nvSpPr>
          <p:cNvPr id="39" name="Straight Connector 38">
            <a:extLst>
              <a:ext uri="{FF2B5EF4-FFF2-40B4-BE49-F238E27FC236}">
                <a16:creationId xmlns:a16="http://schemas.microsoft.com/office/drawing/2014/main" id="{5520A562-CFAF-4530-A6B7-7E28A96260E0}"/>
              </a:ext>
            </a:extLst>
          </p:cNvPr>
          <p:cNvSpPr>
            <a:spLocks noGrp="1"/>
          </p:cNvSpPr>
          <p:nvPr/>
        </p:nvSpPr>
        <p:spPr>
          <a:xfrm>
            <a:off x="971550" y="4953000"/>
            <a:ext cx="3743325" cy="0"/>
          </a:xfrm>
          <a:prstGeom prst="line">
            <a:avLst/>
          </a:prstGeom>
          <a:noFill/>
          <a:ln w="9525">
            <a:solidFill>
              <a:srgbClr val="D8DDD9"/>
            </a:solidFill>
            <a:prstDash val="solid"/>
          </a:ln>
        </p:spPr>
        <p:txBody>
          <a:bodyPr/>
          <a:lstStyle/>
          <a:p>
            <a:endParaRPr lang="en-FR"/>
          </a:p>
        </p:txBody>
      </p:sp>
      <p:pic>
        <p:nvPicPr>
          <p:cNvPr id="104" name="Picture 103"/>
          <p:cNvPicPr>
            <a:picLocks noChangeAspect="1"/>
          </p:cNvPicPr>
          <p:nvPr/>
        </p:nvPicPr>
        <p:blipFill>
          <a:blip r:embed="rId10"/>
          <a:stretch/>
        </p:blipFill>
        <p:spPr>
          <a:xfrm>
            <a:off x="600075" y="5059680"/>
            <a:ext cx="304800" cy="243840"/>
          </a:xfrm>
          <a:prstGeom prst="rect">
            <a:avLst/>
          </a:prstGeom>
        </p:spPr>
      </p:pic>
      <p:sp>
        <p:nvSpPr>
          <p:cNvPr id="41" name="Rectangle 40">
            <a:extLst>
              <a:ext uri="{FF2B5EF4-FFF2-40B4-BE49-F238E27FC236}">
                <a16:creationId xmlns:a16="http://schemas.microsoft.com/office/drawing/2014/main" id="{F1AC0AF7-CEAD-416C-835F-A8E4E0E9D4ED}"/>
              </a:ext>
            </a:extLst>
          </p:cNvPr>
          <p:cNvSpPr>
            <a:spLocks noGrp="1"/>
          </p:cNvSpPr>
          <p:nvPr/>
        </p:nvSpPr>
        <p:spPr>
          <a:xfrm>
            <a:off x="1095375" y="5095875"/>
            <a:ext cx="1143000" cy="171450"/>
          </a:xfrm>
          <a:prstGeom prst="rect">
            <a:avLst/>
          </a:prstGeom>
          <a:noFill/>
          <a:ln w="0">
            <a:noFill/>
            <a:prstDash val="solid"/>
          </a:ln>
        </p:spPr>
        <p:txBody>
          <a:bodyPr wrap="none" lIns="0" tIns="0" rIns="0" bIns="0" anchor="t"/>
          <a:lstStyle/>
          <a:p>
            <a:pPr algn="l">
              <a:lnSpc>
                <a:spcPct val="100000"/>
              </a:lnSpc>
              <a:buNone/>
              <a:defRPr sz="1013" b="1" i="0">
                <a:solidFill>
                  <a:srgbClr val="003B25"/>
                </a:solidFill>
                <a:latin typeface="Arial"/>
                <a:ea typeface="Arial"/>
                <a:cs typeface="Arial"/>
              </a:defRPr>
            </a:pPr>
            <a:r>
              <a:rPr sz="1013" b="1" i="0" dirty="0">
                <a:solidFill>
                  <a:srgbClr val="003B25"/>
                </a:solidFill>
                <a:latin typeface="Arial"/>
                <a:ea typeface="Arial"/>
                <a:cs typeface="Arial"/>
              </a:rPr>
              <a:t>Storage Type</a:t>
            </a:r>
          </a:p>
        </p:txBody>
      </p:sp>
      <p:sp>
        <p:nvSpPr>
          <p:cNvPr id="42" name="Rectangle 41">
            <a:extLst>
              <a:ext uri="{FF2B5EF4-FFF2-40B4-BE49-F238E27FC236}">
                <a16:creationId xmlns:a16="http://schemas.microsoft.com/office/drawing/2014/main" id="{0D164D0D-8AB5-4407-9EE9-E57C7BA98C66}"/>
              </a:ext>
            </a:extLst>
          </p:cNvPr>
          <p:cNvSpPr>
            <a:spLocks noGrp="1"/>
          </p:cNvSpPr>
          <p:nvPr/>
        </p:nvSpPr>
        <p:spPr>
          <a:xfrm>
            <a:off x="2714625" y="5095875"/>
            <a:ext cx="1571625" cy="171450"/>
          </a:xfrm>
          <a:prstGeom prst="rect">
            <a:avLst/>
          </a:prstGeom>
          <a:noFill/>
          <a:ln w="0">
            <a:noFill/>
            <a:prstDash val="solid"/>
          </a:ln>
        </p:spPr>
        <p:txBody>
          <a:bodyPr wrap="none" lIns="0" tIns="0" rIns="0" bIns="0" anchor="t"/>
          <a:lstStyle/>
          <a:p>
            <a:pPr algn="l">
              <a:lnSpc>
                <a:spcPct val="100000"/>
              </a:lnSpc>
              <a:buNone/>
              <a:defRPr sz="1013" b="0" i="0">
                <a:solidFill>
                  <a:srgbClr val="111111"/>
                </a:solidFill>
                <a:latin typeface="Arial"/>
                <a:ea typeface="Arial"/>
                <a:cs typeface="Arial"/>
              </a:defRPr>
            </a:pPr>
            <a:r>
              <a:rPr sz="1013" b="0" i="0">
                <a:solidFill>
                  <a:srgbClr val="111111"/>
                </a:solidFill>
                <a:latin typeface="Arial"/>
                <a:ea typeface="Arial"/>
                <a:cs typeface="Arial"/>
              </a:rPr>
              <a:t>OCI Block Volume</a:t>
            </a:r>
          </a:p>
        </p:txBody>
      </p:sp>
      <p:sp>
        <p:nvSpPr>
          <p:cNvPr id="43" name="Rounded Rectangle 42">
            <a:extLst>
              <a:ext uri="{FF2B5EF4-FFF2-40B4-BE49-F238E27FC236}">
                <a16:creationId xmlns:a16="http://schemas.microsoft.com/office/drawing/2014/main" id="{F4A93DB1-0C11-4F07-995E-5594E63F6BCF}"/>
              </a:ext>
            </a:extLst>
          </p:cNvPr>
          <p:cNvSpPr>
            <a:spLocks noGrp="1"/>
          </p:cNvSpPr>
          <p:nvPr/>
        </p:nvSpPr>
        <p:spPr>
          <a:xfrm>
            <a:off x="5153025" y="2600325"/>
            <a:ext cx="6657975" cy="2790825"/>
          </a:xfrm>
          <a:prstGeom prst="roundRect">
            <a:avLst>
              <a:gd name="adj" fmla="val 2389"/>
            </a:avLst>
          </a:prstGeom>
          <a:solidFill>
            <a:srgbClr val="FFFFFF"/>
          </a:solidFill>
          <a:ln w="9525">
            <a:solidFill>
              <a:srgbClr val="D9DEDA"/>
            </a:solidFill>
            <a:prstDash val="solid"/>
          </a:ln>
        </p:spPr>
        <p:style>
          <a:lnRef idx="0">
            <a:scrgbClr r="0" g="0" b="0"/>
          </a:lnRef>
          <a:fillRef idx="0">
            <a:scrgbClr r="0" g="0" b="0"/>
          </a:fillRef>
          <a:effectRef idx="4">
            <a:scrgbClr r="0" g="0" b="0"/>
          </a:effectRef>
          <a:fontRef idx="major"/>
        </p:style>
        <p:txBody>
          <a:bodyPr/>
          <a:lstStyle/>
          <a:p>
            <a:endParaRPr lang="en-FR"/>
          </a:p>
        </p:txBody>
      </p:sp>
      <p:sp>
        <p:nvSpPr>
          <p:cNvPr id="44" name="Rounded Rectangle 43">
            <a:extLst>
              <a:ext uri="{FF2B5EF4-FFF2-40B4-BE49-F238E27FC236}">
                <a16:creationId xmlns:a16="http://schemas.microsoft.com/office/drawing/2014/main" id="{19693974-293E-4E08-91F3-7697E0B7E601}"/>
              </a:ext>
            </a:extLst>
          </p:cNvPr>
          <p:cNvSpPr>
            <a:spLocks noGrp="1"/>
          </p:cNvSpPr>
          <p:nvPr/>
        </p:nvSpPr>
        <p:spPr>
          <a:xfrm>
            <a:off x="5153025" y="2600325"/>
            <a:ext cx="6657975" cy="342900"/>
          </a:xfrm>
          <a:prstGeom prst="roundRect">
            <a:avLst>
              <a:gd name="adj" fmla="val 19444"/>
            </a:avLst>
          </a:prstGeom>
          <a:gradFill>
            <a:gsLst>
              <a:gs pos="0">
                <a:srgbClr val="003B25"/>
              </a:gs>
              <a:gs pos="100000">
                <a:srgbClr val="0B4B30"/>
              </a:gs>
            </a:gsLst>
            <a:lin ang="5400000"/>
          </a:gradFill>
          <a:ln w="0">
            <a:noFill/>
            <a:prstDash val="solid"/>
          </a:ln>
        </p:spPr>
        <p:txBody>
          <a:bodyPr/>
          <a:lstStyle/>
          <a:p>
            <a:endParaRPr lang="en-FR"/>
          </a:p>
        </p:txBody>
      </p:sp>
      <p:sp>
        <p:nvSpPr>
          <p:cNvPr id="45" name="Rectangle 44">
            <a:extLst>
              <a:ext uri="{FF2B5EF4-FFF2-40B4-BE49-F238E27FC236}">
                <a16:creationId xmlns:a16="http://schemas.microsoft.com/office/drawing/2014/main" id="{D3A91228-06D1-492A-84C7-F52EB6AE30B6}"/>
              </a:ext>
            </a:extLst>
          </p:cNvPr>
          <p:cNvSpPr>
            <a:spLocks noGrp="1"/>
          </p:cNvSpPr>
          <p:nvPr/>
        </p:nvSpPr>
        <p:spPr>
          <a:xfrm>
            <a:off x="5153025" y="2876550"/>
            <a:ext cx="6657975" cy="66675"/>
          </a:xfrm>
          <a:prstGeom prst="rect">
            <a:avLst/>
          </a:prstGeom>
          <a:gradFill>
            <a:gsLst>
              <a:gs pos="0">
                <a:srgbClr val="003B25"/>
              </a:gs>
              <a:gs pos="100000">
                <a:srgbClr val="0B4B30"/>
              </a:gs>
            </a:gsLst>
            <a:lin ang="5400000"/>
          </a:gradFill>
          <a:ln w="0">
            <a:noFill/>
            <a:prstDash val="solid"/>
          </a:ln>
        </p:spPr>
        <p:txBody>
          <a:bodyPr/>
          <a:lstStyle/>
          <a:p>
            <a:endParaRPr lang="en-FR"/>
          </a:p>
        </p:txBody>
      </p:sp>
      <p:pic>
        <p:nvPicPr>
          <p:cNvPr id="110" name="Picture 109"/>
          <p:cNvPicPr>
            <a:picLocks noChangeAspect="1"/>
          </p:cNvPicPr>
          <p:nvPr/>
        </p:nvPicPr>
        <p:blipFill>
          <a:blip r:embed="rId11"/>
          <a:stretch/>
        </p:blipFill>
        <p:spPr>
          <a:xfrm>
            <a:off x="5377053" y="2676525"/>
            <a:ext cx="237744" cy="228600"/>
          </a:xfrm>
          <a:prstGeom prst="rect">
            <a:avLst/>
          </a:prstGeom>
        </p:spPr>
      </p:pic>
      <p:sp>
        <p:nvSpPr>
          <p:cNvPr id="47" name="Rectangle 46">
            <a:extLst>
              <a:ext uri="{FF2B5EF4-FFF2-40B4-BE49-F238E27FC236}">
                <a16:creationId xmlns:a16="http://schemas.microsoft.com/office/drawing/2014/main" id="{C1C7126B-261C-4305-996E-A098C771BD53}"/>
              </a:ext>
            </a:extLst>
          </p:cNvPr>
          <p:cNvSpPr>
            <a:spLocks noGrp="1"/>
          </p:cNvSpPr>
          <p:nvPr/>
        </p:nvSpPr>
        <p:spPr>
          <a:xfrm>
            <a:off x="5734050" y="2724150"/>
            <a:ext cx="1714500" cy="161925"/>
          </a:xfrm>
          <a:prstGeom prst="rect">
            <a:avLst/>
          </a:prstGeom>
          <a:noFill/>
          <a:ln w="0">
            <a:noFill/>
            <a:prstDash val="solid"/>
          </a:ln>
        </p:spPr>
        <p:txBody>
          <a:bodyPr wrap="none" lIns="0" tIns="0" rIns="0" bIns="0" anchor="t"/>
          <a:lstStyle/>
          <a:p>
            <a:pPr algn="l">
              <a:lnSpc>
                <a:spcPct val="100000"/>
              </a:lnSpc>
              <a:buNone/>
              <a:defRPr sz="975" b="1" i="0">
                <a:solidFill>
                  <a:srgbClr val="FFFFFF"/>
                </a:solidFill>
                <a:latin typeface="Arial"/>
                <a:ea typeface="Arial"/>
                <a:cs typeface="Arial"/>
              </a:defRPr>
            </a:pPr>
            <a:r>
              <a:rPr sz="975" b="1" i="0">
                <a:solidFill>
                  <a:srgbClr val="FFFFFF"/>
                </a:solidFill>
                <a:latin typeface="Arial"/>
                <a:ea typeface="Arial"/>
                <a:cs typeface="Arial"/>
              </a:rPr>
              <a:t>Cluster Distribution</a:t>
            </a:r>
          </a:p>
        </p:txBody>
      </p:sp>
      <p:sp>
        <p:nvSpPr>
          <p:cNvPr id="48" name="Rounded Rectangle 47">
            <a:extLst>
              <a:ext uri="{FF2B5EF4-FFF2-40B4-BE49-F238E27FC236}">
                <a16:creationId xmlns:a16="http://schemas.microsoft.com/office/drawing/2014/main" id="{0402606C-82ED-44F9-89DE-F2BB23C1D685}"/>
              </a:ext>
            </a:extLst>
          </p:cNvPr>
          <p:cNvSpPr>
            <a:spLocks noGrp="1"/>
          </p:cNvSpPr>
          <p:nvPr/>
        </p:nvSpPr>
        <p:spPr>
          <a:xfrm>
            <a:off x="5372100" y="3152775"/>
            <a:ext cx="6134100" cy="2105025"/>
          </a:xfrm>
          <a:prstGeom prst="roundRect">
            <a:avLst>
              <a:gd name="adj" fmla="val 3167"/>
            </a:avLst>
          </a:prstGeom>
          <a:solidFill>
            <a:srgbClr val="FFFFFF"/>
          </a:solidFill>
          <a:ln w="9525">
            <a:solidFill>
              <a:srgbClr val="D9DEDA"/>
            </a:solidFill>
            <a:prstDash val="solid"/>
          </a:ln>
        </p:spPr>
        <p:txBody>
          <a:bodyPr/>
          <a:lstStyle/>
          <a:p>
            <a:endParaRPr lang="en-FR"/>
          </a:p>
        </p:txBody>
      </p:sp>
      <p:sp>
        <p:nvSpPr>
          <p:cNvPr id="49" name="Rectangle 48">
            <a:extLst>
              <a:ext uri="{FF2B5EF4-FFF2-40B4-BE49-F238E27FC236}">
                <a16:creationId xmlns:a16="http://schemas.microsoft.com/office/drawing/2014/main" id="{5F9F1C6B-88CC-42AF-8D36-9A21C96472C5}"/>
              </a:ext>
            </a:extLst>
          </p:cNvPr>
          <p:cNvSpPr>
            <a:spLocks noGrp="1"/>
          </p:cNvSpPr>
          <p:nvPr/>
        </p:nvSpPr>
        <p:spPr>
          <a:xfrm>
            <a:off x="5381625" y="3162300"/>
            <a:ext cx="6115050" cy="723900"/>
          </a:xfrm>
          <a:prstGeom prst="rect">
            <a:avLst/>
          </a:prstGeom>
          <a:solidFill>
            <a:srgbClr val="F4F8F5"/>
          </a:solidFill>
          <a:ln w="0">
            <a:noFill/>
            <a:prstDash val="solid"/>
          </a:ln>
        </p:spPr>
        <p:txBody>
          <a:bodyPr/>
          <a:lstStyle/>
          <a:p>
            <a:endParaRPr lang="en-FR"/>
          </a:p>
        </p:txBody>
      </p:sp>
      <p:pic>
        <p:nvPicPr>
          <p:cNvPr id="114" name="Picture 113"/>
          <p:cNvPicPr>
            <a:picLocks noChangeAspect="1"/>
          </p:cNvPicPr>
          <p:nvPr/>
        </p:nvPicPr>
        <p:blipFill>
          <a:blip r:embed="rId12"/>
          <a:stretch/>
        </p:blipFill>
        <p:spPr>
          <a:xfrm>
            <a:off x="7172325" y="3209925"/>
            <a:ext cx="714375" cy="666750"/>
          </a:xfrm>
          <a:prstGeom prst="rect">
            <a:avLst/>
          </a:prstGeom>
        </p:spPr>
      </p:pic>
      <p:sp>
        <p:nvSpPr>
          <p:cNvPr id="51" name="Rectangle 50">
            <a:extLst>
              <a:ext uri="{FF2B5EF4-FFF2-40B4-BE49-F238E27FC236}">
                <a16:creationId xmlns:a16="http://schemas.microsoft.com/office/drawing/2014/main" id="{8DC09F75-7A31-4E16-A176-3E722DEDC7AA}"/>
              </a:ext>
            </a:extLst>
          </p:cNvPr>
          <p:cNvSpPr>
            <a:spLocks noGrp="1"/>
          </p:cNvSpPr>
          <p:nvPr/>
        </p:nvSpPr>
        <p:spPr>
          <a:xfrm>
            <a:off x="7934325" y="3476625"/>
            <a:ext cx="1333500" cy="228600"/>
          </a:xfrm>
          <a:prstGeom prst="rect">
            <a:avLst/>
          </a:prstGeom>
          <a:noFill/>
          <a:ln w="0">
            <a:noFill/>
            <a:prstDash val="solid"/>
          </a:ln>
        </p:spPr>
        <p:txBody>
          <a:bodyPr wrap="none" lIns="0" tIns="0" rIns="0" bIns="0" anchor="t"/>
          <a:lstStyle/>
          <a:p>
            <a:pPr algn="l">
              <a:lnSpc>
                <a:spcPct val="100000"/>
              </a:lnSpc>
              <a:buNone/>
              <a:defRPr sz="1350" b="1" i="0">
                <a:solidFill>
                  <a:srgbClr val="003B25"/>
                </a:solidFill>
                <a:latin typeface="Arial"/>
                <a:ea typeface="Arial"/>
                <a:cs typeface="Arial"/>
              </a:defRPr>
            </a:pPr>
            <a:r>
              <a:rPr sz="1350" b="1" i="0">
                <a:solidFill>
                  <a:srgbClr val="003B25"/>
                </a:solidFill>
                <a:latin typeface="Arial"/>
                <a:ea typeface="Arial"/>
                <a:cs typeface="Arial"/>
              </a:rPr>
              <a:t>Production</a:t>
            </a:r>
          </a:p>
        </p:txBody>
      </p:sp>
      <p:sp>
        <p:nvSpPr>
          <p:cNvPr id="52" name="Straight Connector 51">
            <a:extLst>
              <a:ext uri="{FF2B5EF4-FFF2-40B4-BE49-F238E27FC236}">
                <a16:creationId xmlns:a16="http://schemas.microsoft.com/office/drawing/2014/main" id="{1A3A9718-8C44-4242-B34F-F001FA6307F6}"/>
              </a:ext>
            </a:extLst>
          </p:cNvPr>
          <p:cNvSpPr>
            <a:spLocks noGrp="1"/>
          </p:cNvSpPr>
          <p:nvPr/>
        </p:nvSpPr>
        <p:spPr>
          <a:xfrm>
            <a:off x="5505450" y="4619625"/>
            <a:ext cx="5705475" cy="0"/>
          </a:xfrm>
          <a:prstGeom prst="line">
            <a:avLst/>
          </a:prstGeom>
          <a:noFill/>
          <a:ln w="9525">
            <a:solidFill>
              <a:srgbClr val="D8DDD9"/>
            </a:solidFill>
            <a:prstDash val="solid"/>
          </a:ln>
        </p:spPr>
        <p:txBody>
          <a:bodyPr/>
          <a:lstStyle/>
          <a:p>
            <a:endParaRPr lang="en-FR"/>
          </a:p>
        </p:txBody>
      </p:sp>
      <p:pic>
        <p:nvPicPr>
          <p:cNvPr id="117" name="Picture 116"/>
          <p:cNvPicPr>
            <a:picLocks noChangeAspect="1"/>
          </p:cNvPicPr>
          <p:nvPr/>
        </p:nvPicPr>
        <p:blipFill>
          <a:blip r:embed="rId13"/>
          <a:stretch/>
        </p:blipFill>
        <p:spPr>
          <a:xfrm>
            <a:off x="7305675" y="4171950"/>
            <a:ext cx="352425" cy="285750"/>
          </a:xfrm>
          <a:prstGeom prst="rect">
            <a:avLst/>
          </a:prstGeom>
        </p:spPr>
      </p:pic>
      <p:sp>
        <p:nvSpPr>
          <p:cNvPr id="54" name="Rectangle 53">
            <a:extLst>
              <a:ext uri="{FF2B5EF4-FFF2-40B4-BE49-F238E27FC236}">
                <a16:creationId xmlns:a16="http://schemas.microsoft.com/office/drawing/2014/main" id="{DBA146ED-B71C-4C3A-ADBC-410FE533740C}"/>
              </a:ext>
            </a:extLst>
          </p:cNvPr>
          <p:cNvSpPr>
            <a:spLocks noGrp="1"/>
          </p:cNvSpPr>
          <p:nvPr/>
        </p:nvSpPr>
        <p:spPr>
          <a:xfrm>
            <a:off x="7972425" y="4210050"/>
            <a:ext cx="228600" cy="247650"/>
          </a:xfrm>
          <a:prstGeom prst="rect">
            <a:avLst/>
          </a:prstGeom>
          <a:noFill/>
          <a:ln w="0">
            <a:noFill/>
            <a:prstDash val="solid"/>
          </a:ln>
        </p:spPr>
        <p:txBody>
          <a:bodyPr wrap="none" lIns="0" tIns="0" rIns="0" bIns="0" anchor="t"/>
          <a:lstStyle/>
          <a:p>
            <a:pPr algn="l">
              <a:lnSpc>
                <a:spcPct val="100000"/>
              </a:lnSpc>
              <a:buNone/>
              <a:defRPr sz="1800" b="1" i="0">
                <a:solidFill>
                  <a:srgbClr val="003B25"/>
                </a:solidFill>
                <a:latin typeface="Arial"/>
                <a:ea typeface="Arial"/>
                <a:cs typeface="Arial"/>
              </a:defRPr>
            </a:pPr>
            <a:r>
              <a:rPr sz="1800" b="1" i="0">
                <a:solidFill>
                  <a:srgbClr val="003B25"/>
                </a:solidFill>
                <a:latin typeface="Arial"/>
                <a:ea typeface="Arial"/>
                <a:cs typeface="Arial"/>
              </a:rPr>
              <a:t>4</a:t>
            </a:r>
          </a:p>
        </p:txBody>
      </p:sp>
      <p:sp>
        <p:nvSpPr>
          <p:cNvPr id="55" name="Rectangle 54">
            <a:extLst>
              <a:ext uri="{FF2B5EF4-FFF2-40B4-BE49-F238E27FC236}">
                <a16:creationId xmlns:a16="http://schemas.microsoft.com/office/drawing/2014/main" id="{5DBF9DD8-F59D-478A-A27E-79BABD53E9CC}"/>
              </a:ext>
            </a:extLst>
          </p:cNvPr>
          <p:cNvSpPr>
            <a:spLocks noGrp="1"/>
          </p:cNvSpPr>
          <p:nvPr/>
        </p:nvSpPr>
        <p:spPr>
          <a:xfrm>
            <a:off x="8239125" y="4286250"/>
            <a:ext cx="952500" cy="171450"/>
          </a:xfrm>
          <a:prstGeom prst="rect">
            <a:avLst/>
          </a:prstGeom>
          <a:noFill/>
          <a:ln w="0">
            <a:noFill/>
            <a:prstDash val="solid"/>
          </a:ln>
        </p:spPr>
        <p:txBody>
          <a:bodyPr wrap="none" lIns="0" tIns="0" rIns="0" bIns="0" anchor="t"/>
          <a:lstStyle/>
          <a:p>
            <a:pPr algn="l">
              <a:lnSpc>
                <a:spcPct val="100000"/>
              </a:lnSpc>
              <a:buNone/>
              <a:defRPr sz="1050" b="0" i="0">
                <a:solidFill>
                  <a:srgbClr val="111111"/>
                </a:solidFill>
                <a:latin typeface="Arial"/>
                <a:ea typeface="Arial"/>
                <a:cs typeface="Arial"/>
              </a:defRPr>
            </a:pPr>
            <a:r>
              <a:rPr sz="1050" b="0" i="0">
                <a:solidFill>
                  <a:srgbClr val="111111"/>
                </a:solidFill>
                <a:latin typeface="Arial"/>
                <a:ea typeface="Arial"/>
                <a:cs typeface="Arial"/>
              </a:rPr>
              <a:t>x AMD E4</a:t>
            </a:r>
          </a:p>
        </p:txBody>
      </p:sp>
      <p:pic>
        <p:nvPicPr>
          <p:cNvPr id="120" name="Picture 119"/>
          <p:cNvPicPr>
            <a:picLocks noChangeAspect="1"/>
          </p:cNvPicPr>
          <p:nvPr/>
        </p:nvPicPr>
        <p:blipFill>
          <a:blip r:embed="rId14"/>
          <a:stretch/>
        </p:blipFill>
        <p:spPr>
          <a:xfrm>
            <a:off x="7315200" y="4756735"/>
            <a:ext cx="342900" cy="306805"/>
          </a:xfrm>
          <a:prstGeom prst="rect">
            <a:avLst/>
          </a:prstGeom>
        </p:spPr>
      </p:pic>
      <p:sp>
        <p:nvSpPr>
          <p:cNvPr id="57" name="Rectangle 56">
            <a:extLst>
              <a:ext uri="{FF2B5EF4-FFF2-40B4-BE49-F238E27FC236}">
                <a16:creationId xmlns:a16="http://schemas.microsoft.com/office/drawing/2014/main" id="{61B41578-806C-4401-935D-8C6BDB5BD3B9}"/>
              </a:ext>
            </a:extLst>
          </p:cNvPr>
          <p:cNvSpPr>
            <a:spLocks noGrp="1"/>
          </p:cNvSpPr>
          <p:nvPr/>
        </p:nvSpPr>
        <p:spPr>
          <a:xfrm>
            <a:off x="7991475" y="4810125"/>
            <a:ext cx="542925" cy="266700"/>
          </a:xfrm>
          <a:prstGeom prst="rect">
            <a:avLst/>
          </a:prstGeom>
          <a:noFill/>
          <a:ln w="0">
            <a:noFill/>
            <a:prstDash val="solid"/>
          </a:ln>
        </p:spPr>
        <p:txBody>
          <a:bodyPr wrap="none" lIns="0" tIns="0" rIns="0" bIns="0" anchor="t"/>
          <a:lstStyle/>
          <a:p>
            <a:pPr algn="l">
              <a:lnSpc>
                <a:spcPct val="100000"/>
              </a:lnSpc>
              <a:buNone/>
              <a:defRPr sz="1800" b="1" i="0">
                <a:solidFill>
                  <a:srgbClr val="003B25"/>
                </a:solidFill>
                <a:latin typeface="Arial"/>
                <a:ea typeface="Arial"/>
                <a:cs typeface="Arial"/>
              </a:defRPr>
            </a:pPr>
            <a:r>
              <a:rPr sz="1800" b="1" i="0">
                <a:solidFill>
                  <a:srgbClr val="003B25"/>
                </a:solidFill>
                <a:latin typeface="Arial"/>
                <a:ea typeface="Arial"/>
                <a:cs typeface="Arial"/>
              </a:rPr>
              <a:t>200</a:t>
            </a:r>
          </a:p>
        </p:txBody>
      </p:sp>
      <p:sp>
        <p:nvSpPr>
          <p:cNvPr id="58" name="Rectangle 57">
            <a:extLst>
              <a:ext uri="{FF2B5EF4-FFF2-40B4-BE49-F238E27FC236}">
                <a16:creationId xmlns:a16="http://schemas.microsoft.com/office/drawing/2014/main" id="{98B6B2C4-DDC4-44ED-9B4E-5C1A4C0A5328}"/>
              </a:ext>
            </a:extLst>
          </p:cNvPr>
          <p:cNvSpPr>
            <a:spLocks noGrp="1"/>
          </p:cNvSpPr>
          <p:nvPr/>
        </p:nvSpPr>
        <p:spPr>
          <a:xfrm>
            <a:off x="8524875" y="4895850"/>
            <a:ext cx="304800" cy="171450"/>
          </a:xfrm>
          <a:prstGeom prst="rect">
            <a:avLst/>
          </a:prstGeom>
          <a:noFill/>
          <a:ln w="0">
            <a:noFill/>
            <a:prstDash val="solid"/>
          </a:ln>
        </p:spPr>
        <p:txBody>
          <a:bodyPr wrap="none" lIns="0" tIns="0" rIns="0" bIns="0" anchor="t"/>
          <a:lstStyle/>
          <a:p>
            <a:pPr algn="l">
              <a:lnSpc>
                <a:spcPct val="100000"/>
              </a:lnSpc>
              <a:buNone/>
              <a:defRPr sz="1050" b="1" i="0">
                <a:solidFill>
                  <a:srgbClr val="003B25"/>
                </a:solidFill>
                <a:latin typeface="Arial"/>
                <a:ea typeface="Arial"/>
                <a:cs typeface="Arial"/>
              </a:defRPr>
            </a:pPr>
            <a:r>
              <a:rPr sz="1050" b="1" i="0">
                <a:solidFill>
                  <a:srgbClr val="003B25"/>
                </a:solidFill>
                <a:latin typeface="Arial"/>
                <a:ea typeface="Arial"/>
                <a:cs typeface="Arial"/>
              </a:rPr>
              <a:t>TB</a:t>
            </a:r>
          </a:p>
        </p:txBody>
      </p:sp>
      <p:sp>
        <p:nvSpPr>
          <p:cNvPr id="59" name="Rounded Rectangle 58">
            <a:extLst>
              <a:ext uri="{FF2B5EF4-FFF2-40B4-BE49-F238E27FC236}">
                <a16:creationId xmlns:a16="http://schemas.microsoft.com/office/drawing/2014/main" id="{FEA89CD6-5A66-491C-901C-25FF456DC8A4}"/>
              </a:ext>
            </a:extLst>
          </p:cNvPr>
          <p:cNvSpPr>
            <a:spLocks noGrp="1"/>
          </p:cNvSpPr>
          <p:nvPr/>
        </p:nvSpPr>
        <p:spPr>
          <a:xfrm>
            <a:off x="361950" y="5553075"/>
            <a:ext cx="11449050" cy="619125"/>
          </a:xfrm>
          <a:prstGeom prst="roundRect">
            <a:avLst>
              <a:gd name="adj" fmla="val 6154"/>
            </a:avLst>
          </a:prstGeom>
          <a:gradFill>
            <a:gsLst>
              <a:gs pos="0">
                <a:srgbClr val="F0F6F2"/>
              </a:gs>
              <a:gs pos="100000">
                <a:srgbClr val="F7FAF8"/>
              </a:gs>
            </a:gsLst>
            <a:lin ang="5400000"/>
          </a:gradFill>
          <a:ln w="0">
            <a:noFill/>
            <a:prstDash val="solid"/>
          </a:ln>
        </p:spPr>
        <p:txBody>
          <a:bodyPr/>
          <a:lstStyle/>
          <a:p>
            <a:endParaRPr lang="en-FR"/>
          </a:p>
        </p:txBody>
      </p:sp>
      <p:pic>
        <p:nvPicPr>
          <p:cNvPr id="124" name="Picture 123"/>
          <p:cNvPicPr>
            <a:picLocks noChangeAspect="1"/>
          </p:cNvPicPr>
          <p:nvPr/>
        </p:nvPicPr>
        <p:blipFill>
          <a:blip r:embed="rId15"/>
          <a:stretch/>
        </p:blipFill>
        <p:spPr>
          <a:xfrm>
            <a:off x="542925" y="5647619"/>
            <a:ext cx="476250" cy="458611"/>
          </a:xfrm>
          <a:prstGeom prst="rect">
            <a:avLst/>
          </a:prstGeom>
        </p:spPr>
      </p:pic>
      <p:sp>
        <p:nvSpPr>
          <p:cNvPr id="61" name="Rectangle 60">
            <a:extLst>
              <a:ext uri="{FF2B5EF4-FFF2-40B4-BE49-F238E27FC236}">
                <a16:creationId xmlns:a16="http://schemas.microsoft.com/office/drawing/2014/main" id="{5DAD0D36-AD01-4390-AC74-7C58CD1446C4}"/>
              </a:ext>
            </a:extLst>
          </p:cNvPr>
          <p:cNvSpPr>
            <a:spLocks noGrp="1"/>
          </p:cNvSpPr>
          <p:nvPr/>
        </p:nvSpPr>
        <p:spPr>
          <a:xfrm>
            <a:off x="1200150" y="5695950"/>
            <a:ext cx="6477000" cy="190500"/>
          </a:xfrm>
          <a:prstGeom prst="rect">
            <a:avLst/>
          </a:prstGeom>
          <a:noFill/>
          <a:ln w="0">
            <a:noFill/>
            <a:prstDash val="solid"/>
          </a:ln>
        </p:spPr>
        <p:txBody>
          <a:bodyPr wrap="none" lIns="0" tIns="0" rIns="0" bIns="0" anchor="t"/>
          <a:lstStyle/>
          <a:p>
            <a:pPr algn="l">
              <a:lnSpc>
                <a:spcPct val="100000"/>
              </a:lnSpc>
              <a:buNone/>
              <a:defRPr sz="1163" b="1" i="0">
                <a:solidFill>
                  <a:srgbClr val="003B25"/>
                </a:solidFill>
                <a:latin typeface="Arial"/>
                <a:ea typeface="Arial"/>
                <a:cs typeface="Arial"/>
              </a:defRPr>
            </a:pPr>
            <a:r>
              <a:rPr sz="1163" b="1" i="0">
                <a:solidFill>
                  <a:srgbClr val="003B25"/>
                </a:solidFill>
                <a:latin typeface="Arial"/>
                <a:ea typeface="Arial"/>
                <a:cs typeface="Arial"/>
              </a:rPr>
              <a:t>Right-sized architecture designed to support current workloads and future growth</a:t>
            </a:r>
          </a:p>
        </p:txBody>
      </p:sp>
      <p:sp>
        <p:nvSpPr>
          <p:cNvPr id="62" name="Rectangle 61">
            <a:extLst>
              <a:ext uri="{FF2B5EF4-FFF2-40B4-BE49-F238E27FC236}">
                <a16:creationId xmlns:a16="http://schemas.microsoft.com/office/drawing/2014/main" id="{68EC56A3-D2EC-4108-96A2-02243E8CFF9E}"/>
              </a:ext>
            </a:extLst>
          </p:cNvPr>
          <p:cNvSpPr>
            <a:spLocks noGrp="1"/>
          </p:cNvSpPr>
          <p:nvPr/>
        </p:nvSpPr>
        <p:spPr>
          <a:xfrm>
            <a:off x="1200150" y="5924550"/>
            <a:ext cx="3524250" cy="190500"/>
          </a:xfrm>
          <a:prstGeom prst="rect">
            <a:avLst/>
          </a:prstGeom>
          <a:noFill/>
          <a:ln w="0">
            <a:noFill/>
            <a:prstDash val="solid"/>
          </a:ln>
        </p:spPr>
        <p:txBody>
          <a:bodyPr wrap="none" lIns="0" tIns="0" rIns="0" bIns="0" anchor="t"/>
          <a:lstStyle/>
          <a:p>
            <a:pPr algn="l">
              <a:lnSpc>
                <a:spcPct val="100000"/>
              </a:lnSpc>
              <a:buNone/>
              <a:defRPr sz="1125" b="0" i="0">
                <a:solidFill>
                  <a:srgbClr val="111111"/>
                </a:solidFill>
                <a:latin typeface="Arial"/>
                <a:ea typeface="Arial"/>
                <a:cs typeface="Arial"/>
              </a:defRPr>
            </a:pPr>
            <a:r>
              <a:rPr sz="1125" b="0" i="0">
                <a:solidFill>
                  <a:srgbClr val="111111"/>
                </a:solidFill>
                <a:latin typeface="Arial"/>
                <a:ea typeface="Arial"/>
                <a:cs typeface="Arial"/>
              </a:rPr>
              <a:t>while optimizing cost and performance.</a:t>
            </a:r>
          </a:p>
        </p:txBody>
      </p:sp>
      <p:sp>
        <p:nvSpPr>
          <p:cNvPr id="63" name="Rectangle 62">
            <a:extLst>
              <a:ext uri="{FF2B5EF4-FFF2-40B4-BE49-F238E27FC236}">
                <a16:creationId xmlns:a16="http://schemas.microsoft.com/office/drawing/2014/main" id="{37F63975-8C02-4B96-9126-5015455BA972}"/>
              </a:ext>
            </a:extLst>
          </p:cNvPr>
          <p:cNvSpPr>
            <a:spLocks noGrp="1"/>
          </p:cNvSpPr>
          <p:nvPr/>
        </p:nvSpPr>
        <p:spPr>
          <a:xfrm>
            <a:off x="1133475" y="6553200"/>
            <a:ext cx="5334000" cy="152400"/>
          </a:xfrm>
          <a:prstGeom prst="rect">
            <a:avLst/>
          </a:prstGeom>
          <a:noFill/>
          <a:ln w="0">
            <a:noFill/>
            <a:prstDash val="solid"/>
          </a:ln>
        </p:spPr>
        <p:txBody>
          <a:bodyPr wrap="none" lIns="0" tIns="0" rIns="0" bIns="0" anchor="t"/>
          <a:lstStyle/>
          <a:p>
            <a:pPr algn="l">
              <a:lnSpc>
                <a:spcPct val="100000"/>
              </a:lnSpc>
              <a:buNone/>
              <a:defRPr sz="675" b="0" i="0">
                <a:solidFill>
                  <a:srgbClr val="5C5C5C"/>
                </a:solidFill>
                <a:latin typeface="Arial"/>
                <a:ea typeface="Arial"/>
                <a:cs typeface="Arial"/>
              </a:defRPr>
            </a:pPr>
            <a:r>
              <a:rPr sz="675" b="0" i="0">
                <a:solidFill>
                  <a:srgbClr val="5C5C5C"/>
                </a:solidFill>
                <a:latin typeface="Arial"/>
                <a:ea typeface="Arial"/>
                <a:cs typeface="Arial"/>
              </a:rPr>
              <a:t>Copyright © 2026, Oracle and/or its affiliates | Confidential: Internal/Restricted/Highly Restricted</a:t>
            </a:r>
          </a:p>
        </p:txBody>
      </p:sp>
      <p:pic>
        <p:nvPicPr>
          <p:cNvPr id="128" name="Picture 127"/>
          <p:cNvPicPr>
            <a:picLocks noChangeAspect="1"/>
          </p:cNvPicPr>
          <p:nvPr/>
        </p:nvPicPr>
        <p:blipFill>
          <a:blip r:embed="rId16"/>
          <a:stretch/>
        </p:blipFill>
        <p:spPr>
          <a:xfrm>
            <a:off x="11401979" y="6457950"/>
            <a:ext cx="446567" cy="400050"/>
          </a:xfrm>
          <a:prstGeom prst="rect">
            <a:avLst/>
          </a:prstGeom>
        </p:spPr>
      </p:pic>
    </p:spTree>
    <p:extLst>
      <p:ext uri="{BB962C8B-B14F-4D97-AF65-F5344CB8AC3E}">
        <p14:creationId xmlns:p14="http://schemas.microsoft.com/office/powerpoint/2010/main" val="789669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8E8E8"/>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3030B4A-2296-4E67-AE3A-90D3730F76AA}"/>
              </a:ext>
            </a:extLst>
          </p:cNvPr>
          <p:cNvSpPr>
            <a:spLocks noGrp="1"/>
          </p:cNvSpPr>
          <p:nvPr/>
        </p:nvSpPr>
        <p:spPr>
          <a:xfrm>
            <a:off x="66675" y="85725"/>
            <a:ext cx="2667000" cy="323850"/>
          </a:xfrm>
          <a:prstGeom prst="rect">
            <a:avLst/>
          </a:prstGeom>
          <a:noFill/>
          <a:ln w="0">
            <a:noFill/>
            <a:prstDash val="solid"/>
          </a:ln>
        </p:spPr>
        <p:txBody>
          <a:bodyPr wrap="square" lIns="0" tIns="0" rIns="0" bIns="0" anchor="t"/>
          <a:lstStyle/>
          <a:p>
            <a:pPr algn="l">
              <a:lnSpc>
                <a:spcPct val="105000"/>
              </a:lnSpc>
              <a:buNone/>
              <a:defRPr sz="825" b="0" i="0">
                <a:solidFill>
                  <a:srgbClr val="777777"/>
                </a:solidFill>
                <a:latin typeface="Arial"/>
                <a:ea typeface="Arial"/>
                <a:cs typeface="Arial"/>
              </a:defRPr>
            </a:pPr>
            <a:r>
              <a:rPr sz="825" b="0" i="0">
                <a:solidFill>
                  <a:srgbClr val="777777"/>
                </a:solidFill>
                <a:latin typeface="Arial"/>
                <a:ea typeface="Arial"/>
                <a:cs typeface="Arial"/>
              </a:rPr>
              <a:t>Confidential - Oracle Restricted \Employees</a:t>
            </a:r>
          </a:p>
          <a:p>
            <a:pPr algn="l">
              <a:lnSpc>
                <a:spcPct val="105000"/>
              </a:lnSpc>
              <a:buNone/>
              <a:defRPr sz="825" b="0" i="0">
                <a:solidFill>
                  <a:srgbClr val="777777"/>
                </a:solidFill>
                <a:latin typeface="Arial"/>
                <a:ea typeface="Arial"/>
                <a:cs typeface="Arial"/>
              </a:defRPr>
            </a:pPr>
            <a:r>
              <a:rPr sz="825" b="0" i="0">
                <a:solidFill>
                  <a:srgbClr val="777777"/>
                </a:solidFill>
                <a:latin typeface="Arial"/>
                <a:ea typeface="Arial"/>
                <a:cs typeface="Arial"/>
              </a:rPr>
              <a:t>Only</a:t>
            </a:r>
          </a:p>
        </p:txBody>
      </p:sp>
      <p:pic>
        <p:nvPicPr>
          <p:cNvPr id="5" name="Picture 4"/>
          <p:cNvPicPr>
            <a:picLocks noChangeAspect="1"/>
          </p:cNvPicPr>
          <p:nvPr/>
        </p:nvPicPr>
        <p:blipFill>
          <a:blip r:embed="rId3"/>
          <a:stretch/>
        </p:blipFill>
        <p:spPr>
          <a:xfrm>
            <a:off x="4219575" y="3185422"/>
            <a:ext cx="3752850" cy="534781"/>
          </a:xfrm>
          <a:prstGeom prst="rect">
            <a:avLst/>
          </a:prstGeom>
        </p:spPr>
      </p:pic>
      <p:sp>
        <p:nvSpPr>
          <p:cNvPr id="3" name="Rectangle 2">
            <a:extLst>
              <a:ext uri="{FF2B5EF4-FFF2-40B4-BE49-F238E27FC236}">
                <a16:creationId xmlns:a16="http://schemas.microsoft.com/office/drawing/2014/main" id="{E17D35F5-2CF6-43F3-9813-9C11FDF9362B}"/>
              </a:ext>
            </a:extLst>
          </p:cNvPr>
          <p:cNvSpPr>
            <a:spLocks noGrp="1"/>
          </p:cNvSpPr>
          <p:nvPr/>
        </p:nvSpPr>
        <p:spPr>
          <a:xfrm>
            <a:off x="66675" y="6486525"/>
            <a:ext cx="2667000" cy="323850"/>
          </a:xfrm>
          <a:prstGeom prst="rect">
            <a:avLst/>
          </a:prstGeom>
          <a:noFill/>
          <a:ln w="0">
            <a:noFill/>
            <a:prstDash val="solid"/>
          </a:ln>
        </p:spPr>
        <p:txBody>
          <a:bodyPr wrap="square" lIns="0" tIns="0" rIns="0" bIns="0" anchor="t"/>
          <a:lstStyle/>
          <a:p>
            <a:pPr algn="l">
              <a:lnSpc>
                <a:spcPct val="105000"/>
              </a:lnSpc>
              <a:buNone/>
              <a:defRPr sz="825" b="0" i="0">
                <a:solidFill>
                  <a:srgbClr val="777777"/>
                </a:solidFill>
                <a:latin typeface="Arial"/>
                <a:ea typeface="Arial"/>
                <a:cs typeface="Arial"/>
              </a:defRPr>
            </a:pPr>
            <a:r>
              <a:rPr sz="825" b="0" i="0">
                <a:solidFill>
                  <a:srgbClr val="777777"/>
                </a:solidFill>
                <a:latin typeface="Arial"/>
                <a:ea typeface="Arial"/>
                <a:cs typeface="Arial"/>
              </a:rPr>
              <a:t>Confidential - Oracle Restricted \Employees</a:t>
            </a:r>
          </a:p>
          <a:p>
            <a:pPr algn="l">
              <a:lnSpc>
                <a:spcPct val="105000"/>
              </a:lnSpc>
              <a:buNone/>
              <a:defRPr sz="825" b="0" i="0">
                <a:solidFill>
                  <a:srgbClr val="777777"/>
                </a:solidFill>
                <a:latin typeface="Arial"/>
                <a:ea typeface="Arial"/>
                <a:cs typeface="Arial"/>
              </a:defRPr>
            </a:pPr>
            <a:r>
              <a:rPr sz="825" b="0" i="0">
                <a:solidFill>
                  <a:srgbClr val="777777"/>
                </a:solidFill>
                <a:latin typeface="Arial"/>
                <a:ea typeface="Arial"/>
                <a:cs typeface="Arial"/>
              </a:rPr>
              <a:t>Only</a:t>
            </a:r>
          </a:p>
        </p:txBody>
      </p:sp>
    </p:spTree>
    <p:extLst>
      <p:ext uri="{BB962C8B-B14F-4D97-AF65-F5344CB8AC3E}">
        <p14:creationId xmlns:p14="http://schemas.microsoft.com/office/powerpoint/2010/main" val="104449293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825c952f-1947-4719-99e7-7bc5a76060a8}" enabled="1" method="Standard" siteId="{4e2c6054-71cb-48f1-bd6c-3a9705aca71b}" contentBits="3" removed="0"/>
</clbl:labelList>
</file>

<file path=docProps/app.xml><?xml version="1.0" encoding="utf-8"?>
<Properties xmlns="http://schemas.openxmlformats.org/officeDocument/2006/extended-properties" xmlns:vt="http://schemas.openxmlformats.org/officeDocument/2006/docPropsVTypes">
  <TotalTime>0</TotalTime>
  <Words>853</Words>
  <Application>Microsoft Macintosh PowerPoint</Application>
  <DocSecurity>0</DocSecurity>
  <PresentationFormat>Widescreen</PresentationFormat>
  <Paragraphs>162</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Yoann JOSPITRE</cp:lastModifiedBy>
  <cp:revision>1</cp:revision>
  <dcterms:created xsi:type="dcterms:W3CDTF">2026-08-14T09:51:07Z</dcterms:created>
  <dcterms:modified xsi:type="dcterms:W3CDTF">2026-08-14T13:24:11Z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ChatGPT:5</vt:lpwstr>
  </property>
  <property fmtid="{D5CDD505-2E9C-101B-9397-08002B2CF9AE}" pid="3" name="ClassificationContentMarkingFooterText">
    <vt:lpwstr>Confidential - Oracle Restricted \Employees Only</vt:lpwstr>
  </property>
  <property fmtid="{D5CDD505-2E9C-101B-9397-08002B2CF9AE}" pid="4" name="ClassificationContentMarkingHeaderLocations">
    <vt:lpwstr>ChatGPT:4</vt:lpwstr>
  </property>
  <property fmtid="{D5CDD505-2E9C-101B-9397-08002B2CF9AE}" pid="5" name="ClassificationContentMarkingHeaderText">
    <vt:lpwstr>Confidential - Oracle Restricted \Employees Only</vt:lpwstr>
  </property>
</Properties>
</file>