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60" r:id="rId4"/>
    <p:sldId id="261" r:id="rId5"/>
    <p:sldId id="258" r:id="rId6"/>
    <p:sldId id="259" r:id="rId7"/>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BF9"/>
    <a:srgbClr val="FBFA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94635"/>
  </p:normalViewPr>
  <p:slideViewPr>
    <p:cSldViewPr snapToGrid="0">
      <p:cViewPr>
        <p:scale>
          <a:sx n="148" d="100"/>
          <a:sy n="148" d="100"/>
        </p:scale>
        <p:origin x="14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slide 1 of the provided PowerPoint. Oracle logo, Oracle mark, row icons, and the right-side Oracle Cloud VMware Solution illustration are kept as cropped image assets from the source. Visible title, sizing label, and customer/date/prepared-by text are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slide 2 of the provided PowerPoint. Oracle logo and all icons/pictograms are kept as cropped image assets from the source. Text, panels, arrows, table-like labels, callout, separators, and business-outcome copy are recreated as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slide 3 of the provided PowerPoint. Oracle logo, Oracle mark, and all metric/panel icons are kept as cropped image assets from the source. Title, explanatory text, architecture table, cluster card, values, callout, footer, panels, and separators are recreated as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slide 4 of the provided PowerPoint. Oracle logo is kept as a cropped image asset from the source; confidentiality labels and grey background are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2.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s>
</file>

<file path=ppt/slides/_rels/slide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4.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8"/>
        </a:solidFill>
        <a:effectLst/>
      </p:bgPr>
    </p:bg>
    <p:spTree>
      <p:nvGrpSpPr>
        <p:cNvPr id="1" name=""/>
        <p:cNvGrpSpPr/>
        <p:nvPr/>
      </p:nvGrpSpPr>
      <p:grpSpPr>
        <a:xfrm>
          <a:off x="0" y="0"/>
          <a:ext cx="0" cy="0"/>
          <a:chOff x="0" y="0"/>
          <a:chExt cx="0" cy="0"/>
        </a:xfrm>
      </p:grpSpPr>
      <p:sp>
        <p:nvSpPr>
          <p:cNvPr id="29" name="Oval 28">
            <a:extLst>
              <a:ext uri="{FF2B5EF4-FFF2-40B4-BE49-F238E27FC236}">
                <a16:creationId xmlns:a16="http://schemas.microsoft.com/office/drawing/2014/main" id="{4696C5B5-BCFA-4425-B931-C6A2F4CF4A25}"/>
              </a:ext>
            </a:extLst>
          </p:cNvPr>
          <p:cNvSpPr>
            <a:spLocks noGrp="1"/>
          </p:cNvSpPr>
          <p:nvPr/>
        </p:nvSpPr>
        <p:spPr>
          <a:xfrm>
            <a:off x="7239000" y="371475"/>
            <a:ext cx="66675" cy="66675"/>
          </a:xfrm>
          <a:prstGeom prst="ellipse">
            <a:avLst/>
          </a:prstGeom>
          <a:solidFill>
            <a:srgbClr val="E7E9E7"/>
          </a:solidFill>
          <a:ln w="0">
            <a:noFill/>
            <a:prstDash val="solid"/>
          </a:ln>
        </p:spPr>
        <p:txBody>
          <a:bodyPr/>
          <a:lstStyle/>
          <a:p>
            <a:endParaRPr lang="en-FR"/>
          </a:p>
        </p:txBody>
      </p:sp>
      <p:sp>
        <p:nvSpPr>
          <p:cNvPr id="2" name="Oval 1">
            <a:extLst>
              <a:ext uri="{FF2B5EF4-FFF2-40B4-BE49-F238E27FC236}">
                <a16:creationId xmlns:a16="http://schemas.microsoft.com/office/drawing/2014/main" id="{375AA658-C774-489C-98AA-71460C4C75DC}"/>
              </a:ext>
            </a:extLst>
          </p:cNvPr>
          <p:cNvSpPr>
            <a:spLocks noGrp="1"/>
          </p:cNvSpPr>
          <p:nvPr/>
        </p:nvSpPr>
        <p:spPr>
          <a:xfrm>
            <a:off x="4486275" y="981075"/>
            <a:ext cx="47625" cy="47625"/>
          </a:xfrm>
          <a:prstGeom prst="ellipse">
            <a:avLst/>
          </a:prstGeom>
          <a:solidFill>
            <a:srgbClr val="E7E9E7"/>
          </a:solidFill>
          <a:ln w="0">
            <a:noFill/>
            <a:prstDash val="solid"/>
          </a:ln>
        </p:spPr>
        <p:txBody>
          <a:bodyPr/>
          <a:lstStyle/>
          <a:p>
            <a:endParaRPr lang="en-FR"/>
          </a:p>
        </p:txBody>
      </p:sp>
      <p:sp>
        <p:nvSpPr>
          <p:cNvPr id="3" name="Oval 2">
            <a:extLst>
              <a:ext uri="{FF2B5EF4-FFF2-40B4-BE49-F238E27FC236}">
                <a16:creationId xmlns:a16="http://schemas.microsoft.com/office/drawing/2014/main" id="{1F6E5068-3122-4247-9AB7-38EBFA209EEF}"/>
              </a:ext>
            </a:extLst>
          </p:cNvPr>
          <p:cNvSpPr>
            <a:spLocks noGrp="1"/>
          </p:cNvSpPr>
          <p:nvPr/>
        </p:nvSpPr>
        <p:spPr>
          <a:xfrm>
            <a:off x="5143500" y="561975"/>
            <a:ext cx="38100" cy="38100"/>
          </a:xfrm>
          <a:prstGeom prst="ellipse">
            <a:avLst/>
          </a:prstGeom>
          <a:solidFill>
            <a:srgbClr val="E7E9E7"/>
          </a:solidFill>
          <a:ln w="0">
            <a:noFill/>
            <a:prstDash val="solid"/>
          </a:ln>
        </p:spPr>
        <p:txBody>
          <a:bodyPr/>
          <a:lstStyle/>
          <a:p>
            <a:endParaRPr lang="en-FR"/>
          </a:p>
        </p:txBody>
      </p:sp>
      <p:sp>
        <p:nvSpPr>
          <p:cNvPr id="4" name="Oval 3">
            <a:extLst>
              <a:ext uri="{FF2B5EF4-FFF2-40B4-BE49-F238E27FC236}">
                <a16:creationId xmlns:a16="http://schemas.microsoft.com/office/drawing/2014/main" id="{7BF01C8E-6137-4231-8D77-A754E49C2571}"/>
              </a:ext>
            </a:extLst>
          </p:cNvPr>
          <p:cNvSpPr>
            <a:spLocks noGrp="1"/>
          </p:cNvSpPr>
          <p:nvPr/>
        </p:nvSpPr>
        <p:spPr>
          <a:xfrm>
            <a:off x="6210300" y="3714750"/>
            <a:ext cx="47625" cy="47625"/>
          </a:xfrm>
          <a:prstGeom prst="ellipse">
            <a:avLst/>
          </a:prstGeom>
          <a:solidFill>
            <a:srgbClr val="E7E9E7"/>
          </a:solidFill>
          <a:ln w="0">
            <a:noFill/>
            <a:prstDash val="solid"/>
          </a:ln>
        </p:spPr>
        <p:txBody>
          <a:bodyPr/>
          <a:lstStyle/>
          <a:p>
            <a:endParaRPr lang="en-FR"/>
          </a:p>
        </p:txBody>
      </p:sp>
      <p:sp>
        <p:nvSpPr>
          <p:cNvPr id="5" name="Oval 4">
            <a:extLst>
              <a:ext uri="{FF2B5EF4-FFF2-40B4-BE49-F238E27FC236}">
                <a16:creationId xmlns:a16="http://schemas.microsoft.com/office/drawing/2014/main" id="{F10343F5-2252-4F30-81D6-73B33763131E}"/>
              </a:ext>
            </a:extLst>
          </p:cNvPr>
          <p:cNvSpPr>
            <a:spLocks noGrp="1"/>
          </p:cNvSpPr>
          <p:nvPr/>
        </p:nvSpPr>
        <p:spPr>
          <a:xfrm>
            <a:off x="11315700" y="704850"/>
            <a:ext cx="28575" cy="28575"/>
          </a:xfrm>
          <a:prstGeom prst="ellipse">
            <a:avLst/>
          </a:prstGeom>
          <a:solidFill>
            <a:srgbClr val="E7E9E7"/>
          </a:solidFill>
          <a:ln w="0">
            <a:noFill/>
            <a:prstDash val="solid"/>
          </a:ln>
        </p:spPr>
        <p:txBody>
          <a:bodyPr/>
          <a:lstStyle/>
          <a:p>
            <a:endParaRPr lang="en-FR"/>
          </a:p>
        </p:txBody>
      </p:sp>
      <p:sp>
        <p:nvSpPr>
          <p:cNvPr id="6" name="Oval 5">
            <a:extLst>
              <a:ext uri="{FF2B5EF4-FFF2-40B4-BE49-F238E27FC236}">
                <a16:creationId xmlns:a16="http://schemas.microsoft.com/office/drawing/2014/main" id="{46BA590D-5274-475F-AEBD-A987F53BBD38}"/>
              </a:ext>
            </a:extLst>
          </p:cNvPr>
          <p:cNvSpPr>
            <a:spLocks noGrp="1"/>
          </p:cNvSpPr>
          <p:nvPr/>
        </p:nvSpPr>
        <p:spPr>
          <a:xfrm>
            <a:off x="11811000" y="704850"/>
            <a:ext cx="28575" cy="28575"/>
          </a:xfrm>
          <a:prstGeom prst="ellipse">
            <a:avLst/>
          </a:prstGeom>
          <a:solidFill>
            <a:srgbClr val="E7E9E7"/>
          </a:solidFill>
          <a:ln w="0">
            <a:noFill/>
            <a:prstDash val="solid"/>
          </a:ln>
        </p:spPr>
        <p:txBody>
          <a:bodyPr/>
          <a:lstStyle/>
          <a:p>
            <a:endParaRPr lang="en-FR"/>
          </a:p>
        </p:txBody>
      </p:sp>
      <p:sp>
        <p:nvSpPr>
          <p:cNvPr id="7" name="Oval 6">
            <a:extLst>
              <a:ext uri="{FF2B5EF4-FFF2-40B4-BE49-F238E27FC236}">
                <a16:creationId xmlns:a16="http://schemas.microsoft.com/office/drawing/2014/main" id="{2F11CAD1-90ED-4491-A3BE-A83AEE7C6506}"/>
              </a:ext>
            </a:extLst>
          </p:cNvPr>
          <p:cNvSpPr>
            <a:spLocks noGrp="1"/>
          </p:cNvSpPr>
          <p:nvPr/>
        </p:nvSpPr>
        <p:spPr>
          <a:xfrm>
            <a:off x="4486275" y="3876675"/>
            <a:ext cx="47625" cy="47625"/>
          </a:xfrm>
          <a:prstGeom prst="ellipse">
            <a:avLst/>
          </a:prstGeom>
          <a:solidFill>
            <a:srgbClr val="E7E9E7"/>
          </a:solidFill>
          <a:ln w="0">
            <a:noFill/>
            <a:prstDash val="solid"/>
          </a:ln>
        </p:spPr>
        <p:txBody>
          <a:bodyPr/>
          <a:lstStyle/>
          <a:p>
            <a:endParaRPr lang="en-FR"/>
          </a:p>
        </p:txBody>
      </p:sp>
      <p:sp>
        <p:nvSpPr>
          <p:cNvPr id="8" name="Oval 7">
            <a:extLst>
              <a:ext uri="{FF2B5EF4-FFF2-40B4-BE49-F238E27FC236}">
                <a16:creationId xmlns:a16="http://schemas.microsoft.com/office/drawing/2014/main" id="{17FB2515-F71F-4A18-8796-33CCAB489220}"/>
              </a:ext>
            </a:extLst>
          </p:cNvPr>
          <p:cNvSpPr>
            <a:spLocks noGrp="1"/>
          </p:cNvSpPr>
          <p:nvPr/>
        </p:nvSpPr>
        <p:spPr>
          <a:xfrm>
            <a:off x="0" y="3714750"/>
            <a:ext cx="1381125" cy="1714500"/>
          </a:xfrm>
          <a:prstGeom prst="ellipse">
            <a:avLst/>
          </a:prstGeom>
          <a:solidFill>
            <a:srgbClr val="F7FAF8"/>
          </a:solidFill>
          <a:ln w="9525">
            <a:solidFill>
              <a:srgbClr val="E0E6E2"/>
            </a:solidFill>
            <a:prstDash val="dot"/>
          </a:ln>
        </p:spPr>
        <p:txBody>
          <a:bodyPr/>
          <a:lstStyle/>
          <a:p>
            <a:endParaRPr lang="en-FR"/>
          </a:p>
        </p:txBody>
      </p:sp>
      <p:sp>
        <p:nvSpPr>
          <p:cNvPr id="9" name="Oval 8">
            <a:extLst>
              <a:ext uri="{FF2B5EF4-FFF2-40B4-BE49-F238E27FC236}">
                <a16:creationId xmlns:a16="http://schemas.microsoft.com/office/drawing/2014/main" id="{752F6077-993B-4744-8476-4A5DEA11BC42}"/>
              </a:ext>
            </a:extLst>
          </p:cNvPr>
          <p:cNvSpPr>
            <a:spLocks noGrp="1"/>
          </p:cNvSpPr>
          <p:nvPr/>
        </p:nvSpPr>
        <p:spPr>
          <a:xfrm>
            <a:off x="0" y="5762625"/>
            <a:ext cx="2952750" cy="1095375"/>
          </a:xfrm>
          <a:prstGeom prst="ellipse">
            <a:avLst/>
          </a:prstGeom>
          <a:solidFill>
            <a:srgbClr val="F7FAF8"/>
          </a:solidFill>
          <a:ln w="9525">
            <a:solidFill>
              <a:srgbClr val="E0E6E2"/>
            </a:solidFill>
            <a:prstDash val="dot"/>
          </a:ln>
        </p:spPr>
        <p:txBody>
          <a:bodyPr/>
          <a:lstStyle/>
          <a:p>
            <a:endParaRPr lang="en-FR"/>
          </a:p>
        </p:txBody>
      </p:sp>
      <p:pic>
        <p:nvPicPr>
          <p:cNvPr id="38" name="Picture 37"/>
          <p:cNvPicPr>
            <a:picLocks noChangeAspect="1"/>
          </p:cNvPicPr>
          <p:nvPr/>
        </p:nvPicPr>
        <p:blipFill>
          <a:blip r:embed="rId3"/>
          <a:stretch/>
        </p:blipFill>
        <p:spPr>
          <a:xfrm>
            <a:off x="333375" y="295275"/>
            <a:ext cx="2152650" cy="704850"/>
          </a:xfrm>
          <a:prstGeom prst="rect">
            <a:avLst/>
          </a:prstGeom>
        </p:spPr>
      </p:pic>
      <p:pic>
        <p:nvPicPr>
          <p:cNvPr id="39" name="Picture 38"/>
          <p:cNvPicPr>
            <a:picLocks noChangeAspect="1"/>
          </p:cNvPicPr>
          <p:nvPr/>
        </p:nvPicPr>
        <p:blipFill>
          <a:blip r:embed="rId4"/>
          <a:stretch/>
        </p:blipFill>
        <p:spPr>
          <a:xfrm>
            <a:off x="6096000" y="476250"/>
            <a:ext cx="5524500" cy="5000625"/>
          </a:xfrm>
          <a:prstGeom prst="rect">
            <a:avLst/>
          </a:prstGeom>
        </p:spPr>
      </p:pic>
      <p:sp>
        <p:nvSpPr>
          <p:cNvPr id="12" name="Rectangle 11">
            <a:extLst>
              <a:ext uri="{FF2B5EF4-FFF2-40B4-BE49-F238E27FC236}">
                <a16:creationId xmlns:a16="http://schemas.microsoft.com/office/drawing/2014/main" id="{BE18B706-8D3E-4081-9607-FAFE11CAC30D}"/>
              </a:ext>
            </a:extLst>
          </p:cNvPr>
          <p:cNvSpPr>
            <a:spLocks noGrp="1"/>
          </p:cNvSpPr>
          <p:nvPr/>
        </p:nvSpPr>
        <p:spPr>
          <a:xfrm>
            <a:off x="361950" y="1733550"/>
            <a:ext cx="4572000" cy="685800"/>
          </a:xfrm>
          <a:prstGeom prst="rect">
            <a:avLst/>
          </a:prstGeom>
          <a:noFill/>
          <a:ln w="0">
            <a:noFill/>
            <a:prstDash val="solid"/>
          </a:ln>
        </p:spPr>
        <p:txBody>
          <a:bodyPr wrap="none" lIns="0" tIns="0" rIns="0" bIns="0" anchor="t"/>
          <a:lstStyle/>
          <a:p>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Oracle Cloud</a:t>
            </a:r>
          </a:p>
        </p:txBody>
      </p:sp>
      <p:sp>
        <p:nvSpPr>
          <p:cNvPr id="13" name="Rectangle 12">
            <a:extLst>
              <a:ext uri="{FF2B5EF4-FFF2-40B4-BE49-F238E27FC236}">
                <a16:creationId xmlns:a16="http://schemas.microsoft.com/office/drawing/2014/main" id="{013ED40B-2727-41E5-9FA9-6767E03C6F90}"/>
              </a:ext>
            </a:extLst>
          </p:cNvPr>
          <p:cNvSpPr>
            <a:spLocks noGrp="1"/>
          </p:cNvSpPr>
          <p:nvPr/>
        </p:nvSpPr>
        <p:spPr>
          <a:xfrm>
            <a:off x="361950" y="2400300"/>
            <a:ext cx="5905500" cy="685800"/>
          </a:xfrm>
          <a:prstGeom prst="rect">
            <a:avLst/>
          </a:prstGeom>
          <a:noFill/>
          <a:ln w="0">
            <a:noFill/>
            <a:prstDash val="solid"/>
          </a:ln>
        </p:spPr>
        <p:txBody>
          <a:bodyPr wrap="none" lIns="0" tIns="0" rIns="0" bIns="0" anchor="t"/>
          <a:lstStyle/>
          <a:p>
            <a:pPr algn="l">
              <a:lnSpc>
                <a:spcPct val="100000"/>
              </a:lnSpc>
              <a:buNone/>
              <a:defRPr sz="4200" b="1" i="0">
                <a:solidFill>
                  <a:srgbClr val="003B25"/>
                </a:solidFill>
                <a:latin typeface="Arial"/>
                <a:ea typeface="Arial"/>
                <a:cs typeface="Arial"/>
              </a:defRPr>
            </a:pPr>
            <a:r>
              <a:rPr sz="4200" b="1" i="0" dirty="0">
                <a:solidFill>
                  <a:srgbClr val="003B25"/>
                </a:solidFill>
                <a:latin typeface="Arial"/>
                <a:ea typeface="Arial"/>
                <a:cs typeface="Arial"/>
              </a:rPr>
              <a:t>VMware Solution</a:t>
            </a:r>
          </a:p>
        </p:txBody>
      </p:sp>
      <p:sp>
        <p:nvSpPr>
          <p:cNvPr id="14" name="Rectangle 13">
            <a:extLst>
              <a:ext uri="{FF2B5EF4-FFF2-40B4-BE49-F238E27FC236}">
                <a16:creationId xmlns:a16="http://schemas.microsoft.com/office/drawing/2014/main" id="{E87D35AF-65D4-4A89-A0BA-254325912F36}"/>
              </a:ext>
            </a:extLst>
          </p:cNvPr>
          <p:cNvSpPr>
            <a:spLocks noGrp="1"/>
          </p:cNvSpPr>
          <p:nvPr/>
        </p:nvSpPr>
        <p:spPr>
          <a:xfrm>
            <a:off x="419100" y="3429000"/>
            <a:ext cx="514350" cy="38100"/>
          </a:xfrm>
          <a:prstGeom prst="rect">
            <a:avLst/>
          </a:prstGeom>
          <a:solidFill>
            <a:srgbClr val="F00000"/>
          </a:solidFill>
          <a:ln w="0">
            <a:noFill/>
            <a:prstDash val="solid"/>
          </a:ln>
        </p:spPr>
        <p:txBody>
          <a:bodyPr/>
          <a:lstStyle/>
          <a:p>
            <a:endParaRPr lang="en-FR"/>
          </a:p>
        </p:txBody>
      </p:sp>
      <p:sp>
        <p:nvSpPr>
          <p:cNvPr id="15" name="Rectangle 14">
            <a:extLst>
              <a:ext uri="{FF2B5EF4-FFF2-40B4-BE49-F238E27FC236}">
                <a16:creationId xmlns:a16="http://schemas.microsoft.com/office/drawing/2014/main" id="{6DCC6015-522F-4A3D-A984-81E7C719726B}"/>
              </a:ext>
            </a:extLst>
          </p:cNvPr>
          <p:cNvSpPr>
            <a:spLocks noGrp="1"/>
          </p:cNvSpPr>
          <p:nvPr/>
        </p:nvSpPr>
        <p:spPr>
          <a:xfrm>
            <a:off x="419100" y="3752850"/>
            <a:ext cx="2857500" cy="352425"/>
          </a:xfrm>
          <a:prstGeom prst="rect">
            <a:avLst/>
          </a:prstGeom>
          <a:noFill/>
          <a:ln w="0">
            <a:noFill/>
            <a:prstDash val="solid"/>
          </a:ln>
        </p:spPr>
        <p:txBody>
          <a:bodyPr wrap="none" lIns="0" tIns="0" rIns="0" bIns="0" anchor="t"/>
          <a:lstStyle/>
          <a:p>
            <a:pPr algn="l">
              <a:lnSpc>
                <a:spcPct val="100000"/>
              </a:lnSpc>
              <a:buNone/>
              <a:defRPr sz="2250" b="0" i="0">
                <a:solidFill>
                  <a:srgbClr val="111111"/>
                </a:solidFill>
                <a:latin typeface="Arial"/>
                <a:ea typeface="Arial"/>
                <a:cs typeface="Arial"/>
              </a:defRPr>
            </a:pPr>
            <a:r>
              <a:rPr sz="2250" b="0" i="0">
                <a:solidFill>
                  <a:srgbClr val="111111"/>
                </a:solidFill>
                <a:latin typeface="Arial"/>
                <a:ea typeface="Arial"/>
                <a:cs typeface="Arial"/>
              </a:rPr>
              <a:t>Proposed Sizing</a:t>
            </a:r>
          </a:p>
        </p:txBody>
      </p:sp>
      <p:pic>
        <p:nvPicPr>
          <p:cNvPr id="44" name="Picture 43"/>
          <p:cNvPicPr>
            <a:picLocks noChangeAspect="1"/>
          </p:cNvPicPr>
          <p:nvPr/>
        </p:nvPicPr>
        <p:blipFill>
          <a:blip r:embed="rId5"/>
          <a:stretch/>
        </p:blipFill>
        <p:spPr>
          <a:xfrm>
            <a:off x="409575" y="4514850"/>
            <a:ext cx="466725" cy="466725"/>
          </a:xfrm>
          <a:prstGeom prst="rect">
            <a:avLst/>
          </a:prstGeom>
        </p:spPr>
      </p:pic>
      <p:sp>
        <p:nvSpPr>
          <p:cNvPr id="17" name="Straight Connector 16">
            <a:extLst>
              <a:ext uri="{FF2B5EF4-FFF2-40B4-BE49-F238E27FC236}">
                <a16:creationId xmlns:a16="http://schemas.microsoft.com/office/drawing/2014/main" id="{766A464C-B41C-4A32-B41D-BFAE1B316D1B}"/>
              </a:ext>
            </a:extLst>
          </p:cNvPr>
          <p:cNvSpPr>
            <a:spLocks noGrp="1"/>
          </p:cNvSpPr>
          <p:nvPr/>
        </p:nvSpPr>
        <p:spPr>
          <a:xfrm>
            <a:off x="1028700" y="4533900"/>
            <a:ext cx="0" cy="457200"/>
          </a:xfrm>
          <a:prstGeom prst="line">
            <a:avLst/>
          </a:prstGeom>
          <a:noFill/>
          <a:ln w="9525">
            <a:solidFill>
              <a:srgbClr val="7A827E"/>
            </a:solidFill>
            <a:prstDash val="solid"/>
          </a:ln>
        </p:spPr>
        <p:txBody>
          <a:bodyPr/>
          <a:lstStyle/>
          <a:p>
            <a:endParaRPr lang="en-FR"/>
          </a:p>
        </p:txBody>
      </p:sp>
      <p:sp>
        <p:nvSpPr>
          <p:cNvPr id="18" name="Rectangle 17">
            <a:extLst>
              <a:ext uri="{FF2B5EF4-FFF2-40B4-BE49-F238E27FC236}">
                <a16:creationId xmlns:a16="http://schemas.microsoft.com/office/drawing/2014/main" id="{94955B22-66CD-4132-A773-8F5CF23333EC}"/>
              </a:ext>
            </a:extLst>
          </p:cNvPr>
          <p:cNvSpPr>
            <a:spLocks noGrp="1"/>
          </p:cNvSpPr>
          <p:nvPr/>
        </p:nvSpPr>
        <p:spPr>
          <a:xfrm>
            <a:off x="1190625" y="4581525"/>
            <a:ext cx="1524000" cy="209550"/>
          </a:xfrm>
          <a:prstGeom prst="rect">
            <a:avLst/>
          </a:prstGeom>
          <a:noFill/>
          <a:ln w="0">
            <a:noFill/>
            <a:prstDash val="solid"/>
          </a:ln>
        </p:spPr>
        <p:txBody>
          <a:bodyPr wrap="none" lIns="0" tIns="0" rIns="0" bIns="0" anchor="t"/>
          <a:lstStyle/>
          <a:p>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Customer</a:t>
            </a:r>
          </a:p>
        </p:txBody>
      </p:sp>
      <p:sp>
        <p:nvSpPr>
          <p:cNvPr id="19" name="Rectangle 18">
            <a:extLst>
              <a:ext uri="{FF2B5EF4-FFF2-40B4-BE49-F238E27FC236}">
                <a16:creationId xmlns:a16="http://schemas.microsoft.com/office/drawing/2014/main" id="{BE76D494-55F5-4B36-BA24-6D15C411EBCA}"/>
              </a:ext>
            </a:extLst>
          </p:cNvPr>
          <p:cNvSpPr>
            <a:spLocks noGrp="1"/>
          </p:cNvSpPr>
          <p:nvPr/>
        </p:nvSpPr>
        <p:spPr>
          <a:xfrm>
            <a:off x="1190625" y="4838700"/>
            <a:ext cx="2857500" cy="19050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CLIENT</a:t>
            </a:r>
          </a:p>
        </p:txBody>
      </p:sp>
      <p:pic>
        <p:nvPicPr>
          <p:cNvPr id="48" name="Picture 47"/>
          <p:cNvPicPr>
            <a:picLocks noChangeAspect="1"/>
          </p:cNvPicPr>
          <p:nvPr/>
        </p:nvPicPr>
        <p:blipFill>
          <a:blip r:embed="rId6"/>
          <a:stretch/>
        </p:blipFill>
        <p:spPr>
          <a:xfrm>
            <a:off x="409575" y="5133975"/>
            <a:ext cx="466725" cy="466725"/>
          </a:xfrm>
          <a:prstGeom prst="rect">
            <a:avLst/>
          </a:prstGeom>
        </p:spPr>
      </p:pic>
      <p:sp>
        <p:nvSpPr>
          <p:cNvPr id="21" name="Straight Connector 20">
            <a:extLst>
              <a:ext uri="{FF2B5EF4-FFF2-40B4-BE49-F238E27FC236}">
                <a16:creationId xmlns:a16="http://schemas.microsoft.com/office/drawing/2014/main" id="{2C0F680F-8892-4F5E-9A05-8BE56BC3CA23}"/>
              </a:ext>
            </a:extLst>
          </p:cNvPr>
          <p:cNvSpPr>
            <a:spLocks noGrp="1"/>
          </p:cNvSpPr>
          <p:nvPr/>
        </p:nvSpPr>
        <p:spPr>
          <a:xfrm>
            <a:off x="1028700" y="5153025"/>
            <a:ext cx="0" cy="457200"/>
          </a:xfrm>
          <a:prstGeom prst="line">
            <a:avLst/>
          </a:prstGeom>
          <a:noFill/>
          <a:ln w="9525">
            <a:solidFill>
              <a:srgbClr val="7A827E"/>
            </a:solidFill>
            <a:prstDash val="solid"/>
          </a:ln>
        </p:spPr>
        <p:txBody>
          <a:bodyPr/>
          <a:lstStyle/>
          <a:p>
            <a:endParaRPr lang="en-FR"/>
          </a:p>
        </p:txBody>
      </p:sp>
      <p:sp>
        <p:nvSpPr>
          <p:cNvPr id="22" name="Rectangle 21">
            <a:extLst>
              <a:ext uri="{FF2B5EF4-FFF2-40B4-BE49-F238E27FC236}">
                <a16:creationId xmlns:a16="http://schemas.microsoft.com/office/drawing/2014/main" id="{772916E2-4478-4F86-A366-DBB47E53E5DB}"/>
              </a:ext>
            </a:extLst>
          </p:cNvPr>
          <p:cNvSpPr>
            <a:spLocks noGrp="1"/>
          </p:cNvSpPr>
          <p:nvPr/>
        </p:nvSpPr>
        <p:spPr>
          <a:xfrm>
            <a:off x="1190625" y="5200650"/>
            <a:ext cx="1524000" cy="209550"/>
          </a:xfrm>
          <a:prstGeom prst="rect">
            <a:avLst/>
          </a:prstGeom>
          <a:noFill/>
          <a:ln w="0">
            <a:noFill/>
            <a:prstDash val="solid"/>
          </a:ln>
        </p:spPr>
        <p:txBody>
          <a:bodyPr wrap="none" lIns="0" tIns="0" rIns="0" bIns="0" anchor="t"/>
          <a:lstStyle/>
          <a:p>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Date</a:t>
            </a:r>
          </a:p>
        </p:txBody>
      </p:sp>
      <p:sp>
        <p:nvSpPr>
          <p:cNvPr id="23" name="Rectangle 22">
            <a:extLst>
              <a:ext uri="{FF2B5EF4-FFF2-40B4-BE49-F238E27FC236}">
                <a16:creationId xmlns:a16="http://schemas.microsoft.com/office/drawing/2014/main" id="{DD2D484A-CE83-4CF9-B570-03AA9C51BC3C}"/>
              </a:ext>
            </a:extLst>
          </p:cNvPr>
          <p:cNvSpPr>
            <a:spLocks noGrp="1"/>
          </p:cNvSpPr>
          <p:nvPr/>
        </p:nvSpPr>
        <p:spPr>
          <a:xfrm>
            <a:off x="1190625" y="5457825"/>
            <a:ext cx="2857500" cy="19050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May 2025</a:t>
            </a:r>
          </a:p>
        </p:txBody>
      </p:sp>
      <p:pic>
        <p:nvPicPr>
          <p:cNvPr id="52" name="Picture 51"/>
          <p:cNvPicPr>
            <a:picLocks noChangeAspect="1"/>
          </p:cNvPicPr>
          <p:nvPr/>
        </p:nvPicPr>
        <p:blipFill>
          <a:blip r:embed="rId7"/>
          <a:stretch/>
        </p:blipFill>
        <p:spPr>
          <a:xfrm>
            <a:off x="409575" y="5753100"/>
            <a:ext cx="466725" cy="466725"/>
          </a:xfrm>
          <a:prstGeom prst="rect">
            <a:avLst/>
          </a:prstGeom>
        </p:spPr>
      </p:pic>
      <p:sp>
        <p:nvSpPr>
          <p:cNvPr id="25" name="Straight Connector 24">
            <a:extLst>
              <a:ext uri="{FF2B5EF4-FFF2-40B4-BE49-F238E27FC236}">
                <a16:creationId xmlns:a16="http://schemas.microsoft.com/office/drawing/2014/main" id="{B3390FB1-CD6B-41FD-9B09-6D5983025783}"/>
              </a:ext>
            </a:extLst>
          </p:cNvPr>
          <p:cNvSpPr>
            <a:spLocks noGrp="1"/>
          </p:cNvSpPr>
          <p:nvPr/>
        </p:nvSpPr>
        <p:spPr>
          <a:xfrm>
            <a:off x="1028700" y="5772150"/>
            <a:ext cx="0" cy="457200"/>
          </a:xfrm>
          <a:prstGeom prst="line">
            <a:avLst/>
          </a:prstGeom>
          <a:noFill/>
          <a:ln w="9525">
            <a:solidFill>
              <a:srgbClr val="7A827E"/>
            </a:solidFill>
            <a:prstDash val="solid"/>
          </a:ln>
        </p:spPr>
        <p:txBody>
          <a:bodyPr/>
          <a:lstStyle/>
          <a:p>
            <a:endParaRPr lang="en-FR"/>
          </a:p>
        </p:txBody>
      </p:sp>
      <p:sp>
        <p:nvSpPr>
          <p:cNvPr id="26" name="Rectangle 25">
            <a:extLst>
              <a:ext uri="{FF2B5EF4-FFF2-40B4-BE49-F238E27FC236}">
                <a16:creationId xmlns:a16="http://schemas.microsoft.com/office/drawing/2014/main" id="{5530C77E-C4B2-416C-9770-1B40B5930109}"/>
              </a:ext>
            </a:extLst>
          </p:cNvPr>
          <p:cNvSpPr>
            <a:spLocks noGrp="1"/>
          </p:cNvSpPr>
          <p:nvPr/>
        </p:nvSpPr>
        <p:spPr>
          <a:xfrm>
            <a:off x="1190625" y="5819775"/>
            <a:ext cx="1524000" cy="209550"/>
          </a:xfrm>
          <a:prstGeom prst="rect">
            <a:avLst/>
          </a:prstGeom>
          <a:noFill/>
          <a:ln w="0">
            <a:noFill/>
            <a:prstDash val="solid"/>
          </a:ln>
        </p:spPr>
        <p:txBody>
          <a:bodyPr wrap="none" lIns="0" tIns="0" rIns="0" bIns="0" anchor="t"/>
          <a:lstStyle/>
          <a:p>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Prepared By</a:t>
            </a:r>
          </a:p>
        </p:txBody>
      </p:sp>
      <p:sp>
        <p:nvSpPr>
          <p:cNvPr id="27" name="Rectangle 26">
            <a:extLst>
              <a:ext uri="{FF2B5EF4-FFF2-40B4-BE49-F238E27FC236}">
                <a16:creationId xmlns:a16="http://schemas.microsoft.com/office/drawing/2014/main" id="{6AA52625-B2E2-4958-9002-F06DCF489D85}"/>
              </a:ext>
            </a:extLst>
          </p:cNvPr>
          <p:cNvSpPr>
            <a:spLocks noGrp="1"/>
          </p:cNvSpPr>
          <p:nvPr/>
        </p:nvSpPr>
        <p:spPr>
          <a:xfrm>
            <a:off x="1190625" y="6076950"/>
            <a:ext cx="2857500" cy="19050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Oracle Cloud VMware Specialist</a:t>
            </a:r>
          </a:p>
        </p:txBody>
      </p:sp>
      <p:pic>
        <p:nvPicPr>
          <p:cNvPr id="56" name="Picture 55"/>
          <p:cNvPicPr>
            <a:picLocks noChangeAspect="1"/>
          </p:cNvPicPr>
          <p:nvPr/>
        </p:nvPicPr>
        <p:blipFill>
          <a:blip r:embed="rId8"/>
          <a:stretch/>
        </p:blipFill>
        <p:spPr>
          <a:xfrm>
            <a:off x="11401979" y="6457950"/>
            <a:ext cx="446567" cy="400050"/>
          </a:xfrm>
          <a:prstGeom prst="rect">
            <a:avLst/>
          </a:prstGeom>
        </p:spPr>
      </p:pic>
    </p:spTree>
    <p:extLst>
      <p:ext uri="{BB962C8B-B14F-4D97-AF65-F5344CB8AC3E}">
        <p14:creationId xmlns:p14="http://schemas.microsoft.com/office/powerpoint/2010/main" val="1245070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9"/>
        </a:solidFill>
        <a:effectLst/>
      </p:bgPr>
    </p:bg>
    <p:spTree>
      <p:nvGrpSpPr>
        <p:cNvPr id="1" name=""/>
        <p:cNvGrpSpPr/>
        <p:nvPr/>
      </p:nvGrpSpPr>
      <p:grpSpPr>
        <a:xfrm>
          <a:off x="0" y="0"/>
          <a:ext cx="0" cy="0"/>
          <a:chOff x="0" y="0"/>
          <a:chExt cx="0" cy="0"/>
        </a:xfrm>
      </p:grpSpPr>
      <p:sp>
        <p:nvSpPr>
          <p:cNvPr id="114" name="Oval 113">
            <a:extLst>
              <a:ext uri="{FF2B5EF4-FFF2-40B4-BE49-F238E27FC236}">
                <a16:creationId xmlns:a16="http://schemas.microsoft.com/office/drawing/2014/main" id="{AAB06BC8-904B-407D-BF97-C04A89B10DAE}"/>
              </a:ext>
            </a:extLst>
          </p:cNvPr>
          <p:cNvSpPr>
            <a:spLocks noGrp="1"/>
          </p:cNvSpPr>
          <p:nvPr/>
        </p:nvSpPr>
        <p:spPr>
          <a:xfrm>
            <a:off x="342900" y="428625"/>
            <a:ext cx="38100" cy="38100"/>
          </a:xfrm>
          <a:prstGeom prst="ellipse">
            <a:avLst/>
          </a:prstGeom>
          <a:solidFill>
            <a:srgbClr val="E7E9E7"/>
          </a:solidFill>
          <a:ln w="0">
            <a:noFill/>
            <a:prstDash val="solid"/>
          </a:ln>
        </p:spPr>
        <p:txBody>
          <a:bodyPr/>
          <a:lstStyle/>
          <a:p>
            <a:endParaRPr lang="en-FR"/>
          </a:p>
        </p:txBody>
      </p:sp>
      <p:sp>
        <p:nvSpPr>
          <p:cNvPr id="2" name="Oval 1">
            <a:extLst>
              <a:ext uri="{FF2B5EF4-FFF2-40B4-BE49-F238E27FC236}">
                <a16:creationId xmlns:a16="http://schemas.microsoft.com/office/drawing/2014/main" id="{7A421FEF-A251-4C1D-92C0-ABE932908C7D}"/>
              </a:ext>
            </a:extLst>
          </p:cNvPr>
          <p:cNvSpPr>
            <a:spLocks noGrp="1"/>
          </p:cNvSpPr>
          <p:nvPr/>
        </p:nvSpPr>
        <p:spPr>
          <a:xfrm>
            <a:off x="7334250" y="1152525"/>
            <a:ext cx="38100" cy="38100"/>
          </a:xfrm>
          <a:prstGeom prst="ellipse">
            <a:avLst/>
          </a:prstGeom>
          <a:solidFill>
            <a:srgbClr val="E7E9E7"/>
          </a:solidFill>
          <a:ln w="0">
            <a:noFill/>
            <a:prstDash val="solid"/>
          </a:ln>
        </p:spPr>
        <p:txBody>
          <a:bodyPr/>
          <a:lstStyle/>
          <a:p>
            <a:endParaRPr lang="en-FR"/>
          </a:p>
        </p:txBody>
      </p:sp>
      <p:sp>
        <p:nvSpPr>
          <p:cNvPr id="3" name="Oval 2">
            <a:extLst>
              <a:ext uri="{FF2B5EF4-FFF2-40B4-BE49-F238E27FC236}">
                <a16:creationId xmlns:a16="http://schemas.microsoft.com/office/drawing/2014/main" id="{5978EC43-C228-4B86-BD1D-DB469B0A400F}"/>
              </a:ext>
            </a:extLst>
          </p:cNvPr>
          <p:cNvSpPr>
            <a:spLocks noGrp="1"/>
          </p:cNvSpPr>
          <p:nvPr/>
        </p:nvSpPr>
        <p:spPr>
          <a:xfrm>
            <a:off x="9391650" y="1152525"/>
            <a:ext cx="47625" cy="47625"/>
          </a:xfrm>
          <a:prstGeom prst="ellipse">
            <a:avLst/>
          </a:prstGeom>
          <a:solidFill>
            <a:srgbClr val="E7E9E7"/>
          </a:solidFill>
          <a:ln w="0">
            <a:noFill/>
            <a:prstDash val="solid"/>
          </a:ln>
        </p:spPr>
        <p:txBody>
          <a:bodyPr/>
          <a:lstStyle/>
          <a:p>
            <a:endParaRPr lang="en-FR"/>
          </a:p>
        </p:txBody>
      </p:sp>
      <p:sp>
        <p:nvSpPr>
          <p:cNvPr id="4" name="Oval 3">
            <a:extLst>
              <a:ext uri="{FF2B5EF4-FFF2-40B4-BE49-F238E27FC236}">
                <a16:creationId xmlns:a16="http://schemas.microsoft.com/office/drawing/2014/main" id="{3A362E22-A2F6-4AA2-8A22-035E46E58DB1}"/>
              </a:ext>
            </a:extLst>
          </p:cNvPr>
          <p:cNvSpPr>
            <a:spLocks noGrp="1"/>
          </p:cNvSpPr>
          <p:nvPr/>
        </p:nvSpPr>
        <p:spPr>
          <a:xfrm>
            <a:off x="11287125" y="1076325"/>
            <a:ext cx="28575" cy="28575"/>
          </a:xfrm>
          <a:prstGeom prst="ellipse">
            <a:avLst/>
          </a:prstGeom>
          <a:solidFill>
            <a:srgbClr val="E7E9E7"/>
          </a:solidFill>
          <a:ln w="0">
            <a:noFill/>
            <a:prstDash val="solid"/>
          </a:ln>
        </p:spPr>
        <p:txBody>
          <a:bodyPr/>
          <a:lstStyle/>
          <a:p>
            <a:endParaRPr lang="en-FR"/>
          </a:p>
        </p:txBody>
      </p:sp>
      <p:sp>
        <p:nvSpPr>
          <p:cNvPr id="5" name="Oval 4">
            <a:extLst>
              <a:ext uri="{FF2B5EF4-FFF2-40B4-BE49-F238E27FC236}">
                <a16:creationId xmlns:a16="http://schemas.microsoft.com/office/drawing/2014/main" id="{C4B185BA-99C6-431E-B908-FDE74A21810F}"/>
              </a:ext>
            </a:extLst>
          </p:cNvPr>
          <p:cNvSpPr>
            <a:spLocks noGrp="1"/>
          </p:cNvSpPr>
          <p:nvPr/>
        </p:nvSpPr>
        <p:spPr>
          <a:xfrm>
            <a:off x="12058650" y="5305425"/>
            <a:ext cx="28575" cy="28575"/>
          </a:xfrm>
          <a:prstGeom prst="ellipse">
            <a:avLst/>
          </a:prstGeom>
          <a:solidFill>
            <a:srgbClr val="E7E9E7"/>
          </a:solidFill>
          <a:ln w="0">
            <a:noFill/>
            <a:prstDash val="solid"/>
          </a:ln>
        </p:spPr>
        <p:txBody>
          <a:bodyPr/>
          <a:lstStyle/>
          <a:p>
            <a:endParaRPr lang="en-FR"/>
          </a:p>
        </p:txBody>
      </p:sp>
      <p:sp>
        <p:nvSpPr>
          <p:cNvPr id="7" name="Rectangle 6">
            <a:extLst>
              <a:ext uri="{FF2B5EF4-FFF2-40B4-BE49-F238E27FC236}">
                <a16:creationId xmlns:a16="http://schemas.microsoft.com/office/drawing/2014/main" id="{07C4AD11-CDCB-4A95-89FF-35F1710B4948}"/>
              </a:ext>
            </a:extLst>
          </p:cNvPr>
          <p:cNvSpPr>
            <a:spLocks noGrp="1"/>
          </p:cNvSpPr>
          <p:nvPr/>
        </p:nvSpPr>
        <p:spPr>
          <a:xfrm>
            <a:off x="304800" y="409575"/>
            <a:ext cx="8810625" cy="428625"/>
          </a:xfrm>
          <a:prstGeom prst="rect">
            <a:avLst/>
          </a:prstGeom>
          <a:noFill/>
          <a:ln w="0">
            <a:noFill/>
            <a:prstDash val="solid"/>
          </a:ln>
        </p:spPr>
        <p:txBody>
          <a:bodyPr wrap="none" lIns="0" tIns="0" rIns="0" bIns="0" anchor="t"/>
          <a:lstStyle/>
          <a:p>
            <a:pPr algn="l">
              <a:lnSpc>
                <a:spcPct val="100000"/>
              </a:lnSpc>
              <a:buNone/>
              <a:defRPr sz="2550" b="1" i="0">
                <a:solidFill>
                  <a:srgbClr val="003B25"/>
                </a:solidFill>
                <a:latin typeface="Arial"/>
                <a:ea typeface="Arial"/>
                <a:cs typeface="Arial"/>
              </a:defRPr>
            </a:pPr>
            <a:r>
              <a:rPr sz="2550" b="1" i="0">
                <a:solidFill>
                  <a:srgbClr val="003B25"/>
                </a:solidFill>
                <a:latin typeface="Arial"/>
                <a:ea typeface="Arial"/>
                <a:cs typeface="Arial"/>
              </a:rPr>
              <a:t>Data Center Migration with Oracle Cloud VMware Solution</a:t>
            </a:r>
          </a:p>
        </p:txBody>
      </p:sp>
      <p:sp>
        <p:nvSpPr>
          <p:cNvPr id="8" name="Rectangle 7">
            <a:extLst>
              <a:ext uri="{FF2B5EF4-FFF2-40B4-BE49-F238E27FC236}">
                <a16:creationId xmlns:a16="http://schemas.microsoft.com/office/drawing/2014/main" id="{A1281950-377B-41A5-BFA9-211263B7A894}"/>
              </a:ext>
            </a:extLst>
          </p:cNvPr>
          <p:cNvSpPr>
            <a:spLocks noGrp="1"/>
          </p:cNvSpPr>
          <p:nvPr/>
        </p:nvSpPr>
        <p:spPr>
          <a:xfrm>
            <a:off x="314325" y="933450"/>
            <a:ext cx="381000" cy="38100"/>
          </a:xfrm>
          <a:prstGeom prst="rect">
            <a:avLst/>
          </a:prstGeom>
          <a:solidFill>
            <a:srgbClr val="F00000"/>
          </a:solidFill>
          <a:ln w="0">
            <a:noFill/>
            <a:prstDash val="solid"/>
          </a:ln>
        </p:spPr>
        <p:txBody>
          <a:bodyPr/>
          <a:lstStyle/>
          <a:p>
            <a:endParaRPr lang="en-FR"/>
          </a:p>
        </p:txBody>
      </p:sp>
      <p:sp>
        <p:nvSpPr>
          <p:cNvPr id="9" name="Rectangle 8">
            <a:extLst>
              <a:ext uri="{FF2B5EF4-FFF2-40B4-BE49-F238E27FC236}">
                <a16:creationId xmlns:a16="http://schemas.microsoft.com/office/drawing/2014/main" id="{E6BF907D-57F9-4F74-9F10-EC873A2F6DA5}"/>
              </a:ext>
            </a:extLst>
          </p:cNvPr>
          <p:cNvSpPr>
            <a:spLocks noGrp="1"/>
          </p:cNvSpPr>
          <p:nvPr/>
        </p:nvSpPr>
        <p:spPr>
          <a:xfrm>
            <a:off x="314325" y="1143000"/>
            <a:ext cx="6191250" cy="238125"/>
          </a:xfrm>
          <a:prstGeom prst="rect">
            <a:avLst/>
          </a:prstGeom>
          <a:noFill/>
          <a:ln w="0">
            <a:noFill/>
            <a:prstDash val="solid"/>
          </a:ln>
        </p:spPr>
        <p:txBody>
          <a:bodyPr wrap="none" lIns="0" tIns="0" rIns="0" bIns="0" anchor="t"/>
          <a:lstStyle/>
          <a:p>
            <a:pPr algn="l">
              <a:lnSpc>
                <a:spcPct val="100000"/>
              </a:lnSpc>
              <a:buNone/>
              <a:defRPr sz="1275" b="0" i="0">
                <a:solidFill>
                  <a:srgbClr val="555555"/>
                </a:solidFill>
                <a:latin typeface="Arial"/>
                <a:ea typeface="Arial"/>
                <a:cs typeface="Arial"/>
              </a:defRPr>
            </a:pPr>
            <a:r>
              <a:rPr sz="1275" b="0" i="0">
                <a:solidFill>
                  <a:srgbClr val="555555"/>
                </a:solidFill>
                <a:latin typeface="Arial"/>
                <a:ea typeface="Arial"/>
                <a:cs typeface="Arial"/>
              </a:rPr>
              <a:t>Migrate VMware workloads to OCI while preserving operational consistency.</a:t>
            </a:r>
          </a:p>
        </p:txBody>
      </p:sp>
      <p:pic>
        <p:nvPicPr>
          <p:cNvPr id="123" name="Picture 122"/>
          <p:cNvPicPr>
            <a:picLocks noChangeAspect="1"/>
          </p:cNvPicPr>
          <p:nvPr/>
        </p:nvPicPr>
        <p:blipFill>
          <a:blip r:embed="rId3"/>
          <a:stretch/>
        </p:blipFill>
        <p:spPr>
          <a:xfrm>
            <a:off x="9544050" y="457200"/>
            <a:ext cx="2505075" cy="295275"/>
          </a:xfrm>
          <a:prstGeom prst="rect">
            <a:avLst/>
          </a:prstGeom>
        </p:spPr>
      </p:pic>
      <p:sp>
        <p:nvSpPr>
          <p:cNvPr id="11" name="Rounded Rectangle 10">
            <a:extLst>
              <a:ext uri="{FF2B5EF4-FFF2-40B4-BE49-F238E27FC236}">
                <a16:creationId xmlns:a16="http://schemas.microsoft.com/office/drawing/2014/main" id="{C2D41265-0F7D-45A0-8820-DC91E2350A61}"/>
              </a:ext>
            </a:extLst>
          </p:cNvPr>
          <p:cNvSpPr>
            <a:spLocks noGrp="1"/>
          </p:cNvSpPr>
          <p:nvPr/>
        </p:nvSpPr>
        <p:spPr>
          <a:xfrm>
            <a:off x="333375" y="1485900"/>
            <a:ext cx="9505950" cy="685800"/>
          </a:xfrm>
          <a:prstGeom prst="roundRect">
            <a:avLst>
              <a:gd name="adj" fmla="val 8333"/>
            </a:avLst>
          </a:prstGeom>
          <a:solidFill>
            <a:srgbClr val="FFFFFF"/>
          </a:solidFill>
          <a:ln w="9525">
            <a:solidFill>
              <a:srgbClr val="D9DEDA"/>
            </a:solidFill>
            <a:prstDash val="solid"/>
          </a:ln>
        </p:spPr>
        <p:txBody>
          <a:bodyPr/>
          <a:lstStyle/>
          <a:p>
            <a:endParaRPr lang="en-FR"/>
          </a:p>
        </p:txBody>
      </p:sp>
      <p:pic>
        <p:nvPicPr>
          <p:cNvPr id="125" name="Picture 124"/>
          <p:cNvPicPr>
            <a:picLocks noChangeAspect="1"/>
          </p:cNvPicPr>
          <p:nvPr/>
        </p:nvPicPr>
        <p:blipFill>
          <a:blip r:embed="rId4"/>
          <a:stretch/>
        </p:blipFill>
        <p:spPr>
          <a:xfrm>
            <a:off x="523875" y="1670617"/>
            <a:ext cx="371475" cy="344941"/>
          </a:xfrm>
          <a:prstGeom prst="rect">
            <a:avLst/>
          </a:prstGeom>
        </p:spPr>
      </p:pic>
      <p:sp>
        <p:nvSpPr>
          <p:cNvPr id="13" name="Rectangle 12">
            <a:extLst>
              <a:ext uri="{FF2B5EF4-FFF2-40B4-BE49-F238E27FC236}">
                <a16:creationId xmlns:a16="http://schemas.microsoft.com/office/drawing/2014/main" id="{5A439A60-602B-4BC7-8D26-B7081F12A515}"/>
              </a:ext>
            </a:extLst>
          </p:cNvPr>
          <p:cNvSpPr>
            <a:spLocks noGrp="1"/>
          </p:cNvSpPr>
          <p:nvPr/>
        </p:nvSpPr>
        <p:spPr>
          <a:xfrm>
            <a:off x="1000125" y="1695450"/>
            <a:ext cx="1666875" cy="323850"/>
          </a:xfrm>
          <a:prstGeom prst="rect">
            <a:avLst/>
          </a:prstGeom>
          <a:noFill/>
          <a:ln w="0">
            <a:noFill/>
            <a:prstDash val="solid"/>
          </a:ln>
        </p:spPr>
        <p:txBody>
          <a:bodyPr wrap="square" lIns="0" tIns="0" rIns="0" bIns="0" anchor="t"/>
          <a:lstStyle/>
          <a:p>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Business continuity for</a:t>
            </a:r>
          </a:p>
          <a:p>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mission-critical applications</a:t>
            </a:r>
          </a:p>
        </p:txBody>
      </p:sp>
      <p:pic>
        <p:nvPicPr>
          <p:cNvPr id="127" name="Picture 126"/>
          <p:cNvPicPr>
            <a:picLocks noChangeAspect="1"/>
          </p:cNvPicPr>
          <p:nvPr/>
        </p:nvPicPr>
        <p:blipFill>
          <a:blip r:embed="rId5"/>
          <a:stretch/>
        </p:blipFill>
        <p:spPr>
          <a:xfrm>
            <a:off x="2990850" y="1677988"/>
            <a:ext cx="371475" cy="330200"/>
          </a:xfrm>
          <a:prstGeom prst="rect">
            <a:avLst/>
          </a:prstGeom>
        </p:spPr>
      </p:pic>
      <p:sp>
        <p:nvSpPr>
          <p:cNvPr id="15" name="Rectangle 14">
            <a:extLst>
              <a:ext uri="{FF2B5EF4-FFF2-40B4-BE49-F238E27FC236}">
                <a16:creationId xmlns:a16="http://schemas.microsoft.com/office/drawing/2014/main" id="{BA1D35F7-8582-43F6-8D0A-89AB099DDD7B}"/>
              </a:ext>
            </a:extLst>
          </p:cNvPr>
          <p:cNvSpPr>
            <a:spLocks noGrp="1"/>
          </p:cNvSpPr>
          <p:nvPr/>
        </p:nvSpPr>
        <p:spPr>
          <a:xfrm>
            <a:off x="3514725" y="1695450"/>
            <a:ext cx="1666875" cy="323850"/>
          </a:xfrm>
          <a:prstGeom prst="rect">
            <a:avLst/>
          </a:prstGeom>
          <a:noFill/>
          <a:ln w="0">
            <a:noFill/>
            <a:prstDash val="solid"/>
          </a:ln>
        </p:spPr>
        <p:txBody>
          <a:bodyPr wrap="square" lIns="0" tIns="0" rIns="0" bIns="0" anchor="t"/>
          <a:lstStyle/>
          <a:p>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Maintain systems without</a:t>
            </a:r>
          </a:p>
          <a:p>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service disruption</a:t>
            </a:r>
          </a:p>
        </p:txBody>
      </p:sp>
      <p:pic>
        <p:nvPicPr>
          <p:cNvPr id="129" name="Picture 128"/>
          <p:cNvPicPr>
            <a:picLocks noChangeAspect="1"/>
          </p:cNvPicPr>
          <p:nvPr/>
        </p:nvPicPr>
        <p:blipFill>
          <a:blip r:embed="rId6"/>
          <a:stretch/>
        </p:blipFill>
        <p:spPr>
          <a:xfrm>
            <a:off x="5429250" y="1665793"/>
            <a:ext cx="371475" cy="354590"/>
          </a:xfrm>
          <a:prstGeom prst="rect">
            <a:avLst/>
          </a:prstGeom>
        </p:spPr>
      </p:pic>
      <p:sp>
        <p:nvSpPr>
          <p:cNvPr id="17" name="Rectangle 16">
            <a:extLst>
              <a:ext uri="{FF2B5EF4-FFF2-40B4-BE49-F238E27FC236}">
                <a16:creationId xmlns:a16="http://schemas.microsoft.com/office/drawing/2014/main" id="{82BED344-C8B2-448A-978B-1CB546676E3C}"/>
              </a:ext>
            </a:extLst>
          </p:cNvPr>
          <p:cNvSpPr>
            <a:spLocks noGrp="1"/>
          </p:cNvSpPr>
          <p:nvPr/>
        </p:nvSpPr>
        <p:spPr>
          <a:xfrm>
            <a:off x="5943600" y="1695450"/>
            <a:ext cx="1666875" cy="323850"/>
          </a:xfrm>
          <a:prstGeom prst="rect">
            <a:avLst/>
          </a:prstGeom>
          <a:noFill/>
          <a:ln w="0">
            <a:noFill/>
            <a:prstDash val="solid"/>
          </a:ln>
        </p:spPr>
        <p:txBody>
          <a:bodyPr wrap="square" lIns="0" tIns="0" rIns="0" bIns="0" anchor="t"/>
          <a:lstStyle/>
          <a:p>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Ensure recovery from</a:t>
            </a:r>
          </a:p>
          <a:p>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data corruption &amp; cyberattacks</a:t>
            </a:r>
          </a:p>
        </p:txBody>
      </p:sp>
      <p:pic>
        <p:nvPicPr>
          <p:cNvPr id="131" name="Picture 130"/>
          <p:cNvPicPr>
            <a:picLocks noChangeAspect="1"/>
          </p:cNvPicPr>
          <p:nvPr/>
        </p:nvPicPr>
        <p:blipFill>
          <a:blip r:embed="rId7"/>
          <a:stretch/>
        </p:blipFill>
        <p:spPr>
          <a:xfrm>
            <a:off x="7953375" y="1670014"/>
            <a:ext cx="371475" cy="346147"/>
          </a:xfrm>
          <a:prstGeom prst="rect">
            <a:avLst/>
          </a:prstGeom>
        </p:spPr>
      </p:pic>
      <p:sp>
        <p:nvSpPr>
          <p:cNvPr id="19" name="Rectangle 18">
            <a:extLst>
              <a:ext uri="{FF2B5EF4-FFF2-40B4-BE49-F238E27FC236}">
                <a16:creationId xmlns:a16="http://schemas.microsoft.com/office/drawing/2014/main" id="{61581696-20CF-42EC-946C-2E17E6F53312}"/>
              </a:ext>
            </a:extLst>
          </p:cNvPr>
          <p:cNvSpPr>
            <a:spLocks noGrp="1"/>
          </p:cNvSpPr>
          <p:nvPr/>
        </p:nvSpPr>
        <p:spPr>
          <a:xfrm>
            <a:off x="8477250" y="1695450"/>
            <a:ext cx="1666875" cy="323850"/>
          </a:xfrm>
          <a:prstGeom prst="rect">
            <a:avLst/>
          </a:prstGeom>
          <a:noFill/>
          <a:ln w="0">
            <a:noFill/>
            <a:prstDash val="solid"/>
          </a:ln>
        </p:spPr>
        <p:txBody>
          <a:bodyPr wrap="square" lIns="0" tIns="0" rIns="0" bIns="0" anchor="t"/>
          <a:lstStyle/>
          <a:p>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Meet defined RTO &amp; RPO</a:t>
            </a:r>
          </a:p>
          <a:p>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with backups &amp; restores</a:t>
            </a:r>
          </a:p>
        </p:txBody>
      </p:sp>
      <p:sp>
        <p:nvSpPr>
          <p:cNvPr id="20" name="Straight Connector 19">
            <a:extLst>
              <a:ext uri="{FF2B5EF4-FFF2-40B4-BE49-F238E27FC236}">
                <a16:creationId xmlns:a16="http://schemas.microsoft.com/office/drawing/2014/main" id="{C7D05204-1F9A-4709-A9CA-DF4A0BAEE3A5}"/>
              </a:ext>
            </a:extLst>
          </p:cNvPr>
          <p:cNvSpPr>
            <a:spLocks noGrp="1"/>
          </p:cNvSpPr>
          <p:nvPr/>
        </p:nvSpPr>
        <p:spPr>
          <a:xfrm>
            <a:off x="2781300" y="1619250"/>
            <a:ext cx="0" cy="447675"/>
          </a:xfrm>
          <a:prstGeom prst="line">
            <a:avLst/>
          </a:prstGeom>
          <a:noFill/>
          <a:ln w="9525">
            <a:solidFill>
              <a:srgbClr val="D8DDD9"/>
            </a:solidFill>
            <a:prstDash val="solid"/>
          </a:ln>
        </p:spPr>
        <p:txBody>
          <a:bodyPr/>
          <a:lstStyle/>
          <a:p>
            <a:endParaRPr lang="en-FR"/>
          </a:p>
        </p:txBody>
      </p:sp>
      <p:sp>
        <p:nvSpPr>
          <p:cNvPr id="21" name="Straight Connector 20">
            <a:extLst>
              <a:ext uri="{FF2B5EF4-FFF2-40B4-BE49-F238E27FC236}">
                <a16:creationId xmlns:a16="http://schemas.microsoft.com/office/drawing/2014/main" id="{AEDC923C-3534-4BFD-B3C9-7886BC1BEF83}"/>
              </a:ext>
            </a:extLst>
          </p:cNvPr>
          <p:cNvSpPr>
            <a:spLocks noGrp="1"/>
          </p:cNvSpPr>
          <p:nvPr/>
        </p:nvSpPr>
        <p:spPr>
          <a:xfrm>
            <a:off x="5191125" y="1619250"/>
            <a:ext cx="0" cy="447675"/>
          </a:xfrm>
          <a:prstGeom prst="line">
            <a:avLst/>
          </a:prstGeom>
          <a:noFill/>
          <a:ln w="9525">
            <a:solidFill>
              <a:srgbClr val="D8DDD9"/>
            </a:solidFill>
            <a:prstDash val="solid"/>
          </a:ln>
        </p:spPr>
        <p:txBody>
          <a:bodyPr/>
          <a:lstStyle/>
          <a:p>
            <a:endParaRPr lang="en-FR"/>
          </a:p>
        </p:txBody>
      </p:sp>
      <p:sp>
        <p:nvSpPr>
          <p:cNvPr id="22" name="Straight Connector 21">
            <a:extLst>
              <a:ext uri="{FF2B5EF4-FFF2-40B4-BE49-F238E27FC236}">
                <a16:creationId xmlns:a16="http://schemas.microsoft.com/office/drawing/2014/main" id="{72EC44E6-6E37-42DF-B0CA-644524BF2C5F}"/>
              </a:ext>
            </a:extLst>
          </p:cNvPr>
          <p:cNvSpPr>
            <a:spLocks noGrp="1"/>
          </p:cNvSpPr>
          <p:nvPr/>
        </p:nvSpPr>
        <p:spPr>
          <a:xfrm>
            <a:off x="7715250" y="1619250"/>
            <a:ext cx="0" cy="447675"/>
          </a:xfrm>
          <a:prstGeom prst="line">
            <a:avLst/>
          </a:prstGeom>
          <a:noFill/>
          <a:ln w="9525">
            <a:solidFill>
              <a:srgbClr val="D8DDD9"/>
            </a:solidFill>
            <a:prstDash val="solid"/>
          </a:ln>
        </p:spPr>
        <p:txBody>
          <a:bodyPr/>
          <a:lstStyle/>
          <a:p>
            <a:endParaRPr lang="en-FR"/>
          </a:p>
        </p:txBody>
      </p:sp>
      <p:sp>
        <p:nvSpPr>
          <p:cNvPr id="23" name="Rounded Rectangle 22">
            <a:extLst>
              <a:ext uri="{FF2B5EF4-FFF2-40B4-BE49-F238E27FC236}">
                <a16:creationId xmlns:a16="http://schemas.microsoft.com/office/drawing/2014/main" id="{38740D5B-7891-4011-B7BD-453E36F8237D}"/>
              </a:ext>
            </a:extLst>
          </p:cNvPr>
          <p:cNvSpPr>
            <a:spLocks noGrp="1"/>
          </p:cNvSpPr>
          <p:nvPr/>
        </p:nvSpPr>
        <p:spPr>
          <a:xfrm>
            <a:off x="333375" y="2362200"/>
            <a:ext cx="2562225" cy="3400425"/>
          </a:xfrm>
          <a:prstGeom prst="roundRect">
            <a:avLst>
              <a:gd name="adj" fmla="val 2230"/>
            </a:avLst>
          </a:prstGeom>
          <a:solidFill>
            <a:srgbClr val="FFFFFF"/>
          </a:solidFill>
          <a:ln w="9525">
            <a:solidFill>
              <a:srgbClr val="153985"/>
            </a:solidFill>
            <a:prstDash val="solid"/>
          </a:ln>
        </p:spPr>
        <p:txBody>
          <a:bodyPr/>
          <a:lstStyle/>
          <a:p>
            <a:endParaRPr lang="en-FR"/>
          </a:p>
        </p:txBody>
      </p:sp>
      <p:sp>
        <p:nvSpPr>
          <p:cNvPr id="24" name="Rounded Rectangle 23">
            <a:extLst>
              <a:ext uri="{FF2B5EF4-FFF2-40B4-BE49-F238E27FC236}">
                <a16:creationId xmlns:a16="http://schemas.microsoft.com/office/drawing/2014/main" id="{C126FF3F-0B42-466A-8035-27E57C09BEE2}"/>
              </a:ext>
            </a:extLst>
          </p:cNvPr>
          <p:cNvSpPr>
            <a:spLocks noGrp="1"/>
          </p:cNvSpPr>
          <p:nvPr/>
        </p:nvSpPr>
        <p:spPr>
          <a:xfrm>
            <a:off x="333375" y="2362200"/>
            <a:ext cx="2562225" cy="304800"/>
          </a:xfrm>
          <a:prstGeom prst="roundRect">
            <a:avLst>
              <a:gd name="adj" fmla="val 18750"/>
            </a:avLst>
          </a:prstGeom>
          <a:solidFill>
            <a:srgbClr val="0C2F7A"/>
          </a:solidFill>
          <a:ln w="0">
            <a:noFill/>
            <a:prstDash val="solid"/>
          </a:ln>
        </p:spPr>
        <p:txBody>
          <a:bodyPr/>
          <a:lstStyle/>
          <a:p>
            <a:endParaRPr lang="en-FR"/>
          </a:p>
        </p:txBody>
      </p:sp>
      <p:sp>
        <p:nvSpPr>
          <p:cNvPr id="25" name="Rectangle 24">
            <a:extLst>
              <a:ext uri="{FF2B5EF4-FFF2-40B4-BE49-F238E27FC236}">
                <a16:creationId xmlns:a16="http://schemas.microsoft.com/office/drawing/2014/main" id="{BE91AB13-FB98-484B-BDC0-DCC8163776B1}"/>
              </a:ext>
            </a:extLst>
          </p:cNvPr>
          <p:cNvSpPr>
            <a:spLocks noGrp="1"/>
          </p:cNvSpPr>
          <p:nvPr/>
        </p:nvSpPr>
        <p:spPr>
          <a:xfrm>
            <a:off x="333375" y="2600325"/>
            <a:ext cx="2562225" cy="76200"/>
          </a:xfrm>
          <a:prstGeom prst="rect">
            <a:avLst/>
          </a:prstGeom>
          <a:solidFill>
            <a:srgbClr val="0C2F7A"/>
          </a:solidFill>
          <a:ln w="0">
            <a:noFill/>
            <a:prstDash val="solid"/>
          </a:ln>
        </p:spPr>
        <p:txBody>
          <a:bodyPr/>
          <a:lstStyle/>
          <a:p>
            <a:endParaRPr lang="en-FR"/>
          </a:p>
        </p:txBody>
      </p:sp>
      <p:sp>
        <p:nvSpPr>
          <p:cNvPr id="26" name="Rectangle 25">
            <a:extLst>
              <a:ext uri="{FF2B5EF4-FFF2-40B4-BE49-F238E27FC236}">
                <a16:creationId xmlns:a16="http://schemas.microsoft.com/office/drawing/2014/main" id="{6F4A0A93-E6B0-4BC6-B846-878F007208F4}"/>
              </a:ext>
            </a:extLst>
          </p:cNvPr>
          <p:cNvSpPr>
            <a:spLocks noGrp="1"/>
          </p:cNvSpPr>
          <p:nvPr/>
        </p:nvSpPr>
        <p:spPr>
          <a:xfrm>
            <a:off x="857250" y="2466975"/>
            <a:ext cx="1524000" cy="161925"/>
          </a:xfrm>
          <a:prstGeom prst="rect">
            <a:avLst/>
          </a:prstGeom>
          <a:noFill/>
          <a:ln w="0">
            <a:noFill/>
            <a:prstDash val="solid"/>
          </a:ln>
        </p:spPr>
        <p:txBody>
          <a:bodyPr wrap="none" lIns="0" tIns="0" rIns="0" bIns="0" anchor="t"/>
          <a:lstStyle/>
          <a:p>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CURRENT ENVIRONMENT</a:t>
            </a:r>
          </a:p>
        </p:txBody>
      </p:sp>
      <p:pic>
        <p:nvPicPr>
          <p:cNvPr id="140" name="Picture 139"/>
          <p:cNvPicPr>
            <a:picLocks noChangeAspect="1"/>
          </p:cNvPicPr>
          <p:nvPr/>
        </p:nvPicPr>
        <p:blipFill>
          <a:blip r:embed="rId8"/>
          <a:stretch/>
        </p:blipFill>
        <p:spPr>
          <a:xfrm>
            <a:off x="1286102" y="2838450"/>
            <a:ext cx="580571" cy="571500"/>
          </a:xfrm>
          <a:prstGeom prst="rect">
            <a:avLst/>
          </a:prstGeom>
        </p:spPr>
      </p:pic>
      <p:sp>
        <p:nvSpPr>
          <p:cNvPr id="28" name="Rectangle 27">
            <a:extLst>
              <a:ext uri="{FF2B5EF4-FFF2-40B4-BE49-F238E27FC236}">
                <a16:creationId xmlns:a16="http://schemas.microsoft.com/office/drawing/2014/main" id="{1FF73D31-34A3-4DD2-AA9D-BA367B3F6850}"/>
              </a:ext>
            </a:extLst>
          </p:cNvPr>
          <p:cNvSpPr>
            <a:spLocks noGrp="1"/>
          </p:cNvSpPr>
          <p:nvPr/>
        </p:nvSpPr>
        <p:spPr>
          <a:xfrm>
            <a:off x="971550" y="3476625"/>
            <a:ext cx="1285875" cy="190500"/>
          </a:xfrm>
          <a:prstGeom prst="rect">
            <a:avLst/>
          </a:prstGeom>
          <a:noFill/>
          <a:ln w="0">
            <a:noFill/>
            <a:prstDash val="solid"/>
          </a:ln>
        </p:spPr>
        <p:txBody>
          <a:bodyPr wrap="none" lIns="0" tIns="0" rIns="0" bIns="0" anchor="t"/>
          <a:lstStyle/>
          <a:p>
            <a:pPr algn="ctr">
              <a:lnSpc>
                <a:spcPct val="100000"/>
              </a:lnSpc>
              <a:buNone/>
              <a:defRPr sz="900" b="1" i="0">
                <a:solidFill>
                  <a:srgbClr val="0C2F7A"/>
                </a:solidFill>
                <a:latin typeface="Arial"/>
                <a:ea typeface="Arial"/>
                <a:cs typeface="Arial"/>
              </a:defRPr>
            </a:pPr>
            <a:r>
              <a:rPr sz="900" b="1" i="0">
                <a:solidFill>
                  <a:srgbClr val="0C2F7A"/>
                </a:solidFill>
                <a:latin typeface="Arial"/>
                <a:ea typeface="Arial"/>
                <a:cs typeface="Arial"/>
              </a:rPr>
              <a:t>Existing Data Center</a:t>
            </a:r>
          </a:p>
        </p:txBody>
      </p:sp>
      <p:sp>
        <p:nvSpPr>
          <p:cNvPr id="29" name="Straight Connector 28">
            <a:extLst>
              <a:ext uri="{FF2B5EF4-FFF2-40B4-BE49-F238E27FC236}">
                <a16:creationId xmlns:a16="http://schemas.microsoft.com/office/drawing/2014/main" id="{DF4E63A1-1B8B-4C89-B92D-EC6166D02389}"/>
              </a:ext>
            </a:extLst>
          </p:cNvPr>
          <p:cNvSpPr>
            <a:spLocks noGrp="1"/>
          </p:cNvSpPr>
          <p:nvPr/>
        </p:nvSpPr>
        <p:spPr>
          <a:xfrm>
            <a:off x="533400" y="3762375"/>
            <a:ext cx="2162175" cy="0"/>
          </a:xfrm>
          <a:prstGeom prst="line">
            <a:avLst/>
          </a:prstGeom>
          <a:noFill/>
          <a:ln w="9525">
            <a:solidFill>
              <a:srgbClr val="D8DDD9"/>
            </a:solidFill>
            <a:prstDash val="solid"/>
          </a:ln>
        </p:spPr>
        <p:txBody>
          <a:bodyPr/>
          <a:lstStyle/>
          <a:p>
            <a:endParaRPr lang="en-FR"/>
          </a:p>
        </p:txBody>
      </p:sp>
      <p:pic>
        <p:nvPicPr>
          <p:cNvPr id="143" name="Picture 142"/>
          <p:cNvPicPr>
            <a:picLocks noChangeAspect="1"/>
          </p:cNvPicPr>
          <p:nvPr/>
        </p:nvPicPr>
        <p:blipFill>
          <a:blip r:embed="rId9"/>
          <a:stretch/>
        </p:blipFill>
        <p:spPr>
          <a:xfrm>
            <a:off x="565785" y="3943350"/>
            <a:ext cx="240030" cy="266700"/>
          </a:xfrm>
          <a:prstGeom prst="rect">
            <a:avLst/>
          </a:prstGeom>
        </p:spPr>
      </p:pic>
      <p:sp>
        <p:nvSpPr>
          <p:cNvPr id="31" name="Rectangle 30">
            <a:extLst>
              <a:ext uri="{FF2B5EF4-FFF2-40B4-BE49-F238E27FC236}">
                <a16:creationId xmlns:a16="http://schemas.microsoft.com/office/drawing/2014/main" id="{AF2ABFD7-F5A0-4B33-B8EA-D8E3FDD025D9}"/>
              </a:ext>
            </a:extLst>
          </p:cNvPr>
          <p:cNvSpPr>
            <a:spLocks noGrp="1"/>
          </p:cNvSpPr>
          <p:nvPr/>
        </p:nvSpPr>
        <p:spPr>
          <a:xfrm>
            <a:off x="1009650" y="3981450"/>
            <a:ext cx="1524000" cy="171450"/>
          </a:xfrm>
          <a:prstGeom prst="rect">
            <a:avLst/>
          </a:prstGeom>
          <a:noFill/>
          <a:ln w="0">
            <a:noFill/>
            <a:prstDash val="solid"/>
          </a:ln>
        </p:spPr>
        <p:txBody>
          <a:bodyPr wrap="none" lIns="0" tIns="0" rIns="0" bIns="0" anchor="t"/>
          <a:lstStyle/>
          <a:p>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Aging infrastructure</a:t>
            </a:r>
          </a:p>
        </p:txBody>
      </p:sp>
      <p:pic>
        <p:nvPicPr>
          <p:cNvPr id="145" name="Picture 144"/>
          <p:cNvPicPr>
            <a:picLocks noChangeAspect="1"/>
          </p:cNvPicPr>
          <p:nvPr/>
        </p:nvPicPr>
        <p:blipFill>
          <a:blip r:embed="rId10"/>
          <a:stretch/>
        </p:blipFill>
        <p:spPr>
          <a:xfrm>
            <a:off x="565785" y="4371975"/>
            <a:ext cx="240030" cy="266700"/>
          </a:xfrm>
          <a:prstGeom prst="rect">
            <a:avLst/>
          </a:prstGeom>
        </p:spPr>
      </p:pic>
      <p:sp>
        <p:nvSpPr>
          <p:cNvPr id="33" name="Rectangle 32">
            <a:extLst>
              <a:ext uri="{FF2B5EF4-FFF2-40B4-BE49-F238E27FC236}">
                <a16:creationId xmlns:a16="http://schemas.microsoft.com/office/drawing/2014/main" id="{B8A6A276-EA36-4C9F-A3CE-DF93C8F38935}"/>
              </a:ext>
            </a:extLst>
          </p:cNvPr>
          <p:cNvSpPr>
            <a:spLocks noGrp="1"/>
          </p:cNvSpPr>
          <p:nvPr/>
        </p:nvSpPr>
        <p:spPr>
          <a:xfrm>
            <a:off x="1009650" y="4410075"/>
            <a:ext cx="1524000" cy="171450"/>
          </a:xfrm>
          <a:prstGeom prst="rect">
            <a:avLst/>
          </a:prstGeom>
          <a:noFill/>
          <a:ln w="0">
            <a:noFill/>
            <a:prstDash val="solid"/>
          </a:ln>
        </p:spPr>
        <p:txBody>
          <a:bodyPr wrap="none" lIns="0" tIns="0" rIns="0" bIns="0" anchor="t"/>
          <a:lstStyle/>
          <a:p>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Hardware refresh cycles</a:t>
            </a:r>
          </a:p>
        </p:txBody>
      </p:sp>
      <p:sp>
        <p:nvSpPr>
          <p:cNvPr id="35" name="Rectangle 34">
            <a:extLst>
              <a:ext uri="{FF2B5EF4-FFF2-40B4-BE49-F238E27FC236}">
                <a16:creationId xmlns:a16="http://schemas.microsoft.com/office/drawing/2014/main" id="{77D5A6C5-1DBF-473F-9C7F-E3FB6CE360B8}"/>
              </a:ext>
            </a:extLst>
          </p:cNvPr>
          <p:cNvSpPr>
            <a:spLocks noGrp="1"/>
          </p:cNvSpPr>
          <p:nvPr/>
        </p:nvSpPr>
        <p:spPr>
          <a:xfrm>
            <a:off x="1009650" y="4819650"/>
            <a:ext cx="1524000" cy="171450"/>
          </a:xfrm>
          <a:prstGeom prst="rect">
            <a:avLst/>
          </a:prstGeom>
          <a:noFill/>
          <a:ln w="0">
            <a:noFill/>
            <a:prstDash val="solid"/>
          </a:ln>
        </p:spPr>
        <p:txBody>
          <a:bodyPr wrap="none" lIns="0" tIns="0" rIns="0" bIns="0" anchor="t"/>
          <a:lstStyle/>
          <a:p>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Data center consolidation</a:t>
            </a:r>
          </a:p>
        </p:txBody>
      </p:sp>
      <p:pic>
        <p:nvPicPr>
          <p:cNvPr id="149" name="Picture 148"/>
          <p:cNvPicPr>
            <a:picLocks noChangeAspect="1"/>
          </p:cNvPicPr>
          <p:nvPr/>
        </p:nvPicPr>
        <p:blipFill>
          <a:blip r:embed="rId11"/>
          <a:stretch/>
        </p:blipFill>
        <p:spPr>
          <a:xfrm>
            <a:off x="576695" y="5181600"/>
            <a:ext cx="218209" cy="266700"/>
          </a:xfrm>
          <a:prstGeom prst="rect">
            <a:avLst/>
          </a:prstGeom>
        </p:spPr>
      </p:pic>
      <p:sp>
        <p:nvSpPr>
          <p:cNvPr id="37" name="Rectangle 36">
            <a:extLst>
              <a:ext uri="{FF2B5EF4-FFF2-40B4-BE49-F238E27FC236}">
                <a16:creationId xmlns:a16="http://schemas.microsoft.com/office/drawing/2014/main" id="{3D2FC335-A2C6-4128-A481-5853ADD92F26}"/>
              </a:ext>
            </a:extLst>
          </p:cNvPr>
          <p:cNvSpPr>
            <a:spLocks noGrp="1"/>
          </p:cNvSpPr>
          <p:nvPr/>
        </p:nvSpPr>
        <p:spPr>
          <a:xfrm>
            <a:off x="1009650" y="5219700"/>
            <a:ext cx="1524000" cy="171450"/>
          </a:xfrm>
          <a:prstGeom prst="rect">
            <a:avLst/>
          </a:prstGeom>
          <a:noFill/>
          <a:ln w="0">
            <a:noFill/>
            <a:prstDash val="solid"/>
          </a:ln>
        </p:spPr>
        <p:txBody>
          <a:bodyPr wrap="none" lIns="0" tIns="0" rIns="0" bIns="0" anchor="t"/>
          <a:lstStyle/>
          <a:p>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Rising operational costs</a:t>
            </a:r>
          </a:p>
        </p:txBody>
      </p:sp>
      <p:sp>
        <p:nvSpPr>
          <p:cNvPr id="38" name="Straight Connector 37">
            <a:extLst>
              <a:ext uri="{FF2B5EF4-FFF2-40B4-BE49-F238E27FC236}">
                <a16:creationId xmlns:a16="http://schemas.microsoft.com/office/drawing/2014/main" id="{B8AC3128-91EE-46EC-A43A-CB493229E24C}"/>
              </a:ext>
            </a:extLst>
          </p:cNvPr>
          <p:cNvSpPr>
            <a:spLocks noGrp="1"/>
          </p:cNvSpPr>
          <p:nvPr/>
        </p:nvSpPr>
        <p:spPr>
          <a:xfrm>
            <a:off x="3143250" y="2362200"/>
            <a:ext cx="0" cy="3390900"/>
          </a:xfrm>
          <a:prstGeom prst="line">
            <a:avLst/>
          </a:prstGeom>
          <a:noFill/>
          <a:ln w="9525">
            <a:solidFill>
              <a:srgbClr val="D8DDD9"/>
            </a:solidFill>
            <a:prstDash val="dot"/>
          </a:ln>
        </p:spPr>
        <p:txBody>
          <a:bodyPr/>
          <a:lstStyle/>
          <a:p>
            <a:endParaRPr lang="en-FR"/>
          </a:p>
        </p:txBody>
      </p:sp>
      <p:sp>
        <p:nvSpPr>
          <p:cNvPr id="39" name="Straight Connector 38">
            <a:extLst>
              <a:ext uri="{FF2B5EF4-FFF2-40B4-BE49-F238E27FC236}">
                <a16:creationId xmlns:a16="http://schemas.microsoft.com/office/drawing/2014/main" id="{F44CD3DF-4DD0-4CB1-87AF-E70CC05918A5}"/>
              </a:ext>
            </a:extLst>
          </p:cNvPr>
          <p:cNvSpPr>
            <a:spLocks noGrp="1"/>
          </p:cNvSpPr>
          <p:nvPr/>
        </p:nvSpPr>
        <p:spPr>
          <a:xfrm>
            <a:off x="6076950" y="2362200"/>
            <a:ext cx="0" cy="3390900"/>
          </a:xfrm>
          <a:prstGeom prst="line">
            <a:avLst/>
          </a:prstGeom>
          <a:noFill/>
          <a:ln w="9525">
            <a:solidFill>
              <a:srgbClr val="D8DDD9"/>
            </a:solidFill>
            <a:prstDash val="solid"/>
          </a:ln>
        </p:spPr>
        <p:txBody>
          <a:bodyPr/>
          <a:lstStyle/>
          <a:p>
            <a:endParaRPr lang="en-FR"/>
          </a:p>
        </p:txBody>
      </p:sp>
      <p:pic>
        <p:nvPicPr>
          <p:cNvPr id="153" name="Picture 152"/>
          <p:cNvPicPr>
            <a:picLocks noChangeAspect="1"/>
          </p:cNvPicPr>
          <p:nvPr/>
        </p:nvPicPr>
        <p:blipFill>
          <a:blip r:embed="rId12"/>
          <a:stretch/>
        </p:blipFill>
        <p:spPr>
          <a:xfrm>
            <a:off x="2971800" y="3562350"/>
            <a:ext cx="342900" cy="342900"/>
          </a:xfrm>
          <a:prstGeom prst="rect">
            <a:avLst/>
          </a:prstGeom>
        </p:spPr>
      </p:pic>
      <p:pic>
        <p:nvPicPr>
          <p:cNvPr id="154" name="Picture 153"/>
          <p:cNvPicPr>
            <a:picLocks noChangeAspect="1"/>
          </p:cNvPicPr>
          <p:nvPr/>
        </p:nvPicPr>
        <p:blipFill>
          <a:blip r:embed="rId13"/>
          <a:stretch/>
        </p:blipFill>
        <p:spPr>
          <a:xfrm>
            <a:off x="5929313" y="3562350"/>
            <a:ext cx="314325" cy="323850"/>
          </a:xfrm>
          <a:prstGeom prst="rect">
            <a:avLst/>
          </a:prstGeom>
        </p:spPr>
      </p:pic>
      <p:sp>
        <p:nvSpPr>
          <p:cNvPr id="42" name="Right Arrow 41">
            <a:extLst>
              <a:ext uri="{FF2B5EF4-FFF2-40B4-BE49-F238E27FC236}">
                <a16:creationId xmlns:a16="http://schemas.microsoft.com/office/drawing/2014/main" id="{19A4CE51-971D-4792-AC0A-891171D45B93}"/>
              </a:ext>
            </a:extLst>
          </p:cNvPr>
          <p:cNvSpPr>
            <a:spLocks noGrp="1"/>
          </p:cNvSpPr>
          <p:nvPr/>
        </p:nvSpPr>
        <p:spPr>
          <a:xfrm>
            <a:off x="3429000" y="2428875"/>
            <a:ext cx="2619375" cy="400050"/>
          </a:xfrm>
          <a:prstGeom prst="rightArrow">
            <a:avLst/>
          </a:prstGeom>
          <a:gradFill>
            <a:gsLst>
              <a:gs pos="0">
                <a:srgbClr val="003B25"/>
              </a:gs>
              <a:gs pos="100000">
                <a:srgbClr val="0B4B30"/>
              </a:gs>
            </a:gsLst>
            <a:lin ang="5400000"/>
          </a:gradFill>
          <a:ln w="0">
            <a:noFill/>
            <a:prstDash val="solid"/>
          </a:ln>
        </p:spPr>
        <p:txBody>
          <a:bodyPr/>
          <a:lstStyle/>
          <a:p>
            <a:endParaRPr lang="en-FR"/>
          </a:p>
        </p:txBody>
      </p:sp>
      <p:sp>
        <p:nvSpPr>
          <p:cNvPr id="43" name="Rectangle 42">
            <a:extLst>
              <a:ext uri="{FF2B5EF4-FFF2-40B4-BE49-F238E27FC236}">
                <a16:creationId xmlns:a16="http://schemas.microsoft.com/office/drawing/2014/main" id="{56A69CB2-811D-4AAA-AF87-04D225021B1C}"/>
              </a:ext>
            </a:extLst>
          </p:cNvPr>
          <p:cNvSpPr>
            <a:spLocks noGrp="1"/>
          </p:cNvSpPr>
          <p:nvPr/>
        </p:nvSpPr>
        <p:spPr>
          <a:xfrm>
            <a:off x="3733800" y="2543175"/>
            <a:ext cx="2038350" cy="161925"/>
          </a:xfrm>
          <a:prstGeom prst="rect">
            <a:avLst/>
          </a:prstGeom>
          <a:noFill/>
          <a:ln w="0">
            <a:noFill/>
            <a:prstDash val="solid"/>
          </a:ln>
        </p:spPr>
        <p:txBody>
          <a:bodyPr wrap="none" lIns="0" tIns="0" rIns="0" bIns="0" anchor="t"/>
          <a:lstStyle/>
          <a:p>
            <a:pPr algn="ctr">
              <a:lnSpc>
                <a:spcPct val="100000"/>
              </a:lnSpc>
              <a:buNone/>
              <a:defRPr sz="825" b="1" i="0">
                <a:solidFill>
                  <a:srgbClr val="FFFFFF"/>
                </a:solidFill>
                <a:latin typeface="Arial"/>
                <a:ea typeface="Arial"/>
                <a:cs typeface="Arial"/>
              </a:defRPr>
            </a:pPr>
            <a:r>
              <a:rPr sz="825" b="1" i="0">
                <a:solidFill>
                  <a:srgbClr val="FFFFFF"/>
                </a:solidFill>
                <a:latin typeface="Arial"/>
                <a:ea typeface="Arial"/>
                <a:cs typeface="Arial"/>
              </a:rPr>
              <a:t>MIGRATION &amp; WORKLOAD MOBILITY</a:t>
            </a:r>
          </a:p>
        </p:txBody>
      </p:sp>
      <p:pic>
        <p:nvPicPr>
          <p:cNvPr id="157" name="Picture 156"/>
          <p:cNvPicPr>
            <a:picLocks noChangeAspect="1"/>
          </p:cNvPicPr>
          <p:nvPr/>
        </p:nvPicPr>
        <p:blipFill>
          <a:blip r:embed="rId14"/>
          <a:stretch/>
        </p:blipFill>
        <p:spPr>
          <a:xfrm>
            <a:off x="4346087" y="2838450"/>
            <a:ext cx="566127" cy="361950"/>
          </a:xfrm>
          <a:prstGeom prst="rect">
            <a:avLst/>
          </a:prstGeom>
        </p:spPr>
      </p:pic>
      <p:sp>
        <p:nvSpPr>
          <p:cNvPr id="45" name="Rectangle 44">
            <a:extLst>
              <a:ext uri="{FF2B5EF4-FFF2-40B4-BE49-F238E27FC236}">
                <a16:creationId xmlns:a16="http://schemas.microsoft.com/office/drawing/2014/main" id="{0530EC25-0694-4248-96E3-B211E3219319}"/>
              </a:ext>
            </a:extLst>
          </p:cNvPr>
          <p:cNvSpPr>
            <a:spLocks noGrp="1"/>
          </p:cNvSpPr>
          <p:nvPr/>
        </p:nvSpPr>
        <p:spPr>
          <a:xfrm>
            <a:off x="4143375" y="3333750"/>
            <a:ext cx="1000125"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HCX Mobility</a:t>
            </a:r>
          </a:p>
        </p:txBody>
      </p:sp>
      <p:sp>
        <p:nvSpPr>
          <p:cNvPr id="46" name="Rectangle 45">
            <a:extLst>
              <a:ext uri="{FF2B5EF4-FFF2-40B4-BE49-F238E27FC236}">
                <a16:creationId xmlns:a16="http://schemas.microsoft.com/office/drawing/2014/main" id="{A615CE4B-2731-4B35-898C-CEB1DDE56CCB}"/>
              </a:ext>
            </a:extLst>
          </p:cNvPr>
          <p:cNvSpPr>
            <a:spLocks noGrp="1"/>
          </p:cNvSpPr>
          <p:nvPr/>
        </p:nvSpPr>
        <p:spPr>
          <a:xfrm>
            <a:off x="3886200" y="3562350"/>
            <a:ext cx="1524000" cy="342900"/>
          </a:xfrm>
          <a:prstGeom prst="rect">
            <a:avLst/>
          </a:prstGeom>
          <a:noFill/>
          <a:ln w="0">
            <a:noFill/>
            <a:prstDash val="solid"/>
          </a:ln>
        </p:spPr>
        <p:txBody>
          <a:bodyPr wrap="square" lIns="0" tIns="0" rIns="0" bIns="0" anchor="t"/>
          <a:lstStyle/>
          <a:p>
            <a:pPr algn="ctr">
              <a:lnSpc>
                <a:spcPct val="103000"/>
              </a:lnSpc>
              <a:buNone/>
              <a:defRPr sz="750" b="0" i="0">
                <a:solidFill>
                  <a:srgbClr val="111111"/>
                </a:solidFill>
                <a:latin typeface="Arial"/>
                <a:ea typeface="Arial"/>
                <a:cs typeface="Arial"/>
              </a:defRPr>
            </a:pPr>
            <a:r>
              <a:rPr sz="750" b="0" i="0">
                <a:solidFill>
                  <a:srgbClr val="111111"/>
                </a:solidFill>
                <a:latin typeface="Arial"/>
                <a:ea typeface="Arial"/>
                <a:cs typeface="Arial"/>
              </a:rPr>
              <a:t>Secure workload migration over</a:t>
            </a:r>
          </a:p>
          <a:p>
            <a:pPr algn="ctr">
              <a:lnSpc>
                <a:spcPct val="103000"/>
              </a:lnSpc>
              <a:buNone/>
              <a:defRPr sz="750" b="0" i="0">
                <a:solidFill>
                  <a:srgbClr val="111111"/>
                </a:solidFill>
                <a:latin typeface="Arial"/>
                <a:ea typeface="Arial"/>
                <a:cs typeface="Arial"/>
              </a:defRPr>
            </a:pPr>
            <a:r>
              <a:rPr sz="750" b="0" i="0">
                <a:solidFill>
                  <a:srgbClr val="111111"/>
                </a:solidFill>
                <a:latin typeface="Arial"/>
                <a:ea typeface="Arial"/>
                <a:cs typeface="Arial"/>
              </a:rPr>
              <a:t>Internet, VPN, or FastConnect</a:t>
            </a:r>
          </a:p>
        </p:txBody>
      </p:sp>
      <p:pic>
        <p:nvPicPr>
          <p:cNvPr id="160" name="Picture 159"/>
          <p:cNvPicPr>
            <a:picLocks noChangeAspect="1"/>
          </p:cNvPicPr>
          <p:nvPr/>
        </p:nvPicPr>
        <p:blipFill>
          <a:blip r:embed="rId15"/>
          <a:stretch/>
        </p:blipFill>
        <p:spPr>
          <a:xfrm>
            <a:off x="3600450" y="4029075"/>
            <a:ext cx="323850" cy="323850"/>
          </a:xfrm>
          <a:prstGeom prst="rect">
            <a:avLst/>
          </a:prstGeom>
        </p:spPr>
      </p:pic>
      <p:pic>
        <p:nvPicPr>
          <p:cNvPr id="161" name="Picture 160"/>
          <p:cNvPicPr>
            <a:picLocks noChangeAspect="1"/>
          </p:cNvPicPr>
          <p:nvPr/>
        </p:nvPicPr>
        <p:blipFill>
          <a:blip r:embed="rId16"/>
          <a:stretch/>
        </p:blipFill>
        <p:spPr>
          <a:xfrm>
            <a:off x="4433623" y="4029075"/>
            <a:ext cx="314854" cy="323850"/>
          </a:xfrm>
          <a:prstGeom prst="rect">
            <a:avLst/>
          </a:prstGeom>
        </p:spPr>
      </p:pic>
      <p:pic>
        <p:nvPicPr>
          <p:cNvPr id="162" name="Picture 161"/>
          <p:cNvPicPr>
            <a:picLocks noChangeAspect="1"/>
          </p:cNvPicPr>
          <p:nvPr/>
        </p:nvPicPr>
        <p:blipFill>
          <a:blip r:embed="rId17"/>
          <a:stretch/>
        </p:blipFill>
        <p:spPr>
          <a:xfrm>
            <a:off x="5290751" y="4019550"/>
            <a:ext cx="315097" cy="323850"/>
          </a:xfrm>
          <a:prstGeom prst="rect">
            <a:avLst/>
          </a:prstGeom>
        </p:spPr>
      </p:pic>
      <p:sp>
        <p:nvSpPr>
          <p:cNvPr id="50" name="Rectangle 49">
            <a:extLst>
              <a:ext uri="{FF2B5EF4-FFF2-40B4-BE49-F238E27FC236}">
                <a16:creationId xmlns:a16="http://schemas.microsoft.com/office/drawing/2014/main" id="{60471DFB-83D5-47C1-BCD1-7601D9CB72AD}"/>
              </a:ext>
            </a:extLst>
          </p:cNvPr>
          <p:cNvSpPr>
            <a:spLocks noGrp="1"/>
          </p:cNvSpPr>
          <p:nvPr/>
        </p:nvSpPr>
        <p:spPr>
          <a:xfrm>
            <a:off x="3552825" y="4429125"/>
            <a:ext cx="428625" cy="142875"/>
          </a:xfrm>
          <a:prstGeom prst="rect">
            <a:avLst/>
          </a:prstGeom>
          <a:noFill/>
          <a:ln w="0">
            <a:noFill/>
            <a:prstDash val="solid"/>
          </a:ln>
        </p:spPr>
        <p:txBody>
          <a:bodyPr wrap="none" lIns="0" tIns="0" rIns="0" bIns="0" anchor="t"/>
          <a:lstStyle/>
          <a:p>
            <a:pPr algn="ctr">
              <a:lnSpc>
                <a:spcPct val="100000"/>
              </a:lnSpc>
              <a:buNone/>
              <a:defRPr sz="713" b="0" i="0">
                <a:solidFill>
                  <a:srgbClr val="111111"/>
                </a:solidFill>
                <a:latin typeface="Arial"/>
                <a:ea typeface="Arial"/>
                <a:cs typeface="Arial"/>
              </a:defRPr>
            </a:pPr>
            <a:r>
              <a:rPr sz="713" b="0" i="0">
                <a:solidFill>
                  <a:srgbClr val="111111"/>
                </a:solidFill>
                <a:latin typeface="Arial"/>
                <a:ea typeface="Arial"/>
                <a:cs typeface="Arial"/>
              </a:rPr>
              <a:t>Internet</a:t>
            </a:r>
          </a:p>
        </p:txBody>
      </p:sp>
      <p:sp>
        <p:nvSpPr>
          <p:cNvPr id="51" name="Rectangle 50">
            <a:extLst>
              <a:ext uri="{FF2B5EF4-FFF2-40B4-BE49-F238E27FC236}">
                <a16:creationId xmlns:a16="http://schemas.microsoft.com/office/drawing/2014/main" id="{2B84611E-1C4D-4EF7-8A84-A49FE461E447}"/>
              </a:ext>
            </a:extLst>
          </p:cNvPr>
          <p:cNvSpPr>
            <a:spLocks noGrp="1"/>
          </p:cNvSpPr>
          <p:nvPr/>
        </p:nvSpPr>
        <p:spPr>
          <a:xfrm>
            <a:off x="4467225" y="4429125"/>
            <a:ext cx="266700" cy="142875"/>
          </a:xfrm>
          <a:prstGeom prst="rect">
            <a:avLst/>
          </a:prstGeom>
          <a:noFill/>
          <a:ln w="0">
            <a:noFill/>
            <a:prstDash val="solid"/>
          </a:ln>
        </p:spPr>
        <p:txBody>
          <a:bodyPr wrap="none" lIns="0" tIns="0" rIns="0" bIns="0" anchor="t"/>
          <a:lstStyle/>
          <a:p>
            <a:pPr algn="ctr">
              <a:lnSpc>
                <a:spcPct val="100000"/>
              </a:lnSpc>
              <a:buNone/>
              <a:defRPr sz="713" b="0" i="0">
                <a:solidFill>
                  <a:srgbClr val="111111"/>
                </a:solidFill>
                <a:latin typeface="Arial"/>
                <a:ea typeface="Arial"/>
                <a:cs typeface="Arial"/>
              </a:defRPr>
            </a:pPr>
            <a:r>
              <a:rPr sz="713" b="0" i="0">
                <a:solidFill>
                  <a:srgbClr val="111111"/>
                </a:solidFill>
                <a:latin typeface="Arial"/>
                <a:ea typeface="Arial"/>
                <a:cs typeface="Arial"/>
              </a:rPr>
              <a:t>VPN</a:t>
            </a:r>
          </a:p>
        </p:txBody>
      </p:sp>
      <p:sp>
        <p:nvSpPr>
          <p:cNvPr id="52" name="Rectangle 51">
            <a:extLst>
              <a:ext uri="{FF2B5EF4-FFF2-40B4-BE49-F238E27FC236}">
                <a16:creationId xmlns:a16="http://schemas.microsoft.com/office/drawing/2014/main" id="{1780942A-2E68-4682-A280-1680A74B4308}"/>
              </a:ext>
            </a:extLst>
          </p:cNvPr>
          <p:cNvSpPr>
            <a:spLocks noGrp="1"/>
          </p:cNvSpPr>
          <p:nvPr/>
        </p:nvSpPr>
        <p:spPr>
          <a:xfrm>
            <a:off x="5143500" y="4429125"/>
            <a:ext cx="647700" cy="142875"/>
          </a:xfrm>
          <a:prstGeom prst="rect">
            <a:avLst/>
          </a:prstGeom>
          <a:noFill/>
          <a:ln w="0">
            <a:noFill/>
            <a:prstDash val="solid"/>
          </a:ln>
        </p:spPr>
        <p:txBody>
          <a:bodyPr wrap="none" lIns="0" tIns="0" rIns="0" bIns="0" anchor="t"/>
          <a:lstStyle/>
          <a:p>
            <a:pPr algn="ctr">
              <a:lnSpc>
                <a:spcPct val="100000"/>
              </a:lnSpc>
              <a:buNone/>
              <a:defRPr sz="713" b="0" i="0">
                <a:solidFill>
                  <a:srgbClr val="111111"/>
                </a:solidFill>
                <a:latin typeface="Arial"/>
                <a:ea typeface="Arial"/>
                <a:cs typeface="Arial"/>
              </a:defRPr>
            </a:pPr>
            <a:r>
              <a:rPr sz="713" b="0" i="0">
                <a:solidFill>
                  <a:srgbClr val="111111"/>
                </a:solidFill>
                <a:latin typeface="Arial"/>
                <a:ea typeface="Arial"/>
                <a:cs typeface="Arial"/>
              </a:rPr>
              <a:t>FastConnect</a:t>
            </a:r>
          </a:p>
        </p:txBody>
      </p:sp>
      <p:sp>
        <p:nvSpPr>
          <p:cNvPr id="53" name="Straight Connector 52">
            <a:extLst>
              <a:ext uri="{FF2B5EF4-FFF2-40B4-BE49-F238E27FC236}">
                <a16:creationId xmlns:a16="http://schemas.microsoft.com/office/drawing/2014/main" id="{9F17C3B6-611D-4615-9CE5-425C7AB13751}"/>
              </a:ext>
            </a:extLst>
          </p:cNvPr>
          <p:cNvSpPr>
            <a:spLocks noGrp="1"/>
          </p:cNvSpPr>
          <p:nvPr/>
        </p:nvSpPr>
        <p:spPr>
          <a:xfrm>
            <a:off x="3352800" y="4686300"/>
            <a:ext cx="2524125" cy="0"/>
          </a:xfrm>
          <a:prstGeom prst="line">
            <a:avLst/>
          </a:prstGeom>
          <a:noFill/>
          <a:ln w="9525">
            <a:solidFill>
              <a:srgbClr val="D8DDD9"/>
            </a:solidFill>
            <a:prstDash val="solid"/>
          </a:ln>
        </p:spPr>
        <p:txBody>
          <a:bodyPr/>
          <a:lstStyle/>
          <a:p>
            <a:endParaRPr lang="en-FR"/>
          </a:p>
        </p:txBody>
      </p:sp>
      <p:pic>
        <p:nvPicPr>
          <p:cNvPr id="167" name="Picture 166"/>
          <p:cNvPicPr>
            <a:picLocks noChangeAspect="1"/>
          </p:cNvPicPr>
          <p:nvPr/>
        </p:nvPicPr>
        <p:blipFill>
          <a:blip r:embed="rId18"/>
          <a:stretch/>
        </p:blipFill>
        <p:spPr>
          <a:xfrm>
            <a:off x="3447455" y="4857750"/>
            <a:ext cx="267891" cy="285750"/>
          </a:xfrm>
          <a:prstGeom prst="rect">
            <a:avLst/>
          </a:prstGeom>
        </p:spPr>
      </p:pic>
      <p:sp>
        <p:nvSpPr>
          <p:cNvPr id="55" name="Rectangle 54">
            <a:extLst>
              <a:ext uri="{FF2B5EF4-FFF2-40B4-BE49-F238E27FC236}">
                <a16:creationId xmlns:a16="http://schemas.microsoft.com/office/drawing/2014/main" id="{9B91EC93-ED4C-40D8-BD14-DF85C66728FF}"/>
              </a:ext>
            </a:extLst>
          </p:cNvPr>
          <p:cNvSpPr>
            <a:spLocks noGrp="1"/>
          </p:cNvSpPr>
          <p:nvPr/>
        </p:nvSpPr>
        <p:spPr>
          <a:xfrm>
            <a:off x="3286125" y="5181600"/>
            <a:ext cx="609600" cy="428625"/>
          </a:xfrm>
          <a:prstGeom prst="rect">
            <a:avLst/>
          </a:prstGeom>
          <a:noFill/>
          <a:ln w="0">
            <a:noFill/>
            <a:prstDash val="solid"/>
          </a:ln>
        </p:spPr>
        <p:txBody>
          <a:bodyPr wrap="square" lIns="0" tIns="0" rIns="0" bIns="0" anchor="t"/>
          <a:lstStyle/>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Live</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migration</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support</a:t>
            </a:r>
          </a:p>
        </p:txBody>
      </p:sp>
      <p:pic>
        <p:nvPicPr>
          <p:cNvPr id="169" name="Picture 168"/>
          <p:cNvPicPr>
            <a:picLocks noChangeAspect="1"/>
          </p:cNvPicPr>
          <p:nvPr/>
        </p:nvPicPr>
        <p:blipFill>
          <a:blip r:embed="rId18"/>
          <a:stretch/>
        </p:blipFill>
        <p:spPr>
          <a:xfrm>
            <a:off x="4171355" y="4857750"/>
            <a:ext cx="267891" cy="285750"/>
          </a:xfrm>
          <a:prstGeom prst="rect">
            <a:avLst/>
          </a:prstGeom>
        </p:spPr>
      </p:pic>
      <p:sp>
        <p:nvSpPr>
          <p:cNvPr id="57" name="Rectangle 56">
            <a:extLst>
              <a:ext uri="{FF2B5EF4-FFF2-40B4-BE49-F238E27FC236}">
                <a16:creationId xmlns:a16="http://schemas.microsoft.com/office/drawing/2014/main" id="{BCBF05A3-471C-4A3C-A18F-3B3138058D7F}"/>
              </a:ext>
            </a:extLst>
          </p:cNvPr>
          <p:cNvSpPr>
            <a:spLocks noGrp="1"/>
          </p:cNvSpPr>
          <p:nvPr/>
        </p:nvSpPr>
        <p:spPr>
          <a:xfrm>
            <a:off x="4010025" y="5181600"/>
            <a:ext cx="609600" cy="428625"/>
          </a:xfrm>
          <a:prstGeom prst="rect">
            <a:avLst/>
          </a:prstGeom>
          <a:noFill/>
          <a:ln w="0">
            <a:noFill/>
            <a:prstDash val="solid"/>
          </a:ln>
        </p:spPr>
        <p:txBody>
          <a:bodyPr wrap="square" lIns="0" tIns="0" rIns="0" bIns="0" anchor="t"/>
          <a:lstStyle/>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Minimal</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downtime</a:t>
            </a:r>
          </a:p>
        </p:txBody>
      </p:sp>
      <p:pic>
        <p:nvPicPr>
          <p:cNvPr id="171" name="Picture 170"/>
          <p:cNvPicPr>
            <a:picLocks noChangeAspect="1"/>
          </p:cNvPicPr>
          <p:nvPr/>
        </p:nvPicPr>
        <p:blipFill>
          <a:blip r:embed="rId18"/>
          <a:stretch/>
        </p:blipFill>
        <p:spPr>
          <a:xfrm>
            <a:off x="4914305" y="4857750"/>
            <a:ext cx="267891" cy="285750"/>
          </a:xfrm>
          <a:prstGeom prst="rect">
            <a:avLst/>
          </a:prstGeom>
        </p:spPr>
      </p:pic>
      <p:sp>
        <p:nvSpPr>
          <p:cNvPr id="59" name="Rectangle 58">
            <a:extLst>
              <a:ext uri="{FF2B5EF4-FFF2-40B4-BE49-F238E27FC236}">
                <a16:creationId xmlns:a16="http://schemas.microsoft.com/office/drawing/2014/main" id="{F56778D7-1183-4F9D-8D4A-6BAB64E9BC6F}"/>
              </a:ext>
            </a:extLst>
          </p:cNvPr>
          <p:cNvSpPr>
            <a:spLocks noGrp="1"/>
          </p:cNvSpPr>
          <p:nvPr/>
        </p:nvSpPr>
        <p:spPr>
          <a:xfrm>
            <a:off x="4752975" y="5181600"/>
            <a:ext cx="609600" cy="428625"/>
          </a:xfrm>
          <a:prstGeom prst="rect">
            <a:avLst/>
          </a:prstGeom>
          <a:noFill/>
          <a:ln w="0">
            <a:noFill/>
            <a:prstDash val="solid"/>
          </a:ln>
        </p:spPr>
        <p:txBody>
          <a:bodyPr wrap="square" lIns="0" tIns="0" rIns="0" bIns="0" anchor="t"/>
          <a:lstStyle/>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Network</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extension</a:t>
            </a:r>
          </a:p>
        </p:txBody>
      </p:sp>
      <p:pic>
        <p:nvPicPr>
          <p:cNvPr id="173" name="Picture 172"/>
          <p:cNvPicPr>
            <a:picLocks noChangeAspect="1"/>
          </p:cNvPicPr>
          <p:nvPr/>
        </p:nvPicPr>
        <p:blipFill>
          <a:blip r:embed="rId18"/>
          <a:stretch/>
        </p:blipFill>
        <p:spPr>
          <a:xfrm>
            <a:off x="5619155" y="4857750"/>
            <a:ext cx="267891" cy="285750"/>
          </a:xfrm>
          <a:prstGeom prst="rect">
            <a:avLst/>
          </a:prstGeom>
        </p:spPr>
      </p:pic>
      <p:sp>
        <p:nvSpPr>
          <p:cNvPr id="61" name="Rectangle 60">
            <a:extLst>
              <a:ext uri="{FF2B5EF4-FFF2-40B4-BE49-F238E27FC236}">
                <a16:creationId xmlns:a16="http://schemas.microsoft.com/office/drawing/2014/main" id="{FC31E4EB-4103-440D-B82A-A521151D3699}"/>
              </a:ext>
            </a:extLst>
          </p:cNvPr>
          <p:cNvSpPr>
            <a:spLocks noGrp="1"/>
          </p:cNvSpPr>
          <p:nvPr/>
        </p:nvSpPr>
        <p:spPr>
          <a:xfrm>
            <a:off x="5457825" y="5181600"/>
            <a:ext cx="609600" cy="428625"/>
          </a:xfrm>
          <a:prstGeom prst="rect">
            <a:avLst/>
          </a:prstGeom>
          <a:noFill/>
          <a:ln w="0">
            <a:noFill/>
            <a:prstDash val="solid"/>
          </a:ln>
        </p:spPr>
        <p:txBody>
          <a:bodyPr wrap="square" lIns="0" tIns="0" rIns="0" bIns="0" anchor="t"/>
          <a:lstStyle/>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Phased</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migration</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approach</a:t>
            </a:r>
          </a:p>
        </p:txBody>
      </p:sp>
      <p:sp>
        <p:nvSpPr>
          <p:cNvPr id="62" name="Straight Connector 61">
            <a:extLst>
              <a:ext uri="{FF2B5EF4-FFF2-40B4-BE49-F238E27FC236}">
                <a16:creationId xmlns:a16="http://schemas.microsoft.com/office/drawing/2014/main" id="{9B36067F-69DD-41C7-913E-CA54F8C41549}"/>
              </a:ext>
            </a:extLst>
          </p:cNvPr>
          <p:cNvSpPr>
            <a:spLocks noGrp="1"/>
          </p:cNvSpPr>
          <p:nvPr/>
        </p:nvSpPr>
        <p:spPr>
          <a:xfrm>
            <a:off x="3886200" y="4819650"/>
            <a:ext cx="0" cy="790575"/>
          </a:xfrm>
          <a:prstGeom prst="line">
            <a:avLst/>
          </a:prstGeom>
          <a:noFill/>
          <a:ln w="9525">
            <a:solidFill>
              <a:srgbClr val="D8DDD9"/>
            </a:solidFill>
            <a:prstDash val="solid"/>
          </a:ln>
        </p:spPr>
        <p:txBody>
          <a:bodyPr/>
          <a:lstStyle/>
          <a:p>
            <a:endParaRPr lang="en-FR"/>
          </a:p>
        </p:txBody>
      </p:sp>
      <p:sp>
        <p:nvSpPr>
          <p:cNvPr id="63" name="Straight Connector 62">
            <a:extLst>
              <a:ext uri="{FF2B5EF4-FFF2-40B4-BE49-F238E27FC236}">
                <a16:creationId xmlns:a16="http://schemas.microsoft.com/office/drawing/2014/main" id="{A2CB8EE4-87EE-4E03-B094-5FD3A968A3AB}"/>
              </a:ext>
            </a:extLst>
          </p:cNvPr>
          <p:cNvSpPr>
            <a:spLocks noGrp="1"/>
          </p:cNvSpPr>
          <p:nvPr/>
        </p:nvSpPr>
        <p:spPr>
          <a:xfrm>
            <a:off x="4610100" y="4819650"/>
            <a:ext cx="0" cy="790575"/>
          </a:xfrm>
          <a:prstGeom prst="line">
            <a:avLst/>
          </a:prstGeom>
          <a:noFill/>
          <a:ln w="9525">
            <a:solidFill>
              <a:srgbClr val="D8DDD9"/>
            </a:solidFill>
            <a:prstDash val="solid"/>
          </a:ln>
        </p:spPr>
        <p:txBody>
          <a:bodyPr/>
          <a:lstStyle/>
          <a:p>
            <a:endParaRPr lang="en-FR"/>
          </a:p>
        </p:txBody>
      </p:sp>
      <p:sp>
        <p:nvSpPr>
          <p:cNvPr id="64" name="Straight Connector 63">
            <a:extLst>
              <a:ext uri="{FF2B5EF4-FFF2-40B4-BE49-F238E27FC236}">
                <a16:creationId xmlns:a16="http://schemas.microsoft.com/office/drawing/2014/main" id="{6426E86F-678A-4620-838E-2022A55FE576}"/>
              </a:ext>
            </a:extLst>
          </p:cNvPr>
          <p:cNvSpPr>
            <a:spLocks noGrp="1"/>
          </p:cNvSpPr>
          <p:nvPr/>
        </p:nvSpPr>
        <p:spPr>
          <a:xfrm>
            <a:off x="5343525" y="4819650"/>
            <a:ext cx="0" cy="790575"/>
          </a:xfrm>
          <a:prstGeom prst="line">
            <a:avLst/>
          </a:prstGeom>
          <a:noFill/>
          <a:ln w="9525">
            <a:solidFill>
              <a:srgbClr val="D8DDD9"/>
            </a:solidFill>
            <a:prstDash val="solid"/>
          </a:ln>
        </p:spPr>
        <p:txBody>
          <a:bodyPr/>
          <a:lstStyle/>
          <a:p>
            <a:endParaRPr lang="en-FR"/>
          </a:p>
        </p:txBody>
      </p:sp>
      <p:sp>
        <p:nvSpPr>
          <p:cNvPr id="65" name="Rounded Rectangle 64">
            <a:extLst>
              <a:ext uri="{FF2B5EF4-FFF2-40B4-BE49-F238E27FC236}">
                <a16:creationId xmlns:a16="http://schemas.microsoft.com/office/drawing/2014/main" id="{E7EB4DE1-92A8-4571-B2DB-1CEAEE0916CA}"/>
              </a:ext>
            </a:extLst>
          </p:cNvPr>
          <p:cNvSpPr>
            <a:spLocks noGrp="1"/>
          </p:cNvSpPr>
          <p:nvPr/>
        </p:nvSpPr>
        <p:spPr>
          <a:xfrm>
            <a:off x="6315075" y="2362200"/>
            <a:ext cx="3276600" cy="3400425"/>
          </a:xfrm>
          <a:prstGeom prst="roundRect">
            <a:avLst>
              <a:gd name="adj" fmla="val 1744"/>
            </a:avLst>
          </a:prstGeom>
          <a:solidFill>
            <a:srgbClr val="FFFFFF"/>
          </a:solidFill>
          <a:ln w="9525">
            <a:solidFill>
              <a:srgbClr val="F00000"/>
            </a:solidFill>
            <a:prstDash val="solid"/>
          </a:ln>
        </p:spPr>
        <p:txBody>
          <a:bodyPr/>
          <a:lstStyle/>
          <a:p>
            <a:endParaRPr lang="en-FR"/>
          </a:p>
        </p:txBody>
      </p:sp>
      <p:sp>
        <p:nvSpPr>
          <p:cNvPr id="66" name="Rounded Rectangle 65">
            <a:extLst>
              <a:ext uri="{FF2B5EF4-FFF2-40B4-BE49-F238E27FC236}">
                <a16:creationId xmlns:a16="http://schemas.microsoft.com/office/drawing/2014/main" id="{90F601E3-5DB4-407B-AC57-46094BF60D19}"/>
              </a:ext>
            </a:extLst>
          </p:cNvPr>
          <p:cNvSpPr>
            <a:spLocks noGrp="1"/>
          </p:cNvSpPr>
          <p:nvPr/>
        </p:nvSpPr>
        <p:spPr>
          <a:xfrm>
            <a:off x="6315075" y="2362200"/>
            <a:ext cx="3276600" cy="304800"/>
          </a:xfrm>
          <a:prstGeom prst="roundRect">
            <a:avLst>
              <a:gd name="adj" fmla="val 18750"/>
            </a:avLst>
          </a:prstGeom>
          <a:gradFill>
            <a:gsLst>
              <a:gs pos="0">
                <a:srgbClr val="D60000"/>
              </a:gs>
              <a:gs pos="100000">
                <a:srgbClr val="E00000"/>
              </a:gs>
            </a:gsLst>
            <a:lin ang="5400000"/>
          </a:gradFill>
          <a:ln w="0">
            <a:noFill/>
            <a:prstDash val="solid"/>
          </a:ln>
        </p:spPr>
        <p:txBody>
          <a:bodyPr/>
          <a:lstStyle/>
          <a:p>
            <a:endParaRPr lang="en-FR"/>
          </a:p>
        </p:txBody>
      </p:sp>
      <p:sp>
        <p:nvSpPr>
          <p:cNvPr id="67" name="Rectangle 66">
            <a:extLst>
              <a:ext uri="{FF2B5EF4-FFF2-40B4-BE49-F238E27FC236}">
                <a16:creationId xmlns:a16="http://schemas.microsoft.com/office/drawing/2014/main" id="{C2628BBB-C0E5-4EC4-841E-C01D9E664DC8}"/>
              </a:ext>
            </a:extLst>
          </p:cNvPr>
          <p:cNvSpPr>
            <a:spLocks noGrp="1"/>
          </p:cNvSpPr>
          <p:nvPr/>
        </p:nvSpPr>
        <p:spPr>
          <a:xfrm>
            <a:off x="6315075" y="2600325"/>
            <a:ext cx="3276600" cy="76200"/>
          </a:xfrm>
          <a:prstGeom prst="rect">
            <a:avLst/>
          </a:prstGeom>
          <a:gradFill>
            <a:gsLst>
              <a:gs pos="0">
                <a:srgbClr val="D60000"/>
              </a:gs>
              <a:gs pos="100000">
                <a:srgbClr val="E00000"/>
              </a:gs>
            </a:gsLst>
            <a:lin ang="5400000"/>
          </a:gradFill>
          <a:ln w="0">
            <a:noFill/>
            <a:prstDash val="solid"/>
          </a:ln>
        </p:spPr>
        <p:txBody>
          <a:bodyPr/>
          <a:lstStyle/>
          <a:p>
            <a:endParaRPr lang="en-FR"/>
          </a:p>
        </p:txBody>
      </p:sp>
      <p:sp>
        <p:nvSpPr>
          <p:cNvPr id="68" name="Rectangle 67">
            <a:extLst>
              <a:ext uri="{FF2B5EF4-FFF2-40B4-BE49-F238E27FC236}">
                <a16:creationId xmlns:a16="http://schemas.microsoft.com/office/drawing/2014/main" id="{AEB0B200-61AC-4A68-AE1E-F69838E202E3}"/>
              </a:ext>
            </a:extLst>
          </p:cNvPr>
          <p:cNvSpPr>
            <a:spLocks noGrp="1"/>
          </p:cNvSpPr>
          <p:nvPr/>
        </p:nvSpPr>
        <p:spPr>
          <a:xfrm>
            <a:off x="6667500" y="2466975"/>
            <a:ext cx="2590800" cy="161925"/>
          </a:xfrm>
          <a:prstGeom prst="rect">
            <a:avLst/>
          </a:prstGeom>
          <a:noFill/>
          <a:ln w="0">
            <a:noFill/>
            <a:prstDash val="solid"/>
          </a:ln>
        </p:spPr>
        <p:txBody>
          <a:bodyPr wrap="none" lIns="0" tIns="0" rIns="0" bIns="0" anchor="t"/>
          <a:lstStyle/>
          <a:p>
            <a:pPr algn="ctr">
              <a:lnSpc>
                <a:spcPct val="100000"/>
              </a:lnSpc>
              <a:buNone/>
              <a:defRPr sz="825" b="1" i="0">
                <a:solidFill>
                  <a:srgbClr val="FFFFFF"/>
                </a:solidFill>
                <a:latin typeface="Arial"/>
                <a:ea typeface="Arial"/>
                <a:cs typeface="Arial"/>
              </a:defRPr>
            </a:pPr>
            <a:r>
              <a:rPr sz="825" b="1" i="0">
                <a:solidFill>
                  <a:srgbClr val="FFFFFF"/>
                </a:solidFill>
                <a:latin typeface="Arial"/>
                <a:ea typeface="Arial"/>
                <a:cs typeface="Arial"/>
              </a:rPr>
              <a:t>ORACLE CLOUD VMWARE SOLUTION (OCVS)</a:t>
            </a:r>
          </a:p>
        </p:txBody>
      </p:sp>
      <p:sp>
        <p:nvSpPr>
          <p:cNvPr id="69" name="Rounded Rectangle 68">
            <a:extLst>
              <a:ext uri="{FF2B5EF4-FFF2-40B4-BE49-F238E27FC236}">
                <a16:creationId xmlns:a16="http://schemas.microsoft.com/office/drawing/2014/main" id="{FB8BABC6-30D2-4A52-B11A-6B9399586D04}"/>
              </a:ext>
            </a:extLst>
          </p:cNvPr>
          <p:cNvSpPr>
            <a:spLocks noGrp="1"/>
          </p:cNvSpPr>
          <p:nvPr/>
        </p:nvSpPr>
        <p:spPr>
          <a:xfrm>
            <a:off x="6410325" y="2990850"/>
            <a:ext cx="3076575" cy="1924050"/>
          </a:xfrm>
          <a:prstGeom prst="roundRect">
            <a:avLst>
              <a:gd name="adj" fmla="val 2970"/>
            </a:avLst>
          </a:prstGeom>
          <a:noFill/>
          <a:ln w="9525">
            <a:solidFill>
              <a:srgbClr val="FF3B30"/>
            </a:solidFill>
            <a:prstDash val="dash"/>
          </a:ln>
        </p:spPr>
        <p:txBody>
          <a:bodyPr/>
          <a:lstStyle/>
          <a:p>
            <a:endParaRPr lang="en-FR"/>
          </a:p>
        </p:txBody>
      </p:sp>
      <p:sp>
        <p:nvSpPr>
          <p:cNvPr id="70" name="Rectangle 69">
            <a:extLst>
              <a:ext uri="{FF2B5EF4-FFF2-40B4-BE49-F238E27FC236}">
                <a16:creationId xmlns:a16="http://schemas.microsoft.com/office/drawing/2014/main" id="{10F27041-0BF5-4E7A-98B0-97186FDCB055}"/>
              </a:ext>
            </a:extLst>
          </p:cNvPr>
          <p:cNvSpPr>
            <a:spLocks noGrp="1"/>
          </p:cNvSpPr>
          <p:nvPr/>
        </p:nvSpPr>
        <p:spPr>
          <a:xfrm>
            <a:off x="6838950" y="2847975"/>
            <a:ext cx="2286000" cy="285750"/>
          </a:xfrm>
          <a:prstGeom prst="rect">
            <a:avLst/>
          </a:prstGeom>
          <a:solidFill>
            <a:srgbClr val="FFFFFF"/>
          </a:solidFill>
          <a:ln w="0">
            <a:noFill/>
            <a:prstDash val="solid"/>
          </a:ln>
        </p:spPr>
        <p:txBody>
          <a:bodyPr/>
          <a:lstStyle/>
          <a:p>
            <a:endParaRPr lang="en-FR"/>
          </a:p>
        </p:txBody>
      </p:sp>
      <p:pic>
        <p:nvPicPr>
          <p:cNvPr id="184" name="Picture 183"/>
          <p:cNvPicPr>
            <a:picLocks noChangeAspect="1"/>
          </p:cNvPicPr>
          <p:nvPr/>
        </p:nvPicPr>
        <p:blipFill>
          <a:blip r:embed="rId19"/>
          <a:stretch/>
        </p:blipFill>
        <p:spPr>
          <a:xfrm>
            <a:off x="6962775" y="2857500"/>
            <a:ext cx="295275" cy="295275"/>
          </a:xfrm>
          <a:prstGeom prst="rect">
            <a:avLst/>
          </a:prstGeom>
        </p:spPr>
      </p:pic>
      <p:sp>
        <p:nvSpPr>
          <p:cNvPr id="72" name="Rectangle 71">
            <a:extLst>
              <a:ext uri="{FF2B5EF4-FFF2-40B4-BE49-F238E27FC236}">
                <a16:creationId xmlns:a16="http://schemas.microsoft.com/office/drawing/2014/main" id="{23D883D7-AF85-44DC-B421-337DCF5E8B45}"/>
              </a:ext>
            </a:extLst>
          </p:cNvPr>
          <p:cNvSpPr>
            <a:spLocks noGrp="1"/>
          </p:cNvSpPr>
          <p:nvPr/>
        </p:nvSpPr>
        <p:spPr>
          <a:xfrm>
            <a:off x="7343775" y="2933700"/>
            <a:ext cx="1809750" cy="161925"/>
          </a:xfrm>
          <a:prstGeom prst="rect">
            <a:avLst/>
          </a:prstGeom>
          <a:noFill/>
          <a:ln w="0">
            <a:noFill/>
            <a:prstDash val="solid"/>
          </a:ln>
        </p:spPr>
        <p:txBody>
          <a:bodyPr wrap="none" lIns="0" tIns="0" rIns="0" bIns="0" anchor="t"/>
          <a:lstStyle/>
          <a:p>
            <a:pPr algn="l">
              <a:lnSpc>
                <a:spcPct val="100000"/>
              </a:lnSpc>
              <a:buNone/>
              <a:defRPr sz="788" b="0" i="0">
                <a:solidFill>
                  <a:srgbClr val="111111"/>
                </a:solidFill>
                <a:latin typeface="Arial"/>
                <a:ea typeface="Arial"/>
                <a:cs typeface="Arial"/>
              </a:defRPr>
            </a:pPr>
            <a:r>
              <a:rPr sz="788" b="0" i="0">
                <a:solidFill>
                  <a:srgbClr val="111111"/>
                </a:solidFill>
                <a:latin typeface="Arial"/>
                <a:ea typeface="Arial"/>
                <a:cs typeface="Arial"/>
              </a:rPr>
              <a:t>OCI Virtual Cloud Network (VCN)</a:t>
            </a:r>
          </a:p>
        </p:txBody>
      </p:sp>
      <p:sp>
        <p:nvSpPr>
          <p:cNvPr id="73" name="Rounded Rectangle 72">
            <a:extLst>
              <a:ext uri="{FF2B5EF4-FFF2-40B4-BE49-F238E27FC236}">
                <a16:creationId xmlns:a16="http://schemas.microsoft.com/office/drawing/2014/main" id="{ABC8CB99-54C1-4CB2-B732-0A80BE0DDEFE}"/>
              </a:ext>
            </a:extLst>
          </p:cNvPr>
          <p:cNvSpPr>
            <a:spLocks noGrp="1"/>
          </p:cNvSpPr>
          <p:nvPr/>
        </p:nvSpPr>
        <p:spPr>
          <a:xfrm>
            <a:off x="6591300" y="3276600"/>
            <a:ext cx="2743200" cy="266700"/>
          </a:xfrm>
          <a:prstGeom prst="roundRect">
            <a:avLst>
              <a:gd name="adj" fmla="val 17857"/>
            </a:avLst>
          </a:prstGeom>
          <a:solidFill>
            <a:srgbClr val="003B25"/>
          </a:solidFill>
          <a:ln w="0">
            <a:noFill/>
            <a:prstDash val="solid"/>
          </a:ln>
        </p:spPr>
        <p:txBody>
          <a:bodyPr/>
          <a:lstStyle/>
          <a:p>
            <a:endParaRPr lang="en-FR"/>
          </a:p>
        </p:txBody>
      </p:sp>
      <p:sp>
        <p:nvSpPr>
          <p:cNvPr id="74" name="Rectangle 73">
            <a:extLst>
              <a:ext uri="{FF2B5EF4-FFF2-40B4-BE49-F238E27FC236}">
                <a16:creationId xmlns:a16="http://schemas.microsoft.com/office/drawing/2014/main" id="{B07CF799-F2FD-4488-85E0-D54ED290B4CA}"/>
              </a:ext>
            </a:extLst>
          </p:cNvPr>
          <p:cNvSpPr>
            <a:spLocks noGrp="1"/>
          </p:cNvSpPr>
          <p:nvPr/>
        </p:nvSpPr>
        <p:spPr>
          <a:xfrm>
            <a:off x="7410450" y="3362325"/>
            <a:ext cx="1143000" cy="123825"/>
          </a:xfrm>
          <a:prstGeom prst="rect">
            <a:avLst/>
          </a:prstGeom>
          <a:noFill/>
          <a:ln w="0">
            <a:noFill/>
            <a:prstDash val="solid"/>
          </a:ln>
        </p:spPr>
        <p:txBody>
          <a:bodyPr wrap="none" lIns="0" tIns="0" rIns="0" bIns="0" anchor="t"/>
          <a:lstStyle/>
          <a:p>
            <a:pPr algn="ctr">
              <a:lnSpc>
                <a:spcPct val="100000"/>
              </a:lnSpc>
              <a:buNone/>
              <a:defRPr sz="713" b="1" i="0">
                <a:solidFill>
                  <a:srgbClr val="FFFFFF"/>
                </a:solidFill>
                <a:latin typeface="Arial"/>
                <a:ea typeface="Arial"/>
                <a:cs typeface="Arial"/>
              </a:defRPr>
            </a:pPr>
            <a:r>
              <a:rPr sz="713" b="1" i="0">
                <a:solidFill>
                  <a:srgbClr val="FFFFFF"/>
                </a:solidFill>
                <a:latin typeface="Arial"/>
                <a:ea typeface="Arial"/>
                <a:cs typeface="Arial"/>
              </a:rPr>
              <a:t>VMware Environment</a:t>
            </a:r>
          </a:p>
        </p:txBody>
      </p:sp>
      <p:sp>
        <p:nvSpPr>
          <p:cNvPr id="75" name="Rounded Rectangle 74">
            <a:extLst>
              <a:ext uri="{FF2B5EF4-FFF2-40B4-BE49-F238E27FC236}">
                <a16:creationId xmlns:a16="http://schemas.microsoft.com/office/drawing/2014/main" id="{5C004DA8-B8F3-4DA1-9101-8DFA273571AE}"/>
              </a:ext>
            </a:extLst>
          </p:cNvPr>
          <p:cNvSpPr>
            <a:spLocks noGrp="1"/>
          </p:cNvSpPr>
          <p:nvPr/>
        </p:nvSpPr>
        <p:spPr>
          <a:xfrm>
            <a:off x="6591300" y="3638550"/>
            <a:ext cx="790575" cy="257175"/>
          </a:xfrm>
          <a:prstGeom prst="roundRect">
            <a:avLst>
              <a:gd name="adj" fmla="val 14815"/>
            </a:avLst>
          </a:prstGeom>
          <a:solidFill>
            <a:srgbClr val="003B25"/>
          </a:solidFill>
          <a:ln w="0">
            <a:noFill/>
            <a:prstDash val="solid"/>
          </a:ln>
        </p:spPr>
        <p:txBody>
          <a:bodyPr/>
          <a:lstStyle/>
          <a:p>
            <a:endParaRPr lang="en-FR"/>
          </a:p>
        </p:txBody>
      </p:sp>
      <p:sp>
        <p:nvSpPr>
          <p:cNvPr id="76" name="Rectangle 75">
            <a:extLst>
              <a:ext uri="{FF2B5EF4-FFF2-40B4-BE49-F238E27FC236}">
                <a16:creationId xmlns:a16="http://schemas.microsoft.com/office/drawing/2014/main" id="{650187E2-3C76-4358-971F-A5F83C59ECC0}"/>
              </a:ext>
            </a:extLst>
          </p:cNvPr>
          <p:cNvSpPr>
            <a:spLocks noGrp="1"/>
          </p:cNvSpPr>
          <p:nvPr/>
        </p:nvSpPr>
        <p:spPr>
          <a:xfrm>
            <a:off x="6677025" y="3714750"/>
            <a:ext cx="609600" cy="114300"/>
          </a:xfrm>
          <a:prstGeom prst="rect">
            <a:avLst/>
          </a:prstGeom>
          <a:noFill/>
          <a:ln w="0">
            <a:noFill/>
            <a:prstDash val="solid"/>
          </a:ln>
        </p:spPr>
        <p:txBody>
          <a:bodyPr wrap="none" lIns="0" tIns="0" rIns="0" bIns="0" anchor="t"/>
          <a:lstStyle/>
          <a:p>
            <a:pPr algn="ctr">
              <a:lnSpc>
                <a:spcPct val="100000"/>
              </a:lnSpc>
              <a:buNone/>
              <a:defRPr sz="638" b="0" i="0">
                <a:solidFill>
                  <a:srgbClr val="FFFFFF"/>
                </a:solidFill>
                <a:latin typeface="Arial"/>
                <a:ea typeface="Arial"/>
                <a:cs typeface="Arial"/>
              </a:defRPr>
            </a:pPr>
            <a:r>
              <a:rPr sz="638" b="0" i="0">
                <a:solidFill>
                  <a:srgbClr val="FFFFFF"/>
                </a:solidFill>
                <a:latin typeface="Arial"/>
                <a:ea typeface="Arial"/>
                <a:cs typeface="Arial"/>
              </a:rPr>
              <a:t>Compute</a:t>
            </a:r>
          </a:p>
        </p:txBody>
      </p:sp>
      <p:sp>
        <p:nvSpPr>
          <p:cNvPr id="77" name="Rounded Rectangle 76">
            <a:extLst>
              <a:ext uri="{FF2B5EF4-FFF2-40B4-BE49-F238E27FC236}">
                <a16:creationId xmlns:a16="http://schemas.microsoft.com/office/drawing/2014/main" id="{F5D3827B-AD91-4C24-8337-C6C255E6E442}"/>
              </a:ext>
            </a:extLst>
          </p:cNvPr>
          <p:cNvSpPr>
            <a:spLocks noGrp="1"/>
          </p:cNvSpPr>
          <p:nvPr/>
        </p:nvSpPr>
        <p:spPr>
          <a:xfrm>
            <a:off x="7581900" y="3638550"/>
            <a:ext cx="790575" cy="257175"/>
          </a:xfrm>
          <a:prstGeom prst="roundRect">
            <a:avLst>
              <a:gd name="adj" fmla="val 14815"/>
            </a:avLst>
          </a:prstGeom>
          <a:solidFill>
            <a:srgbClr val="003B25"/>
          </a:solidFill>
          <a:ln w="0">
            <a:noFill/>
            <a:prstDash val="solid"/>
          </a:ln>
        </p:spPr>
        <p:txBody>
          <a:bodyPr/>
          <a:lstStyle/>
          <a:p>
            <a:endParaRPr lang="en-FR"/>
          </a:p>
        </p:txBody>
      </p:sp>
      <p:sp>
        <p:nvSpPr>
          <p:cNvPr id="78" name="Rectangle 77">
            <a:extLst>
              <a:ext uri="{FF2B5EF4-FFF2-40B4-BE49-F238E27FC236}">
                <a16:creationId xmlns:a16="http://schemas.microsoft.com/office/drawing/2014/main" id="{A5DB91C5-7016-4391-8755-A5764244AEA7}"/>
              </a:ext>
            </a:extLst>
          </p:cNvPr>
          <p:cNvSpPr>
            <a:spLocks noGrp="1"/>
          </p:cNvSpPr>
          <p:nvPr/>
        </p:nvSpPr>
        <p:spPr>
          <a:xfrm>
            <a:off x="7667625" y="3714750"/>
            <a:ext cx="609600" cy="114300"/>
          </a:xfrm>
          <a:prstGeom prst="rect">
            <a:avLst/>
          </a:prstGeom>
          <a:noFill/>
          <a:ln w="0">
            <a:noFill/>
            <a:prstDash val="solid"/>
          </a:ln>
        </p:spPr>
        <p:txBody>
          <a:bodyPr wrap="none" lIns="0" tIns="0" rIns="0" bIns="0" anchor="t"/>
          <a:lstStyle/>
          <a:p>
            <a:pPr algn="ctr">
              <a:lnSpc>
                <a:spcPct val="100000"/>
              </a:lnSpc>
              <a:buNone/>
              <a:defRPr sz="638" b="0" i="0">
                <a:solidFill>
                  <a:srgbClr val="FFFFFF"/>
                </a:solidFill>
                <a:latin typeface="Arial"/>
                <a:ea typeface="Arial"/>
                <a:cs typeface="Arial"/>
              </a:defRPr>
            </a:pPr>
            <a:r>
              <a:rPr sz="638" b="0" i="0">
                <a:solidFill>
                  <a:srgbClr val="FFFFFF"/>
                </a:solidFill>
                <a:latin typeface="Arial"/>
                <a:ea typeface="Arial"/>
                <a:cs typeface="Arial"/>
              </a:rPr>
              <a:t>Storage</a:t>
            </a:r>
          </a:p>
        </p:txBody>
      </p:sp>
      <p:sp>
        <p:nvSpPr>
          <p:cNvPr id="79" name="Rounded Rectangle 78">
            <a:extLst>
              <a:ext uri="{FF2B5EF4-FFF2-40B4-BE49-F238E27FC236}">
                <a16:creationId xmlns:a16="http://schemas.microsoft.com/office/drawing/2014/main" id="{4889516B-E239-407F-BCE9-46811647479F}"/>
              </a:ext>
            </a:extLst>
          </p:cNvPr>
          <p:cNvSpPr>
            <a:spLocks noGrp="1"/>
          </p:cNvSpPr>
          <p:nvPr/>
        </p:nvSpPr>
        <p:spPr>
          <a:xfrm>
            <a:off x="8572500" y="3638550"/>
            <a:ext cx="790575" cy="257175"/>
          </a:xfrm>
          <a:prstGeom prst="roundRect">
            <a:avLst>
              <a:gd name="adj" fmla="val 14815"/>
            </a:avLst>
          </a:prstGeom>
          <a:solidFill>
            <a:srgbClr val="003B25"/>
          </a:solidFill>
          <a:ln w="0">
            <a:noFill/>
            <a:prstDash val="solid"/>
          </a:ln>
        </p:spPr>
        <p:txBody>
          <a:bodyPr/>
          <a:lstStyle/>
          <a:p>
            <a:endParaRPr lang="en-FR"/>
          </a:p>
        </p:txBody>
      </p:sp>
      <p:sp>
        <p:nvSpPr>
          <p:cNvPr id="80" name="Rectangle 79">
            <a:extLst>
              <a:ext uri="{FF2B5EF4-FFF2-40B4-BE49-F238E27FC236}">
                <a16:creationId xmlns:a16="http://schemas.microsoft.com/office/drawing/2014/main" id="{3BEB0685-037B-4035-9D14-32DB390E6F6F}"/>
              </a:ext>
            </a:extLst>
          </p:cNvPr>
          <p:cNvSpPr>
            <a:spLocks noGrp="1"/>
          </p:cNvSpPr>
          <p:nvPr/>
        </p:nvSpPr>
        <p:spPr>
          <a:xfrm>
            <a:off x="8658225" y="3714750"/>
            <a:ext cx="609600" cy="114300"/>
          </a:xfrm>
          <a:prstGeom prst="rect">
            <a:avLst/>
          </a:prstGeom>
          <a:noFill/>
          <a:ln w="0">
            <a:noFill/>
            <a:prstDash val="solid"/>
          </a:ln>
        </p:spPr>
        <p:txBody>
          <a:bodyPr wrap="none" lIns="0" tIns="0" rIns="0" bIns="0" anchor="t"/>
          <a:lstStyle/>
          <a:p>
            <a:pPr algn="ctr">
              <a:lnSpc>
                <a:spcPct val="100000"/>
              </a:lnSpc>
              <a:buNone/>
              <a:defRPr sz="638" b="0" i="0">
                <a:solidFill>
                  <a:srgbClr val="FFFFFF"/>
                </a:solidFill>
                <a:latin typeface="Arial"/>
                <a:ea typeface="Arial"/>
                <a:cs typeface="Arial"/>
              </a:defRPr>
            </a:pPr>
            <a:r>
              <a:rPr sz="638" b="0" i="0">
                <a:solidFill>
                  <a:srgbClr val="FFFFFF"/>
                </a:solidFill>
                <a:latin typeface="Arial"/>
                <a:ea typeface="Arial"/>
                <a:cs typeface="Arial"/>
              </a:rPr>
              <a:t>Network</a:t>
            </a:r>
          </a:p>
        </p:txBody>
      </p:sp>
      <p:pic>
        <p:nvPicPr>
          <p:cNvPr id="194" name="Picture 193"/>
          <p:cNvPicPr>
            <a:picLocks noChangeAspect="1"/>
          </p:cNvPicPr>
          <p:nvPr/>
        </p:nvPicPr>
        <p:blipFill>
          <a:blip r:embed="rId20"/>
          <a:stretch/>
        </p:blipFill>
        <p:spPr>
          <a:xfrm>
            <a:off x="6800850" y="4124325"/>
            <a:ext cx="342900" cy="276225"/>
          </a:xfrm>
          <a:prstGeom prst="rect">
            <a:avLst/>
          </a:prstGeom>
        </p:spPr>
      </p:pic>
      <p:sp>
        <p:nvSpPr>
          <p:cNvPr id="82" name="Rectangle 81">
            <a:extLst>
              <a:ext uri="{FF2B5EF4-FFF2-40B4-BE49-F238E27FC236}">
                <a16:creationId xmlns:a16="http://schemas.microsoft.com/office/drawing/2014/main" id="{D001E645-FE15-465C-80E8-8FE2D092CDD4}"/>
              </a:ext>
            </a:extLst>
          </p:cNvPr>
          <p:cNvSpPr>
            <a:spLocks noGrp="1"/>
          </p:cNvSpPr>
          <p:nvPr/>
        </p:nvSpPr>
        <p:spPr>
          <a:xfrm>
            <a:off x="6705600" y="4543425"/>
            <a:ext cx="552450" cy="295275"/>
          </a:xfrm>
          <a:prstGeom prst="rect">
            <a:avLst/>
          </a:prstGeom>
          <a:noFill/>
          <a:ln w="0">
            <a:noFill/>
            <a:prstDash val="solid"/>
          </a:ln>
        </p:spPr>
        <p:txBody>
          <a:bodyPr wrap="square" lIns="0" tIns="0" rIns="0" bIns="0" anchor="t"/>
          <a:lstStyle/>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Bare Metal</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Compute</a:t>
            </a:r>
          </a:p>
        </p:txBody>
      </p:sp>
      <p:pic>
        <p:nvPicPr>
          <p:cNvPr id="196" name="Picture 195"/>
          <p:cNvPicPr>
            <a:picLocks noChangeAspect="1"/>
          </p:cNvPicPr>
          <p:nvPr/>
        </p:nvPicPr>
        <p:blipFill>
          <a:blip r:embed="rId20"/>
          <a:stretch/>
        </p:blipFill>
        <p:spPr>
          <a:xfrm>
            <a:off x="7791450" y="4124325"/>
            <a:ext cx="342900" cy="276225"/>
          </a:xfrm>
          <a:prstGeom prst="rect">
            <a:avLst/>
          </a:prstGeom>
        </p:spPr>
      </p:pic>
      <p:sp>
        <p:nvSpPr>
          <p:cNvPr id="84" name="Rectangle 83">
            <a:extLst>
              <a:ext uri="{FF2B5EF4-FFF2-40B4-BE49-F238E27FC236}">
                <a16:creationId xmlns:a16="http://schemas.microsoft.com/office/drawing/2014/main" id="{98A396A1-7F76-41A1-AFA8-7B70FA8871B9}"/>
              </a:ext>
            </a:extLst>
          </p:cNvPr>
          <p:cNvSpPr>
            <a:spLocks noGrp="1"/>
          </p:cNvSpPr>
          <p:nvPr/>
        </p:nvSpPr>
        <p:spPr>
          <a:xfrm>
            <a:off x="7696200" y="4543425"/>
            <a:ext cx="552450" cy="295275"/>
          </a:xfrm>
          <a:prstGeom prst="rect">
            <a:avLst/>
          </a:prstGeom>
          <a:noFill/>
          <a:ln w="0">
            <a:noFill/>
            <a:prstDash val="solid"/>
          </a:ln>
        </p:spPr>
        <p:txBody>
          <a:bodyPr wrap="square" lIns="0" tIns="0" rIns="0" bIns="0" anchor="t"/>
          <a:lstStyle/>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Bare Metal</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Compute</a:t>
            </a:r>
          </a:p>
        </p:txBody>
      </p:sp>
      <p:pic>
        <p:nvPicPr>
          <p:cNvPr id="198" name="Picture 197"/>
          <p:cNvPicPr>
            <a:picLocks noChangeAspect="1"/>
          </p:cNvPicPr>
          <p:nvPr/>
        </p:nvPicPr>
        <p:blipFill>
          <a:blip r:embed="rId20"/>
          <a:stretch/>
        </p:blipFill>
        <p:spPr>
          <a:xfrm>
            <a:off x="8782050" y="4124325"/>
            <a:ext cx="342900" cy="276225"/>
          </a:xfrm>
          <a:prstGeom prst="rect">
            <a:avLst/>
          </a:prstGeom>
        </p:spPr>
      </p:pic>
      <p:sp>
        <p:nvSpPr>
          <p:cNvPr id="86" name="Rectangle 85">
            <a:extLst>
              <a:ext uri="{FF2B5EF4-FFF2-40B4-BE49-F238E27FC236}">
                <a16:creationId xmlns:a16="http://schemas.microsoft.com/office/drawing/2014/main" id="{6C8D6220-BE6B-4F00-92AD-B7B4B47F9E5D}"/>
              </a:ext>
            </a:extLst>
          </p:cNvPr>
          <p:cNvSpPr>
            <a:spLocks noGrp="1"/>
          </p:cNvSpPr>
          <p:nvPr/>
        </p:nvSpPr>
        <p:spPr>
          <a:xfrm>
            <a:off x="8686800" y="4543425"/>
            <a:ext cx="552450" cy="295275"/>
          </a:xfrm>
          <a:prstGeom prst="rect">
            <a:avLst/>
          </a:prstGeom>
          <a:noFill/>
          <a:ln w="0">
            <a:noFill/>
            <a:prstDash val="solid"/>
          </a:ln>
        </p:spPr>
        <p:txBody>
          <a:bodyPr wrap="square" lIns="0" tIns="0" rIns="0" bIns="0" anchor="t"/>
          <a:lstStyle/>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Bare Metal</a:t>
            </a:r>
          </a:p>
          <a:p>
            <a:pPr algn="ctr">
              <a:lnSpc>
                <a:spcPct val="100000"/>
              </a:lnSpc>
              <a:buNone/>
              <a:defRPr sz="638" b="0" i="0">
                <a:solidFill>
                  <a:srgbClr val="111111"/>
                </a:solidFill>
                <a:latin typeface="Arial"/>
                <a:ea typeface="Arial"/>
                <a:cs typeface="Arial"/>
              </a:defRPr>
            </a:pPr>
            <a:r>
              <a:rPr sz="638" b="0" i="0">
                <a:solidFill>
                  <a:srgbClr val="111111"/>
                </a:solidFill>
                <a:latin typeface="Arial"/>
                <a:ea typeface="Arial"/>
                <a:cs typeface="Arial"/>
              </a:rPr>
              <a:t>Compute</a:t>
            </a:r>
          </a:p>
        </p:txBody>
      </p:sp>
      <p:sp>
        <p:nvSpPr>
          <p:cNvPr id="87" name="Rounded Rectangle 86">
            <a:extLst>
              <a:ext uri="{FF2B5EF4-FFF2-40B4-BE49-F238E27FC236}">
                <a16:creationId xmlns:a16="http://schemas.microsoft.com/office/drawing/2014/main" id="{85064B4D-70EA-4445-BB7D-496EC130AE8F}"/>
              </a:ext>
            </a:extLst>
          </p:cNvPr>
          <p:cNvSpPr>
            <a:spLocks noGrp="1"/>
          </p:cNvSpPr>
          <p:nvPr/>
        </p:nvSpPr>
        <p:spPr>
          <a:xfrm>
            <a:off x="6448425" y="5000625"/>
            <a:ext cx="2971800" cy="552450"/>
          </a:xfrm>
          <a:prstGeom prst="roundRect">
            <a:avLst>
              <a:gd name="adj" fmla="val 10345"/>
            </a:avLst>
          </a:prstGeom>
          <a:solidFill>
            <a:srgbClr val="F2F2F2"/>
          </a:solidFill>
          <a:ln w="0">
            <a:noFill/>
            <a:prstDash val="solid"/>
          </a:ln>
        </p:spPr>
        <p:txBody>
          <a:bodyPr/>
          <a:lstStyle/>
          <a:p>
            <a:endParaRPr lang="en-FR"/>
          </a:p>
        </p:txBody>
      </p:sp>
      <p:pic>
        <p:nvPicPr>
          <p:cNvPr id="201" name="Picture 200"/>
          <p:cNvPicPr>
            <a:picLocks noChangeAspect="1"/>
          </p:cNvPicPr>
          <p:nvPr/>
        </p:nvPicPr>
        <p:blipFill>
          <a:blip r:embed="rId21"/>
          <a:stretch/>
        </p:blipFill>
        <p:spPr>
          <a:xfrm>
            <a:off x="6600825" y="5119407"/>
            <a:ext cx="304800" cy="295835"/>
          </a:xfrm>
          <a:prstGeom prst="rect">
            <a:avLst/>
          </a:prstGeom>
        </p:spPr>
      </p:pic>
      <p:sp>
        <p:nvSpPr>
          <p:cNvPr id="89" name="Rectangle 88">
            <a:extLst>
              <a:ext uri="{FF2B5EF4-FFF2-40B4-BE49-F238E27FC236}">
                <a16:creationId xmlns:a16="http://schemas.microsoft.com/office/drawing/2014/main" id="{239622D7-450A-43E7-A736-51F812A2790A}"/>
              </a:ext>
            </a:extLst>
          </p:cNvPr>
          <p:cNvSpPr>
            <a:spLocks noGrp="1"/>
          </p:cNvSpPr>
          <p:nvPr/>
        </p:nvSpPr>
        <p:spPr>
          <a:xfrm>
            <a:off x="7067550" y="5153025"/>
            <a:ext cx="2095500" cy="304800"/>
          </a:xfrm>
          <a:prstGeom prst="rect">
            <a:avLst/>
          </a:prstGeom>
          <a:noFill/>
          <a:ln w="0">
            <a:noFill/>
            <a:prstDash val="solid"/>
          </a:ln>
        </p:spPr>
        <p:txBody>
          <a:bodyPr wrap="square" lIns="0" tIns="0" rIns="0" bIns="0" anchor="t"/>
          <a:lstStyle/>
          <a:p>
            <a:pPr algn="l">
              <a:lnSpc>
                <a:spcPct val="108000"/>
              </a:lnSpc>
              <a:buNone/>
              <a:defRPr sz="750" b="0" i="0">
                <a:solidFill>
                  <a:srgbClr val="111111"/>
                </a:solidFill>
                <a:latin typeface="Arial"/>
                <a:ea typeface="Arial"/>
                <a:cs typeface="Arial"/>
              </a:defRPr>
            </a:pPr>
            <a:r>
              <a:rPr sz="750" b="0" i="0">
                <a:solidFill>
                  <a:srgbClr val="111111"/>
                </a:solidFill>
                <a:latin typeface="Arial"/>
                <a:ea typeface="Arial"/>
                <a:cs typeface="Arial"/>
              </a:rPr>
              <a:t>Customer-managed VMware environment</a:t>
            </a:r>
          </a:p>
          <a:p>
            <a:pPr algn="l">
              <a:lnSpc>
                <a:spcPct val="108000"/>
              </a:lnSpc>
              <a:buNone/>
              <a:defRPr sz="750" b="0" i="0">
                <a:solidFill>
                  <a:srgbClr val="111111"/>
                </a:solidFill>
                <a:latin typeface="Arial"/>
                <a:ea typeface="Arial"/>
                <a:cs typeface="Arial"/>
              </a:defRPr>
            </a:pPr>
            <a:r>
              <a:rPr sz="750" b="0" i="0">
                <a:solidFill>
                  <a:srgbClr val="111111"/>
                </a:solidFill>
                <a:latin typeface="Arial"/>
                <a:ea typeface="Arial"/>
                <a:cs typeface="Arial"/>
              </a:rPr>
              <a:t>on OCI infrastructure</a:t>
            </a:r>
          </a:p>
        </p:txBody>
      </p:sp>
      <p:sp>
        <p:nvSpPr>
          <p:cNvPr id="90" name="Rectangle 89">
            <a:extLst>
              <a:ext uri="{FF2B5EF4-FFF2-40B4-BE49-F238E27FC236}">
                <a16:creationId xmlns:a16="http://schemas.microsoft.com/office/drawing/2014/main" id="{8DBE4D25-A75E-4E29-94BA-C2969469B042}"/>
              </a:ext>
            </a:extLst>
          </p:cNvPr>
          <p:cNvSpPr>
            <a:spLocks noGrp="1"/>
          </p:cNvSpPr>
          <p:nvPr/>
        </p:nvSpPr>
        <p:spPr>
          <a:xfrm>
            <a:off x="10115550" y="1809750"/>
            <a:ext cx="1428750" cy="190500"/>
          </a:xfrm>
          <a:prstGeom prst="rect">
            <a:avLst/>
          </a:prstGeom>
          <a:noFill/>
          <a:ln w="0">
            <a:noFill/>
            <a:prstDash val="solid"/>
          </a:ln>
        </p:spPr>
        <p:txBody>
          <a:bodyPr wrap="none" lIns="0" tIns="0" rIns="0" bIns="0" anchor="t"/>
          <a:lstStyle/>
          <a:p>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BUSINESS OUTCOMES</a:t>
            </a:r>
          </a:p>
        </p:txBody>
      </p:sp>
      <p:sp>
        <p:nvSpPr>
          <p:cNvPr id="91" name="Straight Connector 90">
            <a:extLst>
              <a:ext uri="{FF2B5EF4-FFF2-40B4-BE49-F238E27FC236}">
                <a16:creationId xmlns:a16="http://schemas.microsoft.com/office/drawing/2014/main" id="{152CC60B-A654-417A-B940-4187C148ECC0}"/>
              </a:ext>
            </a:extLst>
          </p:cNvPr>
          <p:cNvSpPr>
            <a:spLocks noGrp="1"/>
          </p:cNvSpPr>
          <p:nvPr/>
        </p:nvSpPr>
        <p:spPr>
          <a:xfrm>
            <a:off x="10001250" y="2038350"/>
            <a:ext cx="1981200" cy="0"/>
          </a:xfrm>
          <a:prstGeom prst="line">
            <a:avLst/>
          </a:prstGeom>
          <a:noFill/>
          <a:ln w="9525">
            <a:solidFill>
              <a:srgbClr val="5B7F70"/>
            </a:solidFill>
            <a:prstDash val="solid"/>
          </a:ln>
        </p:spPr>
        <p:txBody>
          <a:bodyPr/>
          <a:lstStyle/>
          <a:p>
            <a:endParaRPr lang="en-FR"/>
          </a:p>
        </p:txBody>
      </p:sp>
      <p:pic>
        <p:nvPicPr>
          <p:cNvPr id="205" name="Picture 204"/>
          <p:cNvPicPr>
            <a:picLocks noChangeAspect="1"/>
          </p:cNvPicPr>
          <p:nvPr/>
        </p:nvPicPr>
        <p:blipFill>
          <a:blip r:embed="rId22"/>
          <a:stretch/>
        </p:blipFill>
        <p:spPr>
          <a:xfrm>
            <a:off x="10067925" y="2209800"/>
            <a:ext cx="409575" cy="409575"/>
          </a:xfrm>
          <a:prstGeom prst="rect">
            <a:avLst/>
          </a:prstGeom>
        </p:spPr>
      </p:pic>
      <p:sp>
        <p:nvSpPr>
          <p:cNvPr id="93" name="Rectangle 92">
            <a:extLst>
              <a:ext uri="{FF2B5EF4-FFF2-40B4-BE49-F238E27FC236}">
                <a16:creationId xmlns:a16="http://schemas.microsoft.com/office/drawing/2014/main" id="{DBB3291D-DF6C-4589-9632-71CD6DAC3FD4}"/>
              </a:ext>
            </a:extLst>
          </p:cNvPr>
          <p:cNvSpPr>
            <a:spLocks noGrp="1"/>
          </p:cNvSpPr>
          <p:nvPr/>
        </p:nvSpPr>
        <p:spPr>
          <a:xfrm>
            <a:off x="10572750" y="2219325"/>
            <a:ext cx="1381125"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Data Center Exit</a:t>
            </a:r>
          </a:p>
        </p:txBody>
      </p:sp>
      <p:sp>
        <p:nvSpPr>
          <p:cNvPr id="94" name="Rectangle 93">
            <a:extLst>
              <a:ext uri="{FF2B5EF4-FFF2-40B4-BE49-F238E27FC236}">
                <a16:creationId xmlns:a16="http://schemas.microsoft.com/office/drawing/2014/main" id="{17BBA97F-6308-414A-A3BD-F1EFAE82169B}"/>
              </a:ext>
            </a:extLst>
          </p:cNvPr>
          <p:cNvSpPr>
            <a:spLocks noGrp="1"/>
          </p:cNvSpPr>
          <p:nvPr/>
        </p:nvSpPr>
        <p:spPr>
          <a:xfrm>
            <a:off x="10572750" y="2381250"/>
            <a:ext cx="1409700" cy="314325"/>
          </a:xfrm>
          <a:prstGeom prst="rect">
            <a:avLst/>
          </a:prstGeom>
          <a:noFill/>
          <a:ln w="0">
            <a:noFill/>
            <a:prstDash val="solid"/>
          </a:ln>
        </p:spPr>
        <p:txBody>
          <a:bodyPr wrap="square" lIns="0" tIns="0" rIns="0" bIns="0" anchor="t"/>
          <a:lstStyle/>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Retire on-premises data center</a:t>
            </a:r>
          </a:p>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infrastructure.</a:t>
            </a:r>
          </a:p>
        </p:txBody>
      </p:sp>
      <p:sp>
        <p:nvSpPr>
          <p:cNvPr id="95" name="Straight Connector 94">
            <a:extLst>
              <a:ext uri="{FF2B5EF4-FFF2-40B4-BE49-F238E27FC236}">
                <a16:creationId xmlns:a16="http://schemas.microsoft.com/office/drawing/2014/main" id="{ABF27BBB-4FC4-4204-B910-564CFD2B0788}"/>
              </a:ext>
            </a:extLst>
          </p:cNvPr>
          <p:cNvSpPr>
            <a:spLocks noGrp="1"/>
          </p:cNvSpPr>
          <p:nvPr/>
        </p:nvSpPr>
        <p:spPr>
          <a:xfrm>
            <a:off x="10096500" y="2771775"/>
            <a:ext cx="1828800" cy="0"/>
          </a:xfrm>
          <a:prstGeom prst="line">
            <a:avLst/>
          </a:prstGeom>
          <a:noFill/>
          <a:ln w="9525">
            <a:solidFill>
              <a:srgbClr val="D8DDD9"/>
            </a:solidFill>
            <a:prstDash val="solid"/>
          </a:ln>
        </p:spPr>
        <p:txBody>
          <a:bodyPr/>
          <a:lstStyle/>
          <a:p>
            <a:endParaRPr lang="en-FR"/>
          </a:p>
        </p:txBody>
      </p:sp>
      <p:sp>
        <p:nvSpPr>
          <p:cNvPr id="97" name="Rectangle 96">
            <a:extLst>
              <a:ext uri="{FF2B5EF4-FFF2-40B4-BE49-F238E27FC236}">
                <a16:creationId xmlns:a16="http://schemas.microsoft.com/office/drawing/2014/main" id="{8F2C7EB8-3C5E-4D6F-83D6-D879E47CE2DF}"/>
              </a:ext>
            </a:extLst>
          </p:cNvPr>
          <p:cNvSpPr>
            <a:spLocks noGrp="1"/>
          </p:cNvSpPr>
          <p:nvPr/>
        </p:nvSpPr>
        <p:spPr>
          <a:xfrm>
            <a:off x="10572750" y="2971800"/>
            <a:ext cx="1381125"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Avoid Hardware Refresh</a:t>
            </a:r>
          </a:p>
        </p:txBody>
      </p:sp>
      <p:sp>
        <p:nvSpPr>
          <p:cNvPr id="98" name="Rectangle 97">
            <a:extLst>
              <a:ext uri="{FF2B5EF4-FFF2-40B4-BE49-F238E27FC236}">
                <a16:creationId xmlns:a16="http://schemas.microsoft.com/office/drawing/2014/main" id="{6E356DE7-70E3-453D-BDBB-1732D8E8A3CB}"/>
              </a:ext>
            </a:extLst>
          </p:cNvPr>
          <p:cNvSpPr>
            <a:spLocks noGrp="1"/>
          </p:cNvSpPr>
          <p:nvPr/>
        </p:nvSpPr>
        <p:spPr>
          <a:xfrm>
            <a:off x="10572750" y="3133725"/>
            <a:ext cx="1409700" cy="314325"/>
          </a:xfrm>
          <a:prstGeom prst="rect">
            <a:avLst/>
          </a:prstGeom>
          <a:noFill/>
          <a:ln w="0">
            <a:noFill/>
            <a:prstDash val="solid"/>
          </a:ln>
        </p:spPr>
        <p:txBody>
          <a:bodyPr wrap="square" lIns="0" tIns="0" rIns="0" bIns="0" anchor="t"/>
          <a:lstStyle/>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Eliminate CAPEX for hardware</a:t>
            </a:r>
          </a:p>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refresh cycles.</a:t>
            </a:r>
          </a:p>
        </p:txBody>
      </p:sp>
      <p:sp>
        <p:nvSpPr>
          <p:cNvPr id="99" name="Straight Connector 98">
            <a:extLst>
              <a:ext uri="{FF2B5EF4-FFF2-40B4-BE49-F238E27FC236}">
                <a16:creationId xmlns:a16="http://schemas.microsoft.com/office/drawing/2014/main" id="{A0B1F0DE-6364-4393-A65A-846FF003A79F}"/>
              </a:ext>
            </a:extLst>
          </p:cNvPr>
          <p:cNvSpPr>
            <a:spLocks noGrp="1"/>
          </p:cNvSpPr>
          <p:nvPr/>
        </p:nvSpPr>
        <p:spPr>
          <a:xfrm>
            <a:off x="10096500" y="3524250"/>
            <a:ext cx="1828800" cy="0"/>
          </a:xfrm>
          <a:prstGeom prst="line">
            <a:avLst/>
          </a:prstGeom>
          <a:noFill/>
          <a:ln w="9525">
            <a:solidFill>
              <a:srgbClr val="D8DDD9"/>
            </a:solidFill>
            <a:prstDash val="solid"/>
          </a:ln>
        </p:spPr>
        <p:txBody>
          <a:bodyPr/>
          <a:lstStyle/>
          <a:p>
            <a:endParaRPr lang="en-FR"/>
          </a:p>
        </p:txBody>
      </p:sp>
      <p:sp>
        <p:nvSpPr>
          <p:cNvPr id="101" name="Rectangle 100">
            <a:extLst>
              <a:ext uri="{FF2B5EF4-FFF2-40B4-BE49-F238E27FC236}">
                <a16:creationId xmlns:a16="http://schemas.microsoft.com/office/drawing/2014/main" id="{83A0D7F6-F887-46A0-AD2F-43D28335EF73}"/>
              </a:ext>
            </a:extLst>
          </p:cNvPr>
          <p:cNvSpPr>
            <a:spLocks noGrp="1"/>
          </p:cNvSpPr>
          <p:nvPr/>
        </p:nvSpPr>
        <p:spPr>
          <a:xfrm>
            <a:off x="10572750" y="3705225"/>
            <a:ext cx="1381125"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Preserve VMware Operations</a:t>
            </a:r>
          </a:p>
        </p:txBody>
      </p:sp>
      <p:sp>
        <p:nvSpPr>
          <p:cNvPr id="102" name="Rectangle 101">
            <a:extLst>
              <a:ext uri="{FF2B5EF4-FFF2-40B4-BE49-F238E27FC236}">
                <a16:creationId xmlns:a16="http://schemas.microsoft.com/office/drawing/2014/main" id="{7FF8650F-120C-46C8-9796-DFF94CC6CEB6}"/>
              </a:ext>
            </a:extLst>
          </p:cNvPr>
          <p:cNvSpPr>
            <a:spLocks noGrp="1"/>
          </p:cNvSpPr>
          <p:nvPr/>
        </p:nvSpPr>
        <p:spPr>
          <a:xfrm>
            <a:off x="10572750" y="3867150"/>
            <a:ext cx="1409700" cy="314325"/>
          </a:xfrm>
          <a:prstGeom prst="rect">
            <a:avLst/>
          </a:prstGeom>
          <a:noFill/>
          <a:ln w="0">
            <a:noFill/>
            <a:prstDash val="solid"/>
          </a:ln>
        </p:spPr>
        <p:txBody>
          <a:bodyPr wrap="square" lIns="0" tIns="0" rIns="0" bIns="0" anchor="t"/>
          <a:lstStyle/>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Continue using the same tools,</a:t>
            </a:r>
          </a:p>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processes, and skillsets.</a:t>
            </a:r>
          </a:p>
        </p:txBody>
      </p:sp>
      <p:sp>
        <p:nvSpPr>
          <p:cNvPr id="103" name="Straight Connector 102">
            <a:extLst>
              <a:ext uri="{FF2B5EF4-FFF2-40B4-BE49-F238E27FC236}">
                <a16:creationId xmlns:a16="http://schemas.microsoft.com/office/drawing/2014/main" id="{F860E018-8289-484F-A615-C663BF98F4E0}"/>
              </a:ext>
            </a:extLst>
          </p:cNvPr>
          <p:cNvSpPr>
            <a:spLocks noGrp="1"/>
          </p:cNvSpPr>
          <p:nvPr/>
        </p:nvSpPr>
        <p:spPr>
          <a:xfrm>
            <a:off x="10096500" y="4257675"/>
            <a:ext cx="1828800" cy="0"/>
          </a:xfrm>
          <a:prstGeom prst="line">
            <a:avLst/>
          </a:prstGeom>
          <a:noFill/>
          <a:ln w="9525">
            <a:solidFill>
              <a:srgbClr val="D8DDD9"/>
            </a:solidFill>
            <a:prstDash val="solid"/>
          </a:ln>
        </p:spPr>
        <p:txBody>
          <a:bodyPr/>
          <a:lstStyle/>
          <a:p>
            <a:endParaRPr lang="en-FR"/>
          </a:p>
        </p:txBody>
      </p:sp>
      <p:sp>
        <p:nvSpPr>
          <p:cNvPr id="105" name="Rectangle 104">
            <a:extLst>
              <a:ext uri="{FF2B5EF4-FFF2-40B4-BE49-F238E27FC236}">
                <a16:creationId xmlns:a16="http://schemas.microsoft.com/office/drawing/2014/main" id="{21187F40-208C-46A7-B79A-F6D0B009BD54}"/>
              </a:ext>
            </a:extLst>
          </p:cNvPr>
          <p:cNvSpPr>
            <a:spLocks noGrp="1"/>
          </p:cNvSpPr>
          <p:nvPr/>
        </p:nvSpPr>
        <p:spPr>
          <a:xfrm>
            <a:off x="10572750" y="4438650"/>
            <a:ext cx="1381125"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Reduce Infrastructure Complexity</a:t>
            </a:r>
          </a:p>
        </p:txBody>
      </p:sp>
      <p:sp>
        <p:nvSpPr>
          <p:cNvPr id="106" name="Rectangle 105">
            <a:extLst>
              <a:ext uri="{FF2B5EF4-FFF2-40B4-BE49-F238E27FC236}">
                <a16:creationId xmlns:a16="http://schemas.microsoft.com/office/drawing/2014/main" id="{A32230F1-EC94-4EC2-A8F0-6274DC42CD80}"/>
              </a:ext>
            </a:extLst>
          </p:cNvPr>
          <p:cNvSpPr>
            <a:spLocks noGrp="1"/>
          </p:cNvSpPr>
          <p:nvPr/>
        </p:nvSpPr>
        <p:spPr>
          <a:xfrm>
            <a:off x="10572750" y="4600575"/>
            <a:ext cx="1409700" cy="314325"/>
          </a:xfrm>
          <a:prstGeom prst="rect">
            <a:avLst/>
          </a:prstGeom>
          <a:noFill/>
          <a:ln w="0">
            <a:noFill/>
            <a:prstDash val="solid"/>
          </a:ln>
        </p:spPr>
        <p:txBody>
          <a:bodyPr wrap="square" lIns="0" tIns="0" rIns="0" bIns="0" anchor="t"/>
          <a:lstStyle/>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Simplify operations and reduce</a:t>
            </a:r>
          </a:p>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management overhead.</a:t>
            </a:r>
          </a:p>
        </p:txBody>
      </p:sp>
      <p:sp>
        <p:nvSpPr>
          <p:cNvPr id="107" name="Straight Connector 106">
            <a:extLst>
              <a:ext uri="{FF2B5EF4-FFF2-40B4-BE49-F238E27FC236}">
                <a16:creationId xmlns:a16="http://schemas.microsoft.com/office/drawing/2014/main" id="{F3AF8AAD-B7D2-40DA-A537-6537F5641E88}"/>
              </a:ext>
            </a:extLst>
          </p:cNvPr>
          <p:cNvSpPr>
            <a:spLocks noGrp="1"/>
          </p:cNvSpPr>
          <p:nvPr/>
        </p:nvSpPr>
        <p:spPr>
          <a:xfrm>
            <a:off x="10096500" y="4991100"/>
            <a:ext cx="1828800" cy="0"/>
          </a:xfrm>
          <a:prstGeom prst="line">
            <a:avLst/>
          </a:prstGeom>
          <a:noFill/>
          <a:ln w="9525">
            <a:solidFill>
              <a:srgbClr val="D8DDD9"/>
            </a:solidFill>
            <a:prstDash val="solid"/>
          </a:ln>
        </p:spPr>
        <p:txBody>
          <a:bodyPr/>
          <a:lstStyle/>
          <a:p>
            <a:endParaRPr lang="en-FR"/>
          </a:p>
        </p:txBody>
      </p:sp>
      <p:sp>
        <p:nvSpPr>
          <p:cNvPr id="109" name="Rectangle 108">
            <a:extLst>
              <a:ext uri="{FF2B5EF4-FFF2-40B4-BE49-F238E27FC236}">
                <a16:creationId xmlns:a16="http://schemas.microsoft.com/office/drawing/2014/main" id="{0BC0A0C5-1CD9-49EC-8B69-80C9C6207FB2}"/>
              </a:ext>
            </a:extLst>
          </p:cNvPr>
          <p:cNvSpPr>
            <a:spLocks noGrp="1"/>
          </p:cNvSpPr>
          <p:nvPr/>
        </p:nvSpPr>
        <p:spPr>
          <a:xfrm>
            <a:off x="10572750" y="5172075"/>
            <a:ext cx="1381125"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Accelerate Cloud Adoption</a:t>
            </a:r>
          </a:p>
        </p:txBody>
      </p:sp>
      <p:sp>
        <p:nvSpPr>
          <p:cNvPr id="110" name="Rectangle 109">
            <a:extLst>
              <a:ext uri="{FF2B5EF4-FFF2-40B4-BE49-F238E27FC236}">
                <a16:creationId xmlns:a16="http://schemas.microsoft.com/office/drawing/2014/main" id="{5154D960-EF8D-4A15-A66E-6C93ACD5660F}"/>
              </a:ext>
            </a:extLst>
          </p:cNvPr>
          <p:cNvSpPr>
            <a:spLocks noGrp="1"/>
          </p:cNvSpPr>
          <p:nvPr/>
        </p:nvSpPr>
        <p:spPr>
          <a:xfrm>
            <a:off x="10572750" y="5334000"/>
            <a:ext cx="1409700" cy="314325"/>
          </a:xfrm>
          <a:prstGeom prst="rect">
            <a:avLst/>
          </a:prstGeom>
          <a:noFill/>
          <a:ln w="0">
            <a:noFill/>
            <a:prstDash val="solid"/>
          </a:ln>
        </p:spPr>
        <p:txBody>
          <a:bodyPr wrap="square" lIns="0" tIns="0" rIns="0" bIns="0" anchor="t"/>
          <a:lstStyle/>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Move to the cloud at your own pace</a:t>
            </a:r>
          </a:p>
          <a:p>
            <a:pPr algn="l">
              <a:lnSpc>
                <a:spcPct val="100000"/>
              </a:lnSpc>
              <a:buNone/>
              <a:defRPr sz="600" b="0" i="0">
                <a:solidFill>
                  <a:srgbClr val="111111"/>
                </a:solidFill>
                <a:latin typeface="Arial"/>
                <a:ea typeface="Arial"/>
                <a:cs typeface="Arial"/>
              </a:defRPr>
            </a:pPr>
            <a:r>
              <a:rPr sz="600" b="0" i="0">
                <a:solidFill>
                  <a:srgbClr val="111111"/>
                </a:solidFill>
                <a:latin typeface="Arial"/>
                <a:ea typeface="Arial"/>
                <a:cs typeface="Arial"/>
              </a:rPr>
              <a:t>with lower risk.</a:t>
            </a:r>
          </a:p>
        </p:txBody>
      </p:sp>
      <p:sp>
        <p:nvSpPr>
          <p:cNvPr id="111" name="Rounded Rectangle 110">
            <a:extLst>
              <a:ext uri="{FF2B5EF4-FFF2-40B4-BE49-F238E27FC236}">
                <a16:creationId xmlns:a16="http://schemas.microsoft.com/office/drawing/2014/main" id="{ACEA0D02-1655-4D6C-907E-7CA8F2DA2A64}"/>
              </a:ext>
            </a:extLst>
          </p:cNvPr>
          <p:cNvSpPr>
            <a:spLocks noGrp="1"/>
          </p:cNvSpPr>
          <p:nvPr/>
        </p:nvSpPr>
        <p:spPr>
          <a:xfrm>
            <a:off x="333375" y="5924550"/>
            <a:ext cx="9248775" cy="685800"/>
          </a:xfrm>
          <a:prstGeom prst="roundRect">
            <a:avLst>
              <a:gd name="adj" fmla="val 9722"/>
            </a:avLst>
          </a:prstGeom>
          <a:gradFill>
            <a:gsLst>
              <a:gs pos="0">
                <a:srgbClr val="003B25"/>
              </a:gs>
              <a:gs pos="100000">
                <a:srgbClr val="06482D"/>
              </a:gs>
            </a:gsLst>
            <a:lin ang="5400000"/>
          </a:gradFill>
          <a:ln w="0">
            <a:noFill/>
            <a:prstDash val="solid"/>
          </a:ln>
        </p:spPr>
        <p:txBody>
          <a:bodyPr/>
          <a:lstStyle/>
          <a:p>
            <a:endParaRPr lang="en-FR"/>
          </a:p>
        </p:txBody>
      </p:sp>
      <p:pic>
        <p:nvPicPr>
          <p:cNvPr id="225" name="Picture 224"/>
          <p:cNvPicPr>
            <a:picLocks noChangeAspect="1"/>
          </p:cNvPicPr>
          <p:nvPr/>
        </p:nvPicPr>
        <p:blipFill>
          <a:blip r:embed="rId23"/>
          <a:stretch/>
        </p:blipFill>
        <p:spPr>
          <a:xfrm>
            <a:off x="476250" y="5995829"/>
            <a:ext cx="552450" cy="543243"/>
          </a:xfrm>
          <a:prstGeom prst="rect">
            <a:avLst/>
          </a:prstGeom>
        </p:spPr>
      </p:pic>
      <p:sp>
        <p:nvSpPr>
          <p:cNvPr id="113" name="Rectangle 112">
            <a:extLst>
              <a:ext uri="{FF2B5EF4-FFF2-40B4-BE49-F238E27FC236}">
                <a16:creationId xmlns:a16="http://schemas.microsoft.com/office/drawing/2014/main" id="{5C7BD333-122E-435D-9BA0-51C4A00457CD}"/>
              </a:ext>
            </a:extLst>
          </p:cNvPr>
          <p:cNvSpPr>
            <a:spLocks noGrp="1"/>
          </p:cNvSpPr>
          <p:nvPr/>
        </p:nvSpPr>
        <p:spPr>
          <a:xfrm>
            <a:off x="1323975" y="6038850"/>
            <a:ext cx="7524750" cy="409575"/>
          </a:xfrm>
          <a:prstGeom prst="rect">
            <a:avLst/>
          </a:prstGeom>
          <a:noFill/>
          <a:ln w="0">
            <a:noFill/>
            <a:prstDash val="solid"/>
          </a:ln>
        </p:spPr>
        <p:txBody>
          <a:bodyPr wrap="square" lIns="0" tIns="0" rIns="0" bIns="0" anchor="t"/>
          <a:lstStyle/>
          <a:p>
            <a:pPr algn="l">
              <a:lnSpc>
                <a:spcPct val="108000"/>
              </a:lnSpc>
              <a:buNone/>
              <a:defRPr sz="1500" b="1" i="0">
                <a:solidFill>
                  <a:srgbClr val="FFFFFF"/>
                </a:solidFill>
                <a:latin typeface="Arial"/>
                <a:ea typeface="Arial"/>
                <a:cs typeface="Arial"/>
              </a:defRPr>
            </a:pPr>
            <a:r>
              <a:rPr sz="1500" b="1" i="0" dirty="0">
                <a:solidFill>
                  <a:srgbClr val="FFFFFF"/>
                </a:solidFill>
                <a:latin typeface="Arial"/>
                <a:ea typeface="Arial"/>
                <a:cs typeface="Arial"/>
              </a:rPr>
              <a:t>Migrate VMware workloads at your own pace while preserving existing tools,</a:t>
            </a:r>
          </a:p>
          <a:p>
            <a:pPr algn="l">
              <a:lnSpc>
                <a:spcPct val="108000"/>
              </a:lnSpc>
              <a:buNone/>
              <a:defRPr sz="1500" b="1" i="0">
                <a:solidFill>
                  <a:srgbClr val="FFFFFF"/>
                </a:solidFill>
                <a:latin typeface="Arial"/>
                <a:ea typeface="Arial"/>
                <a:cs typeface="Arial"/>
              </a:defRPr>
            </a:pPr>
            <a:r>
              <a:rPr sz="1500" b="1" i="0" dirty="0">
                <a:solidFill>
                  <a:srgbClr val="FFFFFF"/>
                </a:solidFill>
                <a:latin typeface="Arial"/>
                <a:ea typeface="Arial"/>
                <a:cs typeface="Arial"/>
              </a:rPr>
              <a:t>processes, and operational models.</a:t>
            </a:r>
          </a:p>
        </p:txBody>
      </p:sp>
      <p:pic>
        <p:nvPicPr>
          <p:cNvPr id="12" name="Picture 11">
            <a:extLst>
              <a:ext uri="{FF2B5EF4-FFF2-40B4-BE49-F238E27FC236}">
                <a16:creationId xmlns:a16="http://schemas.microsoft.com/office/drawing/2014/main" id="{E5F291BB-935E-A362-8D5F-8E15F8868AD6}"/>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0020300" y="2918460"/>
            <a:ext cx="534489" cy="534489"/>
          </a:xfrm>
          <a:prstGeom prst="rect">
            <a:avLst/>
          </a:prstGeom>
        </p:spPr>
      </p:pic>
      <p:pic>
        <p:nvPicPr>
          <p:cNvPr id="16" name="Picture 15">
            <a:extLst>
              <a:ext uri="{FF2B5EF4-FFF2-40B4-BE49-F238E27FC236}">
                <a16:creationId xmlns:a16="http://schemas.microsoft.com/office/drawing/2014/main" id="{22E18C48-CA42-CFC7-2E64-C44E87489B0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9985128" y="3645801"/>
            <a:ext cx="560023" cy="535674"/>
          </a:xfrm>
          <a:prstGeom prst="rect">
            <a:avLst/>
          </a:prstGeom>
        </p:spPr>
      </p:pic>
      <p:pic>
        <p:nvPicPr>
          <p:cNvPr id="27" name="Picture 26">
            <a:extLst>
              <a:ext uri="{FF2B5EF4-FFF2-40B4-BE49-F238E27FC236}">
                <a16:creationId xmlns:a16="http://schemas.microsoft.com/office/drawing/2014/main" id="{61B2D482-7D22-E99E-DBCA-F810F606F3B4}"/>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9973627" y="4385038"/>
            <a:ext cx="567690" cy="544036"/>
          </a:xfrm>
          <a:prstGeom prst="rect">
            <a:avLst/>
          </a:prstGeom>
        </p:spPr>
      </p:pic>
      <p:pic>
        <p:nvPicPr>
          <p:cNvPr id="32" name="Picture 31">
            <a:extLst>
              <a:ext uri="{FF2B5EF4-FFF2-40B4-BE49-F238E27FC236}">
                <a16:creationId xmlns:a16="http://schemas.microsoft.com/office/drawing/2014/main" id="{C2904714-188B-758F-6C48-4AD47F29BB72}"/>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9982200" y="5110162"/>
            <a:ext cx="561975" cy="561975"/>
          </a:xfrm>
          <a:prstGeom prst="rect">
            <a:avLst/>
          </a:prstGeom>
        </p:spPr>
      </p:pic>
      <p:pic>
        <p:nvPicPr>
          <p:cNvPr id="36" name="Picture 35">
            <a:extLst>
              <a:ext uri="{FF2B5EF4-FFF2-40B4-BE49-F238E27FC236}">
                <a16:creationId xmlns:a16="http://schemas.microsoft.com/office/drawing/2014/main" id="{82EA31CA-6A13-88C4-C44D-B3382F172240}"/>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525898" y="4703030"/>
            <a:ext cx="376657" cy="423739"/>
          </a:xfrm>
          <a:prstGeom prst="rect">
            <a:avLst/>
          </a:prstGeom>
        </p:spPr>
      </p:pic>
    </p:spTree>
    <p:extLst>
      <p:ext uri="{BB962C8B-B14F-4D97-AF65-F5344CB8AC3E}">
        <p14:creationId xmlns:p14="http://schemas.microsoft.com/office/powerpoint/2010/main" val="1422157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Oval 50">
            <a:extLst>
              <a:ext uri="{FF2B5EF4-FFF2-40B4-BE49-F238E27FC236}">
                <a16:creationId xmlns:a16="http://schemas.microsoft.com/office/drawing/2014/main" id="{73A5942D-D23C-45E6-ACE1-2F77352B9317}"/>
              </a:ext>
            </a:extLst>
          </p:cNvPr>
          <p:cNvSpPr>
            <a:spLocks noGrp="1"/>
          </p:cNvSpPr>
          <p:nvPr/>
        </p:nvSpPr>
        <p:spPr>
          <a:xfrm>
            <a:off x="5133975" y="657225"/>
            <a:ext cx="38100" cy="38100"/>
          </a:xfrm>
          <a:prstGeom prst="ellipse">
            <a:avLst/>
          </a:prstGeom>
          <a:solidFill>
            <a:srgbClr val="E6E9E7"/>
          </a:solidFill>
          <a:ln w="0">
            <a:noFill/>
            <a:prstDash val="solid"/>
          </a:ln>
        </p:spPr>
        <p:txBody>
          <a:bodyPr/>
          <a:lstStyle/>
          <a:p>
            <a:endParaRPr lang="en-FR"/>
          </a:p>
        </p:txBody>
      </p:sp>
      <p:sp>
        <p:nvSpPr>
          <p:cNvPr id="2" name="Oval 1">
            <a:extLst>
              <a:ext uri="{FF2B5EF4-FFF2-40B4-BE49-F238E27FC236}">
                <a16:creationId xmlns:a16="http://schemas.microsoft.com/office/drawing/2014/main" id="{73088BEA-17DF-442D-9BC7-02155DD5C445}"/>
              </a:ext>
            </a:extLst>
          </p:cNvPr>
          <p:cNvSpPr>
            <a:spLocks noGrp="1"/>
          </p:cNvSpPr>
          <p:nvPr/>
        </p:nvSpPr>
        <p:spPr>
          <a:xfrm>
            <a:off x="6181725" y="685800"/>
            <a:ext cx="28575" cy="28575"/>
          </a:xfrm>
          <a:prstGeom prst="ellipse">
            <a:avLst/>
          </a:prstGeom>
          <a:solidFill>
            <a:srgbClr val="E6E9E7"/>
          </a:solidFill>
          <a:ln w="0">
            <a:noFill/>
            <a:prstDash val="solid"/>
          </a:ln>
        </p:spPr>
        <p:txBody>
          <a:bodyPr/>
          <a:lstStyle/>
          <a:p>
            <a:endParaRPr lang="en-FR"/>
          </a:p>
        </p:txBody>
      </p:sp>
      <p:sp>
        <p:nvSpPr>
          <p:cNvPr id="3" name="Oval 2">
            <a:extLst>
              <a:ext uri="{FF2B5EF4-FFF2-40B4-BE49-F238E27FC236}">
                <a16:creationId xmlns:a16="http://schemas.microsoft.com/office/drawing/2014/main" id="{FF40793F-68B7-4A09-857E-9B1E1E9D9BCF}"/>
              </a:ext>
            </a:extLst>
          </p:cNvPr>
          <p:cNvSpPr>
            <a:spLocks noGrp="1"/>
          </p:cNvSpPr>
          <p:nvPr/>
        </p:nvSpPr>
        <p:spPr>
          <a:xfrm>
            <a:off x="7239000" y="504825"/>
            <a:ext cx="57150" cy="57150"/>
          </a:xfrm>
          <a:prstGeom prst="ellipse">
            <a:avLst/>
          </a:prstGeom>
          <a:solidFill>
            <a:srgbClr val="E6E9E7"/>
          </a:solidFill>
          <a:ln w="0">
            <a:noFill/>
            <a:prstDash val="solid"/>
          </a:ln>
        </p:spPr>
        <p:txBody>
          <a:bodyPr/>
          <a:lstStyle/>
          <a:p>
            <a:endParaRPr lang="en-FR"/>
          </a:p>
        </p:txBody>
      </p:sp>
      <p:sp>
        <p:nvSpPr>
          <p:cNvPr id="4" name="Oval 3">
            <a:extLst>
              <a:ext uri="{FF2B5EF4-FFF2-40B4-BE49-F238E27FC236}">
                <a16:creationId xmlns:a16="http://schemas.microsoft.com/office/drawing/2014/main" id="{674B1F8E-B96D-4B16-B046-787E8702A629}"/>
              </a:ext>
            </a:extLst>
          </p:cNvPr>
          <p:cNvSpPr>
            <a:spLocks noGrp="1"/>
          </p:cNvSpPr>
          <p:nvPr/>
        </p:nvSpPr>
        <p:spPr>
          <a:xfrm>
            <a:off x="11010900" y="1123950"/>
            <a:ext cx="19050" cy="19050"/>
          </a:xfrm>
          <a:prstGeom prst="ellipse">
            <a:avLst/>
          </a:prstGeom>
          <a:solidFill>
            <a:srgbClr val="E6E9E7"/>
          </a:solidFill>
          <a:ln w="0">
            <a:noFill/>
            <a:prstDash val="solid"/>
          </a:ln>
        </p:spPr>
        <p:txBody>
          <a:bodyPr/>
          <a:lstStyle/>
          <a:p>
            <a:endParaRPr lang="en-FR"/>
          </a:p>
        </p:txBody>
      </p:sp>
      <p:sp>
        <p:nvSpPr>
          <p:cNvPr id="5" name="Oval 4">
            <a:extLst>
              <a:ext uri="{FF2B5EF4-FFF2-40B4-BE49-F238E27FC236}">
                <a16:creationId xmlns:a16="http://schemas.microsoft.com/office/drawing/2014/main" id="{ECE320BA-C63B-4BBF-94C5-92BE5192DC61}"/>
              </a:ext>
            </a:extLst>
          </p:cNvPr>
          <p:cNvSpPr>
            <a:spLocks noGrp="1"/>
          </p:cNvSpPr>
          <p:nvPr/>
        </p:nvSpPr>
        <p:spPr>
          <a:xfrm>
            <a:off x="9220200" y="1581150"/>
            <a:ext cx="38100" cy="38100"/>
          </a:xfrm>
          <a:prstGeom prst="ellipse">
            <a:avLst/>
          </a:prstGeom>
          <a:solidFill>
            <a:srgbClr val="E6E9E7"/>
          </a:solidFill>
          <a:ln w="0">
            <a:noFill/>
            <a:prstDash val="solid"/>
          </a:ln>
        </p:spPr>
        <p:txBody>
          <a:bodyPr/>
          <a:lstStyle/>
          <a:p>
            <a:endParaRPr lang="en-FR"/>
          </a:p>
        </p:txBody>
      </p:sp>
      <p:sp>
        <p:nvSpPr>
          <p:cNvPr id="6" name="Oval 5">
            <a:extLst>
              <a:ext uri="{FF2B5EF4-FFF2-40B4-BE49-F238E27FC236}">
                <a16:creationId xmlns:a16="http://schemas.microsoft.com/office/drawing/2014/main" id="{AF232F3B-1324-4364-BD60-137FAF1990F8}"/>
              </a:ext>
            </a:extLst>
          </p:cNvPr>
          <p:cNvSpPr>
            <a:spLocks noGrp="1"/>
          </p:cNvSpPr>
          <p:nvPr/>
        </p:nvSpPr>
        <p:spPr>
          <a:xfrm>
            <a:off x="11410950" y="1647825"/>
            <a:ext cx="28575" cy="28575"/>
          </a:xfrm>
          <a:prstGeom prst="ellipse">
            <a:avLst/>
          </a:prstGeom>
          <a:solidFill>
            <a:srgbClr val="E6E9E7"/>
          </a:solidFill>
          <a:ln w="0">
            <a:noFill/>
            <a:prstDash val="solid"/>
          </a:ln>
        </p:spPr>
        <p:txBody>
          <a:bodyPr/>
          <a:lstStyle/>
          <a:p>
            <a:endParaRPr lang="en-FR"/>
          </a:p>
        </p:txBody>
      </p:sp>
      <p:sp>
        <p:nvSpPr>
          <p:cNvPr id="7" name="Oval 6">
            <a:extLst>
              <a:ext uri="{FF2B5EF4-FFF2-40B4-BE49-F238E27FC236}">
                <a16:creationId xmlns:a16="http://schemas.microsoft.com/office/drawing/2014/main" id="{12DA0ADF-18D5-4143-BAFB-C1D4E0322D43}"/>
              </a:ext>
            </a:extLst>
          </p:cNvPr>
          <p:cNvSpPr>
            <a:spLocks noGrp="1"/>
          </p:cNvSpPr>
          <p:nvPr/>
        </p:nvSpPr>
        <p:spPr>
          <a:xfrm>
            <a:off x="9982200" y="3000375"/>
            <a:ext cx="28575" cy="28575"/>
          </a:xfrm>
          <a:prstGeom prst="ellipse">
            <a:avLst/>
          </a:prstGeom>
          <a:solidFill>
            <a:srgbClr val="E6E9E7"/>
          </a:solidFill>
          <a:ln w="0">
            <a:noFill/>
            <a:prstDash val="solid"/>
          </a:ln>
        </p:spPr>
        <p:txBody>
          <a:bodyPr/>
          <a:lstStyle/>
          <a:p>
            <a:endParaRPr lang="en-FR"/>
          </a:p>
        </p:txBody>
      </p:sp>
      <p:sp>
        <p:nvSpPr>
          <p:cNvPr id="8" name="Oval 7">
            <a:extLst>
              <a:ext uri="{FF2B5EF4-FFF2-40B4-BE49-F238E27FC236}">
                <a16:creationId xmlns:a16="http://schemas.microsoft.com/office/drawing/2014/main" id="{8EF1F3FD-6495-4F9F-8163-4CEB685C76C1}"/>
              </a:ext>
            </a:extLst>
          </p:cNvPr>
          <p:cNvSpPr>
            <a:spLocks noGrp="1"/>
          </p:cNvSpPr>
          <p:nvPr/>
        </p:nvSpPr>
        <p:spPr>
          <a:xfrm>
            <a:off x="9344025" y="4781550"/>
            <a:ext cx="47625" cy="47625"/>
          </a:xfrm>
          <a:prstGeom prst="ellipse">
            <a:avLst/>
          </a:prstGeom>
          <a:solidFill>
            <a:srgbClr val="E6E9E7"/>
          </a:solidFill>
          <a:ln w="0">
            <a:noFill/>
            <a:prstDash val="solid"/>
          </a:ln>
        </p:spPr>
        <p:txBody>
          <a:bodyPr/>
          <a:lstStyle/>
          <a:p>
            <a:endParaRPr lang="en-FR"/>
          </a:p>
        </p:txBody>
      </p:sp>
      <p:sp>
        <p:nvSpPr>
          <p:cNvPr id="9" name="Oval 8">
            <a:extLst>
              <a:ext uri="{FF2B5EF4-FFF2-40B4-BE49-F238E27FC236}">
                <a16:creationId xmlns:a16="http://schemas.microsoft.com/office/drawing/2014/main" id="{B3A8DECC-6222-4521-82D5-B349CA05389D}"/>
              </a:ext>
            </a:extLst>
          </p:cNvPr>
          <p:cNvSpPr>
            <a:spLocks noGrp="1"/>
          </p:cNvSpPr>
          <p:nvPr/>
        </p:nvSpPr>
        <p:spPr>
          <a:xfrm>
            <a:off x="11658600" y="5848350"/>
            <a:ext cx="38100" cy="38100"/>
          </a:xfrm>
          <a:prstGeom prst="ellipse">
            <a:avLst/>
          </a:prstGeom>
          <a:solidFill>
            <a:srgbClr val="E6E9E7"/>
          </a:solidFill>
          <a:ln w="0">
            <a:noFill/>
            <a:prstDash val="solid"/>
          </a:ln>
        </p:spPr>
        <p:txBody>
          <a:bodyPr/>
          <a:lstStyle/>
          <a:p>
            <a:endParaRPr lang="en-FR"/>
          </a:p>
        </p:txBody>
      </p:sp>
      <p:pic>
        <p:nvPicPr>
          <p:cNvPr id="61" name="Picture 60"/>
          <p:cNvPicPr>
            <a:picLocks noChangeAspect="1"/>
          </p:cNvPicPr>
          <p:nvPr/>
        </p:nvPicPr>
        <p:blipFill>
          <a:blip r:embed="rId3"/>
          <a:stretch/>
        </p:blipFill>
        <p:spPr>
          <a:xfrm>
            <a:off x="361950" y="357187"/>
            <a:ext cx="1927741" cy="600075"/>
          </a:xfrm>
          <a:prstGeom prst="rect">
            <a:avLst/>
          </a:prstGeom>
        </p:spPr>
      </p:pic>
      <p:sp>
        <p:nvSpPr>
          <p:cNvPr id="12" name="Rectangle 11">
            <a:extLst>
              <a:ext uri="{FF2B5EF4-FFF2-40B4-BE49-F238E27FC236}">
                <a16:creationId xmlns:a16="http://schemas.microsoft.com/office/drawing/2014/main" id="{181FA5E6-65B3-42DA-A23A-AE93E6720CB2}"/>
              </a:ext>
            </a:extLst>
          </p:cNvPr>
          <p:cNvSpPr>
            <a:spLocks noGrp="1"/>
          </p:cNvSpPr>
          <p:nvPr/>
        </p:nvSpPr>
        <p:spPr>
          <a:xfrm>
            <a:off x="361950" y="1133475"/>
            <a:ext cx="6286500" cy="523875"/>
          </a:xfrm>
          <a:prstGeom prst="rect">
            <a:avLst/>
          </a:prstGeom>
          <a:noFill/>
          <a:ln w="0">
            <a:noFill/>
            <a:prstDash val="solid"/>
          </a:ln>
        </p:spPr>
        <p:txBody>
          <a:bodyPr wrap="none" lIns="0" tIns="0" rIns="0" bIns="0" anchor="t"/>
          <a:lstStyle/>
          <a:p>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a:ext uri="{FF2B5EF4-FFF2-40B4-BE49-F238E27FC236}">
                <a16:creationId xmlns:a16="http://schemas.microsoft.com/office/drawing/2014/main" id="{B629860D-8183-4AA2-8F53-EEB151589651}"/>
              </a:ext>
            </a:extLst>
          </p:cNvPr>
          <p:cNvSpPr>
            <a:spLocks noGrp="1"/>
          </p:cNvSpPr>
          <p:nvPr/>
        </p:nvSpPr>
        <p:spPr>
          <a:xfrm>
            <a:off x="371475" y="1676400"/>
            <a:ext cx="381000" cy="38100"/>
          </a:xfrm>
          <a:prstGeom prst="rect">
            <a:avLst/>
          </a:prstGeom>
          <a:solidFill>
            <a:srgbClr val="F00000"/>
          </a:solidFill>
          <a:ln w="0">
            <a:noFill/>
            <a:prstDash val="solid"/>
          </a:ln>
        </p:spPr>
        <p:txBody>
          <a:bodyPr/>
          <a:lstStyle/>
          <a:p>
            <a:endParaRPr lang="en-FR"/>
          </a:p>
        </p:txBody>
      </p:sp>
      <p:sp>
        <p:nvSpPr>
          <p:cNvPr id="14" name="Rectangle 13">
            <a:extLst>
              <a:ext uri="{FF2B5EF4-FFF2-40B4-BE49-F238E27FC236}">
                <a16:creationId xmlns:a16="http://schemas.microsoft.com/office/drawing/2014/main" id="{3E173982-393B-42AC-A28E-FA0B0948FCC0}"/>
              </a:ext>
            </a:extLst>
          </p:cNvPr>
          <p:cNvSpPr>
            <a:spLocks noGrp="1"/>
          </p:cNvSpPr>
          <p:nvPr/>
        </p:nvSpPr>
        <p:spPr>
          <a:xfrm>
            <a:off x="390525" y="1838325"/>
            <a:ext cx="6096000" cy="457200"/>
          </a:xfrm>
          <a:prstGeom prst="rect">
            <a:avLst/>
          </a:prstGeom>
          <a:noFill/>
          <a:ln w="0">
            <a:noFill/>
            <a:prstDash val="solid"/>
          </a:ln>
        </p:spPr>
        <p:txBody>
          <a:bodyPr wrap="square" lIns="0" tIns="0" rIns="0" bIns="0" anchor="t"/>
          <a:lstStyle/>
          <a:p>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a:ext uri="{FF2B5EF4-FFF2-40B4-BE49-F238E27FC236}">
                <a16:creationId xmlns:a16="http://schemas.microsoft.com/office/drawing/2014/main" id="{D05FD567-6830-4B7C-A6B4-1C17F3F5C538}"/>
              </a:ext>
            </a:extLst>
          </p:cNvPr>
          <p:cNvSpPr>
            <a:spLocks noGrp="1"/>
          </p:cNvSpPr>
          <p:nvPr/>
        </p:nvSpPr>
        <p:spPr>
          <a:xfrm>
            <a:off x="381000" y="2343150"/>
            <a:ext cx="7391400" cy="3676650"/>
          </a:xfrm>
          <a:prstGeom prst="roundRect">
            <a:avLst>
              <a:gd name="adj" fmla="val 1813"/>
            </a:avLst>
          </a:prstGeom>
          <a:solidFill>
            <a:srgbClr val="FFFFFF"/>
          </a:solidFill>
          <a:ln w="9525">
            <a:solidFill>
              <a:srgbClr val="CED6D1"/>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16" name="Rounded Rectangle 15">
            <a:extLst>
              <a:ext uri="{FF2B5EF4-FFF2-40B4-BE49-F238E27FC236}">
                <a16:creationId xmlns:a16="http://schemas.microsoft.com/office/drawing/2014/main" id="{7E7120EA-B371-422A-9F44-F023B4B89BD2}"/>
              </a:ext>
            </a:extLst>
          </p:cNvPr>
          <p:cNvSpPr>
            <a:spLocks noGrp="1"/>
          </p:cNvSpPr>
          <p:nvPr/>
        </p:nvSpPr>
        <p:spPr>
          <a:xfrm>
            <a:off x="381000" y="2343150"/>
            <a:ext cx="7391400" cy="361950"/>
          </a:xfrm>
          <a:prstGeom prst="roundRect">
            <a:avLst>
              <a:gd name="adj" fmla="val 18421"/>
            </a:avLst>
          </a:prstGeom>
          <a:gradFill>
            <a:gsLst>
              <a:gs pos="0">
                <a:srgbClr val="00351F"/>
              </a:gs>
              <a:gs pos="100000">
                <a:srgbClr val="075431"/>
              </a:gs>
            </a:gsLst>
            <a:lin ang="0"/>
          </a:gradFill>
          <a:ln w="0">
            <a:noFill/>
            <a:prstDash val="solid"/>
          </a:ln>
        </p:spPr>
        <p:txBody>
          <a:bodyPr/>
          <a:lstStyle/>
          <a:p>
            <a:endParaRPr lang="en-FR"/>
          </a:p>
        </p:txBody>
      </p:sp>
      <p:pic>
        <p:nvPicPr>
          <p:cNvPr id="67" name="Picture 66"/>
          <p:cNvPicPr>
            <a:picLocks noChangeAspect="1"/>
          </p:cNvPicPr>
          <p:nvPr/>
        </p:nvPicPr>
        <p:blipFill>
          <a:blip r:embed="rId4"/>
          <a:stretch/>
        </p:blipFill>
        <p:spPr>
          <a:xfrm>
            <a:off x="617492" y="2390775"/>
            <a:ext cx="260441" cy="276225"/>
          </a:xfrm>
          <a:prstGeom prst="rect">
            <a:avLst/>
          </a:prstGeom>
        </p:spPr>
      </p:pic>
      <p:sp>
        <p:nvSpPr>
          <p:cNvPr id="18" name="Rectangle 17">
            <a:extLst>
              <a:ext uri="{FF2B5EF4-FFF2-40B4-BE49-F238E27FC236}">
                <a16:creationId xmlns:a16="http://schemas.microsoft.com/office/drawing/2014/main" id="{E91505E6-4E87-4F2F-9412-FA897C3D79C8}"/>
              </a:ext>
            </a:extLst>
          </p:cNvPr>
          <p:cNvSpPr>
            <a:spLocks noGrp="1"/>
          </p:cNvSpPr>
          <p:nvPr/>
        </p:nvSpPr>
        <p:spPr>
          <a:xfrm>
            <a:off x="1019175" y="2438400"/>
            <a:ext cx="2095500" cy="209550"/>
          </a:xfrm>
          <a:prstGeom prst="rect">
            <a:avLst/>
          </a:prstGeom>
          <a:noFill/>
          <a:ln w="0">
            <a:noFill/>
            <a:prstDash val="solid"/>
          </a:ln>
        </p:spPr>
        <p:txBody>
          <a:bodyPr wrap="none" lIns="0" tIns="0" rIns="0" bIns="0" anchor="t"/>
          <a:lstStyle/>
          <a:p>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69" name="Picture 68"/>
          <p:cNvPicPr>
            <a:picLocks noChangeAspect="1"/>
          </p:cNvPicPr>
          <p:nvPr/>
        </p:nvPicPr>
        <p:blipFill>
          <a:blip r:embed="rId5"/>
          <a:stretch/>
        </p:blipFill>
        <p:spPr>
          <a:xfrm>
            <a:off x="600075" y="2779303"/>
            <a:ext cx="466725" cy="451669"/>
          </a:xfrm>
          <a:prstGeom prst="rect">
            <a:avLst/>
          </a:prstGeom>
        </p:spPr>
      </p:pic>
      <p:sp>
        <p:nvSpPr>
          <p:cNvPr id="20" name="Rectangle 19">
            <a:extLst>
              <a:ext uri="{FF2B5EF4-FFF2-40B4-BE49-F238E27FC236}">
                <a16:creationId xmlns:a16="http://schemas.microsoft.com/office/drawing/2014/main" id="{42908386-5A93-4A58-A462-83A24A156EB4}"/>
              </a:ext>
            </a:extLst>
          </p:cNvPr>
          <p:cNvSpPr>
            <a:spLocks noGrp="1"/>
          </p:cNvSpPr>
          <p:nvPr/>
        </p:nvSpPr>
        <p:spPr>
          <a:xfrm>
            <a:off x="1333500" y="2914650"/>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a:ext uri="{FF2B5EF4-FFF2-40B4-BE49-F238E27FC236}">
                <a16:creationId xmlns:a16="http://schemas.microsoft.com/office/drawing/2014/main" id="{74A58121-1B16-4F12-92B5-F259AF492CB0}"/>
              </a:ext>
            </a:extLst>
          </p:cNvPr>
          <p:cNvSpPr>
            <a:spLocks noGrp="1"/>
          </p:cNvSpPr>
          <p:nvPr/>
        </p:nvSpPr>
        <p:spPr>
          <a:xfrm>
            <a:off x="3333750" y="2828925"/>
            <a:ext cx="0" cy="314325"/>
          </a:xfrm>
          <a:prstGeom prst="line">
            <a:avLst/>
          </a:prstGeom>
          <a:noFill/>
          <a:ln w="9525">
            <a:solidFill>
              <a:srgbClr val="CBD2CE"/>
            </a:solidFill>
            <a:prstDash val="solid"/>
          </a:ln>
        </p:spPr>
        <p:txBody>
          <a:bodyPr/>
          <a:lstStyle/>
          <a:p>
            <a:endParaRPr lang="en-FR"/>
          </a:p>
        </p:txBody>
      </p:sp>
      <p:sp>
        <p:nvSpPr>
          <p:cNvPr id="22" name="Rectangle 21">
            <a:extLst>
              <a:ext uri="{FF2B5EF4-FFF2-40B4-BE49-F238E27FC236}">
                <a16:creationId xmlns:a16="http://schemas.microsoft.com/office/drawing/2014/main" id="{71D931CB-6DBE-4D20-B729-98885198EFAC}"/>
              </a:ext>
            </a:extLst>
          </p:cNvPr>
          <p:cNvSpPr>
            <a:spLocks noGrp="1"/>
          </p:cNvSpPr>
          <p:nvPr/>
        </p:nvSpPr>
        <p:spPr>
          <a:xfrm>
            <a:off x="3676650" y="2828925"/>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May 08, 2025)</a:t>
            </a:r>
          </a:p>
        </p:txBody>
      </p:sp>
      <p:sp>
        <p:nvSpPr>
          <p:cNvPr id="23" name="Straight Connector 22">
            <a:extLst>
              <a:ext uri="{FF2B5EF4-FFF2-40B4-BE49-F238E27FC236}">
                <a16:creationId xmlns:a16="http://schemas.microsoft.com/office/drawing/2014/main" id="{23397379-0F76-4614-83F5-A13601AE9797}"/>
              </a:ext>
            </a:extLst>
          </p:cNvPr>
          <p:cNvSpPr>
            <a:spLocks noGrp="1"/>
          </p:cNvSpPr>
          <p:nvPr/>
        </p:nvSpPr>
        <p:spPr>
          <a:xfrm>
            <a:off x="600075" y="3264218"/>
            <a:ext cx="6981825" cy="0"/>
          </a:xfrm>
          <a:prstGeom prst="line">
            <a:avLst/>
          </a:prstGeom>
          <a:noFill/>
          <a:ln w="9525">
            <a:solidFill>
              <a:srgbClr val="DDE2DE"/>
            </a:solidFill>
            <a:prstDash val="solid"/>
          </a:ln>
        </p:spPr>
        <p:txBody>
          <a:bodyPr/>
          <a:lstStyle/>
          <a:p>
            <a:endParaRPr lang="en-FR"/>
          </a:p>
        </p:txBody>
      </p:sp>
      <p:pic>
        <p:nvPicPr>
          <p:cNvPr id="74" name="Picture 73"/>
          <p:cNvPicPr>
            <a:picLocks noChangeAspect="1"/>
          </p:cNvPicPr>
          <p:nvPr/>
        </p:nvPicPr>
        <p:blipFill>
          <a:blip r:embed="rId6"/>
          <a:stretch/>
        </p:blipFill>
        <p:spPr>
          <a:xfrm>
            <a:off x="600075" y="3309845"/>
            <a:ext cx="466725" cy="451669"/>
          </a:xfrm>
          <a:prstGeom prst="rect">
            <a:avLst/>
          </a:prstGeom>
        </p:spPr>
      </p:pic>
      <p:sp>
        <p:nvSpPr>
          <p:cNvPr id="25" name="Rectangle 24">
            <a:extLst>
              <a:ext uri="{FF2B5EF4-FFF2-40B4-BE49-F238E27FC236}">
                <a16:creationId xmlns:a16="http://schemas.microsoft.com/office/drawing/2014/main" id="{DE8908F2-D896-472D-AF70-B94F25AE6292}"/>
              </a:ext>
            </a:extLst>
          </p:cNvPr>
          <p:cNvSpPr>
            <a:spLocks noGrp="1"/>
          </p:cNvSpPr>
          <p:nvPr/>
        </p:nvSpPr>
        <p:spPr>
          <a:xfrm>
            <a:off x="1333500" y="3445193"/>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a:ext uri="{FF2B5EF4-FFF2-40B4-BE49-F238E27FC236}">
                <a16:creationId xmlns:a16="http://schemas.microsoft.com/office/drawing/2014/main" id="{CFDEC23A-6F66-49D5-87D3-62C87F39D16D}"/>
              </a:ext>
            </a:extLst>
          </p:cNvPr>
          <p:cNvSpPr>
            <a:spLocks noGrp="1"/>
          </p:cNvSpPr>
          <p:nvPr/>
        </p:nvSpPr>
        <p:spPr>
          <a:xfrm>
            <a:off x="3333750" y="3359468"/>
            <a:ext cx="0" cy="314325"/>
          </a:xfrm>
          <a:prstGeom prst="line">
            <a:avLst/>
          </a:prstGeom>
          <a:noFill/>
          <a:ln w="9525">
            <a:solidFill>
              <a:srgbClr val="CBD2CE"/>
            </a:solidFill>
            <a:prstDash val="solid"/>
          </a:ln>
        </p:spPr>
        <p:txBody>
          <a:bodyPr/>
          <a:lstStyle/>
          <a:p>
            <a:endParaRPr lang="en-FR"/>
          </a:p>
        </p:txBody>
      </p:sp>
      <p:sp>
        <p:nvSpPr>
          <p:cNvPr id="27" name="Rectangle 26">
            <a:extLst>
              <a:ext uri="{FF2B5EF4-FFF2-40B4-BE49-F238E27FC236}">
                <a16:creationId xmlns:a16="http://schemas.microsoft.com/office/drawing/2014/main" id="{0ECE9441-9ABA-4D86-B0D0-CA3DF1A3EB96}"/>
              </a:ext>
            </a:extLst>
          </p:cNvPr>
          <p:cNvSpPr>
            <a:spLocks noGrp="1"/>
          </p:cNvSpPr>
          <p:nvPr/>
        </p:nvSpPr>
        <p:spPr>
          <a:xfrm>
            <a:off x="3676650" y="3359468"/>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Capacity based on current utilization</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projected growth</a:t>
            </a:r>
          </a:p>
        </p:txBody>
      </p:sp>
      <p:sp>
        <p:nvSpPr>
          <p:cNvPr id="28" name="Straight Connector 27">
            <a:extLst>
              <a:ext uri="{FF2B5EF4-FFF2-40B4-BE49-F238E27FC236}">
                <a16:creationId xmlns:a16="http://schemas.microsoft.com/office/drawing/2014/main" id="{45CE46C6-B9C0-4849-A834-96BE06538FA8}"/>
              </a:ext>
            </a:extLst>
          </p:cNvPr>
          <p:cNvSpPr>
            <a:spLocks noGrp="1"/>
          </p:cNvSpPr>
          <p:nvPr/>
        </p:nvSpPr>
        <p:spPr>
          <a:xfrm>
            <a:off x="600075" y="3794760"/>
            <a:ext cx="6981825" cy="0"/>
          </a:xfrm>
          <a:prstGeom prst="line">
            <a:avLst/>
          </a:prstGeom>
          <a:noFill/>
          <a:ln w="9525">
            <a:solidFill>
              <a:srgbClr val="DDE2DE"/>
            </a:solidFill>
            <a:prstDash val="solid"/>
          </a:ln>
        </p:spPr>
        <p:txBody>
          <a:bodyPr/>
          <a:lstStyle/>
          <a:p>
            <a:endParaRPr lang="en-FR"/>
          </a:p>
        </p:txBody>
      </p:sp>
      <p:pic>
        <p:nvPicPr>
          <p:cNvPr id="79" name="Picture 78"/>
          <p:cNvPicPr>
            <a:picLocks noChangeAspect="1"/>
          </p:cNvPicPr>
          <p:nvPr/>
        </p:nvPicPr>
        <p:blipFill>
          <a:blip r:embed="rId7"/>
          <a:stretch/>
        </p:blipFill>
        <p:spPr>
          <a:xfrm>
            <a:off x="600075" y="3836686"/>
            <a:ext cx="466725" cy="459074"/>
          </a:xfrm>
          <a:prstGeom prst="rect">
            <a:avLst/>
          </a:prstGeom>
        </p:spPr>
      </p:pic>
      <p:sp>
        <p:nvSpPr>
          <p:cNvPr id="30" name="Rectangle 29">
            <a:extLst>
              <a:ext uri="{FF2B5EF4-FFF2-40B4-BE49-F238E27FC236}">
                <a16:creationId xmlns:a16="http://schemas.microsoft.com/office/drawing/2014/main" id="{78085D01-F2D9-4FF8-AFE8-59DAD7CB0343}"/>
              </a:ext>
            </a:extLst>
          </p:cNvPr>
          <p:cNvSpPr>
            <a:spLocks noGrp="1"/>
          </p:cNvSpPr>
          <p:nvPr/>
        </p:nvSpPr>
        <p:spPr>
          <a:xfrm>
            <a:off x="1333500" y="3975735"/>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CPU Contention Ratio</a:t>
            </a:r>
          </a:p>
        </p:txBody>
      </p:sp>
      <p:sp>
        <p:nvSpPr>
          <p:cNvPr id="31" name="Straight Connector 30">
            <a:extLst>
              <a:ext uri="{FF2B5EF4-FFF2-40B4-BE49-F238E27FC236}">
                <a16:creationId xmlns:a16="http://schemas.microsoft.com/office/drawing/2014/main" id="{72944B4F-936E-4666-BCB5-19428C80B4D4}"/>
              </a:ext>
            </a:extLst>
          </p:cNvPr>
          <p:cNvSpPr>
            <a:spLocks noGrp="1"/>
          </p:cNvSpPr>
          <p:nvPr/>
        </p:nvSpPr>
        <p:spPr>
          <a:xfrm>
            <a:off x="3333750" y="3890010"/>
            <a:ext cx="0" cy="314325"/>
          </a:xfrm>
          <a:prstGeom prst="line">
            <a:avLst/>
          </a:prstGeom>
          <a:noFill/>
          <a:ln w="9525">
            <a:solidFill>
              <a:srgbClr val="CBD2CE"/>
            </a:solidFill>
            <a:prstDash val="solid"/>
          </a:ln>
        </p:spPr>
        <p:txBody>
          <a:bodyPr/>
          <a:lstStyle/>
          <a:p>
            <a:endParaRPr lang="en-FR"/>
          </a:p>
        </p:txBody>
      </p:sp>
      <p:sp>
        <p:nvSpPr>
          <p:cNvPr id="32" name="Rectangle 31">
            <a:extLst>
              <a:ext uri="{FF2B5EF4-FFF2-40B4-BE49-F238E27FC236}">
                <a16:creationId xmlns:a16="http://schemas.microsoft.com/office/drawing/2014/main" id="{4BB2C1F5-D562-49B2-9F9A-0CC0CC218F6B}"/>
              </a:ext>
            </a:extLst>
          </p:cNvPr>
          <p:cNvSpPr>
            <a:spLocks noGrp="1"/>
          </p:cNvSpPr>
          <p:nvPr/>
        </p:nvSpPr>
        <p:spPr>
          <a:xfrm>
            <a:off x="3676650" y="3890010"/>
            <a:ext cx="762000" cy="209550"/>
          </a:xfrm>
          <a:prstGeom prst="rect">
            <a:avLst/>
          </a:prstGeom>
          <a:noFill/>
          <a:ln w="0">
            <a:noFill/>
            <a:prstDash val="solid"/>
          </a:ln>
        </p:spPr>
        <p:txBody>
          <a:bodyPr wrap="none" lIns="0" tIns="0" rIns="0" bIns="0" anchor="t"/>
          <a:lstStyle/>
          <a:p>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1:6</a:t>
            </a:r>
          </a:p>
        </p:txBody>
      </p:sp>
      <p:sp>
        <p:nvSpPr>
          <p:cNvPr id="33" name="Rectangle 32">
            <a:extLst>
              <a:ext uri="{FF2B5EF4-FFF2-40B4-BE49-F238E27FC236}">
                <a16:creationId xmlns:a16="http://schemas.microsoft.com/office/drawing/2014/main" id="{C1010FD1-CF72-4430-AE27-159930A3A4CD}"/>
              </a:ext>
            </a:extLst>
          </p:cNvPr>
          <p:cNvSpPr>
            <a:spLocks noGrp="1"/>
          </p:cNvSpPr>
          <p:nvPr/>
        </p:nvSpPr>
        <p:spPr>
          <a:xfrm>
            <a:off x="3676650" y="4109085"/>
            <a:ext cx="3714750" cy="17145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(Industry standard for medium consolidation)</a:t>
            </a:r>
          </a:p>
        </p:txBody>
      </p:sp>
      <p:sp>
        <p:nvSpPr>
          <p:cNvPr id="34" name="Straight Connector 33">
            <a:extLst>
              <a:ext uri="{FF2B5EF4-FFF2-40B4-BE49-F238E27FC236}">
                <a16:creationId xmlns:a16="http://schemas.microsoft.com/office/drawing/2014/main" id="{02CD068C-C8FC-47C9-BB57-3D4C64351CFA}"/>
              </a:ext>
            </a:extLst>
          </p:cNvPr>
          <p:cNvSpPr>
            <a:spLocks noGrp="1"/>
          </p:cNvSpPr>
          <p:nvPr/>
        </p:nvSpPr>
        <p:spPr>
          <a:xfrm>
            <a:off x="600075" y="4325303"/>
            <a:ext cx="6981825" cy="0"/>
          </a:xfrm>
          <a:prstGeom prst="line">
            <a:avLst/>
          </a:prstGeom>
          <a:noFill/>
          <a:ln w="9525">
            <a:solidFill>
              <a:srgbClr val="DDE2DE"/>
            </a:solidFill>
            <a:prstDash val="solid"/>
          </a:ln>
        </p:spPr>
        <p:txBody>
          <a:bodyPr/>
          <a:lstStyle/>
          <a:p>
            <a:endParaRPr lang="en-FR"/>
          </a:p>
        </p:txBody>
      </p:sp>
      <p:pic>
        <p:nvPicPr>
          <p:cNvPr id="85" name="Picture 84"/>
          <p:cNvPicPr>
            <a:picLocks noChangeAspect="1"/>
          </p:cNvPicPr>
          <p:nvPr/>
        </p:nvPicPr>
        <p:blipFill>
          <a:blip r:embed="rId8"/>
          <a:stretch/>
        </p:blipFill>
        <p:spPr>
          <a:xfrm>
            <a:off x="600075" y="4367228"/>
            <a:ext cx="466725" cy="459074"/>
          </a:xfrm>
          <a:prstGeom prst="rect">
            <a:avLst/>
          </a:prstGeom>
        </p:spPr>
      </p:pic>
      <p:sp>
        <p:nvSpPr>
          <p:cNvPr id="36" name="Rectangle 35">
            <a:extLst>
              <a:ext uri="{FF2B5EF4-FFF2-40B4-BE49-F238E27FC236}">
                <a16:creationId xmlns:a16="http://schemas.microsoft.com/office/drawing/2014/main" id="{35B0B338-2A00-4402-837C-6832FD369235}"/>
              </a:ext>
            </a:extLst>
          </p:cNvPr>
          <p:cNvSpPr>
            <a:spLocks noGrp="1"/>
          </p:cNvSpPr>
          <p:nvPr/>
        </p:nvSpPr>
        <p:spPr>
          <a:xfrm>
            <a:off x="1333500" y="4506278"/>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Average Utilization</a:t>
            </a:r>
          </a:p>
        </p:txBody>
      </p:sp>
      <p:sp>
        <p:nvSpPr>
          <p:cNvPr id="37" name="Straight Connector 36">
            <a:extLst>
              <a:ext uri="{FF2B5EF4-FFF2-40B4-BE49-F238E27FC236}">
                <a16:creationId xmlns:a16="http://schemas.microsoft.com/office/drawing/2014/main" id="{0004D49C-3CEF-4D64-8EE4-5C2EF19B65F0}"/>
              </a:ext>
            </a:extLst>
          </p:cNvPr>
          <p:cNvSpPr>
            <a:spLocks noGrp="1"/>
          </p:cNvSpPr>
          <p:nvPr/>
        </p:nvSpPr>
        <p:spPr>
          <a:xfrm>
            <a:off x="3333750" y="4420553"/>
            <a:ext cx="0" cy="314325"/>
          </a:xfrm>
          <a:prstGeom prst="line">
            <a:avLst/>
          </a:prstGeom>
          <a:noFill/>
          <a:ln w="9525">
            <a:solidFill>
              <a:srgbClr val="CBD2CE"/>
            </a:solidFill>
            <a:prstDash val="solid"/>
          </a:ln>
        </p:spPr>
        <p:txBody>
          <a:bodyPr/>
          <a:lstStyle/>
          <a:p>
            <a:endParaRPr lang="en-FR"/>
          </a:p>
        </p:txBody>
      </p:sp>
      <p:sp>
        <p:nvSpPr>
          <p:cNvPr id="38" name="Rectangle 37">
            <a:extLst>
              <a:ext uri="{FF2B5EF4-FFF2-40B4-BE49-F238E27FC236}">
                <a16:creationId xmlns:a16="http://schemas.microsoft.com/office/drawing/2014/main" id="{B09B219E-B635-42E5-8711-6CCAA05CC5BA}"/>
              </a:ext>
            </a:extLst>
          </p:cNvPr>
          <p:cNvSpPr>
            <a:spLocks noGrp="1"/>
          </p:cNvSpPr>
          <p:nvPr/>
        </p:nvSpPr>
        <p:spPr>
          <a:xfrm>
            <a:off x="3676650" y="4420553"/>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vCPU: 50%</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vMEM: 60%</a:t>
            </a:r>
          </a:p>
        </p:txBody>
      </p:sp>
      <p:sp>
        <p:nvSpPr>
          <p:cNvPr id="39" name="Straight Connector 38">
            <a:extLst>
              <a:ext uri="{FF2B5EF4-FFF2-40B4-BE49-F238E27FC236}">
                <a16:creationId xmlns:a16="http://schemas.microsoft.com/office/drawing/2014/main" id="{B5294845-2E5B-41F1-8CD4-A4D7AFAA9406}"/>
              </a:ext>
            </a:extLst>
          </p:cNvPr>
          <p:cNvSpPr>
            <a:spLocks noGrp="1"/>
          </p:cNvSpPr>
          <p:nvPr/>
        </p:nvSpPr>
        <p:spPr>
          <a:xfrm>
            <a:off x="600075" y="4855845"/>
            <a:ext cx="6981825" cy="0"/>
          </a:xfrm>
          <a:prstGeom prst="line">
            <a:avLst/>
          </a:prstGeom>
          <a:noFill/>
          <a:ln w="9525">
            <a:solidFill>
              <a:srgbClr val="DDE2DE"/>
            </a:solidFill>
            <a:prstDash val="solid"/>
          </a:ln>
        </p:spPr>
        <p:txBody>
          <a:bodyPr/>
          <a:lstStyle/>
          <a:p>
            <a:endParaRPr lang="en-FR"/>
          </a:p>
        </p:txBody>
      </p:sp>
      <p:pic>
        <p:nvPicPr>
          <p:cNvPr id="90" name="Picture 89"/>
          <p:cNvPicPr>
            <a:picLocks noChangeAspect="1"/>
          </p:cNvPicPr>
          <p:nvPr/>
        </p:nvPicPr>
        <p:blipFill>
          <a:blip r:embed="rId9"/>
          <a:stretch/>
        </p:blipFill>
        <p:spPr>
          <a:xfrm>
            <a:off x="600075" y="4897771"/>
            <a:ext cx="466725" cy="459074"/>
          </a:xfrm>
          <a:prstGeom prst="rect">
            <a:avLst/>
          </a:prstGeom>
        </p:spPr>
      </p:pic>
      <p:sp>
        <p:nvSpPr>
          <p:cNvPr id="41" name="Rectangle 40">
            <a:extLst>
              <a:ext uri="{FF2B5EF4-FFF2-40B4-BE49-F238E27FC236}">
                <a16:creationId xmlns:a16="http://schemas.microsoft.com/office/drawing/2014/main" id="{3237AD7F-4836-4176-AF9D-C45EBA307DA5}"/>
              </a:ext>
            </a:extLst>
          </p:cNvPr>
          <p:cNvSpPr>
            <a:spLocks noGrp="1"/>
          </p:cNvSpPr>
          <p:nvPr/>
        </p:nvSpPr>
        <p:spPr>
          <a:xfrm>
            <a:off x="1333500" y="5036820"/>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Target Utilization</a:t>
            </a:r>
          </a:p>
        </p:txBody>
      </p:sp>
      <p:sp>
        <p:nvSpPr>
          <p:cNvPr id="42" name="Straight Connector 41">
            <a:extLst>
              <a:ext uri="{FF2B5EF4-FFF2-40B4-BE49-F238E27FC236}">
                <a16:creationId xmlns:a16="http://schemas.microsoft.com/office/drawing/2014/main" id="{4D9346C3-2665-41B0-99E5-1FA2EBA0C533}"/>
              </a:ext>
            </a:extLst>
          </p:cNvPr>
          <p:cNvSpPr>
            <a:spLocks noGrp="1"/>
          </p:cNvSpPr>
          <p:nvPr/>
        </p:nvSpPr>
        <p:spPr>
          <a:xfrm>
            <a:off x="3333750" y="4951095"/>
            <a:ext cx="0" cy="314325"/>
          </a:xfrm>
          <a:prstGeom prst="line">
            <a:avLst/>
          </a:prstGeom>
          <a:noFill/>
          <a:ln w="9525">
            <a:solidFill>
              <a:srgbClr val="CBD2CE"/>
            </a:solidFill>
            <a:prstDash val="solid"/>
          </a:ln>
        </p:spPr>
        <p:txBody>
          <a:bodyPr/>
          <a:lstStyle/>
          <a:p>
            <a:endParaRPr lang="en-FR"/>
          </a:p>
        </p:txBody>
      </p:sp>
      <p:sp>
        <p:nvSpPr>
          <p:cNvPr id="43" name="Rectangle 42">
            <a:extLst>
              <a:ext uri="{FF2B5EF4-FFF2-40B4-BE49-F238E27FC236}">
                <a16:creationId xmlns:a16="http://schemas.microsoft.com/office/drawing/2014/main" id="{DBC0D906-17E6-4658-8738-8B3675430291}"/>
              </a:ext>
            </a:extLst>
          </p:cNvPr>
          <p:cNvSpPr>
            <a:spLocks noGrp="1"/>
          </p:cNvSpPr>
          <p:nvPr/>
        </p:nvSpPr>
        <p:spPr>
          <a:xfrm>
            <a:off x="3676650" y="4951095"/>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80%</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(For both vCPU and vMEM)</a:t>
            </a:r>
          </a:p>
        </p:txBody>
      </p:sp>
      <p:sp>
        <p:nvSpPr>
          <p:cNvPr id="44" name="Straight Connector 43">
            <a:extLst>
              <a:ext uri="{FF2B5EF4-FFF2-40B4-BE49-F238E27FC236}">
                <a16:creationId xmlns:a16="http://schemas.microsoft.com/office/drawing/2014/main" id="{76C190DA-7557-4EF8-A3B4-C1CD1D532610}"/>
              </a:ext>
            </a:extLst>
          </p:cNvPr>
          <p:cNvSpPr>
            <a:spLocks noGrp="1"/>
          </p:cNvSpPr>
          <p:nvPr/>
        </p:nvSpPr>
        <p:spPr>
          <a:xfrm>
            <a:off x="600075" y="5386388"/>
            <a:ext cx="6981825" cy="0"/>
          </a:xfrm>
          <a:prstGeom prst="line">
            <a:avLst/>
          </a:prstGeom>
          <a:noFill/>
          <a:ln w="9525">
            <a:solidFill>
              <a:srgbClr val="DDE2DE"/>
            </a:solidFill>
            <a:prstDash val="solid"/>
          </a:ln>
        </p:spPr>
        <p:txBody>
          <a:bodyPr/>
          <a:lstStyle/>
          <a:p>
            <a:endParaRPr lang="en-FR"/>
          </a:p>
        </p:txBody>
      </p:sp>
      <p:pic>
        <p:nvPicPr>
          <p:cNvPr id="95" name="Picture 94"/>
          <p:cNvPicPr>
            <a:picLocks noChangeAspect="1"/>
          </p:cNvPicPr>
          <p:nvPr/>
        </p:nvPicPr>
        <p:blipFill>
          <a:blip r:embed="rId10"/>
          <a:stretch/>
        </p:blipFill>
        <p:spPr>
          <a:xfrm>
            <a:off x="600075" y="5424488"/>
            <a:ext cx="466725" cy="466725"/>
          </a:xfrm>
          <a:prstGeom prst="rect">
            <a:avLst/>
          </a:prstGeom>
        </p:spPr>
      </p:pic>
      <p:sp>
        <p:nvSpPr>
          <p:cNvPr id="46" name="Rectangle 45">
            <a:extLst>
              <a:ext uri="{FF2B5EF4-FFF2-40B4-BE49-F238E27FC236}">
                <a16:creationId xmlns:a16="http://schemas.microsoft.com/office/drawing/2014/main" id="{1AAF8FDE-50FC-4C3F-9F81-15310F8F98EE}"/>
              </a:ext>
            </a:extLst>
          </p:cNvPr>
          <p:cNvSpPr>
            <a:spLocks noGrp="1"/>
          </p:cNvSpPr>
          <p:nvPr/>
        </p:nvSpPr>
        <p:spPr>
          <a:xfrm>
            <a:off x="1333500" y="5567363"/>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Type</a:t>
            </a:r>
          </a:p>
        </p:txBody>
      </p:sp>
      <p:sp>
        <p:nvSpPr>
          <p:cNvPr id="47" name="Straight Connector 46">
            <a:extLst>
              <a:ext uri="{FF2B5EF4-FFF2-40B4-BE49-F238E27FC236}">
                <a16:creationId xmlns:a16="http://schemas.microsoft.com/office/drawing/2014/main" id="{FFEF831B-5985-4EBD-83C8-50668461DF24}"/>
              </a:ext>
            </a:extLst>
          </p:cNvPr>
          <p:cNvSpPr>
            <a:spLocks noGrp="1"/>
          </p:cNvSpPr>
          <p:nvPr/>
        </p:nvSpPr>
        <p:spPr>
          <a:xfrm>
            <a:off x="3333750" y="5481638"/>
            <a:ext cx="0" cy="314325"/>
          </a:xfrm>
          <a:prstGeom prst="line">
            <a:avLst/>
          </a:prstGeom>
          <a:noFill/>
          <a:ln w="9525">
            <a:solidFill>
              <a:srgbClr val="CBD2CE"/>
            </a:solidFill>
            <a:prstDash val="solid"/>
          </a:ln>
        </p:spPr>
        <p:txBody>
          <a:bodyPr/>
          <a:lstStyle/>
          <a:p>
            <a:endParaRPr lang="en-FR"/>
          </a:p>
        </p:txBody>
      </p:sp>
      <p:sp>
        <p:nvSpPr>
          <p:cNvPr id="48" name="Rectangle 47">
            <a:extLst>
              <a:ext uri="{FF2B5EF4-FFF2-40B4-BE49-F238E27FC236}">
                <a16:creationId xmlns:a16="http://schemas.microsoft.com/office/drawing/2014/main" id="{FCCC5123-50EE-49F7-9C4E-AD8B5F15572B}"/>
              </a:ext>
            </a:extLst>
          </p:cNvPr>
          <p:cNvSpPr>
            <a:spLocks noGrp="1"/>
          </p:cNvSpPr>
          <p:nvPr/>
        </p:nvSpPr>
        <p:spPr>
          <a:xfrm>
            <a:off x="3676650" y="5481638"/>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OCI Block Volume</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(Block Storage)</a:t>
            </a:r>
          </a:p>
        </p:txBody>
      </p:sp>
      <p:sp>
        <p:nvSpPr>
          <p:cNvPr id="49" name="Rectangle 48">
            <a:extLst>
              <a:ext uri="{FF2B5EF4-FFF2-40B4-BE49-F238E27FC236}">
                <a16:creationId xmlns:a16="http://schemas.microsoft.com/office/drawing/2014/main" id="{16E4D860-FD45-4FE4-BDF9-3E6C0A6C9676}"/>
              </a:ext>
            </a:extLst>
          </p:cNvPr>
          <p:cNvSpPr>
            <a:spLocks noGrp="1"/>
          </p:cNvSpPr>
          <p:nvPr/>
        </p:nvSpPr>
        <p:spPr>
          <a:xfrm>
            <a:off x="1133475" y="6553200"/>
            <a:ext cx="5143500" cy="171450"/>
          </a:xfrm>
          <a:prstGeom prst="rect">
            <a:avLst/>
          </a:prstGeom>
          <a:noFill/>
          <a:ln w="0">
            <a:noFill/>
            <a:prstDash val="solid"/>
          </a:ln>
        </p:spPr>
        <p:txBody>
          <a:bodyPr wrap="none" lIns="0" tIns="0" rIns="0" bIns="0" anchor="t"/>
          <a:lstStyle/>
          <a:p>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0" name="Picture 99"/>
          <p:cNvPicPr>
            <a:picLocks noChangeAspect="1"/>
          </p:cNvPicPr>
          <p:nvPr/>
        </p:nvPicPr>
        <p:blipFill>
          <a:blip r:embed="rId11"/>
          <a:stretch/>
        </p:blipFill>
        <p:spPr>
          <a:xfrm>
            <a:off x="11391900" y="6479151"/>
            <a:ext cx="400050" cy="329073"/>
          </a:xfrm>
          <a:prstGeom prst="rect">
            <a:avLst/>
          </a:prstGeom>
        </p:spPr>
      </p:pic>
    </p:spTree>
    <p:extLst>
      <p:ext uri="{BB962C8B-B14F-4D97-AF65-F5344CB8AC3E}">
        <p14:creationId xmlns:p14="http://schemas.microsoft.com/office/powerpoint/2010/main" val="948357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Oval 74">
            <a:extLst>
              <a:ext uri="{FF2B5EF4-FFF2-40B4-BE49-F238E27FC236}">
                <a16:creationId xmlns:a16="http://schemas.microsoft.com/office/drawing/2014/main" id="{21F0DC85-8080-41CB-9F08-90BF24F47782}"/>
              </a:ext>
            </a:extLst>
          </p:cNvPr>
          <p:cNvSpPr>
            <a:spLocks noGrp="1"/>
          </p:cNvSpPr>
          <p:nvPr/>
        </p:nvSpPr>
        <p:spPr>
          <a:xfrm>
            <a:off x="219075" y="2838450"/>
            <a:ext cx="47625" cy="47625"/>
          </a:xfrm>
          <a:prstGeom prst="ellipse">
            <a:avLst/>
          </a:prstGeom>
          <a:solidFill>
            <a:srgbClr val="E6E8E6"/>
          </a:solidFill>
          <a:ln w="0">
            <a:noFill/>
            <a:prstDash val="solid"/>
          </a:ln>
        </p:spPr>
        <p:txBody>
          <a:bodyPr/>
          <a:lstStyle/>
          <a:p>
            <a:endParaRPr lang="en-FR"/>
          </a:p>
        </p:txBody>
      </p:sp>
      <p:sp>
        <p:nvSpPr>
          <p:cNvPr id="2" name="Oval 1">
            <a:extLst>
              <a:ext uri="{FF2B5EF4-FFF2-40B4-BE49-F238E27FC236}">
                <a16:creationId xmlns:a16="http://schemas.microsoft.com/office/drawing/2014/main" id="{2F83E7F2-4739-496D-AEA1-9C7E9AF7442A}"/>
              </a:ext>
            </a:extLst>
          </p:cNvPr>
          <p:cNvSpPr>
            <a:spLocks noGrp="1"/>
          </p:cNvSpPr>
          <p:nvPr/>
        </p:nvSpPr>
        <p:spPr>
          <a:xfrm>
            <a:off x="5133975" y="552450"/>
            <a:ext cx="38100" cy="38100"/>
          </a:xfrm>
          <a:prstGeom prst="ellipse">
            <a:avLst/>
          </a:prstGeom>
          <a:solidFill>
            <a:srgbClr val="E6E8E6"/>
          </a:solidFill>
          <a:ln w="0">
            <a:noFill/>
            <a:prstDash val="solid"/>
          </a:ln>
        </p:spPr>
        <p:txBody>
          <a:bodyPr/>
          <a:lstStyle/>
          <a:p>
            <a:endParaRPr lang="en-FR"/>
          </a:p>
        </p:txBody>
      </p:sp>
      <p:sp>
        <p:nvSpPr>
          <p:cNvPr id="3" name="Oval 2">
            <a:extLst>
              <a:ext uri="{FF2B5EF4-FFF2-40B4-BE49-F238E27FC236}">
                <a16:creationId xmlns:a16="http://schemas.microsoft.com/office/drawing/2014/main" id="{50365660-F790-4395-BCCA-A1B5A74443CB}"/>
              </a:ext>
            </a:extLst>
          </p:cNvPr>
          <p:cNvSpPr>
            <a:spLocks noGrp="1"/>
          </p:cNvSpPr>
          <p:nvPr/>
        </p:nvSpPr>
        <p:spPr>
          <a:xfrm>
            <a:off x="5638800" y="933450"/>
            <a:ext cx="38100" cy="38100"/>
          </a:xfrm>
          <a:prstGeom prst="ellipse">
            <a:avLst/>
          </a:prstGeom>
          <a:solidFill>
            <a:srgbClr val="E6E8E6"/>
          </a:solidFill>
          <a:ln w="0">
            <a:noFill/>
            <a:prstDash val="solid"/>
          </a:ln>
        </p:spPr>
        <p:txBody>
          <a:bodyPr/>
          <a:lstStyle/>
          <a:p>
            <a:endParaRPr lang="en-FR"/>
          </a:p>
        </p:txBody>
      </p:sp>
      <p:sp>
        <p:nvSpPr>
          <p:cNvPr id="4" name="Oval 3">
            <a:extLst>
              <a:ext uri="{FF2B5EF4-FFF2-40B4-BE49-F238E27FC236}">
                <a16:creationId xmlns:a16="http://schemas.microsoft.com/office/drawing/2014/main" id="{9375D8DC-CA5F-40B0-B7BF-056CF93CA4C9}"/>
              </a:ext>
            </a:extLst>
          </p:cNvPr>
          <p:cNvSpPr>
            <a:spLocks noGrp="1"/>
          </p:cNvSpPr>
          <p:nvPr/>
        </p:nvSpPr>
        <p:spPr>
          <a:xfrm>
            <a:off x="5810250" y="552450"/>
            <a:ext cx="28575" cy="28575"/>
          </a:xfrm>
          <a:prstGeom prst="ellipse">
            <a:avLst/>
          </a:prstGeom>
          <a:solidFill>
            <a:srgbClr val="E6E8E6"/>
          </a:solidFill>
          <a:ln w="0">
            <a:noFill/>
            <a:prstDash val="solid"/>
          </a:ln>
        </p:spPr>
        <p:txBody>
          <a:bodyPr/>
          <a:lstStyle/>
          <a:p>
            <a:endParaRPr lang="en-FR"/>
          </a:p>
        </p:txBody>
      </p:sp>
      <p:sp>
        <p:nvSpPr>
          <p:cNvPr id="5" name="Oval 4">
            <a:extLst>
              <a:ext uri="{FF2B5EF4-FFF2-40B4-BE49-F238E27FC236}">
                <a16:creationId xmlns:a16="http://schemas.microsoft.com/office/drawing/2014/main" id="{9B4636DC-97BE-46CA-BEB6-6BF5B65A7B74}"/>
              </a:ext>
            </a:extLst>
          </p:cNvPr>
          <p:cNvSpPr>
            <a:spLocks noGrp="1"/>
          </p:cNvSpPr>
          <p:nvPr/>
        </p:nvSpPr>
        <p:spPr>
          <a:xfrm>
            <a:off x="4505325" y="981075"/>
            <a:ext cx="57150" cy="57150"/>
          </a:xfrm>
          <a:prstGeom prst="ellipse">
            <a:avLst/>
          </a:prstGeom>
          <a:solidFill>
            <a:srgbClr val="E6E8E6"/>
          </a:solidFill>
          <a:ln w="0">
            <a:noFill/>
            <a:prstDash val="solid"/>
          </a:ln>
        </p:spPr>
        <p:txBody>
          <a:bodyPr/>
          <a:lstStyle/>
          <a:p>
            <a:endParaRPr lang="en-FR"/>
          </a:p>
        </p:txBody>
      </p:sp>
      <p:sp>
        <p:nvSpPr>
          <p:cNvPr id="6" name="Oval 5">
            <a:extLst>
              <a:ext uri="{FF2B5EF4-FFF2-40B4-BE49-F238E27FC236}">
                <a16:creationId xmlns:a16="http://schemas.microsoft.com/office/drawing/2014/main" id="{567805AE-F6C9-426B-897E-D76835211245}"/>
              </a:ext>
            </a:extLst>
          </p:cNvPr>
          <p:cNvSpPr>
            <a:spLocks noGrp="1"/>
          </p:cNvSpPr>
          <p:nvPr/>
        </p:nvSpPr>
        <p:spPr>
          <a:xfrm>
            <a:off x="5705475" y="990600"/>
            <a:ext cx="38100" cy="38100"/>
          </a:xfrm>
          <a:prstGeom prst="ellipse">
            <a:avLst/>
          </a:prstGeom>
          <a:solidFill>
            <a:srgbClr val="E6E8E6"/>
          </a:solidFill>
          <a:ln w="0">
            <a:noFill/>
            <a:prstDash val="solid"/>
          </a:ln>
        </p:spPr>
        <p:txBody>
          <a:bodyPr/>
          <a:lstStyle/>
          <a:p>
            <a:endParaRPr lang="en-FR"/>
          </a:p>
        </p:txBody>
      </p:sp>
      <p:sp>
        <p:nvSpPr>
          <p:cNvPr id="7" name="Oval 6">
            <a:extLst>
              <a:ext uri="{FF2B5EF4-FFF2-40B4-BE49-F238E27FC236}">
                <a16:creationId xmlns:a16="http://schemas.microsoft.com/office/drawing/2014/main" id="{B71CAA8A-0646-4E30-A41C-31D47C1744F5}"/>
              </a:ext>
            </a:extLst>
          </p:cNvPr>
          <p:cNvSpPr>
            <a:spLocks noGrp="1"/>
          </p:cNvSpPr>
          <p:nvPr/>
        </p:nvSpPr>
        <p:spPr>
          <a:xfrm>
            <a:off x="6096000" y="1162050"/>
            <a:ext cx="38100" cy="38100"/>
          </a:xfrm>
          <a:prstGeom prst="ellipse">
            <a:avLst/>
          </a:prstGeom>
          <a:solidFill>
            <a:srgbClr val="E6E8E6"/>
          </a:solidFill>
          <a:ln w="0">
            <a:noFill/>
            <a:prstDash val="solid"/>
          </a:ln>
        </p:spPr>
        <p:txBody>
          <a:bodyPr/>
          <a:lstStyle/>
          <a:p>
            <a:endParaRPr lang="en-FR"/>
          </a:p>
        </p:txBody>
      </p:sp>
      <p:sp>
        <p:nvSpPr>
          <p:cNvPr id="8" name="Oval 7">
            <a:extLst>
              <a:ext uri="{FF2B5EF4-FFF2-40B4-BE49-F238E27FC236}">
                <a16:creationId xmlns:a16="http://schemas.microsoft.com/office/drawing/2014/main" id="{8004BEBF-6AFB-4C2C-929C-BF89C0BEE4CC}"/>
              </a:ext>
            </a:extLst>
          </p:cNvPr>
          <p:cNvSpPr>
            <a:spLocks noGrp="1"/>
          </p:cNvSpPr>
          <p:nvPr/>
        </p:nvSpPr>
        <p:spPr>
          <a:xfrm>
            <a:off x="6753225" y="1304925"/>
            <a:ext cx="28575" cy="28575"/>
          </a:xfrm>
          <a:prstGeom prst="ellipse">
            <a:avLst/>
          </a:prstGeom>
          <a:solidFill>
            <a:srgbClr val="E6E8E6"/>
          </a:solidFill>
          <a:ln w="0">
            <a:noFill/>
            <a:prstDash val="solid"/>
          </a:ln>
        </p:spPr>
        <p:txBody>
          <a:bodyPr/>
          <a:lstStyle/>
          <a:p>
            <a:endParaRPr lang="en-FR"/>
          </a:p>
        </p:txBody>
      </p:sp>
      <p:sp>
        <p:nvSpPr>
          <p:cNvPr id="9" name="Oval 8">
            <a:extLst>
              <a:ext uri="{FF2B5EF4-FFF2-40B4-BE49-F238E27FC236}">
                <a16:creationId xmlns:a16="http://schemas.microsoft.com/office/drawing/2014/main" id="{971687F6-47A9-4150-89D4-7D270B8B3DC6}"/>
              </a:ext>
            </a:extLst>
          </p:cNvPr>
          <p:cNvSpPr>
            <a:spLocks noGrp="1"/>
          </p:cNvSpPr>
          <p:nvPr/>
        </p:nvSpPr>
        <p:spPr>
          <a:xfrm>
            <a:off x="7239000" y="381000"/>
            <a:ext cx="66675" cy="66675"/>
          </a:xfrm>
          <a:prstGeom prst="ellipse">
            <a:avLst/>
          </a:prstGeom>
          <a:solidFill>
            <a:srgbClr val="E6E8E6"/>
          </a:solidFill>
          <a:ln w="0">
            <a:noFill/>
            <a:prstDash val="solid"/>
          </a:ln>
        </p:spPr>
        <p:txBody>
          <a:bodyPr/>
          <a:lstStyle/>
          <a:p>
            <a:endParaRPr lang="en-FR"/>
          </a:p>
        </p:txBody>
      </p:sp>
      <p:sp>
        <p:nvSpPr>
          <p:cNvPr id="10" name="Oval 9">
            <a:extLst>
              <a:ext uri="{FF2B5EF4-FFF2-40B4-BE49-F238E27FC236}">
                <a16:creationId xmlns:a16="http://schemas.microsoft.com/office/drawing/2014/main" id="{22DB11DC-8AE3-4708-B895-9DCF02DCCDCD}"/>
              </a:ext>
            </a:extLst>
          </p:cNvPr>
          <p:cNvSpPr>
            <a:spLocks noGrp="1"/>
          </p:cNvSpPr>
          <p:nvPr/>
        </p:nvSpPr>
        <p:spPr>
          <a:xfrm>
            <a:off x="8839200" y="790575"/>
            <a:ext cx="28575" cy="28575"/>
          </a:xfrm>
          <a:prstGeom prst="ellipse">
            <a:avLst/>
          </a:prstGeom>
          <a:solidFill>
            <a:srgbClr val="E6E8E6"/>
          </a:solidFill>
          <a:ln w="0">
            <a:noFill/>
            <a:prstDash val="solid"/>
          </a:ln>
        </p:spPr>
        <p:txBody>
          <a:bodyPr/>
          <a:lstStyle/>
          <a:p>
            <a:endParaRPr lang="en-FR"/>
          </a:p>
        </p:txBody>
      </p:sp>
      <p:sp>
        <p:nvSpPr>
          <p:cNvPr id="11" name="Oval 10">
            <a:extLst>
              <a:ext uri="{FF2B5EF4-FFF2-40B4-BE49-F238E27FC236}">
                <a16:creationId xmlns:a16="http://schemas.microsoft.com/office/drawing/2014/main" id="{4170C531-2321-40E2-8044-BC5E8CA5BB58}"/>
              </a:ext>
            </a:extLst>
          </p:cNvPr>
          <p:cNvSpPr>
            <a:spLocks noGrp="1"/>
          </p:cNvSpPr>
          <p:nvPr/>
        </p:nvSpPr>
        <p:spPr>
          <a:xfrm>
            <a:off x="9048750" y="1495425"/>
            <a:ext cx="28575" cy="28575"/>
          </a:xfrm>
          <a:prstGeom prst="ellipse">
            <a:avLst/>
          </a:prstGeom>
          <a:solidFill>
            <a:srgbClr val="E6E8E6"/>
          </a:solidFill>
          <a:ln w="0">
            <a:noFill/>
            <a:prstDash val="solid"/>
          </a:ln>
        </p:spPr>
        <p:txBody>
          <a:bodyPr/>
          <a:lstStyle/>
          <a:p>
            <a:endParaRPr lang="en-FR"/>
          </a:p>
        </p:txBody>
      </p:sp>
      <p:sp>
        <p:nvSpPr>
          <p:cNvPr id="12" name="Oval 11">
            <a:extLst>
              <a:ext uri="{FF2B5EF4-FFF2-40B4-BE49-F238E27FC236}">
                <a16:creationId xmlns:a16="http://schemas.microsoft.com/office/drawing/2014/main" id="{7A4DA6F0-0E7F-4975-91FC-B8833E1EF25E}"/>
              </a:ext>
            </a:extLst>
          </p:cNvPr>
          <p:cNvSpPr>
            <a:spLocks noGrp="1"/>
          </p:cNvSpPr>
          <p:nvPr/>
        </p:nvSpPr>
        <p:spPr>
          <a:xfrm>
            <a:off x="9239250" y="1647825"/>
            <a:ext cx="28575" cy="28575"/>
          </a:xfrm>
          <a:prstGeom prst="ellipse">
            <a:avLst/>
          </a:prstGeom>
          <a:solidFill>
            <a:srgbClr val="E6E8E6"/>
          </a:solidFill>
          <a:ln w="0">
            <a:noFill/>
            <a:prstDash val="solid"/>
          </a:ln>
        </p:spPr>
        <p:txBody>
          <a:bodyPr/>
          <a:lstStyle/>
          <a:p>
            <a:endParaRPr lang="en-FR"/>
          </a:p>
        </p:txBody>
      </p:sp>
      <p:sp>
        <p:nvSpPr>
          <p:cNvPr id="13" name="Oval 12">
            <a:extLst>
              <a:ext uri="{FF2B5EF4-FFF2-40B4-BE49-F238E27FC236}">
                <a16:creationId xmlns:a16="http://schemas.microsoft.com/office/drawing/2014/main" id="{30D3E989-E565-43CA-B47B-51F6E2E6D5A5}"/>
              </a:ext>
            </a:extLst>
          </p:cNvPr>
          <p:cNvSpPr>
            <a:spLocks noGrp="1"/>
          </p:cNvSpPr>
          <p:nvPr/>
        </p:nvSpPr>
        <p:spPr>
          <a:xfrm>
            <a:off x="9944100" y="2076450"/>
            <a:ext cx="47625" cy="47625"/>
          </a:xfrm>
          <a:prstGeom prst="ellipse">
            <a:avLst/>
          </a:prstGeom>
          <a:solidFill>
            <a:srgbClr val="E6E8E6"/>
          </a:solidFill>
          <a:ln w="0">
            <a:noFill/>
            <a:prstDash val="solid"/>
          </a:ln>
        </p:spPr>
        <p:txBody>
          <a:bodyPr/>
          <a:lstStyle/>
          <a:p>
            <a:endParaRPr lang="en-FR"/>
          </a:p>
        </p:txBody>
      </p:sp>
      <p:sp>
        <p:nvSpPr>
          <p:cNvPr id="14" name="Oval 13">
            <a:extLst>
              <a:ext uri="{FF2B5EF4-FFF2-40B4-BE49-F238E27FC236}">
                <a16:creationId xmlns:a16="http://schemas.microsoft.com/office/drawing/2014/main" id="{E90AC5F6-AD11-4372-9904-82389EC0DDD8}"/>
              </a:ext>
            </a:extLst>
          </p:cNvPr>
          <p:cNvSpPr>
            <a:spLocks noGrp="1"/>
          </p:cNvSpPr>
          <p:nvPr/>
        </p:nvSpPr>
        <p:spPr>
          <a:xfrm>
            <a:off x="11258550" y="228600"/>
            <a:ext cx="28575" cy="28575"/>
          </a:xfrm>
          <a:prstGeom prst="ellipse">
            <a:avLst/>
          </a:prstGeom>
          <a:solidFill>
            <a:srgbClr val="E6E8E6"/>
          </a:solidFill>
          <a:ln w="0">
            <a:noFill/>
            <a:prstDash val="solid"/>
          </a:ln>
        </p:spPr>
        <p:txBody>
          <a:bodyPr/>
          <a:lstStyle/>
          <a:p>
            <a:endParaRPr lang="en-FR"/>
          </a:p>
        </p:txBody>
      </p:sp>
      <p:sp>
        <p:nvSpPr>
          <p:cNvPr id="15" name="Oval 14">
            <a:extLst>
              <a:ext uri="{FF2B5EF4-FFF2-40B4-BE49-F238E27FC236}">
                <a16:creationId xmlns:a16="http://schemas.microsoft.com/office/drawing/2014/main" id="{7B52B2D8-D6B9-4D4D-B2A5-2C8D8AA80805}"/>
              </a:ext>
            </a:extLst>
          </p:cNvPr>
          <p:cNvSpPr>
            <a:spLocks noGrp="1"/>
          </p:cNvSpPr>
          <p:nvPr/>
        </p:nvSpPr>
        <p:spPr>
          <a:xfrm>
            <a:off x="11306175" y="466725"/>
            <a:ext cx="38100" cy="38100"/>
          </a:xfrm>
          <a:prstGeom prst="ellipse">
            <a:avLst/>
          </a:prstGeom>
          <a:solidFill>
            <a:srgbClr val="E6E8E6"/>
          </a:solidFill>
          <a:ln w="0">
            <a:noFill/>
            <a:prstDash val="solid"/>
          </a:ln>
        </p:spPr>
        <p:txBody>
          <a:bodyPr/>
          <a:lstStyle/>
          <a:p>
            <a:endParaRPr lang="en-FR"/>
          </a:p>
        </p:txBody>
      </p:sp>
      <p:sp>
        <p:nvSpPr>
          <p:cNvPr id="16" name="Oval 15">
            <a:extLst>
              <a:ext uri="{FF2B5EF4-FFF2-40B4-BE49-F238E27FC236}">
                <a16:creationId xmlns:a16="http://schemas.microsoft.com/office/drawing/2014/main" id="{69CE3ABD-20CA-492A-A395-49E29EFAB399}"/>
              </a:ext>
            </a:extLst>
          </p:cNvPr>
          <p:cNvSpPr>
            <a:spLocks noGrp="1"/>
          </p:cNvSpPr>
          <p:nvPr/>
        </p:nvSpPr>
        <p:spPr>
          <a:xfrm>
            <a:off x="11811000" y="723900"/>
            <a:ext cx="38100" cy="38100"/>
          </a:xfrm>
          <a:prstGeom prst="ellipse">
            <a:avLst/>
          </a:prstGeom>
          <a:solidFill>
            <a:srgbClr val="E6E8E6"/>
          </a:solidFill>
          <a:ln w="0">
            <a:noFill/>
            <a:prstDash val="solid"/>
          </a:ln>
        </p:spPr>
        <p:txBody>
          <a:bodyPr/>
          <a:lstStyle/>
          <a:p>
            <a:endParaRPr lang="en-FR"/>
          </a:p>
        </p:txBody>
      </p:sp>
      <p:sp>
        <p:nvSpPr>
          <p:cNvPr id="17" name="Oval 16">
            <a:extLst>
              <a:ext uri="{FF2B5EF4-FFF2-40B4-BE49-F238E27FC236}">
                <a16:creationId xmlns:a16="http://schemas.microsoft.com/office/drawing/2014/main" id="{B88F33C5-401C-4533-ABE2-633CA7C878A6}"/>
              </a:ext>
            </a:extLst>
          </p:cNvPr>
          <p:cNvSpPr>
            <a:spLocks noGrp="1"/>
          </p:cNvSpPr>
          <p:nvPr/>
        </p:nvSpPr>
        <p:spPr>
          <a:xfrm>
            <a:off x="11991975" y="1181100"/>
            <a:ext cx="47625" cy="47625"/>
          </a:xfrm>
          <a:prstGeom prst="ellipse">
            <a:avLst/>
          </a:prstGeom>
          <a:solidFill>
            <a:srgbClr val="E6E8E6"/>
          </a:solidFill>
          <a:ln w="0">
            <a:noFill/>
            <a:prstDash val="solid"/>
          </a:ln>
        </p:spPr>
        <p:txBody>
          <a:bodyPr/>
          <a:lstStyle/>
          <a:p>
            <a:endParaRPr lang="en-FR"/>
          </a:p>
        </p:txBody>
      </p:sp>
      <p:sp>
        <p:nvSpPr>
          <p:cNvPr id="18" name="Oval 17">
            <a:extLst>
              <a:ext uri="{FF2B5EF4-FFF2-40B4-BE49-F238E27FC236}">
                <a16:creationId xmlns:a16="http://schemas.microsoft.com/office/drawing/2014/main" id="{81912CAD-A491-40CB-BE59-97E8CE401F65}"/>
              </a:ext>
            </a:extLst>
          </p:cNvPr>
          <p:cNvSpPr>
            <a:spLocks noGrp="1"/>
          </p:cNvSpPr>
          <p:nvPr/>
        </p:nvSpPr>
        <p:spPr>
          <a:xfrm>
            <a:off x="0" y="3028950"/>
            <a:ext cx="1381125" cy="1219200"/>
          </a:xfrm>
          <a:prstGeom prst="ellipse">
            <a:avLst/>
          </a:prstGeom>
          <a:solidFill>
            <a:srgbClr val="F5F8F6"/>
          </a:solidFill>
          <a:ln w="9525">
            <a:solidFill>
              <a:srgbClr val="E3E8E5"/>
            </a:solidFill>
            <a:prstDash val="dot"/>
          </a:ln>
        </p:spPr>
        <p:txBody>
          <a:bodyPr/>
          <a:lstStyle/>
          <a:p>
            <a:endParaRPr lang="en-FR"/>
          </a:p>
        </p:txBody>
      </p:sp>
      <p:pic>
        <p:nvPicPr>
          <p:cNvPr id="94" name="Picture 93"/>
          <p:cNvPicPr>
            <a:picLocks noChangeAspect="1"/>
          </p:cNvPicPr>
          <p:nvPr/>
        </p:nvPicPr>
        <p:blipFill>
          <a:blip r:embed="rId3"/>
          <a:stretch/>
        </p:blipFill>
        <p:spPr>
          <a:xfrm>
            <a:off x="426149" y="276225"/>
            <a:ext cx="1824228" cy="542925"/>
          </a:xfrm>
          <a:prstGeom prst="rect">
            <a:avLst/>
          </a:prstGeom>
        </p:spPr>
      </p:pic>
      <p:sp>
        <p:nvSpPr>
          <p:cNvPr id="21" name="Rectangle 20">
            <a:extLst>
              <a:ext uri="{FF2B5EF4-FFF2-40B4-BE49-F238E27FC236}">
                <a16:creationId xmlns:a16="http://schemas.microsoft.com/office/drawing/2014/main" id="{C287F6CF-5BDC-4BBA-BB60-B25AA48793ED}"/>
              </a:ext>
            </a:extLst>
          </p:cNvPr>
          <p:cNvSpPr>
            <a:spLocks noGrp="1"/>
          </p:cNvSpPr>
          <p:nvPr/>
        </p:nvSpPr>
        <p:spPr>
          <a:xfrm>
            <a:off x="400050" y="1118185"/>
            <a:ext cx="4953000" cy="495300"/>
          </a:xfrm>
          <a:prstGeom prst="rect">
            <a:avLst/>
          </a:prstGeom>
          <a:noFill/>
          <a:ln w="0">
            <a:noFill/>
            <a:prstDash val="solid"/>
          </a:ln>
        </p:spPr>
        <p:txBody>
          <a:bodyPr wrap="none" lIns="0" tIns="0" rIns="0" bIns="0" anchor="t"/>
          <a:lstStyle/>
          <a:p>
            <a:pPr algn="l">
              <a:lnSpc>
                <a:spcPct val="100000"/>
              </a:lnSpc>
              <a:buNone/>
              <a:defRPr sz="3150" b="1" i="0">
                <a:solidFill>
                  <a:srgbClr val="003B25"/>
                </a:solidFill>
                <a:latin typeface="Arial"/>
                <a:ea typeface="Arial"/>
                <a:cs typeface="Arial"/>
              </a:defRPr>
            </a:pPr>
            <a:r>
              <a:rPr sz="3150" b="1" i="0" dirty="0">
                <a:solidFill>
                  <a:srgbClr val="003B25"/>
                </a:solidFill>
                <a:latin typeface="Arial"/>
                <a:ea typeface="Arial"/>
                <a:cs typeface="Arial"/>
              </a:rPr>
              <a:t>Current Environment</a:t>
            </a:r>
          </a:p>
        </p:txBody>
      </p:sp>
      <p:sp>
        <p:nvSpPr>
          <p:cNvPr id="22" name="Rectangle 21">
            <a:extLst>
              <a:ext uri="{FF2B5EF4-FFF2-40B4-BE49-F238E27FC236}">
                <a16:creationId xmlns:a16="http://schemas.microsoft.com/office/drawing/2014/main" id="{7181C17D-13DF-4692-BC64-FC2AD05459C9}"/>
              </a:ext>
            </a:extLst>
          </p:cNvPr>
          <p:cNvSpPr>
            <a:spLocks noGrp="1"/>
          </p:cNvSpPr>
          <p:nvPr/>
        </p:nvSpPr>
        <p:spPr>
          <a:xfrm>
            <a:off x="400050" y="1704975"/>
            <a:ext cx="371475" cy="38100"/>
          </a:xfrm>
          <a:prstGeom prst="rect">
            <a:avLst/>
          </a:prstGeom>
          <a:solidFill>
            <a:srgbClr val="F00000"/>
          </a:solidFill>
          <a:ln w="0">
            <a:noFill/>
            <a:prstDash val="solid"/>
          </a:ln>
        </p:spPr>
        <p:txBody>
          <a:bodyPr/>
          <a:lstStyle/>
          <a:p>
            <a:endParaRPr lang="en-FR"/>
          </a:p>
        </p:txBody>
      </p:sp>
      <p:sp>
        <p:nvSpPr>
          <p:cNvPr id="23" name="Rectangle 22">
            <a:extLst>
              <a:ext uri="{FF2B5EF4-FFF2-40B4-BE49-F238E27FC236}">
                <a16:creationId xmlns:a16="http://schemas.microsoft.com/office/drawing/2014/main" id="{CF1157D8-7FA6-44EE-9ABA-8C1B2D76EB92}"/>
              </a:ext>
            </a:extLst>
          </p:cNvPr>
          <p:cNvSpPr>
            <a:spLocks noGrp="1"/>
          </p:cNvSpPr>
          <p:nvPr/>
        </p:nvSpPr>
        <p:spPr>
          <a:xfrm>
            <a:off x="400050" y="1885950"/>
            <a:ext cx="5334000" cy="209550"/>
          </a:xfrm>
          <a:prstGeom prst="rect">
            <a:avLst/>
          </a:prstGeom>
          <a:noFill/>
          <a:ln w="0">
            <a:noFill/>
            <a:prstDash val="solid"/>
          </a:ln>
        </p:spPr>
        <p:txBody>
          <a:bodyPr wrap="none" lIns="0" tIns="0" rIns="0" bIns="0" anchor="t"/>
          <a:lstStyle/>
          <a:p>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a:ext uri="{FF2B5EF4-FFF2-40B4-BE49-F238E27FC236}">
                <a16:creationId xmlns:a16="http://schemas.microsoft.com/office/drawing/2014/main" id="{7742F759-7FA3-4F04-BD5F-BC22AB94CD82}"/>
              </a:ext>
            </a:extLst>
          </p:cNvPr>
          <p:cNvSpPr>
            <a:spLocks noGrp="1"/>
          </p:cNvSpPr>
          <p:nvPr/>
        </p:nvSpPr>
        <p:spPr>
          <a:xfrm>
            <a:off x="400050" y="2181225"/>
            <a:ext cx="11334750" cy="2152650"/>
          </a:xfrm>
          <a:prstGeom prst="roundRect">
            <a:avLst>
              <a:gd name="adj" fmla="val 3097"/>
            </a:avLst>
          </a:prstGeom>
          <a:solidFill>
            <a:srgbClr val="FFFFFF"/>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25" name="Rounded Rectangle 24">
            <a:extLst>
              <a:ext uri="{FF2B5EF4-FFF2-40B4-BE49-F238E27FC236}">
                <a16:creationId xmlns:a16="http://schemas.microsoft.com/office/drawing/2014/main" id="{B404DBE3-517A-4268-99D5-24CDE97D5A55}"/>
              </a:ext>
            </a:extLst>
          </p:cNvPr>
          <p:cNvSpPr>
            <a:spLocks noGrp="1"/>
          </p:cNvSpPr>
          <p:nvPr/>
        </p:nvSpPr>
        <p:spPr>
          <a:xfrm>
            <a:off x="400050" y="2181225"/>
            <a:ext cx="11334750" cy="419100"/>
          </a:xfrm>
          <a:prstGeom prst="roundRect">
            <a:avLst>
              <a:gd name="adj" fmla="val 15909"/>
            </a:avLst>
          </a:prstGeom>
          <a:gradFill>
            <a:gsLst>
              <a:gs pos="0">
                <a:srgbClr val="003B25"/>
              </a:gs>
              <a:gs pos="100000">
                <a:srgbClr val="0A4B30"/>
              </a:gs>
            </a:gsLst>
            <a:lin ang="5400000"/>
          </a:gradFill>
          <a:ln w="0">
            <a:noFill/>
            <a:prstDash val="solid"/>
          </a:ln>
        </p:spPr>
        <p:txBody>
          <a:bodyPr/>
          <a:lstStyle/>
          <a:p>
            <a:endParaRPr lang="en-FR"/>
          </a:p>
        </p:txBody>
      </p:sp>
      <p:sp>
        <p:nvSpPr>
          <p:cNvPr id="26" name="Rectangle 25">
            <a:extLst>
              <a:ext uri="{FF2B5EF4-FFF2-40B4-BE49-F238E27FC236}">
                <a16:creationId xmlns:a16="http://schemas.microsoft.com/office/drawing/2014/main" id="{F149E187-8D0C-45BD-B937-45018F857AE1}"/>
              </a:ext>
            </a:extLst>
          </p:cNvPr>
          <p:cNvSpPr>
            <a:spLocks noGrp="1"/>
          </p:cNvSpPr>
          <p:nvPr/>
        </p:nvSpPr>
        <p:spPr>
          <a:xfrm>
            <a:off x="400050" y="2514600"/>
            <a:ext cx="11334750" cy="85725"/>
          </a:xfrm>
          <a:prstGeom prst="rect">
            <a:avLst/>
          </a:prstGeom>
          <a:gradFill>
            <a:gsLst>
              <a:gs pos="0">
                <a:srgbClr val="003B25"/>
              </a:gs>
              <a:gs pos="100000">
                <a:srgbClr val="0A4B30"/>
              </a:gs>
            </a:gsLst>
            <a:lin ang="5400000"/>
          </a:gradFill>
          <a:ln w="0">
            <a:noFill/>
            <a:prstDash val="solid"/>
          </a:ln>
        </p:spPr>
        <p:txBody>
          <a:bodyPr/>
          <a:lstStyle/>
          <a:p>
            <a:endParaRPr lang="en-FR"/>
          </a:p>
        </p:txBody>
      </p:sp>
      <p:pic>
        <p:nvPicPr>
          <p:cNvPr id="101" name="Picture 100"/>
          <p:cNvPicPr>
            <a:picLocks noChangeAspect="1"/>
          </p:cNvPicPr>
          <p:nvPr/>
        </p:nvPicPr>
        <p:blipFill>
          <a:blip r:embed="rId4"/>
          <a:stretch/>
        </p:blipFill>
        <p:spPr>
          <a:xfrm>
            <a:off x="600075" y="2261185"/>
            <a:ext cx="285750" cy="278230"/>
          </a:xfrm>
          <a:prstGeom prst="rect">
            <a:avLst/>
          </a:prstGeom>
        </p:spPr>
      </p:pic>
      <p:sp>
        <p:nvSpPr>
          <p:cNvPr id="28" name="Rectangle 27">
            <a:extLst>
              <a:ext uri="{FF2B5EF4-FFF2-40B4-BE49-F238E27FC236}">
                <a16:creationId xmlns:a16="http://schemas.microsoft.com/office/drawing/2014/main" id="{1FCDE930-188D-4EA2-8394-918FC60EA432}"/>
              </a:ext>
            </a:extLst>
          </p:cNvPr>
          <p:cNvSpPr>
            <a:spLocks noGrp="1"/>
          </p:cNvSpPr>
          <p:nvPr/>
        </p:nvSpPr>
        <p:spPr>
          <a:xfrm>
            <a:off x="981075" y="2333625"/>
            <a:ext cx="2381250" cy="209550"/>
          </a:xfrm>
          <a:prstGeom prst="rect">
            <a:avLst/>
          </a:prstGeom>
          <a:noFill/>
          <a:ln w="0">
            <a:noFill/>
            <a:prstDash val="solid"/>
          </a:ln>
        </p:spPr>
        <p:txBody>
          <a:bodyPr wrap="none" lIns="0" tIns="0" rIns="0" bIns="0" anchor="t"/>
          <a:lstStyle/>
          <a:p>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a:ext uri="{FF2B5EF4-FFF2-40B4-BE49-F238E27FC236}">
                <a16:creationId xmlns:a16="http://schemas.microsoft.com/office/drawing/2014/main" id="{073F4B3D-A689-436F-BCE6-8235406074F8}"/>
              </a:ext>
            </a:extLst>
          </p:cNvPr>
          <p:cNvSpPr>
            <a:spLocks noGrp="1"/>
          </p:cNvSpPr>
          <p:nvPr/>
        </p:nvSpPr>
        <p:spPr>
          <a:xfrm>
            <a:off x="3200400" y="2857500"/>
            <a:ext cx="0" cy="1028700"/>
          </a:xfrm>
          <a:prstGeom prst="line">
            <a:avLst/>
          </a:prstGeom>
          <a:noFill/>
          <a:ln w="9525">
            <a:solidFill>
              <a:srgbClr val="C9CECA"/>
            </a:solidFill>
            <a:prstDash val="solid"/>
          </a:ln>
        </p:spPr>
        <p:txBody>
          <a:bodyPr/>
          <a:lstStyle/>
          <a:p>
            <a:endParaRPr lang="en-FR"/>
          </a:p>
        </p:txBody>
      </p:sp>
      <p:sp>
        <p:nvSpPr>
          <p:cNvPr id="30" name="Straight Connector 29">
            <a:extLst>
              <a:ext uri="{FF2B5EF4-FFF2-40B4-BE49-F238E27FC236}">
                <a16:creationId xmlns:a16="http://schemas.microsoft.com/office/drawing/2014/main" id="{FB60119E-4550-4C62-A1C7-2490DD52390F}"/>
              </a:ext>
            </a:extLst>
          </p:cNvPr>
          <p:cNvSpPr>
            <a:spLocks noGrp="1"/>
          </p:cNvSpPr>
          <p:nvPr/>
        </p:nvSpPr>
        <p:spPr>
          <a:xfrm>
            <a:off x="5981700" y="2857500"/>
            <a:ext cx="0" cy="1028700"/>
          </a:xfrm>
          <a:prstGeom prst="line">
            <a:avLst/>
          </a:prstGeom>
          <a:noFill/>
          <a:ln w="9525">
            <a:solidFill>
              <a:srgbClr val="C9CECA"/>
            </a:solidFill>
            <a:prstDash val="solid"/>
          </a:ln>
        </p:spPr>
        <p:txBody>
          <a:bodyPr/>
          <a:lstStyle/>
          <a:p>
            <a:endParaRPr lang="en-FR"/>
          </a:p>
        </p:txBody>
      </p:sp>
      <p:sp>
        <p:nvSpPr>
          <p:cNvPr id="31" name="Straight Connector 30">
            <a:extLst>
              <a:ext uri="{FF2B5EF4-FFF2-40B4-BE49-F238E27FC236}">
                <a16:creationId xmlns:a16="http://schemas.microsoft.com/office/drawing/2014/main" id="{635B3C01-9C5E-4AA0-AC7B-F394D0687E36}"/>
              </a:ext>
            </a:extLst>
          </p:cNvPr>
          <p:cNvSpPr>
            <a:spLocks noGrp="1"/>
          </p:cNvSpPr>
          <p:nvPr/>
        </p:nvSpPr>
        <p:spPr>
          <a:xfrm>
            <a:off x="8724900" y="2857500"/>
            <a:ext cx="0" cy="1028700"/>
          </a:xfrm>
          <a:prstGeom prst="line">
            <a:avLst/>
          </a:prstGeom>
          <a:noFill/>
          <a:ln w="9525">
            <a:solidFill>
              <a:srgbClr val="C9CECA"/>
            </a:solidFill>
            <a:prstDash val="solid"/>
          </a:ln>
        </p:spPr>
        <p:txBody>
          <a:bodyPr/>
          <a:lstStyle/>
          <a:p>
            <a:endParaRPr lang="en-FR"/>
          </a:p>
        </p:txBody>
      </p:sp>
      <p:sp>
        <p:nvSpPr>
          <p:cNvPr id="32" name="Rectangle 31">
            <a:extLst>
              <a:ext uri="{FF2B5EF4-FFF2-40B4-BE49-F238E27FC236}">
                <a16:creationId xmlns:a16="http://schemas.microsoft.com/office/drawing/2014/main" id="{B59BC397-1AED-455B-BFE0-6D1460C9CD8C}"/>
              </a:ext>
            </a:extLst>
          </p:cNvPr>
          <p:cNvSpPr>
            <a:spLocks noGrp="1"/>
          </p:cNvSpPr>
          <p:nvPr/>
        </p:nvSpPr>
        <p:spPr>
          <a:xfrm>
            <a:off x="11715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Rectangle 32">
            <a:extLst>
              <a:ext uri="{FF2B5EF4-FFF2-40B4-BE49-F238E27FC236}">
                <a16:creationId xmlns:a16="http://schemas.microsoft.com/office/drawing/2014/main" id="{127C50D5-D813-45E0-8A65-C431BD0456FE}"/>
              </a:ext>
            </a:extLst>
          </p:cNvPr>
          <p:cNvSpPr>
            <a:spLocks noGrp="1"/>
          </p:cNvSpPr>
          <p:nvPr/>
        </p:nvSpPr>
        <p:spPr>
          <a:xfrm>
            <a:off x="11715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08" name="Picture 107"/>
          <p:cNvPicPr>
            <a:picLocks noChangeAspect="1"/>
          </p:cNvPicPr>
          <p:nvPr/>
        </p:nvPicPr>
        <p:blipFill>
          <a:blip r:embed="rId5"/>
          <a:stretch/>
        </p:blipFill>
        <p:spPr>
          <a:xfrm>
            <a:off x="1590675" y="2781300"/>
            <a:ext cx="495300" cy="495300"/>
          </a:xfrm>
          <a:prstGeom prst="rect">
            <a:avLst/>
          </a:prstGeom>
        </p:spPr>
      </p:pic>
      <p:sp>
        <p:nvSpPr>
          <p:cNvPr id="35" name="Rectangle 34">
            <a:extLst>
              <a:ext uri="{FF2B5EF4-FFF2-40B4-BE49-F238E27FC236}">
                <a16:creationId xmlns:a16="http://schemas.microsoft.com/office/drawing/2014/main" id="{CCA77633-015F-457C-984D-6673C096DB92}"/>
              </a:ext>
            </a:extLst>
          </p:cNvPr>
          <p:cNvSpPr>
            <a:spLocks noGrp="1"/>
          </p:cNvSpPr>
          <p:nvPr/>
        </p:nvSpPr>
        <p:spPr>
          <a:xfrm>
            <a:off x="39528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Rectangle 35">
            <a:extLst>
              <a:ext uri="{FF2B5EF4-FFF2-40B4-BE49-F238E27FC236}">
                <a16:creationId xmlns:a16="http://schemas.microsoft.com/office/drawing/2014/main" id="{D3349B43-D610-4795-98E9-37BED54D9ECE}"/>
              </a:ext>
            </a:extLst>
          </p:cNvPr>
          <p:cNvSpPr>
            <a:spLocks noGrp="1"/>
          </p:cNvSpPr>
          <p:nvPr/>
        </p:nvSpPr>
        <p:spPr>
          <a:xfrm>
            <a:off x="39528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11" name="Picture 110"/>
          <p:cNvPicPr>
            <a:picLocks noChangeAspect="1"/>
          </p:cNvPicPr>
          <p:nvPr/>
        </p:nvPicPr>
        <p:blipFill>
          <a:blip r:embed="rId6"/>
          <a:stretch/>
        </p:blipFill>
        <p:spPr>
          <a:xfrm>
            <a:off x="4371975" y="2781300"/>
            <a:ext cx="495300" cy="495300"/>
          </a:xfrm>
          <a:prstGeom prst="rect">
            <a:avLst/>
          </a:prstGeom>
        </p:spPr>
      </p:pic>
      <p:sp>
        <p:nvSpPr>
          <p:cNvPr id="38" name="Rectangle 37">
            <a:extLst>
              <a:ext uri="{FF2B5EF4-FFF2-40B4-BE49-F238E27FC236}">
                <a16:creationId xmlns:a16="http://schemas.microsoft.com/office/drawing/2014/main" id="{52A61E4A-8FF4-4FA2-BD1B-74AD7A47DE93}"/>
              </a:ext>
            </a:extLst>
          </p:cNvPr>
          <p:cNvSpPr>
            <a:spLocks noGrp="1"/>
          </p:cNvSpPr>
          <p:nvPr/>
        </p:nvSpPr>
        <p:spPr>
          <a:xfrm>
            <a:off x="66960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Rectangle 38">
            <a:extLst>
              <a:ext uri="{FF2B5EF4-FFF2-40B4-BE49-F238E27FC236}">
                <a16:creationId xmlns:a16="http://schemas.microsoft.com/office/drawing/2014/main" id="{90A624D4-C31B-42AE-A588-376259BB8A49}"/>
              </a:ext>
            </a:extLst>
          </p:cNvPr>
          <p:cNvSpPr>
            <a:spLocks noGrp="1"/>
          </p:cNvSpPr>
          <p:nvPr/>
        </p:nvSpPr>
        <p:spPr>
          <a:xfrm>
            <a:off x="66960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14" name="Picture 113"/>
          <p:cNvPicPr>
            <a:picLocks noChangeAspect="1"/>
          </p:cNvPicPr>
          <p:nvPr/>
        </p:nvPicPr>
        <p:blipFill>
          <a:blip r:embed="rId7"/>
          <a:stretch/>
        </p:blipFill>
        <p:spPr>
          <a:xfrm>
            <a:off x="7115175" y="2781300"/>
            <a:ext cx="495300" cy="495300"/>
          </a:xfrm>
          <a:prstGeom prst="rect">
            <a:avLst/>
          </a:prstGeom>
        </p:spPr>
      </p:pic>
      <p:sp>
        <p:nvSpPr>
          <p:cNvPr id="41" name="Rectangle 40">
            <a:extLst>
              <a:ext uri="{FF2B5EF4-FFF2-40B4-BE49-F238E27FC236}">
                <a16:creationId xmlns:a16="http://schemas.microsoft.com/office/drawing/2014/main" id="{8F1EB62F-0498-4D60-9534-8F4AE5E5A7C5}"/>
              </a:ext>
            </a:extLst>
          </p:cNvPr>
          <p:cNvSpPr>
            <a:spLocks noGrp="1"/>
          </p:cNvSpPr>
          <p:nvPr/>
        </p:nvSpPr>
        <p:spPr>
          <a:xfrm>
            <a:off x="9448800"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Rectangle 41">
            <a:extLst>
              <a:ext uri="{FF2B5EF4-FFF2-40B4-BE49-F238E27FC236}">
                <a16:creationId xmlns:a16="http://schemas.microsoft.com/office/drawing/2014/main" id="{84830E81-2535-4FE2-8239-D8779C43C1A8}"/>
              </a:ext>
            </a:extLst>
          </p:cNvPr>
          <p:cNvSpPr>
            <a:spLocks noGrp="1"/>
          </p:cNvSpPr>
          <p:nvPr/>
        </p:nvSpPr>
        <p:spPr>
          <a:xfrm>
            <a:off x="9448800"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17" name="Picture 116"/>
          <p:cNvPicPr>
            <a:picLocks noChangeAspect="1"/>
          </p:cNvPicPr>
          <p:nvPr/>
        </p:nvPicPr>
        <p:blipFill>
          <a:blip r:embed="rId8"/>
          <a:stretch/>
        </p:blipFill>
        <p:spPr>
          <a:xfrm>
            <a:off x="9867900" y="2781300"/>
            <a:ext cx="495300" cy="495300"/>
          </a:xfrm>
          <a:prstGeom prst="rect">
            <a:avLst/>
          </a:prstGeom>
        </p:spPr>
      </p:pic>
      <p:sp>
        <p:nvSpPr>
          <p:cNvPr id="44" name="Rectangle 43">
            <a:extLst>
              <a:ext uri="{FF2B5EF4-FFF2-40B4-BE49-F238E27FC236}">
                <a16:creationId xmlns:a16="http://schemas.microsoft.com/office/drawing/2014/main" id="{40B2A91E-AAE2-4FEB-AD52-D18E23D0EC0B}"/>
              </a:ext>
            </a:extLst>
          </p:cNvPr>
          <p:cNvSpPr>
            <a:spLocks noGrp="1"/>
          </p:cNvSpPr>
          <p:nvPr/>
        </p:nvSpPr>
        <p:spPr>
          <a:xfrm>
            <a:off x="1323975" y="3876675"/>
            <a:ext cx="428625" cy="171450"/>
          </a:xfrm>
          <a:prstGeom prst="rect">
            <a:avLst/>
          </a:prstGeom>
          <a:noFill/>
          <a:ln w="0">
            <a:noFill/>
            <a:prstDash val="solid"/>
          </a:ln>
        </p:spPr>
        <p:txBody>
          <a:bodyPr wrap="none" lIns="0" tIns="0" rIns="0" bIns="0" anchor="t"/>
          <a:lstStyle/>
          <a:p>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a:ext uri="{FF2B5EF4-FFF2-40B4-BE49-F238E27FC236}">
                <a16:creationId xmlns:a16="http://schemas.microsoft.com/office/drawing/2014/main" id="{277AB89B-0977-4880-A97D-D7648C371A3B}"/>
              </a:ext>
            </a:extLst>
          </p:cNvPr>
          <p:cNvSpPr>
            <a:spLocks noGrp="1"/>
          </p:cNvSpPr>
          <p:nvPr/>
        </p:nvSpPr>
        <p:spPr>
          <a:xfrm>
            <a:off x="1800225" y="3876675"/>
            <a:ext cx="809625" cy="171450"/>
          </a:xfrm>
          <a:prstGeom prst="rect">
            <a:avLst/>
          </a:prstGeom>
          <a:noFill/>
          <a:ln w="0">
            <a:noFill/>
            <a:prstDash val="solid"/>
          </a:ln>
        </p:spPr>
        <p:txBody>
          <a:bodyPr wrap="none" lIns="0" tIns="0" rIns="0" bIns="0" anchor="t"/>
          <a:lstStyle/>
          <a:p>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Rectangle 45">
            <a:extLst>
              <a:ext uri="{FF2B5EF4-FFF2-40B4-BE49-F238E27FC236}">
                <a16:creationId xmlns:a16="http://schemas.microsoft.com/office/drawing/2014/main" id="{F7F48385-3BC4-475A-A935-67C101D814FB}"/>
              </a:ext>
            </a:extLst>
          </p:cNvPr>
          <p:cNvSpPr>
            <a:spLocks noGrp="1"/>
          </p:cNvSpPr>
          <p:nvPr/>
        </p:nvSpPr>
        <p:spPr>
          <a:xfrm>
            <a:off x="1323975" y="4067175"/>
            <a:ext cx="428625" cy="171450"/>
          </a:xfrm>
          <a:prstGeom prst="rect">
            <a:avLst/>
          </a:prstGeom>
          <a:noFill/>
          <a:ln w="0">
            <a:noFill/>
            <a:prstDash val="solid"/>
          </a:ln>
        </p:spPr>
        <p:txBody>
          <a:bodyPr wrap="none" lIns="0" tIns="0" rIns="0" bIns="0" anchor="t"/>
          <a:lstStyle/>
          <a:p>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a:ext uri="{FF2B5EF4-FFF2-40B4-BE49-F238E27FC236}">
                <a16:creationId xmlns:a16="http://schemas.microsoft.com/office/drawing/2014/main" id="{4F72CCE0-CF33-447A-9A99-12F0DB96E23B}"/>
              </a:ext>
            </a:extLst>
          </p:cNvPr>
          <p:cNvSpPr>
            <a:spLocks noGrp="1"/>
          </p:cNvSpPr>
          <p:nvPr/>
        </p:nvSpPr>
        <p:spPr>
          <a:xfrm>
            <a:off x="1800225" y="4067175"/>
            <a:ext cx="876300" cy="171450"/>
          </a:xfrm>
          <a:prstGeom prst="rect">
            <a:avLst/>
          </a:prstGeom>
          <a:noFill/>
          <a:ln w="0">
            <a:noFill/>
            <a:prstDash val="solid"/>
          </a:ln>
        </p:spPr>
        <p:txBody>
          <a:bodyPr wrap="none" lIns="0" tIns="0" rIns="0" bIns="0" anchor="t"/>
          <a:lstStyle/>
          <a:p>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a:ext uri="{FF2B5EF4-FFF2-40B4-BE49-F238E27FC236}">
                <a16:creationId xmlns:a16="http://schemas.microsoft.com/office/drawing/2014/main" id="{298F7E7A-D055-437F-B62D-B044692E6F88}"/>
              </a:ext>
            </a:extLst>
          </p:cNvPr>
          <p:cNvSpPr>
            <a:spLocks noGrp="1"/>
          </p:cNvSpPr>
          <p:nvPr/>
        </p:nvSpPr>
        <p:spPr>
          <a:xfrm>
            <a:off x="400050" y="4486275"/>
            <a:ext cx="11334750" cy="1009650"/>
          </a:xfrm>
          <a:prstGeom prst="roundRect">
            <a:avLst>
              <a:gd name="adj" fmla="val 6604"/>
            </a:avLst>
          </a:prstGeom>
          <a:solidFill>
            <a:srgbClr val="F3F7F5"/>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49" name="Rounded Rectangle 48">
            <a:extLst>
              <a:ext uri="{FF2B5EF4-FFF2-40B4-BE49-F238E27FC236}">
                <a16:creationId xmlns:a16="http://schemas.microsoft.com/office/drawing/2014/main" id="{F92C2AB9-B877-4DDB-BCDD-C92BBFD94A50}"/>
              </a:ext>
            </a:extLst>
          </p:cNvPr>
          <p:cNvSpPr>
            <a:spLocks noGrp="1"/>
          </p:cNvSpPr>
          <p:nvPr/>
        </p:nvSpPr>
        <p:spPr>
          <a:xfrm>
            <a:off x="400050" y="4486275"/>
            <a:ext cx="1819275" cy="1009650"/>
          </a:xfrm>
          <a:prstGeom prst="roundRect">
            <a:avLst>
              <a:gd name="adj" fmla="val 6604"/>
            </a:avLst>
          </a:prstGeom>
          <a:gradFill>
            <a:gsLst>
              <a:gs pos="0">
                <a:srgbClr val="003B25"/>
              </a:gs>
              <a:gs pos="100000">
                <a:srgbClr val="0A4B30"/>
              </a:gs>
            </a:gsLst>
            <a:lin ang="5400000"/>
          </a:gradFill>
          <a:ln w="0">
            <a:noFill/>
            <a:prstDash val="solid"/>
          </a:ln>
        </p:spPr>
        <p:txBody>
          <a:bodyPr/>
          <a:lstStyle/>
          <a:p>
            <a:endParaRPr lang="en-FR"/>
          </a:p>
        </p:txBody>
      </p:sp>
      <p:sp>
        <p:nvSpPr>
          <p:cNvPr id="50" name="Rectangle 49">
            <a:extLst>
              <a:ext uri="{FF2B5EF4-FFF2-40B4-BE49-F238E27FC236}">
                <a16:creationId xmlns:a16="http://schemas.microsoft.com/office/drawing/2014/main" id="{47D07B68-7D3B-4636-AEC8-6CB4A4FC4595}"/>
              </a:ext>
            </a:extLst>
          </p:cNvPr>
          <p:cNvSpPr>
            <a:spLocks noGrp="1"/>
          </p:cNvSpPr>
          <p:nvPr/>
        </p:nvSpPr>
        <p:spPr>
          <a:xfrm>
            <a:off x="1447800" y="4486275"/>
            <a:ext cx="771525" cy="1009650"/>
          </a:xfrm>
          <a:prstGeom prst="rect">
            <a:avLst/>
          </a:prstGeom>
          <a:gradFill>
            <a:gsLst>
              <a:gs pos="0">
                <a:srgbClr val="003B25"/>
              </a:gs>
              <a:gs pos="100000">
                <a:srgbClr val="0A4B30"/>
              </a:gs>
            </a:gsLst>
            <a:lin ang="5400000"/>
          </a:gradFill>
          <a:ln w="0">
            <a:noFill/>
            <a:prstDash val="solid"/>
          </a:ln>
        </p:spPr>
        <p:txBody>
          <a:bodyPr/>
          <a:lstStyle/>
          <a:p>
            <a:endParaRPr lang="en-FR"/>
          </a:p>
        </p:txBody>
      </p:sp>
      <p:pic>
        <p:nvPicPr>
          <p:cNvPr id="125" name="Picture 124"/>
          <p:cNvPicPr>
            <a:picLocks noChangeAspect="1"/>
          </p:cNvPicPr>
          <p:nvPr/>
        </p:nvPicPr>
        <p:blipFill>
          <a:blip r:embed="rId9"/>
          <a:stretch/>
        </p:blipFill>
        <p:spPr>
          <a:xfrm>
            <a:off x="1076325" y="4671030"/>
            <a:ext cx="476250" cy="468690"/>
          </a:xfrm>
          <a:prstGeom prst="rect">
            <a:avLst/>
          </a:prstGeom>
        </p:spPr>
      </p:pic>
      <p:sp>
        <p:nvSpPr>
          <p:cNvPr id="52" name="Rectangle 51">
            <a:extLst>
              <a:ext uri="{FF2B5EF4-FFF2-40B4-BE49-F238E27FC236}">
                <a16:creationId xmlns:a16="http://schemas.microsoft.com/office/drawing/2014/main" id="{7135EB0C-DEDC-471B-8F07-A8F41F1E2D6A}"/>
              </a:ext>
            </a:extLst>
          </p:cNvPr>
          <p:cNvSpPr>
            <a:spLocks noGrp="1"/>
          </p:cNvSpPr>
          <p:nvPr/>
        </p:nvSpPr>
        <p:spPr>
          <a:xfrm>
            <a:off x="666750" y="5162550"/>
            <a:ext cx="1257300" cy="209550"/>
          </a:xfrm>
          <a:prstGeom prst="rect">
            <a:avLst/>
          </a:prstGeom>
          <a:noFill/>
          <a:ln w="0">
            <a:noFill/>
            <a:prstDash val="solid"/>
          </a:ln>
        </p:spPr>
        <p:txBody>
          <a:bodyPr wrap="none" lIns="0" tIns="0" rIns="0" bIns="0" anchor="t"/>
          <a:lstStyle/>
          <a:p>
            <a:pPr algn="ctr">
              <a:lnSpc>
                <a:spcPct val="100000"/>
              </a:lnSpc>
              <a:buNone/>
              <a:defRPr sz="1200" b="1" i="0">
                <a:solidFill>
                  <a:srgbClr val="FFFFFF"/>
                </a:solidFill>
                <a:latin typeface="Arial"/>
                <a:ea typeface="Arial"/>
                <a:cs typeface="Arial"/>
              </a:defRPr>
            </a:pPr>
            <a:r>
              <a:rPr sz="1200" b="1" i="0" dirty="0">
                <a:solidFill>
                  <a:srgbClr val="FFFFFF"/>
                </a:solidFill>
                <a:latin typeface="Arial"/>
                <a:ea typeface="Arial"/>
                <a:cs typeface="Arial"/>
              </a:rPr>
              <a:t>Total Environment</a:t>
            </a:r>
          </a:p>
        </p:txBody>
      </p:sp>
      <p:sp>
        <p:nvSpPr>
          <p:cNvPr id="53" name="Straight Connector 52">
            <a:extLst>
              <a:ext uri="{FF2B5EF4-FFF2-40B4-BE49-F238E27FC236}">
                <a16:creationId xmlns:a16="http://schemas.microsoft.com/office/drawing/2014/main" id="{6A04919F-C898-4046-9165-502C7FD7BAF0}"/>
              </a:ext>
            </a:extLst>
          </p:cNvPr>
          <p:cNvSpPr>
            <a:spLocks noGrp="1"/>
          </p:cNvSpPr>
          <p:nvPr/>
        </p:nvSpPr>
        <p:spPr>
          <a:xfrm>
            <a:off x="4686300" y="4714875"/>
            <a:ext cx="0" cy="590550"/>
          </a:xfrm>
          <a:prstGeom prst="line">
            <a:avLst/>
          </a:prstGeom>
          <a:noFill/>
          <a:ln w="9525">
            <a:solidFill>
              <a:srgbClr val="C9CECA"/>
            </a:solidFill>
            <a:prstDash val="solid"/>
          </a:ln>
        </p:spPr>
        <p:txBody>
          <a:bodyPr/>
          <a:lstStyle/>
          <a:p>
            <a:endParaRPr lang="en-FR"/>
          </a:p>
        </p:txBody>
      </p:sp>
      <p:sp>
        <p:nvSpPr>
          <p:cNvPr id="54" name="Straight Connector 53">
            <a:extLst>
              <a:ext uri="{FF2B5EF4-FFF2-40B4-BE49-F238E27FC236}">
                <a16:creationId xmlns:a16="http://schemas.microsoft.com/office/drawing/2014/main" id="{279DB36C-681C-4FD2-A588-9A4BF85211F2}"/>
              </a:ext>
            </a:extLst>
          </p:cNvPr>
          <p:cNvSpPr>
            <a:spLocks noGrp="1"/>
          </p:cNvSpPr>
          <p:nvPr/>
        </p:nvSpPr>
        <p:spPr>
          <a:xfrm>
            <a:off x="7029450" y="4714875"/>
            <a:ext cx="0" cy="590550"/>
          </a:xfrm>
          <a:prstGeom prst="line">
            <a:avLst/>
          </a:prstGeom>
          <a:noFill/>
          <a:ln w="9525">
            <a:solidFill>
              <a:srgbClr val="C9CECA"/>
            </a:solidFill>
            <a:prstDash val="solid"/>
          </a:ln>
        </p:spPr>
        <p:txBody>
          <a:bodyPr/>
          <a:lstStyle/>
          <a:p>
            <a:endParaRPr lang="en-FR"/>
          </a:p>
        </p:txBody>
      </p:sp>
      <p:sp>
        <p:nvSpPr>
          <p:cNvPr id="55" name="Straight Connector 54">
            <a:extLst>
              <a:ext uri="{FF2B5EF4-FFF2-40B4-BE49-F238E27FC236}">
                <a16:creationId xmlns:a16="http://schemas.microsoft.com/office/drawing/2014/main" id="{C8F92710-B721-4F19-B1ED-A9D5B1B54C85}"/>
              </a:ext>
            </a:extLst>
          </p:cNvPr>
          <p:cNvSpPr>
            <a:spLocks noGrp="1"/>
          </p:cNvSpPr>
          <p:nvPr/>
        </p:nvSpPr>
        <p:spPr>
          <a:xfrm>
            <a:off x="9486900" y="4714875"/>
            <a:ext cx="0" cy="590550"/>
          </a:xfrm>
          <a:prstGeom prst="line">
            <a:avLst/>
          </a:prstGeom>
          <a:noFill/>
          <a:ln w="9525">
            <a:solidFill>
              <a:srgbClr val="C9CECA"/>
            </a:solidFill>
            <a:prstDash val="solid"/>
          </a:ln>
        </p:spPr>
        <p:txBody>
          <a:bodyPr/>
          <a:lstStyle/>
          <a:p>
            <a:endParaRPr lang="en-FR"/>
          </a:p>
        </p:txBody>
      </p:sp>
      <p:sp>
        <p:nvSpPr>
          <p:cNvPr id="56" name="Rectangle 55">
            <a:extLst>
              <a:ext uri="{FF2B5EF4-FFF2-40B4-BE49-F238E27FC236}">
                <a16:creationId xmlns:a16="http://schemas.microsoft.com/office/drawing/2014/main" id="{347AE0DB-5FC1-4C08-A3B9-5D2E17AF0014}"/>
              </a:ext>
            </a:extLst>
          </p:cNvPr>
          <p:cNvSpPr>
            <a:spLocks noGrp="1"/>
          </p:cNvSpPr>
          <p:nvPr/>
        </p:nvSpPr>
        <p:spPr>
          <a:xfrm>
            <a:off x="3343275" y="4714875"/>
            <a:ext cx="114300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Rectangle 56">
            <a:extLst>
              <a:ext uri="{FF2B5EF4-FFF2-40B4-BE49-F238E27FC236}">
                <a16:creationId xmlns:a16="http://schemas.microsoft.com/office/drawing/2014/main" id="{51D8B33B-988C-462B-91B7-386F22B8BCA6}"/>
              </a:ext>
            </a:extLst>
          </p:cNvPr>
          <p:cNvSpPr>
            <a:spLocks noGrp="1"/>
          </p:cNvSpPr>
          <p:nvPr/>
        </p:nvSpPr>
        <p:spPr>
          <a:xfrm>
            <a:off x="3343275" y="4972050"/>
            <a:ext cx="114300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32" name="Picture 131"/>
          <p:cNvPicPr>
            <a:picLocks noChangeAspect="1"/>
          </p:cNvPicPr>
          <p:nvPr/>
        </p:nvPicPr>
        <p:blipFill>
          <a:blip r:embed="rId10"/>
          <a:stretch/>
        </p:blipFill>
        <p:spPr>
          <a:xfrm>
            <a:off x="2887742" y="4905375"/>
            <a:ext cx="396716" cy="323850"/>
          </a:xfrm>
          <a:prstGeom prst="rect">
            <a:avLst/>
          </a:prstGeom>
        </p:spPr>
      </p:pic>
      <p:sp>
        <p:nvSpPr>
          <p:cNvPr id="59" name="Rectangle 58">
            <a:extLst>
              <a:ext uri="{FF2B5EF4-FFF2-40B4-BE49-F238E27FC236}">
                <a16:creationId xmlns:a16="http://schemas.microsoft.com/office/drawing/2014/main" id="{8DF81488-E310-4D2F-9D0F-A65D6E2C5976}"/>
              </a:ext>
            </a:extLst>
          </p:cNvPr>
          <p:cNvSpPr>
            <a:spLocks noGrp="1"/>
          </p:cNvSpPr>
          <p:nvPr/>
        </p:nvSpPr>
        <p:spPr>
          <a:xfrm>
            <a:off x="3286125" y="5229225"/>
            <a:ext cx="1285875" cy="171450"/>
          </a:xfrm>
          <a:prstGeom prst="rect">
            <a:avLst/>
          </a:prstGeom>
          <a:noFill/>
          <a:ln w="0">
            <a:noFill/>
            <a:prstDash val="solid"/>
          </a:ln>
        </p:spPr>
        <p:txBody>
          <a:bodyPr wrap="none" lIns="0" tIns="0" rIns="0" bIns="0" anchor="t"/>
          <a:lstStyle/>
          <a:p>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Rectangle 59">
            <a:extLst>
              <a:ext uri="{FF2B5EF4-FFF2-40B4-BE49-F238E27FC236}">
                <a16:creationId xmlns:a16="http://schemas.microsoft.com/office/drawing/2014/main" id="{51FD95D0-64F2-4723-B4EF-3731265C852D}"/>
              </a:ext>
            </a:extLst>
          </p:cNvPr>
          <p:cNvSpPr>
            <a:spLocks noGrp="1"/>
          </p:cNvSpPr>
          <p:nvPr/>
        </p:nvSpPr>
        <p:spPr>
          <a:xfrm>
            <a:off x="3286125" y="5391150"/>
            <a:ext cx="1285875" cy="171450"/>
          </a:xfrm>
          <a:prstGeom prst="rect">
            <a:avLst/>
          </a:prstGeom>
          <a:noFill/>
          <a:ln w="0">
            <a:noFill/>
            <a:prstDash val="solid"/>
          </a:ln>
        </p:spPr>
        <p:txBody>
          <a:bodyPr wrap="none" lIns="0" tIns="0" rIns="0" bIns="0" anchor="t"/>
          <a:lstStyle/>
          <a:p>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a:ext uri="{FF2B5EF4-FFF2-40B4-BE49-F238E27FC236}">
                <a16:creationId xmlns:a16="http://schemas.microsoft.com/office/drawing/2014/main" id="{9F4CC3CC-C30D-4DD3-B648-2B2F6B76145C}"/>
              </a:ext>
            </a:extLst>
          </p:cNvPr>
          <p:cNvSpPr>
            <a:spLocks noGrp="1"/>
          </p:cNvSpPr>
          <p:nvPr/>
        </p:nvSpPr>
        <p:spPr>
          <a:xfrm>
            <a:off x="5743575" y="4714875"/>
            <a:ext cx="114300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Rectangle 61">
            <a:extLst>
              <a:ext uri="{FF2B5EF4-FFF2-40B4-BE49-F238E27FC236}">
                <a16:creationId xmlns:a16="http://schemas.microsoft.com/office/drawing/2014/main" id="{E325BBAA-CE89-47A2-A7F4-5A715EE06FCB}"/>
              </a:ext>
            </a:extLst>
          </p:cNvPr>
          <p:cNvSpPr>
            <a:spLocks noGrp="1"/>
          </p:cNvSpPr>
          <p:nvPr/>
        </p:nvSpPr>
        <p:spPr>
          <a:xfrm>
            <a:off x="5743575" y="4972050"/>
            <a:ext cx="114300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37" name="Picture 136"/>
          <p:cNvPicPr>
            <a:picLocks noChangeAspect="1"/>
          </p:cNvPicPr>
          <p:nvPr/>
        </p:nvPicPr>
        <p:blipFill>
          <a:blip r:embed="rId11"/>
          <a:stretch/>
        </p:blipFill>
        <p:spPr>
          <a:xfrm>
            <a:off x="5190898" y="4905375"/>
            <a:ext cx="362404" cy="323850"/>
          </a:xfrm>
          <a:prstGeom prst="rect">
            <a:avLst/>
          </a:prstGeom>
        </p:spPr>
      </p:pic>
      <p:sp>
        <p:nvSpPr>
          <p:cNvPr id="64" name="Rectangle 63">
            <a:extLst>
              <a:ext uri="{FF2B5EF4-FFF2-40B4-BE49-F238E27FC236}">
                <a16:creationId xmlns:a16="http://schemas.microsoft.com/office/drawing/2014/main" id="{E2B940B4-7B6B-4837-992C-0BD50611487D}"/>
              </a:ext>
            </a:extLst>
          </p:cNvPr>
          <p:cNvSpPr>
            <a:spLocks noGrp="1"/>
          </p:cNvSpPr>
          <p:nvPr/>
        </p:nvSpPr>
        <p:spPr>
          <a:xfrm>
            <a:off x="8048625" y="4714875"/>
            <a:ext cx="142875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Rectangle 64">
            <a:extLst>
              <a:ext uri="{FF2B5EF4-FFF2-40B4-BE49-F238E27FC236}">
                <a16:creationId xmlns:a16="http://schemas.microsoft.com/office/drawing/2014/main" id="{56B58190-EEA5-42BC-BCEE-C9F09864DABB}"/>
              </a:ext>
            </a:extLst>
          </p:cNvPr>
          <p:cNvSpPr>
            <a:spLocks noGrp="1"/>
          </p:cNvSpPr>
          <p:nvPr/>
        </p:nvSpPr>
        <p:spPr>
          <a:xfrm>
            <a:off x="8048625" y="4972050"/>
            <a:ext cx="142875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40" name="Picture 139"/>
          <p:cNvPicPr>
            <a:picLocks noChangeAspect="1"/>
          </p:cNvPicPr>
          <p:nvPr/>
        </p:nvPicPr>
        <p:blipFill>
          <a:blip r:embed="rId12"/>
          <a:stretch/>
        </p:blipFill>
        <p:spPr>
          <a:xfrm>
            <a:off x="7477125" y="4907280"/>
            <a:ext cx="400050" cy="320040"/>
          </a:xfrm>
          <a:prstGeom prst="rect">
            <a:avLst/>
          </a:prstGeom>
        </p:spPr>
      </p:pic>
      <p:sp>
        <p:nvSpPr>
          <p:cNvPr id="67" name="Rectangle 66">
            <a:extLst>
              <a:ext uri="{FF2B5EF4-FFF2-40B4-BE49-F238E27FC236}">
                <a16:creationId xmlns:a16="http://schemas.microsoft.com/office/drawing/2014/main" id="{BA2E8F4D-19EC-4045-BD00-D33C490582FA}"/>
              </a:ext>
            </a:extLst>
          </p:cNvPr>
          <p:cNvSpPr>
            <a:spLocks noGrp="1"/>
          </p:cNvSpPr>
          <p:nvPr/>
        </p:nvSpPr>
        <p:spPr>
          <a:xfrm>
            <a:off x="10306050" y="4714875"/>
            <a:ext cx="150495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Rectangle 67">
            <a:extLst>
              <a:ext uri="{FF2B5EF4-FFF2-40B4-BE49-F238E27FC236}">
                <a16:creationId xmlns:a16="http://schemas.microsoft.com/office/drawing/2014/main" id="{53CE7ECC-6CED-4750-B06E-332986EBDB45}"/>
              </a:ext>
            </a:extLst>
          </p:cNvPr>
          <p:cNvSpPr>
            <a:spLocks noGrp="1"/>
          </p:cNvSpPr>
          <p:nvPr/>
        </p:nvSpPr>
        <p:spPr>
          <a:xfrm>
            <a:off x="10306050" y="4972050"/>
            <a:ext cx="150495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43" name="Picture 142"/>
          <p:cNvPicPr>
            <a:picLocks noChangeAspect="1"/>
          </p:cNvPicPr>
          <p:nvPr/>
        </p:nvPicPr>
        <p:blipFill>
          <a:blip r:embed="rId13"/>
          <a:stretch/>
        </p:blipFill>
        <p:spPr>
          <a:xfrm>
            <a:off x="9960531" y="4905375"/>
            <a:ext cx="348139" cy="323850"/>
          </a:xfrm>
          <a:prstGeom prst="rect">
            <a:avLst/>
          </a:prstGeom>
        </p:spPr>
      </p:pic>
      <p:sp>
        <p:nvSpPr>
          <p:cNvPr id="70" name="Rounded Rectangle 69">
            <a:extLst>
              <a:ext uri="{FF2B5EF4-FFF2-40B4-BE49-F238E27FC236}">
                <a16:creationId xmlns:a16="http://schemas.microsoft.com/office/drawing/2014/main" id="{B6E9607F-C2EC-477A-BAF6-C5E067CAF87D}"/>
              </a:ext>
            </a:extLst>
          </p:cNvPr>
          <p:cNvSpPr>
            <a:spLocks noGrp="1"/>
          </p:cNvSpPr>
          <p:nvPr/>
        </p:nvSpPr>
        <p:spPr>
          <a:xfrm>
            <a:off x="400050" y="5734050"/>
            <a:ext cx="11334750" cy="476250"/>
          </a:xfrm>
          <a:prstGeom prst="roundRect">
            <a:avLst>
              <a:gd name="adj" fmla="val 12000"/>
            </a:avLst>
          </a:prstGeom>
          <a:solidFill>
            <a:srgbClr val="FFFFFF"/>
          </a:solidFill>
          <a:ln w="9525">
            <a:solidFill>
              <a:srgbClr val="D9DEDA"/>
            </a:solidFill>
            <a:prstDash val="solid"/>
          </a:ln>
        </p:spPr>
        <p:txBody>
          <a:bodyPr/>
          <a:lstStyle/>
          <a:p>
            <a:endParaRPr lang="en-FR"/>
          </a:p>
        </p:txBody>
      </p:sp>
      <p:pic>
        <p:nvPicPr>
          <p:cNvPr id="145" name="Picture 144"/>
          <p:cNvPicPr>
            <a:picLocks noChangeAspect="1"/>
          </p:cNvPicPr>
          <p:nvPr/>
        </p:nvPicPr>
        <p:blipFill>
          <a:blip r:embed="rId14"/>
          <a:stretch/>
        </p:blipFill>
        <p:spPr>
          <a:xfrm>
            <a:off x="632416" y="5838825"/>
            <a:ext cx="316319" cy="323850"/>
          </a:xfrm>
          <a:prstGeom prst="rect">
            <a:avLst/>
          </a:prstGeom>
        </p:spPr>
      </p:pic>
      <p:sp>
        <p:nvSpPr>
          <p:cNvPr id="72" name="Rectangle 71">
            <a:extLst>
              <a:ext uri="{FF2B5EF4-FFF2-40B4-BE49-F238E27FC236}">
                <a16:creationId xmlns:a16="http://schemas.microsoft.com/office/drawing/2014/main" id="{C928459C-9AA2-4970-83C9-66B7F0DEE5BA}"/>
              </a:ext>
            </a:extLst>
          </p:cNvPr>
          <p:cNvSpPr>
            <a:spLocks noGrp="1"/>
          </p:cNvSpPr>
          <p:nvPr/>
        </p:nvSpPr>
        <p:spPr>
          <a:xfrm>
            <a:off x="1085850" y="5934075"/>
            <a:ext cx="9334500" cy="209550"/>
          </a:xfrm>
          <a:prstGeom prst="rect">
            <a:avLst/>
          </a:prstGeom>
          <a:noFill/>
          <a:ln w="0">
            <a:noFill/>
            <a:prstDash val="solid"/>
          </a:ln>
        </p:spPr>
        <p:txBody>
          <a:bodyPr wrap="none" lIns="0" tIns="0" rIns="0" bIns="0" anchor="t"/>
          <a:lstStyle/>
          <a:p>
            <a:pPr algn="l">
              <a:lnSpc>
                <a:spcPct val="100000"/>
              </a:lnSpc>
              <a:buNone/>
              <a:defRPr sz="1050" b="0" i="0">
                <a:solidFill>
                  <a:srgbClr val="111111"/>
                </a:solidFill>
                <a:latin typeface="Arial"/>
                <a:ea typeface="Arial"/>
                <a:cs typeface="Arial"/>
              </a:defRPr>
            </a:pPr>
            <a:r>
              <a:rPr sz="1050" b="0" i="0" dirty="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a:ext uri="{FF2B5EF4-FFF2-40B4-BE49-F238E27FC236}">
                <a16:creationId xmlns:a16="http://schemas.microsoft.com/office/drawing/2014/main" id="{B0FDF0E8-75F0-4E20-AB65-98949A664606}"/>
              </a:ext>
            </a:extLst>
          </p:cNvPr>
          <p:cNvSpPr>
            <a:spLocks noGrp="1"/>
          </p:cNvSpPr>
          <p:nvPr/>
        </p:nvSpPr>
        <p:spPr>
          <a:xfrm>
            <a:off x="1133475" y="6553200"/>
            <a:ext cx="5334000" cy="152400"/>
          </a:xfrm>
          <a:prstGeom prst="rect">
            <a:avLst/>
          </a:prstGeom>
          <a:noFill/>
          <a:ln w="0">
            <a:noFill/>
            <a:prstDash val="solid"/>
          </a:ln>
        </p:spPr>
        <p:txBody>
          <a:bodyPr wrap="none" lIns="0" tIns="0" rIns="0" bIns="0" anchor="t"/>
          <a:lstStyle/>
          <a:p>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48" name="Picture 147"/>
          <p:cNvPicPr>
            <a:picLocks noChangeAspect="1"/>
          </p:cNvPicPr>
          <p:nvPr/>
        </p:nvPicPr>
        <p:blipFill>
          <a:blip r:embed="rId15"/>
          <a:stretch/>
        </p:blipFill>
        <p:spPr>
          <a:xfrm>
            <a:off x="11382375" y="6459855"/>
            <a:ext cx="419100" cy="396240"/>
          </a:xfrm>
          <a:prstGeom prst="rect">
            <a:avLst/>
          </a:prstGeom>
        </p:spPr>
      </p:pic>
    </p:spTree>
    <p:extLst>
      <p:ext uri="{BB962C8B-B14F-4D97-AF65-F5344CB8AC3E}">
        <p14:creationId xmlns:p14="http://schemas.microsoft.com/office/powerpoint/2010/main" val="1621222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8"/>
        </a:solidFill>
        <a:effectLst/>
      </p:bgPr>
    </p:bg>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903C0CCB-6C32-4383-BD8E-369B89B3B108}"/>
              </a:ext>
            </a:extLst>
          </p:cNvPr>
          <p:cNvSpPr>
            <a:spLocks noGrp="1"/>
          </p:cNvSpPr>
          <p:nvPr/>
        </p:nvSpPr>
        <p:spPr>
          <a:xfrm>
            <a:off x="7239000" y="371475"/>
            <a:ext cx="66675" cy="66675"/>
          </a:xfrm>
          <a:prstGeom prst="ellipse">
            <a:avLst/>
          </a:prstGeom>
          <a:solidFill>
            <a:srgbClr val="E7E9E7"/>
          </a:solidFill>
          <a:ln w="0">
            <a:noFill/>
            <a:prstDash val="solid"/>
          </a:ln>
        </p:spPr>
        <p:txBody>
          <a:bodyPr/>
          <a:lstStyle/>
          <a:p>
            <a:endParaRPr lang="en-FR"/>
          </a:p>
        </p:txBody>
      </p:sp>
      <p:sp>
        <p:nvSpPr>
          <p:cNvPr id="2" name="Oval 1">
            <a:extLst>
              <a:ext uri="{FF2B5EF4-FFF2-40B4-BE49-F238E27FC236}">
                <a16:creationId xmlns:a16="http://schemas.microsoft.com/office/drawing/2014/main" id="{B7552526-EDFC-4FEC-8429-83B0C3678D1B}"/>
              </a:ext>
            </a:extLst>
          </p:cNvPr>
          <p:cNvSpPr>
            <a:spLocks noGrp="1"/>
          </p:cNvSpPr>
          <p:nvPr/>
        </p:nvSpPr>
        <p:spPr>
          <a:xfrm>
            <a:off x="4495800" y="981075"/>
            <a:ext cx="47625" cy="47625"/>
          </a:xfrm>
          <a:prstGeom prst="ellipse">
            <a:avLst/>
          </a:prstGeom>
          <a:solidFill>
            <a:srgbClr val="E7E9E7"/>
          </a:solidFill>
          <a:ln w="0">
            <a:noFill/>
            <a:prstDash val="solid"/>
          </a:ln>
        </p:spPr>
        <p:txBody>
          <a:bodyPr/>
          <a:lstStyle/>
          <a:p>
            <a:endParaRPr lang="en-FR"/>
          </a:p>
        </p:txBody>
      </p:sp>
      <p:sp>
        <p:nvSpPr>
          <p:cNvPr id="3" name="Oval 2">
            <a:extLst>
              <a:ext uri="{FF2B5EF4-FFF2-40B4-BE49-F238E27FC236}">
                <a16:creationId xmlns:a16="http://schemas.microsoft.com/office/drawing/2014/main" id="{B1DA383F-3F21-4112-BBDC-0AB1B2A8C67B}"/>
              </a:ext>
            </a:extLst>
          </p:cNvPr>
          <p:cNvSpPr>
            <a:spLocks noGrp="1"/>
          </p:cNvSpPr>
          <p:nvPr/>
        </p:nvSpPr>
        <p:spPr>
          <a:xfrm>
            <a:off x="5133975" y="552450"/>
            <a:ext cx="38100" cy="38100"/>
          </a:xfrm>
          <a:prstGeom prst="ellipse">
            <a:avLst/>
          </a:prstGeom>
          <a:solidFill>
            <a:srgbClr val="E7E9E7"/>
          </a:solidFill>
          <a:ln w="0">
            <a:noFill/>
            <a:prstDash val="solid"/>
          </a:ln>
        </p:spPr>
        <p:txBody>
          <a:bodyPr/>
          <a:lstStyle/>
          <a:p>
            <a:endParaRPr lang="en-FR"/>
          </a:p>
        </p:txBody>
      </p:sp>
      <p:sp>
        <p:nvSpPr>
          <p:cNvPr id="4" name="Oval 3">
            <a:extLst>
              <a:ext uri="{FF2B5EF4-FFF2-40B4-BE49-F238E27FC236}">
                <a16:creationId xmlns:a16="http://schemas.microsoft.com/office/drawing/2014/main" id="{20059669-08BE-4709-8AB5-5D775C69905A}"/>
              </a:ext>
            </a:extLst>
          </p:cNvPr>
          <p:cNvSpPr>
            <a:spLocks noGrp="1"/>
          </p:cNvSpPr>
          <p:nvPr/>
        </p:nvSpPr>
        <p:spPr>
          <a:xfrm>
            <a:off x="5810250" y="866775"/>
            <a:ext cx="28575" cy="28575"/>
          </a:xfrm>
          <a:prstGeom prst="ellipse">
            <a:avLst/>
          </a:prstGeom>
          <a:solidFill>
            <a:srgbClr val="E7E9E7"/>
          </a:solidFill>
          <a:ln w="0">
            <a:noFill/>
            <a:prstDash val="solid"/>
          </a:ln>
        </p:spPr>
        <p:txBody>
          <a:bodyPr/>
          <a:lstStyle/>
          <a:p>
            <a:endParaRPr lang="en-FR"/>
          </a:p>
        </p:txBody>
      </p:sp>
      <p:sp>
        <p:nvSpPr>
          <p:cNvPr id="5" name="Oval 4">
            <a:extLst>
              <a:ext uri="{FF2B5EF4-FFF2-40B4-BE49-F238E27FC236}">
                <a16:creationId xmlns:a16="http://schemas.microsoft.com/office/drawing/2014/main" id="{7DF4C908-95C0-454C-90C3-9D496D1DDD44}"/>
              </a:ext>
            </a:extLst>
          </p:cNvPr>
          <p:cNvSpPr>
            <a:spLocks noGrp="1"/>
          </p:cNvSpPr>
          <p:nvPr/>
        </p:nvSpPr>
        <p:spPr>
          <a:xfrm>
            <a:off x="11306175" y="666750"/>
            <a:ext cx="28575" cy="28575"/>
          </a:xfrm>
          <a:prstGeom prst="ellipse">
            <a:avLst/>
          </a:prstGeom>
          <a:solidFill>
            <a:srgbClr val="E7E9E7"/>
          </a:solidFill>
          <a:ln w="0">
            <a:noFill/>
            <a:prstDash val="solid"/>
          </a:ln>
        </p:spPr>
        <p:txBody>
          <a:bodyPr/>
          <a:lstStyle/>
          <a:p>
            <a:endParaRPr lang="en-FR"/>
          </a:p>
        </p:txBody>
      </p:sp>
      <p:sp>
        <p:nvSpPr>
          <p:cNvPr id="6" name="Oval 5">
            <a:extLst>
              <a:ext uri="{FF2B5EF4-FFF2-40B4-BE49-F238E27FC236}">
                <a16:creationId xmlns:a16="http://schemas.microsoft.com/office/drawing/2014/main" id="{42AFBF0C-6A20-4CF1-81BA-ACD71ECCA01D}"/>
              </a:ext>
            </a:extLst>
          </p:cNvPr>
          <p:cNvSpPr>
            <a:spLocks noGrp="1"/>
          </p:cNvSpPr>
          <p:nvPr/>
        </p:nvSpPr>
        <p:spPr>
          <a:xfrm>
            <a:off x="11801475" y="714375"/>
            <a:ext cx="28575" cy="28575"/>
          </a:xfrm>
          <a:prstGeom prst="ellipse">
            <a:avLst/>
          </a:prstGeom>
          <a:solidFill>
            <a:srgbClr val="E7E9E7"/>
          </a:solidFill>
          <a:ln w="0">
            <a:noFill/>
            <a:prstDash val="solid"/>
          </a:ln>
        </p:spPr>
        <p:txBody>
          <a:bodyPr/>
          <a:lstStyle/>
          <a:p>
            <a:endParaRPr lang="en-FR"/>
          </a:p>
        </p:txBody>
      </p:sp>
      <p:sp>
        <p:nvSpPr>
          <p:cNvPr id="7" name="Oval 6">
            <a:extLst>
              <a:ext uri="{FF2B5EF4-FFF2-40B4-BE49-F238E27FC236}">
                <a16:creationId xmlns:a16="http://schemas.microsoft.com/office/drawing/2014/main" id="{8A1E2B4B-12C6-4379-BB5F-CD7BD45CDC67}"/>
              </a:ext>
            </a:extLst>
          </p:cNvPr>
          <p:cNvSpPr>
            <a:spLocks noGrp="1"/>
          </p:cNvSpPr>
          <p:nvPr/>
        </p:nvSpPr>
        <p:spPr>
          <a:xfrm>
            <a:off x="4972050" y="3371850"/>
            <a:ext cx="38100" cy="38100"/>
          </a:xfrm>
          <a:prstGeom prst="ellipse">
            <a:avLst/>
          </a:prstGeom>
          <a:solidFill>
            <a:srgbClr val="E7E9E7"/>
          </a:solidFill>
          <a:ln w="0">
            <a:noFill/>
            <a:prstDash val="solid"/>
          </a:ln>
        </p:spPr>
        <p:txBody>
          <a:bodyPr/>
          <a:lstStyle/>
          <a:p>
            <a:endParaRPr lang="en-FR"/>
          </a:p>
        </p:txBody>
      </p:sp>
      <p:sp>
        <p:nvSpPr>
          <p:cNvPr id="8" name="Oval 7">
            <a:extLst>
              <a:ext uri="{FF2B5EF4-FFF2-40B4-BE49-F238E27FC236}">
                <a16:creationId xmlns:a16="http://schemas.microsoft.com/office/drawing/2014/main" id="{392CB55E-0957-4BA5-9E15-5C689F4C062B}"/>
              </a:ext>
            </a:extLst>
          </p:cNvPr>
          <p:cNvSpPr>
            <a:spLocks noGrp="1"/>
          </p:cNvSpPr>
          <p:nvPr/>
        </p:nvSpPr>
        <p:spPr>
          <a:xfrm>
            <a:off x="12020550" y="6353175"/>
            <a:ext cx="47625" cy="47625"/>
          </a:xfrm>
          <a:prstGeom prst="ellipse">
            <a:avLst/>
          </a:prstGeom>
          <a:solidFill>
            <a:srgbClr val="E7E9E7"/>
          </a:solidFill>
          <a:ln w="0">
            <a:noFill/>
            <a:prstDash val="solid"/>
          </a:ln>
        </p:spPr>
        <p:txBody>
          <a:bodyPr/>
          <a:lstStyle/>
          <a:p>
            <a:endParaRPr lang="en-FR"/>
          </a:p>
        </p:txBody>
      </p:sp>
      <p:sp>
        <p:nvSpPr>
          <p:cNvPr id="9" name="Oval 8">
            <a:extLst>
              <a:ext uri="{FF2B5EF4-FFF2-40B4-BE49-F238E27FC236}">
                <a16:creationId xmlns:a16="http://schemas.microsoft.com/office/drawing/2014/main" id="{93CED1F2-9B01-4DEB-8205-9F726CA98EFC}"/>
              </a:ext>
            </a:extLst>
          </p:cNvPr>
          <p:cNvSpPr>
            <a:spLocks noGrp="1"/>
          </p:cNvSpPr>
          <p:nvPr/>
        </p:nvSpPr>
        <p:spPr>
          <a:xfrm>
            <a:off x="0" y="3714750"/>
            <a:ext cx="1381125" cy="1714500"/>
          </a:xfrm>
          <a:prstGeom prst="ellipse">
            <a:avLst/>
          </a:prstGeom>
          <a:solidFill>
            <a:srgbClr val="F7FAF8"/>
          </a:solidFill>
          <a:ln w="9525">
            <a:solidFill>
              <a:srgbClr val="E0E6E2"/>
            </a:solidFill>
            <a:prstDash val="dot"/>
          </a:ln>
        </p:spPr>
        <p:txBody>
          <a:bodyPr/>
          <a:lstStyle/>
          <a:p>
            <a:endParaRPr lang="en-FR"/>
          </a:p>
        </p:txBody>
      </p:sp>
      <p:sp>
        <p:nvSpPr>
          <p:cNvPr id="10" name="Oval 9">
            <a:extLst>
              <a:ext uri="{FF2B5EF4-FFF2-40B4-BE49-F238E27FC236}">
                <a16:creationId xmlns:a16="http://schemas.microsoft.com/office/drawing/2014/main" id="{0CD4014B-8B32-4715-85BA-46C6B837B943}"/>
              </a:ext>
            </a:extLst>
          </p:cNvPr>
          <p:cNvSpPr>
            <a:spLocks noGrp="1"/>
          </p:cNvSpPr>
          <p:nvPr/>
        </p:nvSpPr>
        <p:spPr>
          <a:xfrm>
            <a:off x="0" y="5762625"/>
            <a:ext cx="2952750" cy="1095375"/>
          </a:xfrm>
          <a:prstGeom prst="ellipse">
            <a:avLst/>
          </a:prstGeom>
          <a:solidFill>
            <a:srgbClr val="F7FAF8"/>
          </a:solidFill>
          <a:ln w="9525">
            <a:solidFill>
              <a:srgbClr val="E0E6E2"/>
            </a:solidFill>
            <a:prstDash val="dot"/>
          </a:ln>
        </p:spPr>
        <p:txBody>
          <a:bodyPr/>
          <a:lstStyle/>
          <a:p>
            <a:endParaRPr lang="en-FR"/>
          </a:p>
        </p:txBody>
      </p:sp>
      <p:pic>
        <p:nvPicPr>
          <p:cNvPr id="75" name="Picture 74"/>
          <p:cNvPicPr>
            <a:picLocks noChangeAspect="1"/>
          </p:cNvPicPr>
          <p:nvPr/>
        </p:nvPicPr>
        <p:blipFill>
          <a:blip r:embed="rId3"/>
          <a:stretch/>
        </p:blipFill>
        <p:spPr>
          <a:xfrm>
            <a:off x="342900" y="266700"/>
            <a:ext cx="1876425" cy="523875"/>
          </a:xfrm>
          <a:prstGeom prst="rect">
            <a:avLst/>
          </a:prstGeom>
        </p:spPr>
      </p:pic>
      <p:sp>
        <p:nvSpPr>
          <p:cNvPr id="12" name="Rectangle 11">
            <a:extLst>
              <a:ext uri="{FF2B5EF4-FFF2-40B4-BE49-F238E27FC236}">
                <a16:creationId xmlns:a16="http://schemas.microsoft.com/office/drawing/2014/main" id="{441D191A-36BA-4DDF-9CD4-DD0DD4AEEDDC}"/>
              </a:ext>
            </a:extLst>
          </p:cNvPr>
          <p:cNvSpPr>
            <a:spLocks noGrp="1"/>
          </p:cNvSpPr>
          <p:nvPr/>
        </p:nvSpPr>
        <p:spPr>
          <a:xfrm>
            <a:off x="352425" y="1200150"/>
            <a:ext cx="4953000" cy="438150"/>
          </a:xfrm>
          <a:prstGeom prst="rect">
            <a:avLst/>
          </a:prstGeom>
          <a:noFill/>
          <a:ln w="0">
            <a:noFill/>
            <a:prstDash val="solid"/>
          </a:ln>
        </p:spPr>
        <p:txBody>
          <a:bodyPr wrap="none" lIns="0" tIns="0" rIns="0" bIns="0" anchor="t"/>
          <a:lstStyle/>
          <a:p>
            <a:pPr algn="l">
              <a:lnSpc>
                <a:spcPct val="100000"/>
              </a:lnSpc>
              <a:buNone/>
              <a:defRPr sz="2700" b="1" i="0">
                <a:solidFill>
                  <a:srgbClr val="003B25"/>
                </a:solidFill>
                <a:latin typeface="Arial"/>
                <a:ea typeface="Arial"/>
                <a:cs typeface="Arial"/>
              </a:defRPr>
            </a:pPr>
            <a:r>
              <a:rPr sz="2700" b="1" i="0">
                <a:solidFill>
                  <a:srgbClr val="003B25"/>
                </a:solidFill>
                <a:latin typeface="Arial"/>
                <a:ea typeface="Arial"/>
                <a:cs typeface="Arial"/>
              </a:rPr>
              <a:t>Infrastructure Sizing Summary</a:t>
            </a:r>
          </a:p>
        </p:txBody>
      </p:sp>
      <p:sp>
        <p:nvSpPr>
          <p:cNvPr id="13" name="Rectangle 12">
            <a:extLst>
              <a:ext uri="{FF2B5EF4-FFF2-40B4-BE49-F238E27FC236}">
                <a16:creationId xmlns:a16="http://schemas.microsoft.com/office/drawing/2014/main" id="{A3B2E046-C85F-4A39-BEEF-139B34452E9C}"/>
              </a:ext>
            </a:extLst>
          </p:cNvPr>
          <p:cNvSpPr>
            <a:spLocks noGrp="1"/>
          </p:cNvSpPr>
          <p:nvPr/>
        </p:nvSpPr>
        <p:spPr>
          <a:xfrm>
            <a:off x="352425" y="1657350"/>
            <a:ext cx="381000" cy="38100"/>
          </a:xfrm>
          <a:prstGeom prst="rect">
            <a:avLst/>
          </a:prstGeom>
          <a:solidFill>
            <a:srgbClr val="F00000"/>
          </a:solidFill>
          <a:ln w="0">
            <a:noFill/>
            <a:prstDash val="solid"/>
          </a:ln>
        </p:spPr>
        <p:txBody>
          <a:bodyPr/>
          <a:lstStyle/>
          <a:p>
            <a:endParaRPr lang="en-FR"/>
          </a:p>
        </p:txBody>
      </p:sp>
      <p:sp>
        <p:nvSpPr>
          <p:cNvPr id="14" name="Rectangle 13">
            <a:extLst>
              <a:ext uri="{FF2B5EF4-FFF2-40B4-BE49-F238E27FC236}">
                <a16:creationId xmlns:a16="http://schemas.microsoft.com/office/drawing/2014/main" id="{D5DD4476-54EB-446C-A8D2-4D5A415824F4}"/>
              </a:ext>
            </a:extLst>
          </p:cNvPr>
          <p:cNvSpPr>
            <a:spLocks noGrp="1"/>
          </p:cNvSpPr>
          <p:nvPr/>
        </p:nvSpPr>
        <p:spPr>
          <a:xfrm>
            <a:off x="352425" y="1876425"/>
            <a:ext cx="6286500" cy="371475"/>
          </a:xfrm>
          <a:prstGeom prst="rect">
            <a:avLst/>
          </a:prstGeom>
          <a:noFill/>
          <a:ln w="0">
            <a:noFill/>
            <a:prstDash val="solid"/>
          </a:ln>
        </p:spPr>
        <p:txBody>
          <a:bodyPr wrap="square" lIns="0" tIns="0" rIns="0" bIns="0" anchor="t"/>
          <a:lstStyle/>
          <a:p>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The following architecture on Oracle Cloud VMware Solution (OCVS) has been designed</a:t>
            </a:r>
          </a:p>
          <a:p>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to support the customer's current environment with room for future growth.</a:t>
            </a:r>
          </a:p>
        </p:txBody>
      </p:sp>
      <p:sp>
        <p:nvSpPr>
          <p:cNvPr id="15" name="Rounded Rectangle 14">
            <a:extLst>
              <a:ext uri="{FF2B5EF4-FFF2-40B4-BE49-F238E27FC236}">
                <a16:creationId xmlns:a16="http://schemas.microsoft.com/office/drawing/2014/main" id="{63B7720D-CE76-4909-8B22-13176D9406FD}"/>
              </a:ext>
            </a:extLst>
          </p:cNvPr>
          <p:cNvSpPr>
            <a:spLocks noGrp="1"/>
          </p:cNvSpPr>
          <p:nvPr/>
        </p:nvSpPr>
        <p:spPr>
          <a:xfrm>
            <a:off x="361950" y="2600325"/>
            <a:ext cx="4572000" cy="2790825"/>
          </a:xfrm>
          <a:prstGeom prst="roundRect">
            <a:avLst>
              <a:gd name="adj" fmla="val 2389"/>
            </a:avLst>
          </a:prstGeom>
          <a:solidFill>
            <a:srgbClr val="FFFFFF"/>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16" name="Rounded Rectangle 15">
            <a:extLst>
              <a:ext uri="{FF2B5EF4-FFF2-40B4-BE49-F238E27FC236}">
                <a16:creationId xmlns:a16="http://schemas.microsoft.com/office/drawing/2014/main" id="{0DF6C480-65BB-494C-9EC9-69955CD78592}"/>
              </a:ext>
            </a:extLst>
          </p:cNvPr>
          <p:cNvSpPr>
            <a:spLocks noGrp="1"/>
          </p:cNvSpPr>
          <p:nvPr/>
        </p:nvSpPr>
        <p:spPr>
          <a:xfrm>
            <a:off x="361950" y="2600325"/>
            <a:ext cx="4572000" cy="342900"/>
          </a:xfrm>
          <a:prstGeom prst="roundRect">
            <a:avLst>
              <a:gd name="adj" fmla="val 19444"/>
            </a:avLst>
          </a:prstGeom>
          <a:gradFill>
            <a:gsLst>
              <a:gs pos="0">
                <a:srgbClr val="003B25"/>
              </a:gs>
              <a:gs pos="100000">
                <a:srgbClr val="0B4B30"/>
              </a:gs>
            </a:gsLst>
            <a:lin ang="5400000"/>
          </a:gradFill>
          <a:ln w="0">
            <a:noFill/>
            <a:prstDash val="solid"/>
          </a:ln>
        </p:spPr>
        <p:txBody>
          <a:bodyPr/>
          <a:lstStyle/>
          <a:p>
            <a:endParaRPr lang="en-FR"/>
          </a:p>
        </p:txBody>
      </p:sp>
      <p:sp>
        <p:nvSpPr>
          <p:cNvPr id="17" name="Rectangle 16">
            <a:extLst>
              <a:ext uri="{FF2B5EF4-FFF2-40B4-BE49-F238E27FC236}">
                <a16:creationId xmlns:a16="http://schemas.microsoft.com/office/drawing/2014/main" id="{79235A43-973B-49B6-A560-C27C9DB572AA}"/>
              </a:ext>
            </a:extLst>
          </p:cNvPr>
          <p:cNvSpPr>
            <a:spLocks noGrp="1"/>
          </p:cNvSpPr>
          <p:nvPr/>
        </p:nvSpPr>
        <p:spPr>
          <a:xfrm>
            <a:off x="361950" y="2876550"/>
            <a:ext cx="4572000" cy="66675"/>
          </a:xfrm>
          <a:prstGeom prst="rect">
            <a:avLst/>
          </a:prstGeom>
          <a:gradFill>
            <a:gsLst>
              <a:gs pos="0">
                <a:srgbClr val="003B25"/>
              </a:gs>
              <a:gs pos="100000">
                <a:srgbClr val="0B4B30"/>
              </a:gs>
            </a:gsLst>
            <a:lin ang="5400000"/>
          </a:gradFill>
          <a:ln w="0">
            <a:noFill/>
            <a:prstDash val="solid"/>
          </a:ln>
        </p:spPr>
        <p:txBody>
          <a:bodyPr/>
          <a:lstStyle/>
          <a:p>
            <a:endParaRPr lang="en-FR"/>
          </a:p>
        </p:txBody>
      </p:sp>
      <p:pic>
        <p:nvPicPr>
          <p:cNvPr id="82" name="Picture 81"/>
          <p:cNvPicPr>
            <a:picLocks noChangeAspect="1"/>
          </p:cNvPicPr>
          <p:nvPr/>
        </p:nvPicPr>
        <p:blipFill>
          <a:blip r:embed="rId4"/>
          <a:stretch/>
        </p:blipFill>
        <p:spPr>
          <a:xfrm>
            <a:off x="604647" y="2676525"/>
            <a:ext cx="219456" cy="228600"/>
          </a:xfrm>
          <a:prstGeom prst="rect">
            <a:avLst/>
          </a:prstGeom>
        </p:spPr>
      </p:pic>
      <p:sp>
        <p:nvSpPr>
          <p:cNvPr id="19" name="Rectangle 18">
            <a:extLst>
              <a:ext uri="{FF2B5EF4-FFF2-40B4-BE49-F238E27FC236}">
                <a16:creationId xmlns:a16="http://schemas.microsoft.com/office/drawing/2014/main" id="{84BF706F-C741-4C7C-970A-E6742E5CFC29}"/>
              </a:ext>
            </a:extLst>
          </p:cNvPr>
          <p:cNvSpPr>
            <a:spLocks noGrp="1"/>
          </p:cNvSpPr>
          <p:nvPr/>
        </p:nvSpPr>
        <p:spPr>
          <a:xfrm>
            <a:off x="962025" y="2724150"/>
            <a:ext cx="1714500" cy="161925"/>
          </a:xfrm>
          <a:prstGeom prst="rect">
            <a:avLst/>
          </a:prstGeom>
          <a:noFill/>
          <a:ln w="0">
            <a:noFill/>
            <a:prstDash val="solid"/>
          </a:ln>
        </p:spPr>
        <p:txBody>
          <a:bodyPr wrap="none" lIns="0" tIns="0" rIns="0" bIns="0" anchor="t"/>
          <a:lstStyle/>
          <a:p>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Proposed Architecture</a:t>
            </a:r>
          </a:p>
        </p:txBody>
      </p:sp>
      <p:pic>
        <p:nvPicPr>
          <p:cNvPr id="84" name="Picture 83"/>
          <p:cNvPicPr>
            <a:picLocks noChangeAspect="1"/>
          </p:cNvPicPr>
          <p:nvPr/>
        </p:nvPicPr>
        <p:blipFill>
          <a:blip r:embed="rId5"/>
          <a:stretch/>
        </p:blipFill>
        <p:spPr>
          <a:xfrm>
            <a:off x="600075" y="3098346"/>
            <a:ext cx="304800" cy="261257"/>
          </a:xfrm>
          <a:prstGeom prst="rect">
            <a:avLst/>
          </a:prstGeom>
        </p:spPr>
      </p:pic>
      <p:sp>
        <p:nvSpPr>
          <p:cNvPr id="21" name="Rectangle 20">
            <a:extLst>
              <a:ext uri="{FF2B5EF4-FFF2-40B4-BE49-F238E27FC236}">
                <a16:creationId xmlns:a16="http://schemas.microsoft.com/office/drawing/2014/main" id="{509699EE-677C-42DF-8083-4185311A3D1D}"/>
              </a:ext>
            </a:extLst>
          </p:cNvPr>
          <p:cNvSpPr>
            <a:spLocks noGrp="1"/>
          </p:cNvSpPr>
          <p:nvPr/>
        </p:nvSpPr>
        <p:spPr>
          <a:xfrm>
            <a:off x="1095375" y="3143250"/>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SDDCs</a:t>
            </a:r>
          </a:p>
        </p:txBody>
      </p:sp>
      <p:sp>
        <p:nvSpPr>
          <p:cNvPr id="22" name="Rectangle 21">
            <a:extLst>
              <a:ext uri="{FF2B5EF4-FFF2-40B4-BE49-F238E27FC236}">
                <a16:creationId xmlns:a16="http://schemas.microsoft.com/office/drawing/2014/main" id="{EA0CDC46-31BA-4F3B-B2F7-0CD1DB4E4ACD}"/>
              </a:ext>
            </a:extLst>
          </p:cNvPr>
          <p:cNvSpPr>
            <a:spLocks noGrp="1"/>
          </p:cNvSpPr>
          <p:nvPr/>
        </p:nvSpPr>
        <p:spPr>
          <a:xfrm>
            <a:off x="2714625" y="3143250"/>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3" name="Straight Connector 22">
            <a:extLst>
              <a:ext uri="{FF2B5EF4-FFF2-40B4-BE49-F238E27FC236}">
                <a16:creationId xmlns:a16="http://schemas.microsoft.com/office/drawing/2014/main" id="{C28279BA-06DE-441C-B66F-073288F09C70}"/>
              </a:ext>
            </a:extLst>
          </p:cNvPr>
          <p:cNvSpPr>
            <a:spLocks noGrp="1"/>
          </p:cNvSpPr>
          <p:nvPr/>
        </p:nvSpPr>
        <p:spPr>
          <a:xfrm>
            <a:off x="971550" y="3390900"/>
            <a:ext cx="3743325" cy="0"/>
          </a:xfrm>
          <a:prstGeom prst="line">
            <a:avLst/>
          </a:prstGeom>
          <a:noFill/>
          <a:ln w="9525">
            <a:solidFill>
              <a:srgbClr val="D8DDD9"/>
            </a:solidFill>
            <a:prstDash val="solid"/>
          </a:ln>
        </p:spPr>
        <p:txBody>
          <a:bodyPr/>
          <a:lstStyle/>
          <a:p>
            <a:endParaRPr lang="en-FR"/>
          </a:p>
        </p:txBody>
      </p:sp>
      <p:pic>
        <p:nvPicPr>
          <p:cNvPr id="88" name="Picture 87"/>
          <p:cNvPicPr>
            <a:picLocks noChangeAspect="1"/>
          </p:cNvPicPr>
          <p:nvPr/>
        </p:nvPicPr>
        <p:blipFill>
          <a:blip r:embed="rId6"/>
          <a:stretch/>
        </p:blipFill>
        <p:spPr>
          <a:xfrm>
            <a:off x="628015" y="3495675"/>
            <a:ext cx="248920" cy="266700"/>
          </a:xfrm>
          <a:prstGeom prst="rect">
            <a:avLst/>
          </a:prstGeom>
        </p:spPr>
      </p:pic>
      <p:sp>
        <p:nvSpPr>
          <p:cNvPr id="25" name="Rectangle 24">
            <a:extLst>
              <a:ext uri="{FF2B5EF4-FFF2-40B4-BE49-F238E27FC236}">
                <a16:creationId xmlns:a16="http://schemas.microsoft.com/office/drawing/2014/main" id="{256F7DCC-DF91-4471-A4FF-4A3AD34D84C7}"/>
              </a:ext>
            </a:extLst>
          </p:cNvPr>
          <p:cNvSpPr>
            <a:spLocks noGrp="1"/>
          </p:cNvSpPr>
          <p:nvPr/>
        </p:nvSpPr>
        <p:spPr>
          <a:xfrm>
            <a:off x="1095375" y="3543300"/>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Clusters</a:t>
            </a:r>
          </a:p>
        </p:txBody>
      </p:sp>
      <p:sp>
        <p:nvSpPr>
          <p:cNvPr id="26" name="Rectangle 25">
            <a:extLst>
              <a:ext uri="{FF2B5EF4-FFF2-40B4-BE49-F238E27FC236}">
                <a16:creationId xmlns:a16="http://schemas.microsoft.com/office/drawing/2014/main" id="{3732A7B4-3A88-4F3B-85BE-10458DDFFC15}"/>
              </a:ext>
            </a:extLst>
          </p:cNvPr>
          <p:cNvSpPr>
            <a:spLocks noGrp="1"/>
          </p:cNvSpPr>
          <p:nvPr/>
        </p:nvSpPr>
        <p:spPr>
          <a:xfrm>
            <a:off x="2714625" y="3543300"/>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7" name="Straight Connector 26">
            <a:extLst>
              <a:ext uri="{FF2B5EF4-FFF2-40B4-BE49-F238E27FC236}">
                <a16:creationId xmlns:a16="http://schemas.microsoft.com/office/drawing/2014/main" id="{FBF22472-0225-4133-8415-2EA7ECD90EFA}"/>
              </a:ext>
            </a:extLst>
          </p:cNvPr>
          <p:cNvSpPr>
            <a:spLocks noGrp="1"/>
          </p:cNvSpPr>
          <p:nvPr/>
        </p:nvSpPr>
        <p:spPr>
          <a:xfrm>
            <a:off x="971550" y="3790950"/>
            <a:ext cx="3743325" cy="0"/>
          </a:xfrm>
          <a:prstGeom prst="line">
            <a:avLst/>
          </a:prstGeom>
          <a:noFill/>
          <a:ln w="9525">
            <a:solidFill>
              <a:srgbClr val="D8DDD9"/>
            </a:solidFill>
            <a:prstDash val="solid"/>
          </a:ln>
        </p:spPr>
        <p:txBody>
          <a:bodyPr/>
          <a:lstStyle/>
          <a:p>
            <a:endParaRPr lang="en-FR"/>
          </a:p>
        </p:txBody>
      </p:sp>
      <p:pic>
        <p:nvPicPr>
          <p:cNvPr id="92" name="Picture 91"/>
          <p:cNvPicPr>
            <a:picLocks noChangeAspect="1"/>
          </p:cNvPicPr>
          <p:nvPr/>
        </p:nvPicPr>
        <p:blipFill>
          <a:blip r:embed="rId7"/>
          <a:stretch/>
        </p:blipFill>
        <p:spPr>
          <a:xfrm>
            <a:off x="619125" y="3876675"/>
            <a:ext cx="266700" cy="266700"/>
          </a:xfrm>
          <a:prstGeom prst="rect">
            <a:avLst/>
          </a:prstGeom>
        </p:spPr>
      </p:pic>
      <p:sp>
        <p:nvSpPr>
          <p:cNvPr id="29" name="Rectangle 28">
            <a:extLst>
              <a:ext uri="{FF2B5EF4-FFF2-40B4-BE49-F238E27FC236}">
                <a16:creationId xmlns:a16="http://schemas.microsoft.com/office/drawing/2014/main" id="{92EBD8D0-6200-44BB-B234-8E0C2461857E}"/>
              </a:ext>
            </a:extLst>
          </p:cNvPr>
          <p:cNvSpPr>
            <a:spLocks noGrp="1"/>
          </p:cNvSpPr>
          <p:nvPr/>
        </p:nvSpPr>
        <p:spPr>
          <a:xfrm>
            <a:off x="1095375" y="3924300"/>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Hosts</a:t>
            </a:r>
          </a:p>
        </p:txBody>
      </p:sp>
      <p:sp>
        <p:nvSpPr>
          <p:cNvPr id="30" name="Rectangle 29">
            <a:extLst>
              <a:ext uri="{FF2B5EF4-FFF2-40B4-BE49-F238E27FC236}">
                <a16:creationId xmlns:a16="http://schemas.microsoft.com/office/drawing/2014/main" id="{8BCBCBFE-8FBA-4B24-AE05-54385D787A82}"/>
              </a:ext>
            </a:extLst>
          </p:cNvPr>
          <p:cNvSpPr>
            <a:spLocks noGrp="1"/>
          </p:cNvSpPr>
          <p:nvPr/>
        </p:nvSpPr>
        <p:spPr>
          <a:xfrm>
            <a:off x="2714625" y="3924300"/>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4</a:t>
            </a:r>
          </a:p>
        </p:txBody>
      </p:sp>
      <p:sp>
        <p:nvSpPr>
          <p:cNvPr id="31" name="Straight Connector 30">
            <a:extLst>
              <a:ext uri="{FF2B5EF4-FFF2-40B4-BE49-F238E27FC236}">
                <a16:creationId xmlns:a16="http://schemas.microsoft.com/office/drawing/2014/main" id="{97B67929-BE78-46B8-BE26-E454604B77F2}"/>
              </a:ext>
            </a:extLst>
          </p:cNvPr>
          <p:cNvSpPr>
            <a:spLocks noGrp="1"/>
          </p:cNvSpPr>
          <p:nvPr/>
        </p:nvSpPr>
        <p:spPr>
          <a:xfrm>
            <a:off x="971550" y="4171950"/>
            <a:ext cx="3743325" cy="0"/>
          </a:xfrm>
          <a:prstGeom prst="line">
            <a:avLst/>
          </a:prstGeom>
          <a:noFill/>
          <a:ln w="9525">
            <a:solidFill>
              <a:srgbClr val="D8DDD9"/>
            </a:solidFill>
            <a:prstDash val="solid"/>
          </a:ln>
        </p:spPr>
        <p:txBody>
          <a:bodyPr/>
          <a:lstStyle/>
          <a:p>
            <a:endParaRPr lang="en-FR"/>
          </a:p>
        </p:txBody>
      </p:sp>
      <p:pic>
        <p:nvPicPr>
          <p:cNvPr id="96" name="Picture 95"/>
          <p:cNvPicPr>
            <a:picLocks noChangeAspect="1"/>
          </p:cNvPicPr>
          <p:nvPr/>
        </p:nvPicPr>
        <p:blipFill>
          <a:blip r:embed="rId8"/>
          <a:stretch/>
        </p:blipFill>
        <p:spPr>
          <a:xfrm>
            <a:off x="619125" y="4267200"/>
            <a:ext cx="266700" cy="266700"/>
          </a:xfrm>
          <a:prstGeom prst="rect">
            <a:avLst/>
          </a:prstGeom>
        </p:spPr>
      </p:pic>
      <p:sp>
        <p:nvSpPr>
          <p:cNvPr id="33" name="Rectangle 32">
            <a:extLst>
              <a:ext uri="{FF2B5EF4-FFF2-40B4-BE49-F238E27FC236}">
                <a16:creationId xmlns:a16="http://schemas.microsoft.com/office/drawing/2014/main" id="{611C5C49-7C43-4926-A4CD-0D62BD0CA685}"/>
              </a:ext>
            </a:extLst>
          </p:cNvPr>
          <p:cNvSpPr>
            <a:spLocks noGrp="1"/>
          </p:cNvSpPr>
          <p:nvPr/>
        </p:nvSpPr>
        <p:spPr>
          <a:xfrm>
            <a:off x="1095375" y="4314825"/>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Shape</a:t>
            </a:r>
          </a:p>
        </p:txBody>
      </p:sp>
      <p:sp>
        <p:nvSpPr>
          <p:cNvPr id="34" name="Rectangle 33">
            <a:extLst>
              <a:ext uri="{FF2B5EF4-FFF2-40B4-BE49-F238E27FC236}">
                <a16:creationId xmlns:a16="http://schemas.microsoft.com/office/drawing/2014/main" id="{9DB25AF8-EA9B-43F4-A3C2-ED13FE3B18C4}"/>
              </a:ext>
            </a:extLst>
          </p:cNvPr>
          <p:cNvSpPr>
            <a:spLocks noGrp="1"/>
          </p:cNvSpPr>
          <p:nvPr/>
        </p:nvSpPr>
        <p:spPr>
          <a:xfrm>
            <a:off x="2714625" y="4314825"/>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AMD E4</a:t>
            </a:r>
          </a:p>
        </p:txBody>
      </p:sp>
      <p:sp>
        <p:nvSpPr>
          <p:cNvPr id="35" name="Straight Connector 34">
            <a:extLst>
              <a:ext uri="{FF2B5EF4-FFF2-40B4-BE49-F238E27FC236}">
                <a16:creationId xmlns:a16="http://schemas.microsoft.com/office/drawing/2014/main" id="{174C5339-3927-452C-833D-022327F62FE9}"/>
              </a:ext>
            </a:extLst>
          </p:cNvPr>
          <p:cNvSpPr>
            <a:spLocks noGrp="1"/>
          </p:cNvSpPr>
          <p:nvPr/>
        </p:nvSpPr>
        <p:spPr>
          <a:xfrm>
            <a:off x="971550" y="4562475"/>
            <a:ext cx="3743325" cy="0"/>
          </a:xfrm>
          <a:prstGeom prst="line">
            <a:avLst/>
          </a:prstGeom>
          <a:noFill/>
          <a:ln w="9525">
            <a:solidFill>
              <a:srgbClr val="D8DDD9"/>
            </a:solidFill>
            <a:prstDash val="solid"/>
          </a:ln>
        </p:spPr>
        <p:txBody>
          <a:bodyPr/>
          <a:lstStyle/>
          <a:p>
            <a:endParaRPr lang="en-FR"/>
          </a:p>
        </p:txBody>
      </p:sp>
      <p:pic>
        <p:nvPicPr>
          <p:cNvPr id="100" name="Picture 99"/>
          <p:cNvPicPr>
            <a:picLocks noChangeAspect="1"/>
          </p:cNvPicPr>
          <p:nvPr/>
        </p:nvPicPr>
        <p:blipFill>
          <a:blip r:embed="rId9"/>
          <a:stretch/>
        </p:blipFill>
        <p:spPr>
          <a:xfrm>
            <a:off x="623427" y="4657725"/>
            <a:ext cx="258097" cy="266700"/>
          </a:xfrm>
          <a:prstGeom prst="rect">
            <a:avLst/>
          </a:prstGeom>
        </p:spPr>
      </p:pic>
      <p:sp>
        <p:nvSpPr>
          <p:cNvPr id="37" name="Rectangle 36">
            <a:extLst>
              <a:ext uri="{FF2B5EF4-FFF2-40B4-BE49-F238E27FC236}">
                <a16:creationId xmlns:a16="http://schemas.microsoft.com/office/drawing/2014/main" id="{A296B6A2-1EAE-4DF0-B44E-8318BD4233C2}"/>
              </a:ext>
            </a:extLst>
          </p:cNvPr>
          <p:cNvSpPr>
            <a:spLocks noGrp="1"/>
          </p:cNvSpPr>
          <p:nvPr/>
        </p:nvSpPr>
        <p:spPr>
          <a:xfrm>
            <a:off x="1095375" y="4705350"/>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a:t>
            </a:r>
          </a:p>
        </p:txBody>
      </p:sp>
      <p:sp>
        <p:nvSpPr>
          <p:cNvPr id="38" name="Rectangle 37">
            <a:extLst>
              <a:ext uri="{FF2B5EF4-FFF2-40B4-BE49-F238E27FC236}">
                <a16:creationId xmlns:a16="http://schemas.microsoft.com/office/drawing/2014/main" id="{571D8DEA-6CCE-4396-A35E-1C8C5E110E93}"/>
              </a:ext>
            </a:extLst>
          </p:cNvPr>
          <p:cNvSpPr>
            <a:spLocks noGrp="1"/>
          </p:cNvSpPr>
          <p:nvPr/>
        </p:nvSpPr>
        <p:spPr>
          <a:xfrm>
            <a:off x="2714625" y="4705350"/>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200 TB</a:t>
            </a:r>
          </a:p>
        </p:txBody>
      </p:sp>
      <p:sp>
        <p:nvSpPr>
          <p:cNvPr id="39" name="Straight Connector 38">
            <a:extLst>
              <a:ext uri="{FF2B5EF4-FFF2-40B4-BE49-F238E27FC236}">
                <a16:creationId xmlns:a16="http://schemas.microsoft.com/office/drawing/2014/main" id="{5520A562-CFAF-4530-A6B7-7E28A96260E0}"/>
              </a:ext>
            </a:extLst>
          </p:cNvPr>
          <p:cNvSpPr>
            <a:spLocks noGrp="1"/>
          </p:cNvSpPr>
          <p:nvPr/>
        </p:nvSpPr>
        <p:spPr>
          <a:xfrm>
            <a:off x="971550" y="4953000"/>
            <a:ext cx="3743325" cy="0"/>
          </a:xfrm>
          <a:prstGeom prst="line">
            <a:avLst/>
          </a:prstGeom>
          <a:noFill/>
          <a:ln w="9525">
            <a:solidFill>
              <a:srgbClr val="D8DDD9"/>
            </a:solidFill>
            <a:prstDash val="solid"/>
          </a:ln>
        </p:spPr>
        <p:txBody>
          <a:bodyPr/>
          <a:lstStyle/>
          <a:p>
            <a:endParaRPr lang="en-FR"/>
          </a:p>
        </p:txBody>
      </p:sp>
      <p:pic>
        <p:nvPicPr>
          <p:cNvPr id="104" name="Picture 103"/>
          <p:cNvPicPr>
            <a:picLocks noChangeAspect="1"/>
          </p:cNvPicPr>
          <p:nvPr/>
        </p:nvPicPr>
        <p:blipFill>
          <a:blip r:embed="rId10"/>
          <a:stretch/>
        </p:blipFill>
        <p:spPr>
          <a:xfrm>
            <a:off x="600075" y="5059680"/>
            <a:ext cx="304800" cy="243840"/>
          </a:xfrm>
          <a:prstGeom prst="rect">
            <a:avLst/>
          </a:prstGeom>
        </p:spPr>
      </p:pic>
      <p:sp>
        <p:nvSpPr>
          <p:cNvPr id="41" name="Rectangle 40">
            <a:extLst>
              <a:ext uri="{FF2B5EF4-FFF2-40B4-BE49-F238E27FC236}">
                <a16:creationId xmlns:a16="http://schemas.microsoft.com/office/drawing/2014/main" id="{F1AC0AF7-CEAD-416C-835F-A8E4E0E9D4ED}"/>
              </a:ext>
            </a:extLst>
          </p:cNvPr>
          <p:cNvSpPr>
            <a:spLocks noGrp="1"/>
          </p:cNvSpPr>
          <p:nvPr/>
        </p:nvSpPr>
        <p:spPr>
          <a:xfrm>
            <a:off x="1095375" y="5095875"/>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dirty="0">
                <a:solidFill>
                  <a:srgbClr val="003B25"/>
                </a:solidFill>
                <a:latin typeface="Arial"/>
                <a:ea typeface="Arial"/>
                <a:cs typeface="Arial"/>
              </a:rPr>
              <a:t>Storage Type</a:t>
            </a:r>
          </a:p>
        </p:txBody>
      </p:sp>
      <p:sp>
        <p:nvSpPr>
          <p:cNvPr id="42" name="Rectangle 41">
            <a:extLst>
              <a:ext uri="{FF2B5EF4-FFF2-40B4-BE49-F238E27FC236}">
                <a16:creationId xmlns:a16="http://schemas.microsoft.com/office/drawing/2014/main" id="{0D164D0D-8AB5-4407-9EE9-E57C7BA98C66}"/>
              </a:ext>
            </a:extLst>
          </p:cNvPr>
          <p:cNvSpPr>
            <a:spLocks noGrp="1"/>
          </p:cNvSpPr>
          <p:nvPr/>
        </p:nvSpPr>
        <p:spPr>
          <a:xfrm>
            <a:off x="2714625" y="5095875"/>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OCI Block Volume</a:t>
            </a:r>
          </a:p>
        </p:txBody>
      </p:sp>
      <p:sp>
        <p:nvSpPr>
          <p:cNvPr id="43" name="Rounded Rectangle 42">
            <a:extLst>
              <a:ext uri="{FF2B5EF4-FFF2-40B4-BE49-F238E27FC236}">
                <a16:creationId xmlns:a16="http://schemas.microsoft.com/office/drawing/2014/main" id="{F4A93DB1-0C11-4F07-995E-5594E63F6BCF}"/>
              </a:ext>
            </a:extLst>
          </p:cNvPr>
          <p:cNvSpPr>
            <a:spLocks noGrp="1"/>
          </p:cNvSpPr>
          <p:nvPr/>
        </p:nvSpPr>
        <p:spPr>
          <a:xfrm>
            <a:off x="5153025" y="2600325"/>
            <a:ext cx="6657975" cy="2790825"/>
          </a:xfrm>
          <a:prstGeom prst="roundRect">
            <a:avLst>
              <a:gd name="adj" fmla="val 2389"/>
            </a:avLst>
          </a:prstGeom>
          <a:solidFill>
            <a:srgbClr val="FFFFFF"/>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44" name="Rounded Rectangle 43">
            <a:extLst>
              <a:ext uri="{FF2B5EF4-FFF2-40B4-BE49-F238E27FC236}">
                <a16:creationId xmlns:a16="http://schemas.microsoft.com/office/drawing/2014/main" id="{19693974-293E-4E08-91F3-7697E0B7E601}"/>
              </a:ext>
            </a:extLst>
          </p:cNvPr>
          <p:cNvSpPr>
            <a:spLocks noGrp="1"/>
          </p:cNvSpPr>
          <p:nvPr/>
        </p:nvSpPr>
        <p:spPr>
          <a:xfrm>
            <a:off x="5153025" y="2600325"/>
            <a:ext cx="6657975" cy="342900"/>
          </a:xfrm>
          <a:prstGeom prst="roundRect">
            <a:avLst>
              <a:gd name="adj" fmla="val 19444"/>
            </a:avLst>
          </a:prstGeom>
          <a:gradFill>
            <a:gsLst>
              <a:gs pos="0">
                <a:srgbClr val="003B25"/>
              </a:gs>
              <a:gs pos="100000">
                <a:srgbClr val="0B4B30"/>
              </a:gs>
            </a:gsLst>
            <a:lin ang="5400000"/>
          </a:gradFill>
          <a:ln w="0">
            <a:noFill/>
            <a:prstDash val="solid"/>
          </a:ln>
        </p:spPr>
        <p:txBody>
          <a:bodyPr/>
          <a:lstStyle/>
          <a:p>
            <a:endParaRPr lang="en-FR"/>
          </a:p>
        </p:txBody>
      </p:sp>
      <p:sp>
        <p:nvSpPr>
          <p:cNvPr id="45" name="Rectangle 44">
            <a:extLst>
              <a:ext uri="{FF2B5EF4-FFF2-40B4-BE49-F238E27FC236}">
                <a16:creationId xmlns:a16="http://schemas.microsoft.com/office/drawing/2014/main" id="{D3A91228-06D1-492A-84C7-F52EB6AE30B6}"/>
              </a:ext>
            </a:extLst>
          </p:cNvPr>
          <p:cNvSpPr>
            <a:spLocks noGrp="1"/>
          </p:cNvSpPr>
          <p:nvPr/>
        </p:nvSpPr>
        <p:spPr>
          <a:xfrm>
            <a:off x="5153025" y="2876550"/>
            <a:ext cx="6657975" cy="66675"/>
          </a:xfrm>
          <a:prstGeom prst="rect">
            <a:avLst/>
          </a:prstGeom>
          <a:gradFill>
            <a:gsLst>
              <a:gs pos="0">
                <a:srgbClr val="003B25"/>
              </a:gs>
              <a:gs pos="100000">
                <a:srgbClr val="0B4B30"/>
              </a:gs>
            </a:gsLst>
            <a:lin ang="5400000"/>
          </a:gradFill>
          <a:ln w="0">
            <a:noFill/>
            <a:prstDash val="solid"/>
          </a:ln>
        </p:spPr>
        <p:txBody>
          <a:bodyPr/>
          <a:lstStyle/>
          <a:p>
            <a:endParaRPr lang="en-FR"/>
          </a:p>
        </p:txBody>
      </p:sp>
      <p:pic>
        <p:nvPicPr>
          <p:cNvPr id="110" name="Picture 109"/>
          <p:cNvPicPr>
            <a:picLocks noChangeAspect="1"/>
          </p:cNvPicPr>
          <p:nvPr/>
        </p:nvPicPr>
        <p:blipFill>
          <a:blip r:embed="rId11"/>
          <a:stretch/>
        </p:blipFill>
        <p:spPr>
          <a:xfrm>
            <a:off x="5377053" y="2676525"/>
            <a:ext cx="237744" cy="228600"/>
          </a:xfrm>
          <a:prstGeom prst="rect">
            <a:avLst/>
          </a:prstGeom>
        </p:spPr>
      </p:pic>
      <p:sp>
        <p:nvSpPr>
          <p:cNvPr id="47" name="Rectangle 46">
            <a:extLst>
              <a:ext uri="{FF2B5EF4-FFF2-40B4-BE49-F238E27FC236}">
                <a16:creationId xmlns:a16="http://schemas.microsoft.com/office/drawing/2014/main" id="{C1C7126B-261C-4305-996E-A098C771BD53}"/>
              </a:ext>
            </a:extLst>
          </p:cNvPr>
          <p:cNvSpPr>
            <a:spLocks noGrp="1"/>
          </p:cNvSpPr>
          <p:nvPr/>
        </p:nvSpPr>
        <p:spPr>
          <a:xfrm>
            <a:off x="5734050" y="2724150"/>
            <a:ext cx="1714500" cy="161925"/>
          </a:xfrm>
          <a:prstGeom prst="rect">
            <a:avLst/>
          </a:prstGeom>
          <a:noFill/>
          <a:ln w="0">
            <a:noFill/>
            <a:prstDash val="solid"/>
          </a:ln>
        </p:spPr>
        <p:txBody>
          <a:bodyPr wrap="none" lIns="0" tIns="0" rIns="0" bIns="0" anchor="t"/>
          <a:lstStyle/>
          <a:p>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Cluster Distribution</a:t>
            </a:r>
          </a:p>
        </p:txBody>
      </p:sp>
      <p:sp>
        <p:nvSpPr>
          <p:cNvPr id="48" name="Rounded Rectangle 47">
            <a:extLst>
              <a:ext uri="{FF2B5EF4-FFF2-40B4-BE49-F238E27FC236}">
                <a16:creationId xmlns:a16="http://schemas.microsoft.com/office/drawing/2014/main" id="{0402606C-82ED-44F9-89DE-F2BB23C1D685}"/>
              </a:ext>
            </a:extLst>
          </p:cNvPr>
          <p:cNvSpPr>
            <a:spLocks noGrp="1"/>
          </p:cNvSpPr>
          <p:nvPr/>
        </p:nvSpPr>
        <p:spPr>
          <a:xfrm>
            <a:off x="5372100" y="3152775"/>
            <a:ext cx="6134100" cy="2105025"/>
          </a:xfrm>
          <a:prstGeom prst="roundRect">
            <a:avLst>
              <a:gd name="adj" fmla="val 3167"/>
            </a:avLst>
          </a:prstGeom>
          <a:solidFill>
            <a:srgbClr val="FFFFFF"/>
          </a:solidFill>
          <a:ln w="9525">
            <a:solidFill>
              <a:srgbClr val="D9DEDA"/>
            </a:solidFill>
            <a:prstDash val="solid"/>
          </a:ln>
        </p:spPr>
        <p:txBody>
          <a:bodyPr/>
          <a:lstStyle/>
          <a:p>
            <a:endParaRPr lang="en-FR"/>
          </a:p>
        </p:txBody>
      </p:sp>
      <p:sp>
        <p:nvSpPr>
          <p:cNvPr id="49" name="Rectangle 48">
            <a:extLst>
              <a:ext uri="{FF2B5EF4-FFF2-40B4-BE49-F238E27FC236}">
                <a16:creationId xmlns:a16="http://schemas.microsoft.com/office/drawing/2014/main" id="{5F9F1C6B-88CC-42AF-8D36-9A21C96472C5}"/>
              </a:ext>
            </a:extLst>
          </p:cNvPr>
          <p:cNvSpPr>
            <a:spLocks noGrp="1"/>
          </p:cNvSpPr>
          <p:nvPr/>
        </p:nvSpPr>
        <p:spPr>
          <a:xfrm>
            <a:off x="5381625" y="3162300"/>
            <a:ext cx="6115050" cy="723900"/>
          </a:xfrm>
          <a:prstGeom prst="rect">
            <a:avLst/>
          </a:prstGeom>
          <a:solidFill>
            <a:srgbClr val="F4F8F5"/>
          </a:solidFill>
          <a:ln w="0">
            <a:noFill/>
            <a:prstDash val="solid"/>
          </a:ln>
        </p:spPr>
        <p:txBody>
          <a:bodyPr/>
          <a:lstStyle/>
          <a:p>
            <a:endParaRPr lang="en-FR"/>
          </a:p>
        </p:txBody>
      </p:sp>
      <p:pic>
        <p:nvPicPr>
          <p:cNvPr id="114" name="Picture 113"/>
          <p:cNvPicPr>
            <a:picLocks noChangeAspect="1"/>
          </p:cNvPicPr>
          <p:nvPr/>
        </p:nvPicPr>
        <p:blipFill>
          <a:blip r:embed="rId12"/>
          <a:stretch/>
        </p:blipFill>
        <p:spPr>
          <a:xfrm>
            <a:off x="7172325" y="3209925"/>
            <a:ext cx="714375" cy="666750"/>
          </a:xfrm>
          <a:prstGeom prst="rect">
            <a:avLst/>
          </a:prstGeom>
        </p:spPr>
      </p:pic>
      <p:sp>
        <p:nvSpPr>
          <p:cNvPr id="51" name="Rectangle 50">
            <a:extLst>
              <a:ext uri="{FF2B5EF4-FFF2-40B4-BE49-F238E27FC236}">
                <a16:creationId xmlns:a16="http://schemas.microsoft.com/office/drawing/2014/main" id="{8DC09F75-7A31-4E16-A176-3E722DEDC7AA}"/>
              </a:ext>
            </a:extLst>
          </p:cNvPr>
          <p:cNvSpPr>
            <a:spLocks noGrp="1"/>
          </p:cNvSpPr>
          <p:nvPr/>
        </p:nvSpPr>
        <p:spPr>
          <a:xfrm>
            <a:off x="7934325" y="3476625"/>
            <a:ext cx="1333500" cy="228600"/>
          </a:xfrm>
          <a:prstGeom prst="rect">
            <a:avLst/>
          </a:prstGeom>
          <a:noFill/>
          <a:ln w="0">
            <a:noFill/>
            <a:prstDash val="solid"/>
          </a:ln>
        </p:spPr>
        <p:txBody>
          <a:bodyPr wrap="none" lIns="0" tIns="0" rIns="0" bIns="0" anchor="t"/>
          <a:lstStyle/>
          <a:p>
            <a:pPr algn="l">
              <a:lnSpc>
                <a:spcPct val="100000"/>
              </a:lnSpc>
              <a:buNone/>
              <a:defRPr sz="1350" b="1" i="0">
                <a:solidFill>
                  <a:srgbClr val="003B25"/>
                </a:solidFill>
                <a:latin typeface="Arial"/>
                <a:ea typeface="Arial"/>
                <a:cs typeface="Arial"/>
              </a:defRPr>
            </a:pPr>
            <a:r>
              <a:rPr sz="1350" b="1" i="0">
                <a:solidFill>
                  <a:srgbClr val="003B25"/>
                </a:solidFill>
                <a:latin typeface="Arial"/>
                <a:ea typeface="Arial"/>
                <a:cs typeface="Arial"/>
              </a:rPr>
              <a:t>Production</a:t>
            </a:r>
          </a:p>
        </p:txBody>
      </p:sp>
      <p:sp>
        <p:nvSpPr>
          <p:cNvPr id="52" name="Straight Connector 51">
            <a:extLst>
              <a:ext uri="{FF2B5EF4-FFF2-40B4-BE49-F238E27FC236}">
                <a16:creationId xmlns:a16="http://schemas.microsoft.com/office/drawing/2014/main" id="{1A3A9718-8C44-4242-B34F-F001FA6307F6}"/>
              </a:ext>
            </a:extLst>
          </p:cNvPr>
          <p:cNvSpPr>
            <a:spLocks noGrp="1"/>
          </p:cNvSpPr>
          <p:nvPr/>
        </p:nvSpPr>
        <p:spPr>
          <a:xfrm>
            <a:off x="5505450" y="4619625"/>
            <a:ext cx="5705475" cy="0"/>
          </a:xfrm>
          <a:prstGeom prst="line">
            <a:avLst/>
          </a:prstGeom>
          <a:noFill/>
          <a:ln w="9525">
            <a:solidFill>
              <a:srgbClr val="D8DDD9"/>
            </a:solidFill>
            <a:prstDash val="solid"/>
          </a:ln>
        </p:spPr>
        <p:txBody>
          <a:bodyPr/>
          <a:lstStyle/>
          <a:p>
            <a:endParaRPr lang="en-FR"/>
          </a:p>
        </p:txBody>
      </p:sp>
      <p:pic>
        <p:nvPicPr>
          <p:cNvPr id="117" name="Picture 116"/>
          <p:cNvPicPr>
            <a:picLocks noChangeAspect="1"/>
          </p:cNvPicPr>
          <p:nvPr/>
        </p:nvPicPr>
        <p:blipFill>
          <a:blip r:embed="rId13"/>
          <a:stretch/>
        </p:blipFill>
        <p:spPr>
          <a:xfrm>
            <a:off x="7305675" y="4171950"/>
            <a:ext cx="352425" cy="285750"/>
          </a:xfrm>
          <a:prstGeom prst="rect">
            <a:avLst/>
          </a:prstGeom>
        </p:spPr>
      </p:pic>
      <p:sp>
        <p:nvSpPr>
          <p:cNvPr id="54" name="Rectangle 53">
            <a:extLst>
              <a:ext uri="{FF2B5EF4-FFF2-40B4-BE49-F238E27FC236}">
                <a16:creationId xmlns:a16="http://schemas.microsoft.com/office/drawing/2014/main" id="{DBA146ED-B71C-4C3A-ADBC-410FE533740C}"/>
              </a:ext>
            </a:extLst>
          </p:cNvPr>
          <p:cNvSpPr>
            <a:spLocks noGrp="1"/>
          </p:cNvSpPr>
          <p:nvPr/>
        </p:nvSpPr>
        <p:spPr>
          <a:xfrm>
            <a:off x="7972425" y="4210050"/>
            <a:ext cx="228600" cy="247650"/>
          </a:xfrm>
          <a:prstGeom prst="rect">
            <a:avLst/>
          </a:prstGeom>
          <a:noFill/>
          <a:ln w="0">
            <a:noFill/>
            <a:prstDash val="solid"/>
          </a:ln>
        </p:spPr>
        <p:txBody>
          <a:bodyPr wrap="none" lIns="0" tIns="0" rIns="0" bIns="0" anchor="t"/>
          <a:lstStyle/>
          <a:p>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4</a:t>
            </a:r>
          </a:p>
        </p:txBody>
      </p:sp>
      <p:sp>
        <p:nvSpPr>
          <p:cNvPr id="55" name="Rectangle 54">
            <a:extLst>
              <a:ext uri="{FF2B5EF4-FFF2-40B4-BE49-F238E27FC236}">
                <a16:creationId xmlns:a16="http://schemas.microsoft.com/office/drawing/2014/main" id="{5DBF9DD8-F59D-478A-A27E-79BABD53E9CC}"/>
              </a:ext>
            </a:extLst>
          </p:cNvPr>
          <p:cNvSpPr>
            <a:spLocks noGrp="1"/>
          </p:cNvSpPr>
          <p:nvPr/>
        </p:nvSpPr>
        <p:spPr>
          <a:xfrm>
            <a:off x="8239125" y="4286250"/>
            <a:ext cx="952500" cy="171450"/>
          </a:xfrm>
          <a:prstGeom prst="rect">
            <a:avLst/>
          </a:prstGeom>
          <a:noFill/>
          <a:ln w="0">
            <a:noFill/>
            <a:prstDash val="solid"/>
          </a:ln>
        </p:spPr>
        <p:txBody>
          <a:bodyPr wrap="none" lIns="0" tIns="0" rIns="0" bIns="0" anchor="t"/>
          <a:lstStyle/>
          <a:p>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x AMD E4</a:t>
            </a:r>
          </a:p>
        </p:txBody>
      </p:sp>
      <p:pic>
        <p:nvPicPr>
          <p:cNvPr id="120" name="Picture 119"/>
          <p:cNvPicPr>
            <a:picLocks noChangeAspect="1"/>
          </p:cNvPicPr>
          <p:nvPr/>
        </p:nvPicPr>
        <p:blipFill>
          <a:blip r:embed="rId14"/>
          <a:stretch/>
        </p:blipFill>
        <p:spPr>
          <a:xfrm>
            <a:off x="7315200" y="4756735"/>
            <a:ext cx="342900" cy="306805"/>
          </a:xfrm>
          <a:prstGeom prst="rect">
            <a:avLst/>
          </a:prstGeom>
        </p:spPr>
      </p:pic>
      <p:sp>
        <p:nvSpPr>
          <p:cNvPr id="57" name="Rectangle 56">
            <a:extLst>
              <a:ext uri="{FF2B5EF4-FFF2-40B4-BE49-F238E27FC236}">
                <a16:creationId xmlns:a16="http://schemas.microsoft.com/office/drawing/2014/main" id="{61B41578-806C-4401-935D-8C6BDB5BD3B9}"/>
              </a:ext>
            </a:extLst>
          </p:cNvPr>
          <p:cNvSpPr>
            <a:spLocks noGrp="1"/>
          </p:cNvSpPr>
          <p:nvPr/>
        </p:nvSpPr>
        <p:spPr>
          <a:xfrm>
            <a:off x="7991475" y="4810125"/>
            <a:ext cx="542925" cy="266700"/>
          </a:xfrm>
          <a:prstGeom prst="rect">
            <a:avLst/>
          </a:prstGeom>
          <a:noFill/>
          <a:ln w="0">
            <a:noFill/>
            <a:prstDash val="solid"/>
          </a:ln>
        </p:spPr>
        <p:txBody>
          <a:bodyPr wrap="none" lIns="0" tIns="0" rIns="0" bIns="0" anchor="t"/>
          <a:lstStyle/>
          <a:p>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200</a:t>
            </a:r>
          </a:p>
        </p:txBody>
      </p:sp>
      <p:sp>
        <p:nvSpPr>
          <p:cNvPr id="58" name="Rectangle 57">
            <a:extLst>
              <a:ext uri="{FF2B5EF4-FFF2-40B4-BE49-F238E27FC236}">
                <a16:creationId xmlns:a16="http://schemas.microsoft.com/office/drawing/2014/main" id="{98B6B2C4-DDC4-44ED-9B4E-5C1A4C0A5328}"/>
              </a:ext>
            </a:extLst>
          </p:cNvPr>
          <p:cNvSpPr>
            <a:spLocks noGrp="1"/>
          </p:cNvSpPr>
          <p:nvPr/>
        </p:nvSpPr>
        <p:spPr>
          <a:xfrm>
            <a:off x="8524875" y="4895850"/>
            <a:ext cx="304800" cy="171450"/>
          </a:xfrm>
          <a:prstGeom prst="rect">
            <a:avLst/>
          </a:prstGeom>
          <a:noFill/>
          <a:ln w="0">
            <a:noFill/>
            <a:prstDash val="solid"/>
          </a:ln>
        </p:spPr>
        <p:txBody>
          <a:bodyPr wrap="none" lIns="0" tIns="0" rIns="0" bIns="0" anchor="t"/>
          <a:lstStyle/>
          <a:p>
            <a:pPr algn="l">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TB</a:t>
            </a:r>
          </a:p>
        </p:txBody>
      </p:sp>
      <p:sp>
        <p:nvSpPr>
          <p:cNvPr id="59" name="Rounded Rectangle 58">
            <a:extLst>
              <a:ext uri="{FF2B5EF4-FFF2-40B4-BE49-F238E27FC236}">
                <a16:creationId xmlns:a16="http://schemas.microsoft.com/office/drawing/2014/main" id="{FEA89CD6-5A66-491C-901C-25FF456DC8A4}"/>
              </a:ext>
            </a:extLst>
          </p:cNvPr>
          <p:cNvSpPr>
            <a:spLocks noGrp="1"/>
          </p:cNvSpPr>
          <p:nvPr/>
        </p:nvSpPr>
        <p:spPr>
          <a:xfrm>
            <a:off x="361950" y="5553075"/>
            <a:ext cx="11449050" cy="619125"/>
          </a:xfrm>
          <a:prstGeom prst="roundRect">
            <a:avLst>
              <a:gd name="adj" fmla="val 6154"/>
            </a:avLst>
          </a:prstGeom>
          <a:gradFill>
            <a:gsLst>
              <a:gs pos="0">
                <a:srgbClr val="F0F6F2"/>
              </a:gs>
              <a:gs pos="100000">
                <a:srgbClr val="F7FAF8"/>
              </a:gs>
            </a:gsLst>
            <a:lin ang="5400000"/>
          </a:gradFill>
          <a:ln w="0">
            <a:noFill/>
            <a:prstDash val="solid"/>
          </a:ln>
        </p:spPr>
        <p:txBody>
          <a:bodyPr/>
          <a:lstStyle/>
          <a:p>
            <a:endParaRPr lang="en-FR"/>
          </a:p>
        </p:txBody>
      </p:sp>
      <p:pic>
        <p:nvPicPr>
          <p:cNvPr id="124" name="Picture 123"/>
          <p:cNvPicPr>
            <a:picLocks noChangeAspect="1"/>
          </p:cNvPicPr>
          <p:nvPr/>
        </p:nvPicPr>
        <p:blipFill>
          <a:blip r:embed="rId15"/>
          <a:stretch/>
        </p:blipFill>
        <p:spPr>
          <a:xfrm>
            <a:off x="542925" y="5647619"/>
            <a:ext cx="476250" cy="458611"/>
          </a:xfrm>
          <a:prstGeom prst="rect">
            <a:avLst/>
          </a:prstGeom>
        </p:spPr>
      </p:pic>
      <p:sp>
        <p:nvSpPr>
          <p:cNvPr id="61" name="Rectangle 60">
            <a:extLst>
              <a:ext uri="{FF2B5EF4-FFF2-40B4-BE49-F238E27FC236}">
                <a16:creationId xmlns:a16="http://schemas.microsoft.com/office/drawing/2014/main" id="{5DAD0D36-AD01-4390-AC74-7C58CD1446C4}"/>
              </a:ext>
            </a:extLst>
          </p:cNvPr>
          <p:cNvSpPr>
            <a:spLocks noGrp="1"/>
          </p:cNvSpPr>
          <p:nvPr/>
        </p:nvSpPr>
        <p:spPr>
          <a:xfrm>
            <a:off x="1200150" y="5695950"/>
            <a:ext cx="6477000" cy="190500"/>
          </a:xfrm>
          <a:prstGeom prst="rect">
            <a:avLst/>
          </a:prstGeom>
          <a:noFill/>
          <a:ln w="0">
            <a:noFill/>
            <a:prstDash val="solid"/>
          </a:ln>
        </p:spPr>
        <p:txBody>
          <a:bodyPr wrap="none" lIns="0" tIns="0" rIns="0" bIns="0" anchor="t"/>
          <a:lstStyle/>
          <a:p>
            <a:pPr algn="l">
              <a:lnSpc>
                <a:spcPct val="100000"/>
              </a:lnSpc>
              <a:buNone/>
              <a:defRPr sz="1163" b="1" i="0">
                <a:solidFill>
                  <a:srgbClr val="003B25"/>
                </a:solidFill>
                <a:latin typeface="Arial"/>
                <a:ea typeface="Arial"/>
                <a:cs typeface="Arial"/>
              </a:defRPr>
            </a:pPr>
            <a:r>
              <a:rPr sz="1163" b="1" i="0">
                <a:solidFill>
                  <a:srgbClr val="003B25"/>
                </a:solidFill>
                <a:latin typeface="Arial"/>
                <a:ea typeface="Arial"/>
                <a:cs typeface="Arial"/>
              </a:rPr>
              <a:t>Right-sized architecture designed to support current workloads and future growth</a:t>
            </a:r>
          </a:p>
        </p:txBody>
      </p:sp>
      <p:sp>
        <p:nvSpPr>
          <p:cNvPr id="62" name="Rectangle 61">
            <a:extLst>
              <a:ext uri="{FF2B5EF4-FFF2-40B4-BE49-F238E27FC236}">
                <a16:creationId xmlns:a16="http://schemas.microsoft.com/office/drawing/2014/main" id="{68EC56A3-D2EC-4108-96A2-02243E8CFF9E}"/>
              </a:ext>
            </a:extLst>
          </p:cNvPr>
          <p:cNvSpPr>
            <a:spLocks noGrp="1"/>
          </p:cNvSpPr>
          <p:nvPr/>
        </p:nvSpPr>
        <p:spPr>
          <a:xfrm>
            <a:off x="1200150" y="5924550"/>
            <a:ext cx="3524250" cy="190500"/>
          </a:xfrm>
          <a:prstGeom prst="rect">
            <a:avLst/>
          </a:prstGeom>
          <a:noFill/>
          <a:ln w="0">
            <a:noFill/>
            <a:prstDash val="solid"/>
          </a:ln>
        </p:spPr>
        <p:txBody>
          <a:bodyPr wrap="none" lIns="0" tIns="0" rIns="0" bIns="0" anchor="t"/>
          <a:lstStyle/>
          <a:p>
            <a:pPr algn="l">
              <a:lnSpc>
                <a:spcPct val="100000"/>
              </a:lnSpc>
              <a:buNone/>
              <a:defRPr sz="1125" b="0" i="0">
                <a:solidFill>
                  <a:srgbClr val="111111"/>
                </a:solidFill>
                <a:latin typeface="Arial"/>
                <a:ea typeface="Arial"/>
                <a:cs typeface="Arial"/>
              </a:defRPr>
            </a:pPr>
            <a:r>
              <a:rPr sz="1125" b="0" i="0">
                <a:solidFill>
                  <a:srgbClr val="111111"/>
                </a:solidFill>
                <a:latin typeface="Arial"/>
                <a:ea typeface="Arial"/>
                <a:cs typeface="Arial"/>
              </a:rPr>
              <a:t>while optimizing cost and performance.</a:t>
            </a:r>
          </a:p>
        </p:txBody>
      </p:sp>
      <p:sp>
        <p:nvSpPr>
          <p:cNvPr id="63" name="Rectangle 62">
            <a:extLst>
              <a:ext uri="{FF2B5EF4-FFF2-40B4-BE49-F238E27FC236}">
                <a16:creationId xmlns:a16="http://schemas.microsoft.com/office/drawing/2014/main" id="{37F63975-8C02-4B96-9126-5015455BA972}"/>
              </a:ext>
            </a:extLst>
          </p:cNvPr>
          <p:cNvSpPr>
            <a:spLocks noGrp="1"/>
          </p:cNvSpPr>
          <p:nvPr/>
        </p:nvSpPr>
        <p:spPr>
          <a:xfrm>
            <a:off x="1133475" y="6553200"/>
            <a:ext cx="5334000" cy="152400"/>
          </a:xfrm>
          <a:prstGeom prst="rect">
            <a:avLst/>
          </a:prstGeom>
          <a:noFill/>
          <a:ln w="0">
            <a:noFill/>
            <a:prstDash val="solid"/>
          </a:ln>
        </p:spPr>
        <p:txBody>
          <a:bodyPr wrap="none" lIns="0" tIns="0" rIns="0" bIns="0" anchor="t"/>
          <a:lstStyle/>
          <a:p>
            <a:pPr algn="l">
              <a:lnSpc>
                <a:spcPct val="100000"/>
              </a:lnSpc>
              <a:buNone/>
              <a:defRPr sz="675" b="0" i="0">
                <a:solidFill>
                  <a:srgbClr val="5C5C5C"/>
                </a:solidFill>
                <a:latin typeface="Arial"/>
                <a:ea typeface="Arial"/>
                <a:cs typeface="Arial"/>
              </a:defRPr>
            </a:pPr>
            <a:r>
              <a:rPr sz="675" b="0" i="0">
                <a:solidFill>
                  <a:srgbClr val="5C5C5C"/>
                </a:solidFill>
                <a:latin typeface="Arial"/>
                <a:ea typeface="Arial"/>
                <a:cs typeface="Arial"/>
              </a:rPr>
              <a:t>Copyright © 2026, Oracle and/or its affiliates | Confidential: Internal/Restricted/Highly Restricted</a:t>
            </a:r>
          </a:p>
        </p:txBody>
      </p:sp>
      <p:pic>
        <p:nvPicPr>
          <p:cNvPr id="128" name="Picture 127"/>
          <p:cNvPicPr>
            <a:picLocks noChangeAspect="1"/>
          </p:cNvPicPr>
          <p:nvPr/>
        </p:nvPicPr>
        <p:blipFill>
          <a:blip r:embed="rId16"/>
          <a:stretch/>
        </p:blipFill>
        <p:spPr>
          <a:xfrm>
            <a:off x="11401979" y="6457950"/>
            <a:ext cx="446567" cy="400050"/>
          </a:xfrm>
          <a:prstGeom prst="rect">
            <a:avLst/>
          </a:prstGeom>
        </p:spPr>
      </p:pic>
    </p:spTree>
    <p:extLst>
      <p:ext uri="{BB962C8B-B14F-4D97-AF65-F5344CB8AC3E}">
        <p14:creationId xmlns:p14="http://schemas.microsoft.com/office/powerpoint/2010/main" val="789669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030B4A-2296-4E67-AE3A-90D3730F76AA}"/>
              </a:ext>
            </a:extLst>
          </p:cNvPr>
          <p:cNvSpPr>
            <a:spLocks noGrp="1"/>
          </p:cNvSpPr>
          <p:nvPr/>
        </p:nvSpPr>
        <p:spPr>
          <a:xfrm>
            <a:off x="66675" y="85725"/>
            <a:ext cx="2667000" cy="323850"/>
          </a:xfrm>
          <a:prstGeom prst="rect">
            <a:avLst/>
          </a:prstGeom>
          <a:noFill/>
          <a:ln w="0">
            <a:noFill/>
            <a:prstDash val="solid"/>
          </a:ln>
        </p:spPr>
        <p:txBody>
          <a:bodyPr wrap="square" lIns="0" tIns="0" rIns="0" bIns="0" anchor="t"/>
          <a:lstStyle/>
          <a:p>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pic>
        <p:nvPicPr>
          <p:cNvPr id="5" name="Picture 4"/>
          <p:cNvPicPr>
            <a:picLocks noChangeAspect="1"/>
          </p:cNvPicPr>
          <p:nvPr/>
        </p:nvPicPr>
        <p:blipFill>
          <a:blip r:embed="rId3"/>
          <a:stretch/>
        </p:blipFill>
        <p:spPr>
          <a:xfrm>
            <a:off x="4219575" y="3185422"/>
            <a:ext cx="3752850" cy="534781"/>
          </a:xfrm>
          <a:prstGeom prst="rect">
            <a:avLst/>
          </a:prstGeom>
        </p:spPr>
      </p:pic>
      <p:sp>
        <p:nvSpPr>
          <p:cNvPr id="3" name="Rectangle 2">
            <a:extLst>
              <a:ext uri="{FF2B5EF4-FFF2-40B4-BE49-F238E27FC236}">
                <a16:creationId xmlns:a16="http://schemas.microsoft.com/office/drawing/2014/main" id="{E17D35F5-2CF6-43F3-9813-9C11FDF9362B}"/>
              </a:ext>
            </a:extLst>
          </p:cNvPr>
          <p:cNvSpPr>
            <a:spLocks noGrp="1"/>
          </p:cNvSpPr>
          <p:nvPr/>
        </p:nvSpPr>
        <p:spPr>
          <a:xfrm>
            <a:off x="66675" y="6486525"/>
            <a:ext cx="2667000" cy="323850"/>
          </a:xfrm>
          <a:prstGeom prst="rect">
            <a:avLst/>
          </a:prstGeom>
          <a:noFill/>
          <a:ln w="0">
            <a:noFill/>
            <a:prstDash val="solid"/>
          </a:ln>
        </p:spPr>
        <p:txBody>
          <a:bodyPr wrap="square" lIns="0" tIns="0" rIns="0" bIns="0" anchor="t"/>
          <a:lstStyle/>
          <a:p>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spTree>
    <p:extLst>
      <p:ext uri="{BB962C8B-B14F-4D97-AF65-F5344CB8AC3E}">
        <p14:creationId xmlns:p14="http://schemas.microsoft.com/office/powerpoint/2010/main" val="104449293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0</TotalTime>
  <Words>818</Words>
  <Application>Microsoft Macintosh PowerPoint</Application>
  <DocSecurity>0</DocSecurity>
  <PresentationFormat>Widescreen</PresentationFormat>
  <Paragraphs>164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Yoann JOSPITRE</cp:lastModifiedBy>
  <cp:revision>1</cp:revision>
  <dcterms:created xsi:type="dcterms:W3CDTF">2026-08-14T08:37:44Z</dcterms:created>
  <dcterms:modified xsi:type="dcterms:W3CDTF">2026-08-14T08:52:31Z</dcterms:modified>
</cp:coreProperties>
</file>