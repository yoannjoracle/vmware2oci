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a60a4704f0141e2" /><Relationship Type="http://schemas.openxmlformats.org/officeDocument/2006/relationships/extended-properties" Target="/docProps/app.xml" Id="R8968223e699d4925" /><Relationship Type="http://schemas.openxmlformats.org/officeDocument/2006/relationships/officeDocument" Target="/ppt/presentation.xml" Id="Rc31500d9ada54e99" /></Relationships>
</file>

<file path=ppt/presentation.xml><?xml version="1.0" encoding="utf-8"?>
<p:presentation xmlns:p="http://schemas.openxmlformats.org/presentationml/2006/main">
  <p:sldMasterIdLst>
    <p:sldMasterId xmlns:r="http://schemas.openxmlformats.org/officeDocument/2006/relationships" id="2147483648" r:id="R4fd8afd87a0540c2"/>
  </p:sldMasterIdLst>
  <p:notesMasterIdLst>
    <p:notesMasterId xmlns:r="http://schemas.openxmlformats.org/officeDocument/2006/relationships" r:id="R538f749435114e43"/>
  </p:notesMasterIdLst>
  <p:sldIdLst>
    <p:sldId xmlns:r="http://schemas.openxmlformats.org/officeDocument/2006/relationships" id="256" r:id="R5ab732a3f6554720"/>
    <p:sldId xmlns:r="http://schemas.openxmlformats.org/officeDocument/2006/relationships" id="257" r:id="R9f465c1f9f4e4ae2"/>
    <p:sldId xmlns:r="http://schemas.openxmlformats.org/officeDocument/2006/relationships" id="258" r:id="R719eebb7b5964310"/>
    <p:sldId xmlns:r="http://schemas.openxmlformats.org/officeDocument/2006/relationships" id="259" r:id="R45e68cd5ee9e4d86"/>
    <p:sldId xmlns:r="http://schemas.openxmlformats.org/officeDocument/2006/relationships" id="260" r:id="R4186d1e82dae4048"/>
    <p:sldId xmlns:r="http://schemas.openxmlformats.org/officeDocument/2006/relationships" id="261" r:id="R7cae56b08b124d2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6e95baa6c4634f77" /><Relationship Type="http://schemas.openxmlformats.org/officeDocument/2006/relationships/slideMaster" Target="/ppt/slideMasters/slideMaster1.xml" Id="R4fd8afd87a0540c2" /><Relationship Type="http://schemas.openxmlformats.org/officeDocument/2006/relationships/notesMaster" Target="/ppt/notesMasters/notesMaster1.xml" Id="R538f749435114e43" /><Relationship Type="http://schemas.openxmlformats.org/officeDocument/2006/relationships/presProps" Target="/ppt/presProps.xml" Id="R683a4e0d49074be0" /><Relationship Type="http://schemas.openxmlformats.org/officeDocument/2006/relationships/viewProps" Target="/ppt/viewProps.xml" Id="Ree62bfa0c943484c" /><Relationship Type="http://schemas.openxmlformats.org/officeDocument/2006/relationships/tableStyles" Target="/ppt/tableStyles.xml" Id="R259df455b324411f" /><Relationship Type="http://schemas.openxmlformats.org/officeDocument/2006/relationships/slide" Target="/ppt/slides/slide1.xml" Id="R5ab732a3f6554720" /><Relationship Type="http://schemas.openxmlformats.org/officeDocument/2006/relationships/slide" Target="/ppt/slides/slide2.xml" Id="R9f465c1f9f4e4ae2" /><Relationship Type="http://schemas.openxmlformats.org/officeDocument/2006/relationships/slide" Target="/ppt/slides/slide3.xml" Id="R719eebb7b5964310" /><Relationship Type="http://schemas.openxmlformats.org/officeDocument/2006/relationships/slide" Target="/ppt/slides/slide4.xml" Id="R45e68cd5ee9e4d86" /><Relationship Type="http://schemas.openxmlformats.org/officeDocument/2006/relationships/slide" Target="/ppt/slides/slide5.xml" Id="R4186d1e82dae4048" /><Relationship Type="http://schemas.openxmlformats.org/officeDocument/2006/relationships/slide" Target="/ppt/slides/slide6.xml" Id="R7cae56b08b124d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66a569f1b14e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9de6252b1d3459f" /><Relationship Type="http://schemas.openxmlformats.org/officeDocument/2006/relationships/notesMaster" Target="/ppt/notesMasters/notesMaster1.xml" Id="R4f2fd6b24db3489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1e4bb3b412a4205" /><Relationship Type="http://schemas.openxmlformats.org/officeDocument/2006/relationships/notesMaster" Target="/ppt/notesMasters/notesMaster1.xml" Id="R988ab365e28b40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249f3e5595497d" /><Relationship Type="http://schemas.openxmlformats.org/officeDocument/2006/relationships/notesMaster" Target="/ppt/notesMasters/notesMaster1.xml" Id="Rd45c24d663a643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c1d574f4e8442a" /><Relationship Type="http://schemas.openxmlformats.org/officeDocument/2006/relationships/notesMaster" Target="/ppt/notesMasters/notesMaster1.xml" Id="R502cddbb92e544e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d5cf9d54d04b0c" /><Relationship Type="http://schemas.openxmlformats.org/officeDocument/2006/relationships/notesMaster" Target="/ppt/notesMasters/notesMaster1.xml" Id="R4c6855b939974a12"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a270f46c27440e" /><Relationship Type="http://schemas.openxmlformats.org/officeDocument/2006/relationships/notesMaster" Target="/ppt/notesMasters/notesMaster1.xml" Id="Rf0e5cb97dc434e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Source: user-provided PowerPoint OCI Compute Migration.pptx, slide 1. Oracle logo, sidebar icons, Oracle mark, and OCI Compute illustration are cropped from the provided deck and retained as images. Title, subtitle, customer/date/prepared-by labels and values are recreated as editable PowerPoint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Source image: user-provided screenshot "Current Environment". Oracle logo, Oracle mark, datacenter icon, metric icons, total-environment icon, and information icon are embedded as cropped image assets from that screenshot. The visible title, subtitle, panel headers, labels, metric values, notes, footer, cards, separators, and decorative background elements are recreated as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Source: user-provided PowerPoint OCI Compute Migration.pptx, slide 4. Closing background and confidentiality labels are recreated as editable elements; Oracle logo is retained as a cropped image asset from the provided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38b076074249f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56f23168344cc0" /><Relationship Type="http://schemas.openxmlformats.org/officeDocument/2006/relationships/slideLayout" Target="/ppt/slideLayouts/slideLayout1.xml" Id="Rac55318c4392479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
        <p:nvSpPr>
          <p:cNvPr id="4" name="TextBox 3">
            <a:extLst xmlns:a="http://schemas.openxmlformats.org/drawingml/2006/main">
              <a:ext uri="{FF2B5EF4-FFF2-40B4-BE49-F238E27FC236}">
                <a16:creationId xmlns:a16="http://schemas.microsoft.com/office/drawing/2014/main" id="{646BACDB-DFC1-8A58-B49D-615D07ADD164}"/>
              </a:ext>
            </a:extLst>
          </p:cNvPr>
          <p:cNvSpPr>
            <a:spLocks xmlns:a="http://schemas.openxmlformats.org/drawingml/2006/main" noGrp="1"/>
          </p:cNvSpPr>
          <p:nvPr/>
        </p:nvSpPr>
        <p:spPr>
          <a:xfrm xmlns:a="http://schemas.openxmlformats.org/drawingml/2006/main">
            <a:off x="63500" y="63500"/>
            <a:ext cx="2709863" cy="152400"/>
          </a:xfrm>
          <a:prstGeom xmlns:a="http://schemas.openxmlformats.org/drawingml/2006/main" prst="rect">
            <a:avLst/>
          </a:prstGeom>
        </p:spPr>
        <p:txBody>
          <a:bodyPr xmlns:a="http://schemas.openxmlformats.org/drawingml/2006/main" lIns="0" tIns="0" rIns="0" bIns="0">
            <a:spAutoFit/>
          </a:bodyPr>
          <a:lstStyle xmlns:a="http://schemas.openxmlformats.org/drawingml/2006/main"/>
          <a:p xmlns:a="http://schemas.openxmlformats.org/drawingml/2006/main">
            <a:pPr algn="l">
              <a:buNone/>
            </a:pPr>
            <a:r>
              <a:rPr sz="1000">
                <a:solidFill>
                  <a:srgbClr val="000000">
                    <a:alpha val="50000"/>
                  </a:srgbClr>
                </a:solidFill>
                <a:latin typeface="Aptos"/>
                <a:ea typeface="Aptos"/>
                <a:cs typeface="Aptos"/>
              </a:rPr>
              <a:t>Confidential - Oracle Restricted \Employees Only</a:t>
            </a:r>
          </a:p>
        </p:txBody>
      </p:sp>
      <p:sp>
        <p:nvSpPr>
          <p:cNvPr id="5" name="TextBox 4">
            <a:extLst xmlns:a="http://schemas.openxmlformats.org/drawingml/2006/main">
              <a:ext uri="{FF2B5EF4-FFF2-40B4-BE49-F238E27FC236}">
                <a16:creationId xmlns:a16="http://schemas.microsoft.com/office/drawing/2014/main" id="{70A77A44-BF93-BED5-E87B-2E2078C76C05}"/>
              </a:ext>
            </a:extLst>
          </p:cNvPr>
          <p:cNvSpPr>
            <a:spLocks xmlns:a="http://schemas.openxmlformats.org/drawingml/2006/main" noGrp="1"/>
          </p:cNvSpPr>
          <p:nvPr/>
        </p:nvSpPr>
        <p:spPr>
          <a:xfrm xmlns:a="http://schemas.openxmlformats.org/drawingml/2006/main">
            <a:off x="63500" y="6642100"/>
            <a:ext cx="2709863" cy="152400"/>
          </a:xfrm>
          <a:prstGeom xmlns:a="http://schemas.openxmlformats.org/drawingml/2006/main" prst="rect">
            <a:avLst/>
          </a:prstGeom>
        </p:spPr>
        <p:txBody>
          <a:bodyPr xmlns:a="http://schemas.openxmlformats.org/drawingml/2006/main" lIns="0" tIns="0" rIns="0" bIns="0">
            <a:spAutoFit/>
          </a:bodyPr>
          <a:lstStyle xmlns:a="http://schemas.openxmlformats.org/drawingml/2006/main"/>
          <a:p xmlns:a="http://schemas.openxmlformats.org/drawingml/2006/main">
            <a:pPr algn="l">
              <a:buNone/>
            </a:pPr>
            <a:r>
              <a:rPr sz="1000">
                <a:solidFill>
                  <a:srgbClr val="000000">
                    <a:alpha val="50000"/>
                  </a:srgbClr>
                </a:solidFill>
                <a:latin typeface="Aptos"/>
                <a:ea typeface="Aptos"/>
                <a:cs typeface="Aptos"/>
              </a:rPr>
              <a:t>Confidential - Oracle Restricted \Employees Only</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55318c4392479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3c351cc8d9645ad" /><Relationship Type="http://schemas.openxmlformats.org/officeDocument/2006/relationships/image" Target="/ppt/media/image.png" Id="R4ed511a030eb4440" /><Relationship Type="http://schemas.openxmlformats.org/officeDocument/2006/relationships/image" Target="/ppt/media/image2.png" Id="Rc707e55202984130" /><Relationship Type="http://schemas.openxmlformats.org/officeDocument/2006/relationships/image" Target="/ppt/media/image3.png" Id="R6a78765c0b264518" /><Relationship Type="http://schemas.openxmlformats.org/officeDocument/2006/relationships/image" Target="/ppt/media/image4.png" Id="R2077c2b527b64e48" /><Relationship Type="http://schemas.openxmlformats.org/officeDocument/2006/relationships/image" Target="/ppt/media/image5.png" Id="R0857848be7ed4077" /><Relationship Type="http://schemas.openxmlformats.org/officeDocument/2006/relationships/image" Target="/ppt/media/image6.png" Id="Ra65a9ecbed604c12" /><Relationship Type="http://schemas.openxmlformats.org/officeDocument/2006/relationships/notesSlide" Target="/ppt/notesSlides/notesSlide1.xml" Id="Ra77e4ee11cbc415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9b417d6f5e44b34" /><Relationship Type="http://schemas.openxmlformats.org/officeDocument/2006/relationships/image" Target="/ppt/media/image7.png" Id="Ref5a11c0e5124d6b" /><Relationship Type="http://schemas.openxmlformats.org/officeDocument/2006/relationships/image" Target="/ppt/media/image8.png" Id="R9f0bf65b353f4db7" /><Relationship Type="http://schemas.openxmlformats.org/officeDocument/2006/relationships/image" Target="/ppt/media/image9.png" Id="R2f68e9975ea747f4" /><Relationship Type="http://schemas.openxmlformats.org/officeDocument/2006/relationships/image" Target="/ppt/media/image10.png" Id="R049773069de14ea2" /><Relationship Type="http://schemas.openxmlformats.org/officeDocument/2006/relationships/image" Target="/ppt/media/image11.png" Id="R47026ca658c1440d" /><Relationship Type="http://schemas.openxmlformats.org/officeDocument/2006/relationships/image" Target="/ppt/media/image12.png" Id="Reb056e36dbcd4da5" /><Relationship Type="http://schemas.openxmlformats.org/officeDocument/2006/relationships/image" Target="/ppt/media/image13.png" Id="R9e47466b5bf74cd9" /><Relationship Type="http://schemas.openxmlformats.org/officeDocument/2006/relationships/image" Target="/ppt/media/image14.png" Id="R7c5733455ef346ad" /><Relationship Type="http://schemas.openxmlformats.org/officeDocument/2006/relationships/image" Target="/ppt/media/image15.png" Id="Rb8bf43de92174670" /><Relationship Type="http://schemas.openxmlformats.org/officeDocument/2006/relationships/image" Target="/ppt/media/image16.png" Id="R772279605928475c" /><Relationship Type="http://schemas.openxmlformats.org/officeDocument/2006/relationships/image" Target="/ppt/media/image17.png" Id="R4bb3ddbc4e064436" /><Relationship Type="http://schemas.openxmlformats.org/officeDocument/2006/relationships/image" Target="/ppt/media/image18.png" Id="Ra8fe9a0dc0294616" /><Relationship Type="http://schemas.openxmlformats.org/officeDocument/2006/relationships/image" Target="/ppt/media/image19.png" Id="R9b581b54a27b4465" /><Relationship Type="http://schemas.openxmlformats.org/officeDocument/2006/relationships/image" Target="/ppt/media/image20.png" Id="R16db86b30e8947d8" /><Relationship Type="http://schemas.openxmlformats.org/officeDocument/2006/relationships/image" Target="/ppt/media/image21.png" Id="R3990cd334c97465a" /><Relationship Type="http://schemas.openxmlformats.org/officeDocument/2006/relationships/image" Target="/ppt/media/image22.png" Id="R62aacaf416044864" /><Relationship Type="http://schemas.openxmlformats.org/officeDocument/2006/relationships/image" Target="/ppt/media/image23.png" Id="Rdff83f8f60594e6e" /><Relationship Type="http://schemas.openxmlformats.org/officeDocument/2006/relationships/image" Target="/ppt/media/image24.png" Id="Rcefb5b3e8778471d" /><Relationship Type="http://schemas.openxmlformats.org/officeDocument/2006/relationships/image" Target="/ppt/media/image25.png" Id="Ra7c1bc1f47654d6c" /><Relationship Type="http://schemas.openxmlformats.org/officeDocument/2006/relationships/image" Target="/ppt/media/image26.png" Id="Rea93514b2ea44722" /><Relationship Type="http://schemas.openxmlformats.org/officeDocument/2006/relationships/image" Target="/ppt/media/image27.png" Id="R478d7dedfadf4f7f" /><Relationship Type="http://schemas.openxmlformats.org/officeDocument/2006/relationships/image" Target="/ppt/media/image28.png" Id="R38fb05999c11479c" /><Relationship Type="http://schemas.openxmlformats.org/officeDocument/2006/relationships/image" Target="/ppt/media/image29.png" Id="R3cb42519c34e4f45" /><Relationship Type="http://schemas.openxmlformats.org/officeDocument/2006/relationships/image" Target="/ppt/media/image30.png" Id="R1600177924464327" /><Relationship Type="http://schemas.openxmlformats.org/officeDocument/2006/relationships/image" Target="/ppt/media/image4.png" Id="Rfcf8ae6d29af4367" /><Relationship Type="http://schemas.openxmlformats.org/officeDocument/2006/relationships/notesSlide" Target="/ppt/notesSlides/notesSlide2.xml" Id="Rb087bf5ec35845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5bdde0712944078" /><Relationship Type="http://schemas.openxmlformats.org/officeDocument/2006/relationships/image" Target="/ppt/media/image31.png" Id="R1ba56c22598e493f" /><Relationship Type="http://schemas.openxmlformats.org/officeDocument/2006/relationships/image" Target="/ppt/media/image32.png" Id="R3d1fb4340daf4a6d" /><Relationship Type="http://schemas.openxmlformats.org/officeDocument/2006/relationships/image" Target="/ppt/media/image33.png" Id="R75bf0f6813ce426c" /><Relationship Type="http://schemas.openxmlformats.org/officeDocument/2006/relationships/image" Target="/ppt/media/image34.png" Id="R1d744d4ebfce468c" /><Relationship Type="http://schemas.openxmlformats.org/officeDocument/2006/relationships/image" Target="/ppt/media/image35.png" Id="R8855bb94d11e4aac" /><Relationship Type="http://schemas.openxmlformats.org/officeDocument/2006/relationships/image" Target="/ppt/media/image36.png" Id="Re8449ccd21fd4b72" /><Relationship Type="http://schemas.openxmlformats.org/officeDocument/2006/relationships/image" Target="/ppt/media/image37.png" Id="R0207d1cbaffa4578" /><Relationship Type="http://schemas.openxmlformats.org/officeDocument/2006/relationships/image" Target="/ppt/media/image38.png" Id="R15d65eb7fa1f4706" /><Relationship Type="http://schemas.openxmlformats.org/officeDocument/2006/relationships/image" Target="/ppt/media/image39.png" Id="R3bdce65a64324922" /><Relationship Type="http://schemas.openxmlformats.org/officeDocument/2006/relationships/image" Target="/ppt/media/image40.png" Id="R896882b19e33436e" /><Relationship Type="http://schemas.openxmlformats.org/officeDocument/2006/relationships/image" Target="/ppt/media/image41.png" Id="R116b2f00350b48ef" /><Relationship Type="http://schemas.openxmlformats.org/officeDocument/2006/relationships/image" Target="/ppt/media/image42.png" Id="Rce7c67ef581e49cd" /><Relationship Type="http://schemas.openxmlformats.org/officeDocument/2006/relationships/image" Target="/ppt/media/image43.png" Id="Rcc3f2e87373f4772" /><Relationship Type="http://schemas.openxmlformats.org/officeDocument/2006/relationships/notesSlide" Target="/ppt/notesSlides/notesSlide3.xml" Id="R9de7f05f3b654d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21872b314a34ad2" /><Relationship Type="http://schemas.openxmlformats.org/officeDocument/2006/relationships/image" Target="/ppt/media/image44.png" Id="R9b829e029c004232" /><Relationship Type="http://schemas.openxmlformats.org/officeDocument/2006/relationships/image" Target="/ppt/media/image45.png" Id="R230b93a1dc934c81" /><Relationship Type="http://schemas.openxmlformats.org/officeDocument/2006/relationships/image" Target="/ppt/media/image46.png" Id="R64d8a1ed6c084bcd" /><Relationship Type="http://schemas.openxmlformats.org/officeDocument/2006/relationships/image" Target="/ppt/media/image47.png" Id="Rb00f343c8011403d" /><Relationship Type="http://schemas.openxmlformats.org/officeDocument/2006/relationships/image" Target="/ppt/media/image48.png" Id="R65c6f85dca5941b3" /><Relationship Type="http://schemas.openxmlformats.org/officeDocument/2006/relationships/image" Target="/ppt/media/image49.png" Id="R68335078a67b4213" /><Relationship Type="http://schemas.openxmlformats.org/officeDocument/2006/relationships/image" Target="/ppt/media/image50.png" Id="R227f3e0db7e24bff" /><Relationship Type="http://schemas.openxmlformats.org/officeDocument/2006/relationships/image" Target="/ppt/media/image51.png" Id="R7830e50c6a154a45" /><Relationship Type="http://schemas.openxmlformats.org/officeDocument/2006/relationships/image" Target="/ppt/media/image52.png" Id="R0f5f0cfa22694c26" /><Relationship Type="http://schemas.openxmlformats.org/officeDocument/2006/relationships/notesSlide" Target="/ppt/notesSlides/notesSlide4.xml" Id="R867d6a7566bc4b1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de3fbd69f004550" /><Relationship Type="http://schemas.openxmlformats.org/officeDocument/2006/relationships/image" Target="/ppt/media/image7.png" Id="Rd87df9db39ff4131" /><Relationship Type="http://schemas.openxmlformats.org/officeDocument/2006/relationships/image" Target="/ppt/media/image53.png" Id="R3077c311a55d4c28" /><Relationship Type="http://schemas.openxmlformats.org/officeDocument/2006/relationships/image" Target="/ppt/media/image54.png" Id="R0fcaf1c906e949f4" /><Relationship Type="http://schemas.openxmlformats.org/officeDocument/2006/relationships/image" Target="/ppt/media/image55.png" Id="R1efc4a3d22944cfb" /><Relationship Type="http://schemas.openxmlformats.org/officeDocument/2006/relationships/image" Target="/ppt/media/image56.png" Id="R65f30a19e1834ed9" /><Relationship Type="http://schemas.openxmlformats.org/officeDocument/2006/relationships/image" Target="/ppt/media/image57.png" Id="R2383294cd39a4bc1" /><Relationship Type="http://schemas.openxmlformats.org/officeDocument/2006/relationships/image" Target="/ppt/media/image58.png" Id="R2858bbfa8c82457c" /><Relationship Type="http://schemas.openxmlformats.org/officeDocument/2006/relationships/image" Target="/ppt/media/image59.png" Id="R10035e2411ab4dc5" /><Relationship Type="http://schemas.openxmlformats.org/officeDocument/2006/relationships/image" Target="/ppt/media/image60.png" Id="Rfbd4059b9dc74bca" /><Relationship Type="http://schemas.openxmlformats.org/officeDocument/2006/relationships/image" Target="/ppt/media/image61.png" Id="R3397e67263824892" /><Relationship Type="http://schemas.openxmlformats.org/officeDocument/2006/relationships/image" Target="/ppt/media/image62.png" Id="Ra424730cc9d64165" /><Relationship Type="http://schemas.openxmlformats.org/officeDocument/2006/relationships/image" Target="/ppt/media/image63.png" Id="Rf411810eb6444dea" /><Relationship Type="http://schemas.openxmlformats.org/officeDocument/2006/relationships/image" Target="/ppt/media/image64.png" Id="R5160ff3335eb4b2d" /><Relationship Type="http://schemas.openxmlformats.org/officeDocument/2006/relationships/image" Target="/ppt/media/image6.png" Id="R512d5a5c7a0a4dbe" /><Relationship Type="http://schemas.openxmlformats.org/officeDocument/2006/relationships/notesSlide" Target="/ppt/notesSlides/notesSlide5.xml" Id="Rd80609dbbeb744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b262e0454244530" /><Relationship Type="http://schemas.openxmlformats.org/officeDocument/2006/relationships/image" Target="/ppt/media/image65.png" Id="R1ba212eb53704785" /><Relationship Type="http://schemas.openxmlformats.org/officeDocument/2006/relationships/notesSlide" Target="/ppt/notesSlides/notesSlide6.xml" Id="R13f51eff163148b6" /></Relationships>
</file>

<file path=ppt/slides/slide1.xml><?xml version="1.0" encoding="utf-8"?>
<p:sld xmlns:p="http://schemas.openxmlformats.org/presentationml/2006/main">
  <p:cSld>
    <p:bg>
      <p:bgPr>
        <a:solidFill xmlns:a="http://schemas.openxmlformats.org/drawingml/2006/main">
          <a:srgbClr val="FAF9F7"/>
        </a:solidFill>
      </p:bgPr>
    </p:bg>
    <p:spTree>
      <p:nvGrpSpPr>
        <p:cNvPr id="1" name=""/>
        <p:cNvGrpSpPr/>
        <p:nvPr/>
      </p:nvGrpSpPr>
      <p:grpSpPr>
        <a:xfrm xmlns:a="http://schemas.openxmlformats.org/drawingml/2006/main"/>
      </p:grpSpPr>
      <p:sp>
        <p:nvSpPr>
          <p:cNvPr id="32" name="Oval 31">
            <a:extLst xmlns:a="http://schemas.openxmlformats.org/drawingml/2006/main">
              <a:ext uri="{FF2B5EF4-FFF2-40B4-BE49-F238E27FC236}">
                <a16:creationId xmlns:a16="http://schemas.microsoft.com/office/drawing/2014/main" id="{A1CC6518-64CA-4AA7-955D-33BB33948610}"/>
              </a:ext>
            </a:extLst>
          </p:cNvPr>
          <p:cNvSpPr>
            <a:spLocks xmlns:a="http://schemas.openxmlformats.org/drawingml/2006/main" noGrp="1"/>
          </p:cNvSpPr>
          <p:nvPr/>
        </p:nvSpPr>
        <p:spPr>
          <a:xfrm xmlns:a="http://schemas.openxmlformats.org/drawingml/2006/main">
            <a:off x="4876800" y="552450"/>
            <a:ext cx="38100" cy="38100"/>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Oval 1">
            <a:extLst xmlns:a="http://schemas.openxmlformats.org/drawingml/2006/main">
              <a:ext uri="{FF2B5EF4-FFF2-40B4-BE49-F238E27FC236}">
                <a16:creationId xmlns:a16="http://schemas.microsoft.com/office/drawing/2014/main" id="{C4C29316-E1A7-44C2-B2EE-FDBD2776CB8E}"/>
              </a:ext>
            </a:extLst>
          </p:cNvPr>
          <p:cNvSpPr>
            <a:spLocks xmlns:a="http://schemas.openxmlformats.org/drawingml/2006/main" noGrp="1"/>
          </p:cNvSpPr>
          <p:nvPr/>
        </p:nvSpPr>
        <p:spPr>
          <a:xfrm xmlns:a="http://schemas.openxmlformats.org/drawingml/2006/main">
            <a:off x="5886450" y="628650"/>
            <a:ext cx="23813" cy="23813"/>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Oval 2">
            <a:extLst xmlns:a="http://schemas.openxmlformats.org/drawingml/2006/main">
              <a:ext uri="{FF2B5EF4-FFF2-40B4-BE49-F238E27FC236}">
                <a16:creationId xmlns:a16="http://schemas.microsoft.com/office/drawing/2014/main" id="{E427ECE8-C150-48E4-AADC-3627B9D4ACE7}"/>
              </a:ext>
            </a:extLst>
          </p:cNvPr>
          <p:cNvSpPr>
            <a:spLocks xmlns:a="http://schemas.openxmlformats.org/drawingml/2006/main" noGrp="1"/>
          </p:cNvSpPr>
          <p:nvPr/>
        </p:nvSpPr>
        <p:spPr>
          <a:xfrm xmlns:a="http://schemas.openxmlformats.org/drawingml/2006/main">
            <a:off x="6896100" y="400050"/>
            <a:ext cx="57150" cy="57150"/>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Oval 3">
            <a:extLst xmlns:a="http://schemas.openxmlformats.org/drawingml/2006/main">
              <a:ext uri="{FF2B5EF4-FFF2-40B4-BE49-F238E27FC236}">
                <a16:creationId xmlns:a16="http://schemas.microsoft.com/office/drawing/2014/main" id="{7A0E5362-D867-453B-ABAF-FE93262BE71C}"/>
              </a:ext>
            </a:extLst>
          </p:cNvPr>
          <p:cNvSpPr>
            <a:spLocks xmlns:a="http://schemas.openxmlformats.org/drawingml/2006/main" noGrp="1"/>
          </p:cNvSpPr>
          <p:nvPr/>
        </p:nvSpPr>
        <p:spPr>
          <a:xfrm xmlns:a="http://schemas.openxmlformats.org/drawingml/2006/main">
            <a:off x="8858250" y="838200"/>
            <a:ext cx="23813" cy="23813"/>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Oval 4">
            <a:extLst xmlns:a="http://schemas.openxmlformats.org/drawingml/2006/main">
              <a:ext uri="{FF2B5EF4-FFF2-40B4-BE49-F238E27FC236}">
                <a16:creationId xmlns:a16="http://schemas.microsoft.com/office/drawing/2014/main" id="{61158BC2-7531-40E2-9439-5BB061D20AA1}"/>
              </a:ext>
            </a:extLst>
          </p:cNvPr>
          <p:cNvSpPr>
            <a:spLocks xmlns:a="http://schemas.openxmlformats.org/drawingml/2006/main" noGrp="1"/>
          </p:cNvSpPr>
          <p:nvPr/>
        </p:nvSpPr>
        <p:spPr>
          <a:xfrm xmlns:a="http://schemas.openxmlformats.org/drawingml/2006/main">
            <a:off x="10515600" y="723900"/>
            <a:ext cx="28575" cy="28575"/>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884BF918-0C4D-43D2-9F46-3A56FB7E17E4}"/>
              </a:ext>
            </a:extLst>
          </p:cNvPr>
          <p:cNvSpPr>
            <a:spLocks xmlns:a="http://schemas.openxmlformats.org/drawingml/2006/main" noGrp="1"/>
          </p:cNvSpPr>
          <p:nvPr/>
        </p:nvSpPr>
        <p:spPr>
          <a:xfrm xmlns:a="http://schemas.openxmlformats.org/drawingml/2006/main">
            <a:off x="11163300" y="1181100"/>
            <a:ext cx="28575" cy="28575"/>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60D44F0D-4B06-47FA-974E-BDB124A8A156}"/>
              </a:ext>
            </a:extLst>
          </p:cNvPr>
          <p:cNvSpPr>
            <a:spLocks xmlns:a="http://schemas.openxmlformats.org/drawingml/2006/main" noGrp="1"/>
          </p:cNvSpPr>
          <p:nvPr/>
        </p:nvSpPr>
        <p:spPr>
          <a:xfrm xmlns:a="http://schemas.openxmlformats.org/drawingml/2006/main">
            <a:off x="4629150" y="2990850"/>
            <a:ext cx="28575" cy="28575"/>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0885E41D-DE5E-41E9-80BD-670E43A3EAA9}"/>
              </a:ext>
            </a:extLst>
          </p:cNvPr>
          <p:cNvSpPr>
            <a:spLocks xmlns:a="http://schemas.openxmlformats.org/drawingml/2006/main" noGrp="1"/>
          </p:cNvSpPr>
          <p:nvPr/>
        </p:nvSpPr>
        <p:spPr>
          <a:xfrm xmlns:a="http://schemas.openxmlformats.org/drawingml/2006/main">
            <a:off x="8496300" y="2943225"/>
            <a:ext cx="19050" cy="19050"/>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9083455D-2F79-4267-A7CC-6F82FDF831B0}"/>
              </a:ext>
            </a:extLst>
          </p:cNvPr>
          <p:cNvSpPr>
            <a:spLocks xmlns:a="http://schemas.openxmlformats.org/drawingml/2006/main" noGrp="1"/>
          </p:cNvSpPr>
          <p:nvPr/>
        </p:nvSpPr>
        <p:spPr>
          <a:xfrm xmlns:a="http://schemas.openxmlformats.org/drawingml/2006/main">
            <a:off x="9677400" y="3790950"/>
            <a:ext cx="38100" cy="38100"/>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0" name="Oval 9">
            <a:extLst xmlns:a="http://schemas.openxmlformats.org/drawingml/2006/main">
              <a:ext uri="{FF2B5EF4-FFF2-40B4-BE49-F238E27FC236}">
                <a16:creationId xmlns:a16="http://schemas.microsoft.com/office/drawing/2014/main" id="{2E27BC3E-52F0-4FE1-AEC2-887E82B05A50}"/>
              </a:ext>
            </a:extLst>
          </p:cNvPr>
          <p:cNvSpPr>
            <a:spLocks xmlns:a="http://schemas.openxmlformats.org/drawingml/2006/main" noGrp="1"/>
          </p:cNvSpPr>
          <p:nvPr/>
        </p:nvSpPr>
        <p:spPr>
          <a:xfrm xmlns:a="http://schemas.openxmlformats.org/drawingml/2006/main">
            <a:off x="11468100" y="5857875"/>
            <a:ext cx="28575" cy="28575"/>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1" name="Oval 10">
            <a:extLst xmlns:a="http://schemas.openxmlformats.org/drawingml/2006/main">
              <a:ext uri="{FF2B5EF4-FFF2-40B4-BE49-F238E27FC236}">
                <a16:creationId xmlns:a16="http://schemas.microsoft.com/office/drawing/2014/main" id="{95A97ED1-16B5-4376-BC35-FCD81B4F70AD}"/>
              </a:ext>
            </a:extLst>
          </p:cNvPr>
          <p:cNvSpPr>
            <a:spLocks xmlns:a="http://schemas.openxmlformats.org/drawingml/2006/main" noGrp="1"/>
          </p:cNvSpPr>
          <p:nvPr/>
        </p:nvSpPr>
        <p:spPr>
          <a:xfrm xmlns:a="http://schemas.openxmlformats.org/drawingml/2006/main">
            <a:off x="514350" y="2895600"/>
            <a:ext cx="38100" cy="38100"/>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Oval 11">
            <a:extLst xmlns:a="http://schemas.openxmlformats.org/drawingml/2006/main">
              <a:ext uri="{FF2B5EF4-FFF2-40B4-BE49-F238E27FC236}">
                <a16:creationId xmlns:a16="http://schemas.microsoft.com/office/drawing/2014/main" id="{E6AB839F-A877-4953-81EB-00AB5DFF2A03}"/>
              </a:ext>
            </a:extLst>
          </p:cNvPr>
          <p:cNvSpPr>
            <a:spLocks xmlns:a="http://schemas.openxmlformats.org/drawingml/2006/main" noGrp="1"/>
          </p:cNvSpPr>
          <p:nvPr/>
        </p:nvSpPr>
        <p:spPr>
          <a:xfrm xmlns:a="http://schemas.openxmlformats.org/drawingml/2006/main">
            <a:off x="304800" y="3409950"/>
            <a:ext cx="28575" cy="28575"/>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3" name="Oval 12">
            <a:extLst xmlns:a="http://schemas.openxmlformats.org/drawingml/2006/main">
              <a:ext uri="{FF2B5EF4-FFF2-40B4-BE49-F238E27FC236}">
                <a16:creationId xmlns:a16="http://schemas.microsoft.com/office/drawing/2014/main" id="{2233669D-4733-4D32-8C08-A3A7377FB7AC}"/>
              </a:ext>
            </a:extLst>
          </p:cNvPr>
          <p:cNvSpPr>
            <a:spLocks xmlns:a="http://schemas.openxmlformats.org/drawingml/2006/main" noGrp="1"/>
          </p:cNvSpPr>
          <p:nvPr/>
        </p:nvSpPr>
        <p:spPr>
          <a:xfrm xmlns:a="http://schemas.openxmlformats.org/drawingml/2006/main">
            <a:off x="0" y="3124200"/>
            <a:ext cx="1524000" cy="2381250"/>
          </a:xfrm>
          <a:prstGeom xmlns:a="http://schemas.openxmlformats.org/drawingml/2006/main" prst="ellipse">
            <a:avLst/>
          </a:prstGeom>
          <a:solidFill xmlns:a="http://schemas.openxmlformats.org/drawingml/2006/main">
            <a:srgbClr val="F5F7F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52" name="Picture 44"/>
          <p:cNvPicPr>
            <a:picLocks xmlns:a="http://schemas.openxmlformats.org/drawingml/2006/main" noChangeAspect="1"/>
          </p:cNvPicPr>
          <p:nvPr/>
        </p:nvPicPr>
        <p:blipFill>
          <a:blip xmlns:r="http://schemas.openxmlformats.org/officeDocument/2006/relationships" xmlns:a="http://schemas.openxmlformats.org/drawingml/2006/main" r:embed="R4ed511a030eb4440"/>
          <a:stretch xmlns:a="http://schemas.openxmlformats.org/drawingml/2006/main"/>
        </p:blipFill>
        <p:spPr>
          <a:xfrm xmlns:a="http://schemas.openxmlformats.org/drawingml/2006/main">
            <a:off x="374822" y="352425"/>
            <a:ext cx="1612557" cy="342900"/>
          </a:xfrm>
          <a:prstGeom xmlns:a="http://schemas.openxmlformats.org/drawingml/2006/main" prst="rect">
            <a:avLst/>
          </a:prstGeom>
        </p:spPr>
      </p:pic>
      <p:pic>
        <p:nvPicPr>
          <p:cNvPr id="53" name="Picture 45"/>
          <p:cNvPicPr>
            <a:picLocks xmlns:a="http://schemas.openxmlformats.org/drawingml/2006/main" noChangeAspect="1"/>
          </p:cNvPicPr>
          <p:nvPr/>
        </p:nvPicPr>
        <p:blipFill>
          <a:blip xmlns:r="http://schemas.openxmlformats.org/officeDocument/2006/relationships" xmlns:a="http://schemas.openxmlformats.org/drawingml/2006/main" r:embed="Rc707e55202984130"/>
          <a:stretch xmlns:a="http://schemas.openxmlformats.org/drawingml/2006/main"/>
        </p:blipFill>
        <p:spPr>
          <a:xfrm xmlns:a="http://schemas.openxmlformats.org/drawingml/2006/main">
            <a:off x="5819775" y="1095375"/>
            <a:ext cx="6124575" cy="5000625"/>
          </a:xfrm>
          <a:prstGeom xmlns:a="http://schemas.openxmlformats.org/drawingml/2006/main" prst="rect">
            <a:avLst/>
          </a:prstGeom>
        </p:spPr>
      </p:pic>
      <p:sp>
        <p:nvSpPr>
          <p:cNvPr id="16" name="Rectangle 15">
            <a:extLst xmlns:a="http://schemas.openxmlformats.org/drawingml/2006/main">
              <a:ext uri="{FF2B5EF4-FFF2-40B4-BE49-F238E27FC236}">
                <a16:creationId xmlns:a16="http://schemas.microsoft.com/office/drawing/2014/main" id="{001C5855-1F38-4164-87CB-881DEDEFBB07}"/>
              </a:ext>
            </a:extLst>
          </p:cNvPr>
          <p:cNvSpPr>
            <a:spLocks xmlns:a="http://schemas.openxmlformats.org/drawingml/2006/main" noGrp="1"/>
          </p:cNvSpPr>
          <p:nvPr/>
        </p:nvSpPr>
        <p:spPr>
          <a:xfrm xmlns:a="http://schemas.openxmlformats.org/drawingml/2006/main">
            <a:off x="476250" y="1695450"/>
            <a:ext cx="4333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96000"/>
              </a:lnSpc>
              <a:buNone/>
              <a:defRPr sz="3975" b="1" i="0">
                <a:solidFill>
                  <a:srgbClr val="00452C"/>
                </a:solidFill>
                <a:latin typeface="Arial"/>
                <a:ea typeface="Arial"/>
                <a:cs typeface="Arial"/>
              </a:defRPr>
            </a:pPr>
            <a:r>
              <a:rPr sz="3975" b="1" i="0">
                <a:solidFill>
                  <a:srgbClr val="00452C"/>
                </a:solidFill>
                <a:latin typeface="Arial"/>
                <a:ea typeface="Arial"/>
                <a:cs typeface="Arial"/>
              </a:rPr>
              <a:t>OCI Compute</a:t>
            </a:r>
          </a:p>
          <a:p xmlns:a="http://schemas.openxmlformats.org/drawingml/2006/main">
            <a:pPr algn="l">
              <a:lnSpc>
                <a:spcPct val="96000"/>
              </a:lnSpc>
              <a:buNone/>
              <a:defRPr sz="3975" b="1" i="0">
                <a:solidFill>
                  <a:srgbClr val="00452C"/>
                </a:solidFill>
                <a:latin typeface="Arial"/>
                <a:ea typeface="Arial"/>
                <a:cs typeface="Arial"/>
              </a:defRPr>
            </a:pPr>
            <a:r>
              <a:rPr sz="3975" b="1" i="0">
                <a:solidFill>
                  <a:srgbClr val="00452C"/>
                </a:solidFill>
                <a:latin typeface="Arial"/>
                <a:ea typeface="Arial"/>
                <a:cs typeface="Arial"/>
              </a:rPr>
              <a:t>Migration</a:t>
            </a:r>
          </a:p>
        </p:txBody>
      </p:sp>
      <p:sp>
        <p:nvSpPr>
          <p:cNvPr id="17" name="Rectangle 16">
            <a:extLst xmlns:a="http://schemas.openxmlformats.org/drawingml/2006/main">
              <a:ext uri="{FF2B5EF4-FFF2-40B4-BE49-F238E27FC236}">
                <a16:creationId xmlns:a16="http://schemas.microsoft.com/office/drawing/2014/main" id="{25E6AE56-2DC7-4182-842C-BC55A544F73E}"/>
              </a:ext>
            </a:extLst>
          </p:cNvPr>
          <p:cNvSpPr>
            <a:spLocks xmlns:a="http://schemas.openxmlformats.org/drawingml/2006/main" noGrp="1"/>
          </p:cNvSpPr>
          <p:nvPr/>
        </p:nvSpPr>
        <p:spPr>
          <a:xfrm xmlns:a="http://schemas.openxmlformats.org/drawingml/2006/main">
            <a:off x="495300" y="33337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2400" b="0" i="0">
                <a:solidFill>
                  <a:srgbClr val="111111"/>
                </a:solidFill>
                <a:latin typeface="Arial"/>
                <a:ea typeface="Arial"/>
                <a:cs typeface="Arial"/>
              </a:defRPr>
            </a:pPr>
            <a:r>
              <a:rPr sz="2400" b="0" i="0">
                <a:solidFill>
                  <a:srgbClr val="111111"/>
                </a:solidFill>
                <a:latin typeface="Arial"/>
                <a:ea typeface="Arial"/>
                <a:cs typeface="Arial"/>
              </a:rPr>
              <a:t>Proposed Sizing</a:t>
            </a:r>
          </a:p>
        </p:txBody>
      </p:sp>
      <p:sp>
        <p:nvSpPr>
          <p:cNvPr id="18" name="Rectangle 17">
            <a:extLst xmlns:a="http://schemas.openxmlformats.org/drawingml/2006/main">
              <a:ext uri="{FF2B5EF4-FFF2-40B4-BE49-F238E27FC236}">
                <a16:creationId xmlns:a16="http://schemas.microsoft.com/office/drawing/2014/main" id="{C5B1367C-E02C-4871-8DAA-3BB8A8E1FF62}"/>
              </a:ext>
            </a:extLst>
          </p:cNvPr>
          <p:cNvSpPr>
            <a:spLocks xmlns:a="http://schemas.openxmlformats.org/drawingml/2006/main" noGrp="1"/>
          </p:cNvSpPr>
          <p:nvPr/>
        </p:nvSpPr>
        <p:spPr>
          <a:xfrm xmlns:a="http://schemas.openxmlformats.org/drawingml/2006/main">
            <a:off x="514350" y="3781425"/>
            <a:ext cx="485775" cy="47625"/>
          </a:xfrm>
          <a:prstGeom xmlns:a="http://schemas.openxmlformats.org/drawingml/2006/main" prst="rect">
            <a:avLst/>
          </a:prstGeom>
          <a:solidFill xmlns:a="http://schemas.openxmlformats.org/drawingml/2006/main">
            <a:srgbClr val="E30613"/>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57" name="Picture 49"/>
          <p:cNvPicPr>
            <a:picLocks xmlns:a="http://schemas.openxmlformats.org/drawingml/2006/main" noChangeAspect="1"/>
          </p:cNvPicPr>
          <p:nvPr/>
        </p:nvPicPr>
        <p:blipFill>
          <a:blip xmlns:r="http://schemas.openxmlformats.org/officeDocument/2006/relationships" xmlns:a="http://schemas.openxmlformats.org/drawingml/2006/main" r:embed="R6a78765c0b264518"/>
          <a:stretch xmlns:a="http://schemas.openxmlformats.org/drawingml/2006/main"/>
        </p:blipFill>
        <p:spPr>
          <a:xfrm xmlns:a="http://schemas.openxmlformats.org/drawingml/2006/main">
            <a:off x="504411" y="4362450"/>
            <a:ext cx="400878" cy="419100"/>
          </a:xfrm>
          <a:prstGeom xmlns:a="http://schemas.openxmlformats.org/drawingml/2006/main" prst="rect">
            <a:avLst/>
          </a:prstGeom>
        </p:spPr>
      </p:pic>
      <p:sp>
        <p:nvSpPr>
          <p:cNvPr id="20" name="Straight Connector 19">
            <a:extLst xmlns:a="http://schemas.openxmlformats.org/drawingml/2006/main">
              <a:ext uri="{FF2B5EF4-FFF2-40B4-BE49-F238E27FC236}">
                <a16:creationId xmlns:a16="http://schemas.microsoft.com/office/drawing/2014/main" id="{414B8E6D-449E-4A4F-874A-E18CB4088961}"/>
              </a:ext>
            </a:extLst>
          </p:cNvPr>
          <p:cNvSpPr>
            <a:spLocks xmlns:a="http://schemas.openxmlformats.org/drawingml/2006/main" noGrp="1"/>
          </p:cNvSpPr>
          <p:nvPr/>
        </p:nvSpPr>
        <p:spPr>
          <a:xfrm xmlns:a="http://schemas.openxmlformats.org/drawingml/2006/main">
            <a:off x="1066800" y="4381500"/>
            <a:ext cx="0" cy="400050"/>
          </a:xfrm>
          <a:prstGeom xmlns:a="http://schemas.openxmlformats.org/drawingml/2006/main" prst="line">
            <a:avLst/>
          </a:prstGeom>
          <a:noFill xmlns:a="http://schemas.openxmlformats.org/drawingml/2006/main"/>
          <a:ln xmlns:a="http://schemas.openxmlformats.org/drawingml/2006/main" w="9525">
            <a:solidFill>
              <a:srgbClr val="AEB7B1"/>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Rectangle 20">
            <a:extLst xmlns:a="http://schemas.openxmlformats.org/drawingml/2006/main">
              <a:ext uri="{FF2B5EF4-FFF2-40B4-BE49-F238E27FC236}">
                <a16:creationId xmlns:a16="http://schemas.microsoft.com/office/drawing/2014/main" id="{0898662F-CD05-4BD7-B41E-E32647674A2B}"/>
              </a:ext>
            </a:extLst>
          </p:cNvPr>
          <p:cNvSpPr>
            <a:spLocks xmlns:a="http://schemas.openxmlformats.org/drawingml/2006/main" noGrp="1"/>
          </p:cNvSpPr>
          <p:nvPr/>
        </p:nvSpPr>
        <p:spPr>
          <a:xfrm xmlns:a="http://schemas.openxmlformats.org/drawingml/2006/main">
            <a:off x="1219200" y="4400550"/>
            <a:ext cx="1238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452C"/>
                </a:solidFill>
                <a:latin typeface="Arial"/>
                <a:ea typeface="Arial"/>
                <a:cs typeface="Arial"/>
              </a:defRPr>
            </a:pPr>
            <a:r>
              <a:rPr sz="1125" b="1" i="0">
                <a:solidFill>
                  <a:srgbClr val="00452C"/>
                </a:solidFill>
                <a:latin typeface="Arial"/>
                <a:ea typeface="Arial"/>
                <a:cs typeface="Arial"/>
              </a:rPr>
              <a:t>Customer</a:t>
            </a:r>
          </a:p>
        </p:txBody>
      </p:sp>
      <p:sp>
        <p:nvSpPr>
          <p:cNvPr id="22" name="editable-customer-value">
            <a:extLst xmlns:a="http://schemas.openxmlformats.org/drawingml/2006/main">
              <a:ext uri="{FF2B5EF4-FFF2-40B4-BE49-F238E27FC236}">
                <a16:creationId xmlns:a16="http://schemas.microsoft.com/office/drawing/2014/main" id="{598A69E0-2C9D-4A04-895F-7E5E0976B2A9}"/>
              </a:ext>
            </a:extLst>
          </p:cNvPr>
          <p:cNvSpPr>
            <a:spLocks xmlns:a="http://schemas.openxmlformats.org/drawingml/2006/main" noGrp="1"/>
          </p:cNvSpPr>
          <p:nvPr/>
        </p:nvSpPr>
        <p:spPr>
          <a:xfrm xmlns:a="http://schemas.openxmlformats.org/drawingml/2006/main">
            <a:off x="1219200" y="465772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38" b="0" i="0">
                <a:solidFill>
                  <a:srgbClr val="111111"/>
                </a:solidFill>
                <a:latin typeface="Arial"/>
                <a:ea typeface="Arial"/>
                <a:cs typeface="Arial"/>
              </a:defRPr>
            </a:pPr>
            <a:r>
              <a:rPr sz="938" b="0" i="0">
                <a:solidFill>
                  <a:srgbClr val="111111"/>
                </a:solidFill>
                <a:latin typeface="Arial"/>
                <a:ea typeface="Arial"/>
                <a:cs typeface="Arial"/>
              </a:rPr>
              <a:t>TEST01/07</a:t>
            </a:r>
          </a:p>
        </p:txBody>
      </p:sp>
      <p:pic>
        <p:nvPicPr>
          <p:cNvPr id="61" name="Picture 53"/>
          <p:cNvPicPr>
            <a:picLocks xmlns:a="http://schemas.openxmlformats.org/drawingml/2006/main" noChangeAspect="1"/>
          </p:cNvPicPr>
          <p:nvPr/>
        </p:nvPicPr>
        <p:blipFill>
          <a:blip xmlns:r="http://schemas.openxmlformats.org/officeDocument/2006/relationships" xmlns:a="http://schemas.openxmlformats.org/drawingml/2006/main" r:embed="R2077c2b527b64e48"/>
          <a:stretch xmlns:a="http://schemas.openxmlformats.org/drawingml/2006/main"/>
        </p:blipFill>
        <p:spPr>
          <a:xfrm xmlns:a="http://schemas.openxmlformats.org/drawingml/2006/main">
            <a:off x="504411" y="4972050"/>
            <a:ext cx="400878" cy="419100"/>
          </a:xfrm>
          <a:prstGeom xmlns:a="http://schemas.openxmlformats.org/drawingml/2006/main" prst="rect">
            <a:avLst/>
          </a:prstGeom>
        </p:spPr>
      </p:pic>
      <p:sp>
        <p:nvSpPr>
          <p:cNvPr id="24" name="Straight Connector 23">
            <a:extLst xmlns:a="http://schemas.openxmlformats.org/drawingml/2006/main">
              <a:ext uri="{FF2B5EF4-FFF2-40B4-BE49-F238E27FC236}">
                <a16:creationId xmlns:a16="http://schemas.microsoft.com/office/drawing/2014/main" id="{952B6C8C-40C4-4B8D-A0F8-CAB487557C11}"/>
              </a:ext>
            </a:extLst>
          </p:cNvPr>
          <p:cNvSpPr>
            <a:spLocks xmlns:a="http://schemas.openxmlformats.org/drawingml/2006/main" noGrp="1"/>
          </p:cNvSpPr>
          <p:nvPr/>
        </p:nvSpPr>
        <p:spPr>
          <a:xfrm xmlns:a="http://schemas.openxmlformats.org/drawingml/2006/main">
            <a:off x="1066800" y="4991100"/>
            <a:ext cx="0" cy="400050"/>
          </a:xfrm>
          <a:prstGeom xmlns:a="http://schemas.openxmlformats.org/drawingml/2006/main" prst="line">
            <a:avLst/>
          </a:prstGeom>
          <a:noFill xmlns:a="http://schemas.openxmlformats.org/drawingml/2006/main"/>
          <a:ln xmlns:a="http://schemas.openxmlformats.org/drawingml/2006/main" w="9525">
            <a:solidFill>
              <a:srgbClr val="AEB7B1"/>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Rectangle 24">
            <a:extLst xmlns:a="http://schemas.openxmlformats.org/drawingml/2006/main">
              <a:ext uri="{FF2B5EF4-FFF2-40B4-BE49-F238E27FC236}">
                <a16:creationId xmlns:a16="http://schemas.microsoft.com/office/drawing/2014/main" id="{B9BBBA1E-BBE7-4F48-8E2E-9ABA2B9DC58B}"/>
              </a:ext>
            </a:extLst>
          </p:cNvPr>
          <p:cNvSpPr>
            <a:spLocks xmlns:a="http://schemas.openxmlformats.org/drawingml/2006/main" noGrp="1"/>
          </p:cNvSpPr>
          <p:nvPr/>
        </p:nvSpPr>
        <p:spPr>
          <a:xfrm xmlns:a="http://schemas.openxmlformats.org/drawingml/2006/main">
            <a:off x="1219200" y="5010150"/>
            <a:ext cx="1238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452C"/>
                </a:solidFill>
                <a:latin typeface="Arial"/>
                <a:ea typeface="Arial"/>
                <a:cs typeface="Arial"/>
              </a:defRPr>
            </a:pPr>
            <a:r>
              <a:rPr sz="1125" b="1" i="0">
                <a:solidFill>
                  <a:srgbClr val="00452C"/>
                </a:solidFill>
                <a:latin typeface="Arial"/>
                <a:ea typeface="Arial"/>
                <a:cs typeface="Arial"/>
              </a:rPr>
              <a:t>Date</a:t>
            </a:r>
          </a:p>
        </p:txBody>
      </p:sp>
      <p:sp>
        <p:nvSpPr>
          <p:cNvPr id="26" name="editable-date-value">
            <a:extLst xmlns:a="http://schemas.openxmlformats.org/drawingml/2006/main">
              <a:ext uri="{FF2B5EF4-FFF2-40B4-BE49-F238E27FC236}">
                <a16:creationId xmlns:a16="http://schemas.microsoft.com/office/drawing/2014/main" id="{B40CB73A-06AC-4787-9146-C44115C2AB70}"/>
              </a:ext>
            </a:extLst>
          </p:cNvPr>
          <p:cNvSpPr>
            <a:spLocks xmlns:a="http://schemas.openxmlformats.org/drawingml/2006/main" noGrp="1"/>
          </p:cNvSpPr>
          <p:nvPr/>
        </p:nvSpPr>
        <p:spPr>
          <a:xfrm xmlns:a="http://schemas.openxmlformats.org/drawingml/2006/main">
            <a:off x="1219200" y="526732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38" b="0" i="0">
                <a:solidFill>
                  <a:srgbClr val="111111"/>
                </a:solidFill>
                <a:latin typeface="Arial"/>
                <a:ea typeface="Arial"/>
                <a:cs typeface="Arial"/>
              </a:defRPr>
            </a:pPr>
            <a:r>
              <a:rPr sz="938" b="0" i="0">
                <a:solidFill>
                  <a:srgbClr val="111111"/>
                </a:solidFill>
                <a:latin typeface="Arial"/>
                <a:ea typeface="Arial"/>
                <a:cs typeface="Arial"/>
              </a:rPr>
              <a:t>Jul 01, 2026</a:t>
            </a:r>
          </a:p>
        </p:txBody>
      </p:sp>
      <p:pic>
        <p:nvPicPr>
          <p:cNvPr id="65" name="Picture 57"/>
          <p:cNvPicPr>
            <a:picLocks xmlns:a="http://schemas.openxmlformats.org/drawingml/2006/main" noChangeAspect="1"/>
          </p:cNvPicPr>
          <p:nvPr/>
        </p:nvPicPr>
        <p:blipFill>
          <a:blip xmlns:r="http://schemas.openxmlformats.org/officeDocument/2006/relationships" xmlns:a="http://schemas.openxmlformats.org/drawingml/2006/main" r:embed="R0857848be7ed4077"/>
          <a:stretch xmlns:a="http://schemas.openxmlformats.org/drawingml/2006/main"/>
        </p:blipFill>
        <p:spPr>
          <a:xfrm xmlns:a="http://schemas.openxmlformats.org/drawingml/2006/main">
            <a:off x="504411" y="5572125"/>
            <a:ext cx="400878" cy="419100"/>
          </a:xfrm>
          <a:prstGeom xmlns:a="http://schemas.openxmlformats.org/drawingml/2006/main" prst="rect">
            <a:avLst/>
          </a:prstGeom>
        </p:spPr>
      </p:pic>
      <p:sp>
        <p:nvSpPr>
          <p:cNvPr id="28" name="Straight Connector 27">
            <a:extLst xmlns:a="http://schemas.openxmlformats.org/drawingml/2006/main">
              <a:ext uri="{FF2B5EF4-FFF2-40B4-BE49-F238E27FC236}">
                <a16:creationId xmlns:a16="http://schemas.microsoft.com/office/drawing/2014/main" id="{448A61C8-5D98-441C-A134-D7D078E0A189}"/>
              </a:ext>
            </a:extLst>
          </p:cNvPr>
          <p:cNvSpPr>
            <a:spLocks xmlns:a="http://schemas.openxmlformats.org/drawingml/2006/main" noGrp="1"/>
          </p:cNvSpPr>
          <p:nvPr/>
        </p:nvSpPr>
        <p:spPr>
          <a:xfrm xmlns:a="http://schemas.openxmlformats.org/drawingml/2006/main">
            <a:off x="1066800" y="5591175"/>
            <a:ext cx="0" cy="400050"/>
          </a:xfrm>
          <a:prstGeom xmlns:a="http://schemas.openxmlformats.org/drawingml/2006/main" prst="line">
            <a:avLst/>
          </a:prstGeom>
          <a:noFill xmlns:a="http://schemas.openxmlformats.org/drawingml/2006/main"/>
          <a:ln xmlns:a="http://schemas.openxmlformats.org/drawingml/2006/main" w="9525">
            <a:solidFill>
              <a:srgbClr val="AEB7B1"/>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Rectangle 28">
            <a:extLst xmlns:a="http://schemas.openxmlformats.org/drawingml/2006/main">
              <a:ext uri="{FF2B5EF4-FFF2-40B4-BE49-F238E27FC236}">
                <a16:creationId xmlns:a16="http://schemas.microsoft.com/office/drawing/2014/main" id="{1F74FE52-B7E3-464E-BD2D-CCCC853B0E64}"/>
              </a:ext>
            </a:extLst>
          </p:cNvPr>
          <p:cNvSpPr>
            <a:spLocks xmlns:a="http://schemas.openxmlformats.org/drawingml/2006/main" noGrp="1"/>
          </p:cNvSpPr>
          <p:nvPr/>
        </p:nvSpPr>
        <p:spPr>
          <a:xfrm xmlns:a="http://schemas.openxmlformats.org/drawingml/2006/main">
            <a:off x="1219200" y="5610225"/>
            <a:ext cx="1238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452C"/>
                </a:solidFill>
                <a:latin typeface="Arial"/>
                <a:ea typeface="Arial"/>
                <a:cs typeface="Arial"/>
              </a:defRPr>
            </a:pPr>
            <a:r>
              <a:rPr sz="1125" b="1" i="0">
                <a:solidFill>
                  <a:srgbClr val="00452C"/>
                </a:solidFill>
                <a:latin typeface="Arial"/>
                <a:ea typeface="Arial"/>
                <a:cs typeface="Arial"/>
              </a:rPr>
              <a:t>Prepared By</a:t>
            </a:r>
          </a:p>
        </p:txBody>
      </p:sp>
      <p:sp>
        <p:nvSpPr>
          <p:cNvPr id="30" name="Rectangle 29">
            <a:extLst xmlns:a="http://schemas.openxmlformats.org/drawingml/2006/main">
              <a:ext uri="{FF2B5EF4-FFF2-40B4-BE49-F238E27FC236}">
                <a16:creationId xmlns:a16="http://schemas.microsoft.com/office/drawing/2014/main" id="{CAF23993-C572-4488-866D-2C7A5482B8FF}"/>
              </a:ext>
            </a:extLst>
          </p:cNvPr>
          <p:cNvSpPr>
            <a:spLocks xmlns:a="http://schemas.openxmlformats.org/drawingml/2006/main" noGrp="1"/>
          </p:cNvSpPr>
          <p:nvPr/>
        </p:nvSpPr>
        <p:spPr>
          <a:xfrm xmlns:a="http://schemas.openxmlformats.org/drawingml/2006/main">
            <a:off x="1219200" y="58674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38" b="0" i="0">
                <a:solidFill>
                  <a:srgbClr val="111111"/>
                </a:solidFill>
                <a:latin typeface="Arial"/>
                <a:ea typeface="Arial"/>
                <a:cs typeface="Arial"/>
              </a:defRPr>
            </a:pPr>
            <a:r>
              <a:rPr sz="938" b="0" i="0">
                <a:solidFill>
                  <a:srgbClr val="111111"/>
                </a:solidFill>
                <a:latin typeface="Arial"/>
                <a:ea typeface="Arial"/>
                <a:cs typeface="Arial"/>
              </a:rPr>
              <a:t>Oracle Cloud VMware Specialist</a:t>
            </a:r>
          </a:p>
        </p:txBody>
      </p:sp>
      <p:pic>
        <p:nvPicPr>
          <p:cNvPr id="69" name="Picture 61"/>
          <p:cNvPicPr>
            <a:picLocks xmlns:a="http://schemas.openxmlformats.org/drawingml/2006/main" noChangeAspect="1"/>
          </p:cNvPicPr>
          <p:nvPr/>
        </p:nvPicPr>
        <p:blipFill>
          <a:blip xmlns:r="http://schemas.openxmlformats.org/officeDocument/2006/relationships" xmlns:a="http://schemas.openxmlformats.org/drawingml/2006/main" r:embed="Ra65a9ecbed604c12"/>
          <a:stretch xmlns:a="http://schemas.openxmlformats.org/drawingml/2006/main"/>
        </p:blipFill>
        <p:spPr>
          <a:xfrm xmlns:a="http://schemas.openxmlformats.org/drawingml/2006/main">
            <a:off x="11458864" y="6486525"/>
            <a:ext cx="285173" cy="361950"/>
          </a:xfrm>
          <a:prstGeom xmlns:a="http://schemas.openxmlformats.org/drawingml/2006/main" prst="rect">
            <a:avLst/>
          </a:prstGeom>
        </p:spPr>
      </p:pic>
    </p:spTree>
    <p:extLst>
      <p:ext uri="{BB962C8B-B14F-4D97-AF65-F5344CB8AC3E}">
        <p14:creationId xmlns:p14="http://schemas.microsoft.com/office/powerpoint/2010/main" val="1424176089"/>
      </p:ext>
    </p:extLst>
  </p:cSld>
</p:sld>
</file>

<file path=ppt/slides/slide2.xml><?xml version="1.0" encoding="utf-8"?>
<p:sld xmlns:p="http://schemas.openxmlformats.org/presentationml/2006/main">
  <p:cSld>
    <p:bg>
      <p:bgPr>
        <a:solidFill xmlns:a="http://schemas.openxmlformats.org/drawingml/2006/main">
          <a:srgbClr val="FBFAF8"/>
        </a:solidFill>
      </p:bgPr>
    </p:bg>
    <p:spTree>
      <p:nvGrpSpPr>
        <p:cNvPr id="1" name=""/>
        <p:cNvGrpSpPr/>
        <p:nvPr/>
      </p:nvGrpSpPr>
      <p:grpSpPr>
        <a:xfrm xmlns:a="http://schemas.openxmlformats.org/drawingml/2006/main"/>
      </p:grpSpPr>
      <p:sp>
        <p:nvSpPr>
          <p:cNvPr id="123" name="Oval 122">
            <a:extLst xmlns:a="http://schemas.openxmlformats.org/drawingml/2006/main">
              <a:ext uri="{FF2B5EF4-FFF2-40B4-BE49-F238E27FC236}">
                <a16:creationId xmlns:a16="http://schemas.microsoft.com/office/drawing/2014/main" id="{568EAC45-913C-4BB6-A7C6-68D001E3312B}"/>
              </a:ext>
            </a:extLst>
          </p:cNvPr>
          <p:cNvSpPr>
            <a:spLocks xmlns:a="http://schemas.openxmlformats.org/drawingml/2006/main" noGrp="1"/>
          </p:cNvSpPr>
          <p:nvPr/>
        </p:nvSpPr>
        <p:spPr>
          <a:xfrm xmlns:a="http://schemas.openxmlformats.org/drawingml/2006/main">
            <a:off x="4876800" y="552450"/>
            <a:ext cx="38100" cy="38100"/>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Oval 1">
            <a:extLst xmlns:a="http://schemas.openxmlformats.org/drawingml/2006/main">
              <a:ext uri="{FF2B5EF4-FFF2-40B4-BE49-F238E27FC236}">
                <a16:creationId xmlns:a16="http://schemas.microsoft.com/office/drawing/2014/main" id="{461F158E-2284-41F5-B1D5-DE53C2A7DA90}"/>
              </a:ext>
            </a:extLst>
          </p:cNvPr>
          <p:cNvSpPr>
            <a:spLocks xmlns:a="http://schemas.openxmlformats.org/drawingml/2006/main" noGrp="1"/>
          </p:cNvSpPr>
          <p:nvPr/>
        </p:nvSpPr>
        <p:spPr>
          <a:xfrm xmlns:a="http://schemas.openxmlformats.org/drawingml/2006/main">
            <a:off x="5886450" y="628650"/>
            <a:ext cx="23813" cy="23813"/>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Oval 2">
            <a:extLst xmlns:a="http://schemas.openxmlformats.org/drawingml/2006/main">
              <a:ext uri="{FF2B5EF4-FFF2-40B4-BE49-F238E27FC236}">
                <a16:creationId xmlns:a16="http://schemas.microsoft.com/office/drawing/2014/main" id="{ACC4F953-03EF-439E-AF8A-87A0C7FF36C8}"/>
              </a:ext>
            </a:extLst>
          </p:cNvPr>
          <p:cNvSpPr>
            <a:spLocks xmlns:a="http://schemas.openxmlformats.org/drawingml/2006/main" noGrp="1"/>
          </p:cNvSpPr>
          <p:nvPr/>
        </p:nvSpPr>
        <p:spPr>
          <a:xfrm xmlns:a="http://schemas.openxmlformats.org/drawingml/2006/main">
            <a:off x="6896100" y="400050"/>
            <a:ext cx="57150" cy="57150"/>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Oval 3">
            <a:extLst xmlns:a="http://schemas.openxmlformats.org/drawingml/2006/main">
              <a:ext uri="{FF2B5EF4-FFF2-40B4-BE49-F238E27FC236}">
                <a16:creationId xmlns:a16="http://schemas.microsoft.com/office/drawing/2014/main" id="{8D0B70C3-B9B6-4619-8F07-0E3DF2D52024}"/>
              </a:ext>
            </a:extLst>
          </p:cNvPr>
          <p:cNvSpPr>
            <a:spLocks xmlns:a="http://schemas.openxmlformats.org/drawingml/2006/main" noGrp="1"/>
          </p:cNvSpPr>
          <p:nvPr/>
        </p:nvSpPr>
        <p:spPr>
          <a:xfrm xmlns:a="http://schemas.openxmlformats.org/drawingml/2006/main">
            <a:off x="8858250" y="838200"/>
            <a:ext cx="23813" cy="23813"/>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Oval 4">
            <a:extLst xmlns:a="http://schemas.openxmlformats.org/drawingml/2006/main">
              <a:ext uri="{FF2B5EF4-FFF2-40B4-BE49-F238E27FC236}">
                <a16:creationId xmlns:a16="http://schemas.microsoft.com/office/drawing/2014/main" id="{B56F5A68-BB48-4329-8BA6-6DC95ABC282E}"/>
              </a:ext>
            </a:extLst>
          </p:cNvPr>
          <p:cNvSpPr>
            <a:spLocks xmlns:a="http://schemas.openxmlformats.org/drawingml/2006/main" noGrp="1"/>
          </p:cNvSpPr>
          <p:nvPr/>
        </p:nvSpPr>
        <p:spPr>
          <a:xfrm xmlns:a="http://schemas.openxmlformats.org/drawingml/2006/main">
            <a:off x="10515600" y="723900"/>
            <a:ext cx="28575" cy="28575"/>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2CE26BDD-0309-4DB1-B647-0632B928CFD6}"/>
              </a:ext>
            </a:extLst>
          </p:cNvPr>
          <p:cNvSpPr>
            <a:spLocks xmlns:a="http://schemas.openxmlformats.org/drawingml/2006/main" noGrp="1"/>
          </p:cNvSpPr>
          <p:nvPr/>
        </p:nvSpPr>
        <p:spPr>
          <a:xfrm xmlns:a="http://schemas.openxmlformats.org/drawingml/2006/main">
            <a:off x="11163300" y="1181100"/>
            <a:ext cx="28575" cy="28575"/>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FFCA6D0F-8947-4D62-B3AD-41C3B3BFEDAE}"/>
              </a:ext>
            </a:extLst>
          </p:cNvPr>
          <p:cNvSpPr>
            <a:spLocks xmlns:a="http://schemas.openxmlformats.org/drawingml/2006/main" noGrp="1"/>
          </p:cNvSpPr>
          <p:nvPr/>
        </p:nvSpPr>
        <p:spPr>
          <a:xfrm xmlns:a="http://schemas.openxmlformats.org/drawingml/2006/main">
            <a:off x="4629150" y="2990850"/>
            <a:ext cx="28575" cy="28575"/>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AFD9ACFD-1F7A-4CC5-9CDD-5C8C1E0FC7E8}"/>
              </a:ext>
            </a:extLst>
          </p:cNvPr>
          <p:cNvSpPr>
            <a:spLocks xmlns:a="http://schemas.openxmlformats.org/drawingml/2006/main" noGrp="1"/>
          </p:cNvSpPr>
          <p:nvPr/>
        </p:nvSpPr>
        <p:spPr>
          <a:xfrm xmlns:a="http://schemas.openxmlformats.org/drawingml/2006/main">
            <a:off x="8496300" y="2943225"/>
            <a:ext cx="19050" cy="19050"/>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64CD1E17-1765-4DEC-A05B-F4D788BB265C}"/>
              </a:ext>
            </a:extLst>
          </p:cNvPr>
          <p:cNvSpPr>
            <a:spLocks xmlns:a="http://schemas.openxmlformats.org/drawingml/2006/main" noGrp="1"/>
          </p:cNvSpPr>
          <p:nvPr/>
        </p:nvSpPr>
        <p:spPr>
          <a:xfrm xmlns:a="http://schemas.openxmlformats.org/drawingml/2006/main">
            <a:off x="9677400" y="3790950"/>
            <a:ext cx="38100" cy="38100"/>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0" name="Oval 9">
            <a:extLst xmlns:a="http://schemas.openxmlformats.org/drawingml/2006/main">
              <a:ext uri="{FF2B5EF4-FFF2-40B4-BE49-F238E27FC236}">
                <a16:creationId xmlns:a16="http://schemas.microsoft.com/office/drawing/2014/main" id="{4425D804-5184-4862-B323-B65A40BFD61D}"/>
              </a:ext>
            </a:extLst>
          </p:cNvPr>
          <p:cNvSpPr>
            <a:spLocks xmlns:a="http://schemas.openxmlformats.org/drawingml/2006/main" noGrp="1"/>
          </p:cNvSpPr>
          <p:nvPr/>
        </p:nvSpPr>
        <p:spPr>
          <a:xfrm xmlns:a="http://schemas.openxmlformats.org/drawingml/2006/main">
            <a:off x="11468100" y="5857875"/>
            <a:ext cx="28575" cy="28575"/>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1" name="Oval 10">
            <a:extLst xmlns:a="http://schemas.openxmlformats.org/drawingml/2006/main">
              <a:ext uri="{FF2B5EF4-FFF2-40B4-BE49-F238E27FC236}">
                <a16:creationId xmlns:a16="http://schemas.microsoft.com/office/drawing/2014/main" id="{537CDA20-3CDF-4FCD-8170-F70347EDF569}"/>
              </a:ext>
            </a:extLst>
          </p:cNvPr>
          <p:cNvSpPr>
            <a:spLocks xmlns:a="http://schemas.openxmlformats.org/drawingml/2006/main" noGrp="1"/>
          </p:cNvSpPr>
          <p:nvPr/>
        </p:nvSpPr>
        <p:spPr>
          <a:xfrm xmlns:a="http://schemas.openxmlformats.org/drawingml/2006/main">
            <a:off x="514350" y="2895600"/>
            <a:ext cx="38100" cy="38100"/>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Oval 11">
            <a:extLst xmlns:a="http://schemas.openxmlformats.org/drawingml/2006/main">
              <a:ext uri="{FF2B5EF4-FFF2-40B4-BE49-F238E27FC236}">
                <a16:creationId xmlns:a16="http://schemas.microsoft.com/office/drawing/2014/main" id="{FD576319-28A9-4191-9C20-15DA4ADEDD1B}"/>
              </a:ext>
            </a:extLst>
          </p:cNvPr>
          <p:cNvSpPr>
            <a:spLocks xmlns:a="http://schemas.openxmlformats.org/drawingml/2006/main" noGrp="1"/>
          </p:cNvSpPr>
          <p:nvPr/>
        </p:nvSpPr>
        <p:spPr>
          <a:xfrm xmlns:a="http://schemas.openxmlformats.org/drawingml/2006/main">
            <a:off x="304800" y="3409950"/>
            <a:ext cx="28575" cy="28575"/>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3" name="Oval 12">
            <a:extLst xmlns:a="http://schemas.openxmlformats.org/drawingml/2006/main">
              <a:ext uri="{FF2B5EF4-FFF2-40B4-BE49-F238E27FC236}">
                <a16:creationId xmlns:a16="http://schemas.microsoft.com/office/drawing/2014/main" id="{1D372F61-8763-45C1-8436-3083F446D624}"/>
              </a:ext>
            </a:extLst>
          </p:cNvPr>
          <p:cNvSpPr>
            <a:spLocks xmlns:a="http://schemas.openxmlformats.org/drawingml/2006/main" noGrp="1"/>
          </p:cNvSpPr>
          <p:nvPr/>
        </p:nvSpPr>
        <p:spPr>
          <a:xfrm xmlns:a="http://schemas.openxmlformats.org/drawingml/2006/main">
            <a:off x="0" y="3124200"/>
            <a:ext cx="1524000" cy="2381250"/>
          </a:xfrm>
          <a:prstGeom xmlns:a="http://schemas.openxmlformats.org/drawingml/2006/main" prst="ellipse">
            <a:avLst/>
          </a:prstGeom>
          <a:solidFill xmlns:a="http://schemas.openxmlformats.org/drawingml/2006/main">
            <a:srgbClr val="F5F7F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163" name="Picture 135"/>
          <p:cNvPicPr>
            <a:picLocks xmlns:a="http://schemas.openxmlformats.org/drawingml/2006/main" noChangeAspect="1"/>
          </p:cNvPicPr>
          <p:nvPr/>
        </p:nvPicPr>
        <p:blipFill>
          <a:blip xmlns:r="http://schemas.openxmlformats.org/officeDocument/2006/relationships" xmlns:a="http://schemas.openxmlformats.org/drawingml/2006/main" r:embed="Ref5a11c0e5124d6b"/>
          <a:stretch xmlns:a="http://schemas.openxmlformats.org/drawingml/2006/main"/>
        </p:blipFill>
        <p:spPr>
          <a:xfrm xmlns:a="http://schemas.openxmlformats.org/drawingml/2006/main">
            <a:off x="9391650" y="296466"/>
            <a:ext cx="2571750" cy="321469"/>
          </a:xfrm>
          <a:prstGeom xmlns:a="http://schemas.openxmlformats.org/drawingml/2006/main" prst="rect">
            <a:avLst/>
          </a:prstGeom>
        </p:spPr>
      </p:pic>
      <p:sp>
        <p:nvSpPr>
          <p:cNvPr id="15" name="Rectangle 14">
            <a:extLst xmlns:a="http://schemas.openxmlformats.org/drawingml/2006/main">
              <a:ext uri="{FF2B5EF4-FFF2-40B4-BE49-F238E27FC236}">
                <a16:creationId xmlns:a16="http://schemas.microsoft.com/office/drawing/2014/main" id="{0CAD96AD-3E9C-4D8B-ABAC-5E5A38C9DFA6}"/>
              </a:ext>
            </a:extLst>
          </p:cNvPr>
          <p:cNvSpPr>
            <a:spLocks xmlns:a="http://schemas.openxmlformats.org/drawingml/2006/main" noGrp="1"/>
          </p:cNvSpPr>
          <p:nvPr/>
        </p:nvSpPr>
        <p:spPr>
          <a:xfrm xmlns:a="http://schemas.openxmlformats.org/drawingml/2006/main">
            <a:off x="400050" y="257175"/>
            <a:ext cx="685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3075" b="1" i="0">
                <a:solidFill>
                  <a:srgbClr val="111111"/>
                </a:solidFill>
                <a:latin typeface="Arial"/>
                <a:ea typeface="Arial"/>
                <a:cs typeface="Arial"/>
              </a:defRPr>
            </a:pPr>
            <a:r>
              <a:rPr sz="3075" b="1" i="0">
                <a:solidFill>
                  <a:srgbClr val="111111"/>
                </a:solidFill>
                <a:latin typeface="Arial"/>
                <a:ea typeface="Arial"/>
                <a:cs typeface="Arial"/>
              </a:rPr>
              <a:t>VMware to OCI Compute Migration</a:t>
            </a:r>
          </a:p>
        </p:txBody>
      </p:sp>
      <p:sp>
        <p:nvSpPr>
          <p:cNvPr id="16" name="Rectangle 15">
            <a:extLst xmlns:a="http://schemas.openxmlformats.org/drawingml/2006/main">
              <a:ext uri="{FF2B5EF4-FFF2-40B4-BE49-F238E27FC236}">
                <a16:creationId xmlns:a16="http://schemas.microsoft.com/office/drawing/2014/main" id="{051BA438-4FF2-4BAE-B875-E64FACABCB53}"/>
              </a:ext>
            </a:extLst>
          </p:cNvPr>
          <p:cNvSpPr>
            <a:spLocks xmlns:a="http://schemas.openxmlformats.org/drawingml/2006/main" noGrp="1"/>
          </p:cNvSpPr>
          <p:nvPr/>
        </p:nvSpPr>
        <p:spPr>
          <a:xfrm xmlns:a="http://schemas.openxmlformats.org/drawingml/2006/main">
            <a:off x="409575" y="828675"/>
            <a:ext cx="323850" cy="38100"/>
          </a:xfrm>
          <a:prstGeom xmlns:a="http://schemas.openxmlformats.org/drawingml/2006/main" prst="rect">
            <a:avLst/>
          </a:prstGeom>
          <a:solidFill xmlns:a="http://schemas.openxmlformats.org/drawingml/2006/main">
            <a:srgbClr val="E30613"/>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7" name="Rectangle 16">
            <a:extLst xmlns:a="http://schemas.openxmlformats.org/drawingml/2006/main">
              <a:ext uri="{FF2B5EF4-FFF2-40B4-BE49-F238E27FC236}">
                <a16:creationId xmlns:a16="http://schemas.microsoft.com/office/drawing/2014/main" id="{3D82B44D-2490-4809-9295-089583953D65}"/>
              </a:ext>
            </a:extLst>
          </p:cNvPr>
          <p:cNvSpPr>
            <a:spLocks xmlns:a="http://schemas.openxmlformats.org/drawingml/2006/main" noGrp="1"/>
          </p:cNvSpPr>
          <p:nvPr/>
        </p:nvSpPr>
        <p:spPr>
          <a:xfrm xmlns:a="http://schemas.openxmlformats.org/drawingml/2006/main">
            <a:off x="400050" y="10287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350" b="1" i="0">
                <a:solidFill>
                  <a:srgbClr val="5F6368"/>
                </a:solidFill>
                <a:latin typeface="Arial"/>
                <a:ea typeface="Arial"/>
                <a:cs typeface="Arial"/>
              </a:defRPr>
            </a:pPr>
            <a:r>
              <a:rPr sz="1350" b="1" i="0">
                <a:solidFill>
                  <a:srgbClr val="5F6368"/>
                </a:solidFill>
                <a:latin typeface="Arial"/>
                <a:ea typeface="Arial"/>
                <a:cs typeface="Arial"/>
              </a:rPr>
              <a:t>Migrate and modernize VMware workloads on Oracle Cloud Infrastructure (OCI).</a:t>
            </a:r>
          </a:p>
        </p:txBody>
      </p:sp>
      <p:sp>
        <p:nvSpPr>
          <p:cNvPr id="18" name="Rounded Rectangle 17">
            <a:extLst xmlns:a="http://schemas.openxmlformats.org/drawingml/2006/main">
              <a:ext uri="{FF2B5EF4-FFF2-40B4-BE49-F238E27FC236}">
                <a16:creationId xmlns:a16="http://schemas.microsoft.com/office/drawing/2014/main" id="{3609856C-5644-4F04-8E78-E3688F112FEB}"/>
              </a:ext>
            </a:extLst>
          </p:cNvPr>
          <p:cNvSpPr>
            <a:spLocks xmlns:a="http://schemas.openxmlformats.org/drawingml/2006/main" noGrp="1"/>
          </p:cNvSpPr>
          <p:nvPr/>
        </p:nvSpPr>
        <p:spPr>
          <a:xfrm xmlns:a="http://schemas.openxmlformats.org/drawingml/2006/main">
            <a:off x="400050" y="1409700"/>
            <a:ext cx="93535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CCD4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pic>
        <p:nvPicPr>
          <p:cNvPr id="168" name="Picture 140"/>
          <p:cNvPicPr>
            <a:picLocks xmlns:a="http://schemas.openxmlformats.org/drawingml/2006/main" noChangeAspect="1"/>
          </p:cNvPicPr>
          <p:nvPr/>
        </p:nvPicPr>
        <p:blipFill>
          <a:blip xmlns:r="http://schemas.openxmlformats.org/officeDocument/2006/relationships" xmlns:a="http://schemas.openxmlformats.org/drawingml/2006/main" r:embed="R9f0bf65b353f4db7"/>
          <a:stretch xmlns:a="http://schemas.openxmlformats.org/drawingml/2006/main"/>
        </p:blipFill>
        <p:spPr>
          <a:xfrm xmlns:a="http://schemas.openxmlformats.org/drawingml/2006/main">
            <a:off x="561975" y="1581150"/>
            <a:ext cx="523875" cy="523875"/>
          </a:xfrm>
          <a:prstGeom xmlns:a="http://schemas.openxmlformats.org/drawingml/2006/main" prst="rect">
            <a:avLst/>
          </a:prstGeom>
        </p:spPr>
      </p:pic>
      <p:sp>
        <p:nvSpPr>
          <p:cNvPr id="20" name="Rectangle 19">
            <a:extLst xmlns:a="http://schemas.openxmlformats.org/drawingml/2006/main">
              <a:ext uri="{FF2B5EF4-FFF2-40B4-BE49-F238E27FC236}">
                <a16:creationId xmlns:a16="http://schemas.microsoft.com/office/drawing/2014/main" id="{B98429F0-7AD4-4349-9737-C67012B1D5E0}"/>
              </a:ext>
            </a:extLst>
          </p:cNvPr>
          <p:cNvSpPr>
            <a:spLocks xmlns:a="http://schemas.openxmlformats.org/drawingml/2006/main" noGrp="1"/>
          </p:cNvSpPr>
          <p:nvPr/>
        </p:nvSpPr>
        <p:spPr>
          <a:xfrm xmlns:a="http://schemas.openxmlformats.org/drawingml/2006/main">
            <a:off x="1228725" y="1685925"/>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5000"/>
              </a:lnSpc>
              <a:buNone/>
              <a:defRPr sz="1013" b="1" i="0">
                <a:solidFill>
                  <a:srgbClr val="111111"/>
                </a:solidFill>
                <a:latin typeface="Arial"/>
                <a:ea typeface="Arial"/>
                <a:cs typeface="Arial"/>
              </a:defRPr>
            </a:pPr>
            <a:r>
              <a:rPr sz="1013" b="1" i="0">
                <a:solidFill>
                  <a:srgbClr val="111111"/>
                </a:solidFill>
                <a:latin typeface="Arial"/>
                <a:ea typeface="Arial"/>
                <a:cs typeface="Arial"/>
              </a:rPr>
              <a:t>Reduce VMware</a:t>
            </a:r>
          </a:p>
          <a:p xmlns:a="http://schemas.openxmlformats.org/drawingml/2006/main">
            <a:pPr algn="l">
              <a:lnSpc>
                <a:spcPct val="115000"/>
              </a:lnSpc>
              <a:buNone/>
              <a:defRPr sz="1013" b="1" i="0">
                <a:solidFill>
                  <a:srgbClr val="111111"/>
                </a:solidFill>
                <a:latin typeface="Arial"/>
                <a:ea typeface="Arial"/>
                <a:cs typeface="Arial"/>
              </a:defRPr>
            </a:pPr>
            <a:r>
              <a:rPr sz="1013" b="1" i="0">
                <a:solidFill>
                  <a:srgbClr val="111111"/>
                </a:solidFill>
                <a:latin typeface="Arial"/>
                <a:ea typeface="Arial"/>
                <a:cs typeface="Arial"/>
              </a:rPr>
              <a:t>licensing costs</a:t>
            </a:r>
          </a:p>
        </p:txBody>
      </p:sp>
      <p:sp>
        <p:nvSpPr>
          <p:cNvPr id="21" name="Straight Connector 20">
            <a:extLst xmlns:a="http://schemas.openxmlformats.org/drawingml/2006/main">
              <a:ext uri="{FF2B5EF4-FFF2-40B4-BE49-F238E27FC236}">
                <a16:creationId xmlns:a16="http://schemas.microsoft.com/office/drawing/2014/main" id="{CA47C666-626E-4039-B9AA-DB7D67C5D21D}"/>
              </a:ext>
            </a:extLst>
          </p:cNvPr>
          <p:cNvSpPr>
            <a:spLocks xmlns:a="http://schemas.openxmlformats.org/drawingml/2006/main" noGrp="1"/>
          </p:cNvSpPr>
          <p:nvPr/>
        </p:nvSpPr>
        <p:spPr>
          <a:xfrm xmlns:a="http://schemas.openxmlformats.org/drawingml/2006/main">
            <a:off x="2571750" y="1619250"/>
            <a:ext cx="0" cy="457200"/>
          </a:xfrm>
          <a:prstGeom xmlns:a="http://schemas.openxmlformats.org/drawingml/2006/main" prst="line">
            <a:avLst/>
          </a:prstGeom>
          <a:noFill xmlns:a="http://schemas.openxmlformats.org/drawingml/2006/main"/>
          <a:ln xmlns:a="http://schemas.openxmlformats.org/drawingml/2006/main" w="9525">
            <a:solidFill>
              <a:srgbClr val="D7DDDA"/>
            </a:solidFill>
            <a:prstDash val="solid"/>
          </a:ln>
        </p:spPr>
        <p:txBody>
          <a:bodyPr xmlns:a="http://schemas.openxmlformats.org/drawingml/2006/main"/>
          <a:lstStyle xmlns:a="http://schemas.openxmlformats.org/drawingml/2006/main"/>
          <a:p xmlns:a="http://schemas.openxmlformats.org/drawingml/2006/main">
            <a:endParaRPr/>
          </a:p>
        </p:txBody>
      </p:sp>
      <p:pic>
        <p:nvPicPr>
          <p:cNvPr id="171" name="Picture 143"/>
          <p:cNvPicPr>
            <a:picLocks xmlns:a="http://schemas.openxmlformats.org/drawingml/2006/main" noChangeAspect="1"/>
          </p:cNvPicPr>
          <p:nvPr/>
        </p:nvPicPr>
        <p:blipFill>
          <a:blip xmlns:r="http://schemas.openxmlformats.org/officeDocument/2006/relationships" xmlns:a="http://schemas.openxmlformats.org/drawingml/2006/main" r:embed="R2f68e9975ea747f4"/>
          <a:stretch xmlns:a="http://schemas.openxmlformats.org/drawingml/2006/main"/>
        </p:blipFill>
        <p:spPr>
          <a:xfrm xmlns:a="http://schemas.openxmlformats.org/drawingml/2006/main">
            <a:off x="2819400" y="1581150"/>
            <a:ext cx="523875" cy="523875"/>
          </a:xfrm>
          <a:prstGeom xmlns:a="http://schemas.openxmlformats.org/drawingml/2006/main" prst="rect">
            <a:avLst/>
          </a:prstGeom>
        </p:spPr>
      </p:pic>
      <p:sp>
        <p:nvSpPr>
          <p:cNvPr id="23" name="Rectangle 22">
            <a:extLst xmlns:a="http://schemas.openxmlformats.org/drawingml/2006/main">
              <a:ext uri="{FF2B5EF4-FFF2-40B4-BE49-F238E27FC236}">
                <a16:creationId xmlns:a16="http://schemas.microsoft.com/office/drawing/2014/main" id="{D92CE694-70D8-4B55-B0D8-06B040178AF0}"/>
              </a:ext>
            </a:extLst>
          </p:cNvPr>
          <p:cNvSpPr>
            <a:spLocks xmlns:a="http://schemas.openxmlformats.org/drawingml/2006/main" noGrp="1"/>
          </p:cNvSpPr>
          <p:nvPr/>
        </p:nvSpPr>
        <p:spPr>
          <a:xfrm xmlns:a="http://schemas.openxmlformats.org/drawingml/2006/main">
            <a:off x="3486150" y="1685925"/>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5000"/>
              </a:lnSpc>
              <a:buNone/>
              <a:defRPr sz="1013" b="1" i="0">
                <a:solidFill>
                  <a:srgbClr val="111111"/>
                </a:solidFill>
                <a:latin typeface="Arial"/>
                <a:ea typeface="Arial"/>
                <a:cs typeface="Arial"/>
              </a:defRPr>
            </a:pPr>
            <a:r>
              <a:rPr sz="1013" b="1" i="0">
                <a:solidFill>
                  <a:srgbClr val="111111"/>
                </a:solidFill>
                <a:latin typeface="Arial"/>
                <a:ea typeface="Arial"/>
                <a:cs typeface="Arial"/>
              </a:rPr>
              <a:t>Improve performance</a:t>
            </a:r>
          </a:p>
          <a:p xmlns:a="http://schemas.openxmlformats.org/drawingml/2006/main">
            <a:pPr algn="l">
              <a:lnSpc>
                <a:spcPct val="115000"/>
              </a:lnSpc>
              <a:buNone/>
              <a:defRPr sz="1013" b="1" i="0">
                <a:solidFill>
                  <a:srgbClr val="111111"/>
                </a:solidFill>
                <a:latin typeface="Arial"/>
                <a:ea typeface="Arial"/>
                <a:cs typeface="Arial"/>
              </a:defRPr>
            </a:pPr>
            <a:r>
              <a:rPr sz="1013" b="1" i="0">
                <a:solidFill>
                  <a:srgbClr val="111111"/>
                </a:solidFill>
                <a:latin typeface="Arial"/>
                <a:ea typeface="Arial"/>
                <a:cs typeface="Arial"/>
              </a:rPr>
              <a:t>and scalability</a:t>
            </a:r>
          </a:p>
        </p:txBody>
      </p:sp>
      <p:sp>
        <p:nvSpPr>
          <p:cNvPr id="24" name="Straight Connector 23">
            <a:extLst xmlns:a="http://schemas.openxmlformats.org/drawingml/2006/main">
              <a:ext uri="{FF2B5EF4-FFF2-40B4-BE49-F238E27FC236}">
                <a16:creationId xmlns:a16="http://schemas.microsoft.com/office/drawing/2014/main" id="{0106E242-8CA1-4F41-AD65-611D2FD7A61B}"/>
              </a:ext>
            </a:extLst>
          </p:cNvPr>
          <p:cNvSpPr>
            <a:spLocks xmlns:a="http://schemas.openxmlformats.org/drawingml/2006/main" noGrp="1"/>
          </p:cNvSpPr>
          <p:nvPr/>
        </p:nvSpPr>
        <p:spPr>
          <a:xfrm xmlns:a="http://schemas.openxmlformats.org/drawingml/2006/main">
            <a:off x="5029200" y="1619250"/>
            <a:ext cx="0" cy="457200"/>
          </a:xfrm>
          <a:prstGeom xmlns:a="http://schemas.openxmlformats.org/drawingml/2006/main" prst="line">
            <a:avLst/>
          </a:prstGeom>
          <a:noFill xmlns:a="http://schemas.openxmlformats.org/drawingml/2006/main"/>
          <a:ln xmlns:a="http://schemas.openxmlformats.org/drawingml/2006/main" w="9525">
            <a:solidFill>
              <a:srgbClr val="D7DDDA"/>
            </a:solidFill>
            <a:prstDash val="solid"/>
          </a:ln>
        </p:spPr>
        <p:txBody>
          <a:bodyPr xmlns:a="http://schemas.openxmlformats.org/drawingml/2006/main"/>
          <a:lstStyle xmlns:a="http://schemas.openxmlformats.org/drawingml/2006/main"/>
          <a:p xmlns:a="http://schemas.openxmlformats.org/drawingml/2006/main">
            <a:endParaRPr/>
          </a:p>
        </p:txBody>
      </p:sp>
      <p:pic>
        <p:nvPicPr>
          <p:cNvPr id="174" name="Picture 146"/>
          <p:cNvPicPr>
            <a:picLocks xmlns:a="http://schemas.openxmlformats.org/drawingml/2006/main" noChangeAspect="1"/>
          </p:cNvPicPr>
          <p:nvPr/>
        </p:nvPicPr>
        <p:blipFill>
          <a:blip xmlns:r="http://schemas.openxmlformats.org/officeDocument/2006/relationships" xmlns:a="http://schemas.openxmlformats.org/drawingml/2006/main" r:embed="R049773069de14ea2"/>
          <a:stretch xmlns:a="http://schemas.openxmlformats.org/drawingml/2006/main"/>
        </p:blipFill>
        <p:spPr>
          <a:xfrm xmlns:a="http://schemas.openxmlformats.org/drawingml/2006/main">
            <a:off x="5276850" y="1581150"/>
            <a:ext cx="523875" cy="523875"/>
          </a:xfrm>
          <a:prstGeom xmlns:a="http://schemas.openxmlformats.org/drawingml/2006/main" prst="rect">
            <a:avLst/>
          </a:prstGeom>
        </p:spPr>
      </p:pic>
      <p:sp>
        <p:nvSpPr>
          <p:cNvPr id="26" name="Rectangle 25">
            <a:extLst xmlns:a="http://schemas.openxmlformats.org/drawingml/2006/main">
              <a:ext uri="{FF2B5EF4-FFF2-40B4-BE49-F238E27FC236}">
                <a16:creationId xmlns:a16="http://schemas.microsoft.com/office/drawing/2014/main" id="{BB755757-904B-45C4-A439-6C157913D4C7}"/>
              </a:ext>
            </a:extLst>
          </p:cNvPr>
          <p:cNvSpPr>
            <a:spLocks xmlns:a="http://schemas.openxmlformats.org/drawingml/2006/main" noGrp="1"/>
          </p:cNvSpPr>
          <p:nvPr/>
        </p:nvSpPr>
        <p:spPr>
          <a:xfrm xmlns:a="http://schemas.openxmlformats.org/drawingml/2006/main">
            <a:off x="5943600" y="1685925"/>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5000"/>
              </a:lnSpc>
              <a:buNone/>
              <a:defRPr sz="1013" b="1" i="0">
                <a:solidFill>
                  <a:srgbClr val="111111"/>
                </a:solidFill>
                <a:latin typeface="Arial"/>
                <a:ea typeface="Arial"/>
                <a:cs typeface="Arial"/>
              </a:defRPr>
            </a:pPr>
            <a:r>
              <a:rPr sz="1013" b="1" i="0">
                <a:solidFill>
                  <a:srgbClr val="111111"/>
                </a:solidFill>
                <a:latin typeface="Arial"/>
                <a:ea typeface="Arial"/>
                <a:cs typeface="Arial"/>
              </a:rPr>
              <a:t>Leverage OCI native</a:t>
            </a:r>
          </a:p>
          <a:p xmlns:a="http://schemas.openxmlformats.org/drawingml/2006/main">
            <a:pPr algn="l">
              <a:lnSpc>
                <a:spcPct val="115000"/>
              </a:lnSpc>
              <a:buNone/>
              <a:defRPr sz="1013" b="1" i="0">
                <a:solidFill>
                  <a:srgbClr val="111111"/>
                </a:solidFill>
                <a:latin typeface="Arial"/>
                <a:ea typeface="Arial"/>
                <a:cs typeface="Arial"/>
              </a:defRPr>
            </a:pPr>
            <a:r>
              <a:rPr sz="1013" b="1" i="0">
                <a:solidFill>
                  <a:srgbClr val="111111"/>
                </a:solidFill>
                <a:latin typeface="Arial"/>
                <a:ea typeface="Arial"/>
                <a:cs typeface="Arial"/>
              </a:rPr>
              <a:t>services and automation</a:t>
            </a:r>
          </a:p>
        </p:txBody>
      </p:sp>
      <p:sp>
        <p:nvSpPr>
          <p:cNvPr id="27" name="Straight Connector 26">
            <a:extLst xmlns:a="http://schemas.openxmlformats.org/drawingml/2006/main">
              <a:ext uri="{FF2B5EF4-FFF2-40B4-BE49-F238E27FC236}">
                <a16:creationId xmlns:a16="http://schemas.microsoft.com/office/drawing/2014/main" id="{AD47C822-5C97-4B42-901F-7E7C4226E48A}"/>
              </a:ext>
            </a:extLst>
          </p:cNvPr>
          <p:cNvSpPr>
            <a:spLocks xmlns:a="http://schemas.openxmlformats.org/drawingml/2006/main" noGrp="1"/>
          </p:cNvSpPr>
          <p:nvPr/>
        </p:nvSpPr>
        <p:spPr>
          <a:xfrm xmlns:a="http://schemas.openxmlformats.org/drawingml/2006/main">
            <a:off x="7572375" y="1619250"/>
            <a:ext cx="0" cy="457200"/>
          </a:xfrm>
          <a:prstGeom xmlns:a="http://schemas.openxmlformats.org/drawingml/2006/main" prst="line">
            <a:avLst/>
          </a:prstGeom>
          <a:noFill xmlns:a="http://schemas.openxmlformats.org/drawingml/2006/main"/>
          <a:ln xmlns:a="http://schemas.openxmlformats.org/drawingml/2006/main" w="9525">
            <a:solidFill>
              <a:srgbClr val="D7DDDA"/>
            </a:solidFill>
            <a:prstDash val="solid"/>
          </a:ln>
        </p:spPr>
        <p:txBody>
          <a:bodyPr xmlns:a="http://schemas.openxmlformats.org/drawingml/2006/main"/>
          <a:lstStyle xmlns:a="http://schemas.openxmlformats.org/drawingml/2006/main"/>
          <a:p xmlns:a="http://schemas.openxmlformats.org/drawingml/2006/main">
            <a:endParaRPr/>
          </a:p>
        </p:txBody>
      </p:sp>
      <p:pic>
        <p:nvPicPr>
          <p:cNvPr id="177" name="Picture 149"/>
          <p:cNvPicPr>
            <a:picLocks xmlns:a="http://schemas.openxmlformats.org/drawingml/2006/main" noChangeAspect="1"/>
          </p:cNvPicPr>
          <p:nvPr/>
        </p:nvPicPr>
        <p:blipFill>
          <a:blip xmlns:r="http://schemas.openxmlformats.org/officeDocument/2006/relationships" xmlns:a="http://schemas.openxmlformats.org/drawingml/2006/main" r:embed="R47026ca658c1440d"/>
          <a:stretch xmlns:a="http://schemas.openxmlformats.org/drawingml/2006/main"/>
        </p:blipFill>
        <p:spPr>
          <a:xfrm xmlns:a="http://schemas.openxmlformats.org/drawingml/2006/main">
            <a:off x="7800975" y="1581150"/>
            <a:ext cx="523875" cy="523875"/>
          </a:xfrm>
          <a:prstGeom xmlns:a="http://schemas.openxmlformats.org/drawingml/2006/main" prst="rect">
            <a:avLst/>
          </a:prstGeom>
        </p:spPr>
      </p:pic>
      <p:sp>
        <p:nvSpPr>
          <p:cNvPr id="29" name="Rectangle 28">
            <a:extLst xmlns:a="http://schemas.openxmlformats.org/drawingml/2006/main">
              <a:ext uri="{FF2B5EF4-FFF2-40B4-BE49-F238E27FC236}">
                <a16:creationId xmlns:a16="http://schemas.microsoft.com/office/drawing/2014/main" id="{8529FB3B-6F49-4247-B21C-0984C40E3842}"/>
              </a:ext>
            </a:extLst>
          </p:cNvPr>
          <p:cNvSpPr>
            <a:spLocks xmlns:a="http://schemas.openxmlformats.org/drawingml/2006/main" noGrp="1"/>
          </p:cNvSpPr>
          <p:nvPr/>
        </p:nvSpPr>
        <p:spPr>
          <a:xfrm xmlns:a="http://schemas.openxmlformats.org/drawingml/2006/main">
            <a:off x="8467725" y="1685925"/>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5000"/>
              </a:lnSpc>
              <a:buNone/>
              <a:defRPr sz="1013" b="1" i="0">
                <a:solidFill>
                  <a:srgbClr val="111111"/>
                </a:solidFill>
                <a:latin typeface="Arial"/>
                <a:ea typeface="Arial"/>
                <a:cs typeface="Arial"/>
              </a:defRPr>
            </a:pPr>
            <a:r>
              <a:rPr sz="1013" b="1" i="0">
                <a:solidFill>
                  <a:srgbClr val="111111"/>
                </a:solidFill>
                <a:latin typeface="Arial"/>
                <a:ea typeface="Arial"/>
                <a:cs typeface="Arial"/>
              </a:rPr>
              <a:t>Increase agility and</a:t>
            </a:r>
          </a:p>
          <a:p xmlns:a="http://schemas.openxmlformats.org/drawingml/2006/main">
            <a:pPr algn="l">
              <a:lnSpc>
                <a:spcPct val="115000"/>
              </a:lnSpc>
              <a:buNone/>
              <a:defRPr sz="1013" b="1" i="0">
                <a:solidFill>
                  <a:srgbClr val="111111"/>
                </a:solidFill>
                <a:latin typeface="Arial"/>
                <a:ea typeface="Arial"/>
                <a:cs typeface="Arial"/>
              </a:defRPr>
            </a:pPr>
            <a:r>
              <a:rPr sz="1013" b="1" i="0">
                <a:solidFill>
                  <a:srgbClr val="111111"/>
                </a:solidFill>
                <a:latin typeface="Arial"/>
                <a:ea typeface="Arial"/>
                <a:cs typeface="Arial"/>
              </a:rPr>
              <a:t>business innovation</a:t>
            </a:r>
          </a:p>
        </p:txBody>
      </p:sp>
      <p:sp>
        <p:nvSpPr>
          <p:cNvPr id="30" name="Rounded Rectangle 29">
            <a:extLst xmlns:a="http://schemas.openxmlformats.org/drawingml/2006/main">
              <a:ext uri="{FF2B5EF4-FFF2-40B4-BE49-F238E27FC236}">
                <a16:creationId xmlns:a16="http://schemas.microsoft.com/office/drawing/2014/main" id="{040D8ACE-6018-4569-A21D-EDAE51380C57}"/>
              </a:ext>
            </a:extLst>
          </p:cNvPr>
          <p:cNvSpPr>
            <a:spLocks xmlns:a="http://schemas.openxmlformats.org/drawingml/2006/main" noGrp="1"/>
          </p:cNvSpPr>
          <p:nvPr/>
        </p:nvSpPr>
        <p:spPr>
          <a:xfrm xmlns:a="http://schemas.openxmlformats.org/drawingml/2006/main">
            <a:off x="400050" y="2409825"/>
            <a:ext cx="2886075" cy="3524250"/>
          </a:xfrm>
          <a:prstGeom xmlns:a="http://schemas.openxmlformats.org/drawingml/2006/main" prst="roundRect">
            <a:avLst>
              <a:gd name="adj" fmla="val 2640"/>
            </a:avLst>
          </a:prstGeom>
          <a:solidFill xmlns:a="http://schemas.openxmlformats.org/drawingml/2006/main">
            <a:srgbClr val="FFFFFF"/>
          </a:solidFill>
          <a:ln xmlns:a="http://schemas.openxmlformats.org/drawingml/2006/main" w="9525">
            <a:solidFill>
              <a:srgbClr val="00452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31" name="Rounded Rectangle 30">
            <a:extLst xmlns:a="http://schemas.openxmlformats.org/drawingml/2006/main">
              <a:ext uri="{FF2B5EF4-FFF2-40B4-BE49-F238E27FC236}">
                <a16:creationId xmlns:a16="http://schemas.microsoft.com/office/drawing/2014/main" id="{79220464-5728-4977-B951-047E46D68890}"/>
              </a:ext>
            </a:extLst>
          </p:cNvPr>
          <p:cNvSpPr>
            <a:spLocks xmlns:a="http://schemas.openxmlformats.org/drawingml/2006/main" noGrp="1"/>
          </p:cNvSpPr>
          <p:nvPr/>
        </p:nvSpPr>
        <p:spPr>
          <a:xfrm xmlns:a="http://schemas.openxmlformats.org/drawingml/2006/main">
            <a:off x="400050" y="2409825"/>
            <a:ext cx="2886075" cy="304800"/>
          </a:xfrm>
          <a:prstGeom xmlns:a="http://schemas.openxmlformats.org/drawingml/2006/main" prst="roundRect">
            <a:avLst>
              <a:gd name="adj" fmla="val 25000"/>
            </a:avLst>
          </a:prstGeom>
          <a:gradFill xmlns:a="http://schemas.openxmlformats.org/drawingml/2006/main">
            <a:gsLst>
              <a:gs pos="0">
                <a:srgbClr val="00351F"/>
              </a:gs>
              <a:gs pos="100000">
                <a:srgbClr val="075A35"/>
              </a:gs>
            </a:gsLst>
            <a:lin ang="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2" name="Rectangle 31">
            <a:extLst xmlns:a="http://schemas.openxmlformats.org/drawingml/2006/main">
              <a:ext uri="{FF2B5EF4-FFF2-40B4-BE49-F238E27FC236}">
                <a16:creationId xmlns:a16="http://schemas.microsoft.com/office/drawing/2014/main" id="{C290988E-A418-4BC8-8905-6E87E5F2AD64}"/>
              </a:ext>
            </a:extLst>
          </p:cNvPr>
          <p:cNvSpPr>
            <a:spLocks xmlns:a="http://schemas.openxmlformats.org/drawingml/2006/main" noGrp="1"/>
          </p:cNvSpPr>
          <p:nvPr/>
        </p:nvSpPr>
        <p:spPr>
          <a:xfrm xmlns:a="http://schemas.openxmlformats.org/drawingml/2006/main">
            <a:off x="400050" y="2657475"/>
            <a:ext cx="2886075" cy="66675"/>
          </a:xfrm>
          <a:prstGeom xmlns:a="http://schemas.openxmlformats.org/drawingml/2006/main" prst="rect">
            <a:avLst/>
          </a:prstGeom>
          <a:gradFill xmlns:a="http://schemas.openxmlformats.org/drawingml/2006/main">
            <a:gsLst>
              <a:gs pos="0">
                <a:srgbClr val="00351F"/>
              </a:gs>
              <a:gs pos="100000">
                <a:srgbClr val="075A35"/>
              </a:gs>
            </a:gsLst>
            <a:lin ang="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3" name="Rectangle 32">
            <a:extLst xmlns:a="http://schemas.openxmlformats.org/drawingml/2006/main">
              <a:ext uri="{FF2B5EF4-FFF2-40B4-BE49-F238E27FC236}">
                <a16:creationId xmlns:a16="http://schemas.microsoft.com/office/drawing/2014/main" id="{236CE7A0-CC03-4D6B-8C8E-6FE68128614F}"/>
              </a:ext>
            </a:extLst>
          </p:cNvPr>
          <p:cNvSpPr>
            <a:spLocks xmlns:a="http://schemas.openxmlformats.org/drawingml/2006/main" noGrp="1"/>
          </p:cNvSpPr>
          <p:nvPr/>
        </p:nvSpPr>
        <p:spPr>
          <a:xfrm xmlns:a="http://schemas.openxmlformats.org/drawingml/2006/main">
            <a:off x="781050" y="2524125"/>
            <a:ext cx="2238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38" b="1" i="0">
                <a:solidFill>
                  <a:srgbClr val="FFFFFF"/>
                </a:solidFill>
                <a:latin typeface="Arial"/>
                <a:ea typeface="Arial"/>
                <a:cs typeface="Arial"/>
              </a:defRPr>
            </a:pPr>
            <a:r>
              <a:rPr sz="938" b="1" i="0">
                <a:solidFill>
                  <a:srgbClr val="FFFFFF"/>
                </a:solidFill>
                <a:latin typeface="Arial"/>
                <a:ea typeface="Arial"/>
                <a:cs typeface="Arial"/>
              </a:rPr>
              <a:t>ON-PREMISES VMWARE ENVIRONMENT</a:t>
            </a:r>
          </a:p>
        </p:txBody>
      </p:sp>
      <p:pic>
        <p:nvPicPr>
          <p:cNvPr id="183" name="Picture 155"/>
          <p:cNvPicPr>
            <a:picLocks xmlns:a="http://schemas.openxmlformats.org/drawingml/2006/main" noChangeAspect="1"/>
          </p:cNvPicPr>
          <p:nvPr/>
        </p:nvPicPr>
        <p:blipFill>
          <a:blip xmlns:r="http://schemas.openxmlformats.org/officeDocument/2006/relationships" xmlns:a="http://schemas.openxmlformats.org/drawingml/2006/main" r:embed="Reb056e36dbcd4da5"/>
          <a:stretch xmlns:a="http://schemas.openxmlformats.org/drawingml/2006/main"/>
        </p:blipFill>
        <p:spPr>
          <a:xfrm xmlns:a="http://schemas.openxmlformats.org/drawingml/2006/main">
            <a:off x="578379" y="2971800"/>
            <a:ext cx="357717" cy="495300"/>
          </a:xfrm>
          <a:prstGeom xmlns:a="http://schemas.openxmlformats.org/drawingml/2006/main" prst="rect">
            <a:avLst/>
          </a:prstGeom>
        </p:spPr>
      </p:pic>
      <p:sp>
        <p:nvSpPr>
          <p:cNvPr id="35" name="Rounded Rectangle 34">
            <a:extLst xmlns:a="http://schemas.openxmlformats.org/drawingml/2006/main">
              <a:ext uri="{FF2B5EF4-FFF2-40B4-BE49-F238E27FC236}">
                <a16:creationId xmlns:a16="http://schemas.microsoft.com/office/drawing/2014/main" id="{823E5509-0BBD-46EF-A5F9-FA1383CDF9E3}"/>
              </a:ext>
            </a:extLst>
          </p:cNvPr>
          <p:cNvSpPr>
            <a:spLocks xmlns:a="http://schemas.openxmlformats.org/drawingml/2006/main" noGrp="1"/>
          </p:cNvSpPr>
          <p:nvPr/>
        </p:nvSpPr>
        <p:spPr>
          <a:xfrm xmlns:a="http://schemas.openxmlformats.org/drawingml/2006/main">
            <a:off x="1019175" y="3048000"/>
            <a:ext cx="285750" cy="295275"/>
          </a:xfrm>
          <a:prstGeom xmlns:a="http://schemas.openxmlformats.org/drawingml/2006/main" prst="roundRect">
            <a:avLst>
              <a:gd name="adj" fmla="val 13333"/>
            </a:avLst>
          </a:prstGeom>
          <a:solidFill xmlns:a="http://schemas.openxmlformats.org/drawingml/2006/main">
            <a:srgbClr val="FAFAFA"/>
          </a:solidFill>
          <a:ln xmlns:a="http://schemas.openxmlformats.org/drawingml/2006/main" w="9525">
            <a:solidFill>
              <a:srgbClr val="BFC7C2"/>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Rectangle 35">
            <a:extLst xmlns:a="http://schemas.openxmlformats.org/drawingml/2006/main">
              <a:ext uri="{FF2B5EF4-FFF2-40B4-BE49-F238E27FC236}">
                <a16:creationId xmlns:a16="http://schemas.microsoft.com/office/drawing/2014/main" id="{D67A9F66-F483-4C16-A77E-0C571FAA1D4B}"/>
              </a:ext>
            </a:extLst>
          </p:cNvPr>
          <p:cNvSpPr>
            <a:spLocks xmlns:a="http://schemas.openxmlformats.org/drawingml/2006/main" noGrp="1"/>
          </p:cNvSpPr>
          <p:nvPr/>
        </p:nvSpPr>
        <p:spPr>
          <a:xfrm xmlns:a="http://schemas.openxmlformats.org/drawingml/2006/main">
            <a:off x="1066800" y="3114675"/>
            <a:ext cx="19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50" b="1" i="0">
                <a:solidFill>
                  <a:srgbClr val="111111"/>
                </a:solidFill>
                <a:latin typeface="Arial"/>
                <a:ea typeface="Arial"/>
                <a:cs typeface="Arial"/>
              </a:defRPr>
            </a:pPr>
            <a:r>
              <a:rPr sz="750" b="1" i="0">
                <a:solidFill>
                  <a:srgbClr val="111111"/>
                </a:solidFill>
                <a:latin typeface="Arial"/>
                <a:ea typeface="Arial"/>
                <a:cs typeface="Arial"/>
              </a:rPr>
              <a:t>VM</a:t>
            </a:r>
          </a:p>
        </p:txBody>
      </p:sp>
      <p:sp>
        <p:nvSpPr>
          <p:cNvPr id="37" name="Rounded Rectangle 36">
            <a:extLst xmlns:a="http://schemas.openxmlformats.org/drawingml/2006/main">
              <a:ext uri="{FF2B5EF4-FFF2-40B4-BE49-F238E27FC236}">
                <a16:creationId xmlns:a16="http://schemas.microsoft.com/office/drawing/2014/main" id="{20E6E788-6167-427C-AE8E-6B5608670978}"/>
              </a:ext>
            </a:extLst>
          </p:cNvPr>
          <p:cNvSpPr>
            <a:spLocks xmlns:a="http://schemas.openxmlformats.org/drawingml/2006/main" noGrp="1"/>
          </p:cNvSpPr>
          <p:nvPr/>
        </p:nvSpPr>
        <p:spPr>
          <a:xfrm xmlns:a="http://schemas.openxmlformats.org/drawingml/2006/main">
            <a:off x="1409700" y="3048000"/>
            <a:ext cx="285750" cy="295275"/>
          </a:xfrm>
          <a:prstGeom xmlns:a="http://schemas.openxmlformats.org/drawingml/2006/main" prst="roundRect">
            <a:avLst>
              <a:gd name="adj" fmla="val 13333"/>
            </a:avLst>
          </a:prstGeom>
          <a:solidFill xmlns:a="http://schemas.openxmlformats.org/drawingml/2006/main">
            <a:srgbClr val="FAFAFA"/>
          </a:solidFill>
          <a:ln xmlns:a="http://schemas.openxmlformats.org/drawingml/2006/main" w="9525">
            <a:solidFill>
              <a:srgbClr val="BFC7C2"/>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Rectangle 37">
            <a:extLst xmlns:a="http://schemas.openxmlformats.org/drawingml/2006/main">
              <a:ext uri="{FF2B5EF4-FFF2-40B4-BE49-F238E27FC236}">
                <a16:creationId xmlns:a16="http://schemas.microsoft.com/office/drawing/2014/main" id="{6852BE1D-27F2-4EA5-85A9-7588D671D097}"/>
              </a:ext>
            </a:extLst>
          </p:cNvPr>
          <p:cNvSpPr>
            <a:spLocks xmlns:a="http://schemas.openxmlformats.org/drawingml/2006/main" noGrp="1"/>
          </p:cNvSpPr>
          <p:nvPr/>
        </p:nvSpPr>
        <p:spPr>
          <a:xfrm xmlns:a="http://schemas.openxmlformats.org/drawingml/2006/main">
            <a:off x="1457325" y="3114675"/>
            <a:ext cx="19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50" b="1" i="0">
                <a:solidFill>
                  <a:srgbClr val="111111"/>
                </a:solidFill>
                <a:latin typeface="Arial"/>
                <a:ea typeface="Arial"/>
                <a:cs typeface="Arial"/>
              </a:defRPr>
            </a:pPr>
            <a:r>
              <a:rPr sz="750" b="1" i="0">
                <a:solidFill>
                  <a:srgbClr val="111111"/>
                </a:solidFill>
                <a:latin typeface="Arial"/>
                <a:ea typeface="Arial"/>
                <a:cs typeface="Arial"/>
              </a:rPr>
              <a:t>VM</a:t>
            </a:r>
          </a:p>
        </p:txBody>
      </p:sp>
      <p:sp>
        <p:nvSpPr>
          <p:cNvPr id="39" name="Rounded Rectangle 38">
            <a:extLst xmlns:a="http://schemas.openxmlformats.org/drawingml/2006/main">
              <a:ext uri="{FF2B5EF4-FFF2-40B4-BE49-F238E27FC236}">
                <a16:creationId xmlns:a16="http://schemas.microsoft.com/office/drawing/2014/main" id="{ABCEFC9C-E2E7-4577-A370-30B672DB80A7}"/>
              </a:ext>
            </a:extLst>
          </p:cNvPr>
          <p:cNvSpPr>
            <a:spLocks xmlns:a="http://schemas.openxmlformats.org/drawingml/2006/main" noGrp="1"/>
          </p:cNvSpPr>
          <p:nvPr/>
        </p:nvSpPr>
        <p:spPr>
          <a:xfrm xmlns:a="http://schemas.openxmlformats.org/drawingml/2006/main">
            <a:off x="1800225" y="3048000"/>
            <a:ext cx="285750" cy="295275"/>
          </a:xfrm>
          <a:prstGeom xmlns:a="http://schemas.openxmlformats.org/drawingml/2006/main" prst="roundRect">
            <a:avLst>
              <a:gd name="adj" fmla="val 13333"/>
            </a:avLst>
          </a:prstGeom>
          <a:solidFill xmlns:a="http://schemas.openxmlformats.org/drawingml/2006/main">
            <a:srgbClr val="FAFAFA"/>
          </a:solidFill>
          <a:ln xmlns:a="http://schemas.openxmlformats.org/drawingml/2006/main" w="9525">
            <a:solidFill>
              <a:srgbClr val="BFC7C2"/>
            </a:solidFill>
            <a:prstDash val="solid"/>
          </a:ln>
        </p:spPr>
        <p:txBody>
          <a:bodyPr xmlns:a="http://schemas.openxmlformats.org/drawingml/2006/main"/>
          <a:lstStyle xmlns:a="http://schemas.openxmlformats.org/drawingml/2006/main"/>
          <a:p xmlns:a="http://schemas.openxmlformats.org/drawingml/2006/main">
            <a:endParaRPr/>
          </a:p>
        </p:txBody>
      </p:sp>
      <p:sp>
        <p:nvSpPr>
          <p:cNvPr id="40" name="Rectangle 39">
            <a:extLst xmlns:a="http://schemas.openxmlformats.org/drawingml/2006/main">
              <a:ext uri="{FF2B5EF4-FFF2-40B4-BE49-F238E27FC236}">
                <a16:creationId xmlns:a16="http://schemas.microsoft.com/office/drawing/2014/main" id="{A65D27F8-D867-48C0-AE0D-BE89BBA7AECA}"/>
              </a:ext>
            </a:extLst>
          </p:cNvPr>
          <p:cNvSpPr>
            <a:spLocks xmlns:a="http://schemas.openxmlformats.org/drawingml/2006/main" noGrp="1"/>
          </p:cNvSpPr>
          <p:nvPr/>
        </p:nvSpPr>
        <p:spPr>
          <a:xfrm xmlns:a="http://schemas.openxmlformats.org/drawingml/2006/main">
            <a:off x="1847850" y="3114675"/>
            <a:ext cx="19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50" b="1" i="0">
                <a:solidFill>
                  <a:srgbClr val="111111"/>
                </a:solidFill>
                <a:latin typeface="Arial"/>
                <a:ea typeface="Arial"/>
                <a:cs typeface="Arial"/>
              </a:defRPr>
            </a:pPr>
            <a:r>
              <a:rPr sz="750" b="1" i="0">
                <a:solidFill>
                  <a:srgbClr val="111111"/>
                </a:solidFill>
                <a:latin typeface="Arial"/>
                <a:ea typeface="Arial"/>
                <a:cs typeface="Arial"/>
              </a:rPr>
              <a:t>VM</a:t>
            </a:r>
          </a:p>
        </p:txBody>
      </p:sp>
      <p:sp>
        <p:nvSpPr>
          <p:cNvPr id="41" name="Rectangle 40">
            <a:extLst xmlns:a="http://schemas.openxmlformats.org/drawingml/2006/main">
              <a:ext uri="{FF2B5EF4-FFF2-40B4-BE49-F238E27FC236}">
                <a16:creationId xmlns:a16="http://schemas.microsoft.com/office/drawing/2014/main" id="{658E5C71-9C9E-4061-915E-2728161543EF}"/>
              </a:ext>
            </a:extLst>
          </p:cNvPr>
          <p:cNvSpPr>
            <a:spLocks xmlns:a="http://schemas.openxmlformats.org/drawingml/2006/main" noGrp="1"/>
          </p:cNvSpPr>
          <p:nvPr/>
        </p:nvSpPr>
        <p:spPr>
          <a:xfrm xmlns:a="http://schemas.openxmlformats.org/drawingml/2006/main">
            <a:off x="2200275" y="3086100"/>
            <a:ext cx="228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75" b="1" i="0">
                <a:solidFill>
                  <a:srgbClr val="111111"/>
                </a:solidFill>
                <a:latin typeface="Arial"/>
                <a:ea typeface="Arial"/>
                <a:cs typeface="Arial"/>
              </a:defRPr>
            </a:pPr>
            <a:r>
              <a:rPr sz="975" b="1" i="0">
                <a:solidFill>
                  <a:srgbClr val="111111"/>
                </a:solidFill>
                <a:latin typeface="Arial"/>
                <a:ea typeface="Arial"/>
                <a:cs typeface="Arial"/>
              </a:rPr>
              <a:t>...</a:t>
            </a:r>
          </a:p>
        </p:txBody>
      </p:sp>
      <p:sp>
        <p:nvSpPr>
          <p:cNvPr id="42" name="Rounded Rectangle 41">
            <a:extLst xmlns:a="http://schemas.openxmlformats.org/drawingml/2006/main">
              <a:ext uri="{FF2B5EF4-FFF2-40B4-BE49-F238E27FC236}">
                <a16:creationId xmlns:a16="http://schemas.microsoft.com/office/drawing/2014/main" id="{9AF061C4-51C1-4B67-874B-9B8A7F95CA58}"/>
              </a:ext>
            </a:extLst>
          </p:cNvPr>
          <p:cNvSpPr>
            <a:spLocks xmlns:a="http://schemas.openxmlformats.org/drawingml/2006/main" noGrp="1"/>
          </p:cNvSpPr>
          <p:nvPr/>
        </p:nvSpPr>
        <p:spPr>
          <a:xfrm xmlns:a="http://schemas.openxmlformats.org/drawingml/2006/main">
            <a:off x="2543175" y="3048000"/>
            <a:ext cx="285750" cy="295275"/>
          </a:xfrm>
          <a:prstGeom xmlns:a="http://schemas.openxmlformats.org/drawingml/2006/main" prst="roundRect">
            <a:avLst>
              <a:gd name="adj" fmla="val 13333"/>
            </a:avLst>
          </a:prstGeom>
          <a:solidFill xmlns:a="http://schemas.openxmlformats.org/drawingml/2006/main">
            <a:srgbClr val="FAFAFA"/>
          </a:solidFill>
          <a:ln xmlns:a="http://schemas.openxmlformats.org/drawingml/2006/main" w="9525">
            <a:solidFill>
              <a:srgbClr val="BFC7C2"/>
            </a:solidFill>
            <a:prstDash val="solid"/>
          </a:ln>
        </p:spPr>
        <p:txBody>
          <a:bodyPr xmlns:a="http://schemas.openxmlformats.org/drawingml/2006/main"/>
          <a:lstStyle xmlns:a="http://schemas.openxmlformats.org/drawingml/2006/main"/>
          <a:p xmlns:a="http://schemas.openxmlformats.org/drawingml/2006/main">
            <a:endParaRPr/>
          </a:p>
        </p:txBody>
      </p:sp>
      <p:sp>
        <p:nvSpPr>
          <p:cNvPr id="43" name="Rectangle 42">
            <a:extLst xmlns:a="http://schemas.openxmlformats.org/drawingml/2006/main">
              <a:ext uri="{FF2B5EF4-FFF2-40B4-BE49-F238E27FC236}">
                <a16:creationId xmlns:a16="http://schemas.microsoft.com/office/drawing/2014/main" id="{28F8894D-32BD-4306-97D7-1B234700EA59}"/>
              </a:ext>
            </a:extLst>
          </p:cNvPr>
          <p:cNvSpPr>
            <a:spLocks xmlns:a="http://schemas.openxmlformats.org/drawingml/2006/main" noGrp="1"/>
          </p:cNvSpPr>
          <p:nvPr/>
        </p:nvSpPr>
        <p:spPr>
          <a:xfrm xmlns:a="http://schemas.openxmlformats.org/drawingml/2006/main">
            <a:off x="2590800" y="3114675"/>
            <a:ext cx="19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50" b="1" i="0">
                <a:solidFill>
                  <a:srgbClr val="111111"/>
                </a:solidFill>
                <a:latin typeface="Arial"/>
                <a:ea typeface="Arial"/>
                <a:cs typeface="Arial"/>
              </a:defRPr>
            </a:pPr>
            <a:r>
              <a:rPr sz="750" b="1" i="0">
                <a:solidFill>
                  <a:srgbClr val="111111"/>
                </a:solidFill>
                <a:latin typeface="Arial"/>
                <a:ea typeface="Arial"/>
                <a:cs typeface="Arial"/>
              </a:rPr>
              <a:t>VM</a:t>
            </a:r>
          </a:p>
        </p:txBody>
      </p:sp>
      <p:pic>
        <p:nvPicPr>
          <p:cNvPr id="193" name="Picture 165"/>
          <p:cNvPicPr>
            <a:picLocks xmlns:a="http://schemas.openxmlformats.org/drawingml/2006/main" noChangeAspect="1"/>
          </p:cNvPicPr>
          <p:nvPr/>
        </p:nvPicPr>
        <p:blipFill>
          <a:blip xmlns:r="http://schemas.openxmlformats.org/officeDocument/2006/relationships" xmlns:a="http://schemas.openxmlformats.org/drawingml/2006/main" r:embed="R9e47466b5bf74cd9"/>
          <a:stretch xmlns:a="http://schemas.openxmlformats.org/drawingml/2006/main"/>
        </p:blipFill>
        <p:spPr>
          <a:xfrm xmlns:a="http://schemas.openxmlformats.org/drawingml/2006/main">
            <a:off x="2862263" y="3009900"/>
            <a:ext cx="304800" cy="390525"/>
          </a:xfrm>
          <a:prstGeom xmlns:a="http://schemas.openxmlformats.org/drawingml/2006/main" prst="rect">
            <a:avLst/>
          </a:prstGeom>
        </p:spPr>
      </p:pic>
      <p:sp>
        <p:nvSpPr>
          <p:cNvPr id="45" name="Rectangle 44">
            <a:extLst xmlns:a="http://schemas.openxmlformats.org/drawingml/2006/main">
              <a:ext uri="{FF2B5EF4-FFF2-40B4-BE49-F238E27FC236}">
                <a16:creationId xmlns:a16="http://schemas.microsoft.com/office/drawing/2014/main" id="{8E4079A0-78EA-4538-BFEC-8D88FFEE4C93}"/>
              </a:ext>
            </a:extLst>
          </p:cNvPr>
          <p:cNvSpPr>
            <a:spLocks xmlns:a="http://schemas.openxmlformats.org/drawingml/2006/main" noGrp="1"/>
          </p:cNvSpPr>
          <p:nvPr/>
        </p:nvSpPr>
        <p:spPr>
          <a:xfrm xmlns:a="http://schemas.openxmlformats.org/drawingml/2006/main">
            <a:off x="1228725" y="3676650"/>
            <a:ext cx="1285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15000"/>
              </a:lnSpc>
              <a:buNone/>
              <a:defRPr sz="938" b="1" i="0">
                <a:solidFill>
                  <a:srgbClr val="00452C"/>
                </a:solidFill>
                <a:latin typeface="Arial"/>
                <a:ea typeface="Arial"/>
                <a:cs typeface="Arial"/>
              </a:defRPr>
            </a:pPr>
            <a:r>
              <a:rPr sz="938" b="1" i="0">
                <a:solidFill>
                  <a:srgbClr val="00452C"/>
                </a:solidFill>
                <a:latin typeface="Arial"/>
                <a:ea typeface="Arial"/>
                <a:cs typeface="Arial"/>
              </a:rPr>
              <a:t>Your Existing</a:t>
            </a:r>
          </a:p>
          <a:p xmlns:a="http://schemas.openxmlformats.org/drawingml/2006/main">
            <a:pPr algn="ctr">
              <a:lnSpc>
                <a:spcPct val="115000"/>
              </a:lnSpc>
              <a:buNone/>
              <a:defRPr sz="938" b="1" i="0">
                <a:solidFill>
                  <a:srgbClr val="00452C"/>
                </a:solidFill>
                <a:latin typeface="Arial"/>
                <a:ea typeface="Arial"/>
                <a:cs typeface="Arial"/>
              </a:defRPr>
            </a:pPr>
            <a:r>
              <a:rPr sz="938" b="1" i="0">
                <a:solidFill>
                  <a:srgbClr val="00452C"/>
                </a:solidFill>
                <a:latin typeface="Arial"/>
                <a:ea typeface="Arial"/>
                <a:cs typeface="Arial"/>
              </a:rPr>
              <a:t>VMware Environment</a:t>
            </a:r>
          </a:p>
        </p:txBody>
      </p:sp>
      <p:sp>
        <p:nvSpPr>
          <p:cNvPr id="46" name="Straight Connector 45">
            <a:extLst xmlns:a="http://schemas.openxmlformats.org/drawingml/2006/main">
              <a:ext uri="{FF2B5EF4-FFF2-40B4-BE49-F238E27FC236}">
                <a16:creationId xmlns:a16="http://schemas.microsoft.com/office/drawing/2014/main" id="{04B568EA-4723-4FC1-83F1-79992AC6542E}"/>
              </a:ext>
            </a:extLst>
          </p:cNvPr>
          <p:cNvSpPr>
            <a:spLocks xmlns:a="http://schemas.openxmlformats.org/drawingml/2006/main" noGrp="1"/>
          </p:cNvSpPr>
          <p:nvPr/>
        </p:nvSpPr>
        <p:spPr>
          <a:xfrm xmlns:a="http://schemas.openxmlformats.org/drawingml/2006/main">
            <a:off x="571500" y="4143375"/>
            <a:ext cx="2524125" cy="0"/>
          </a:xfrm>
          <a:prstGeom xmlns:a="http://schemas.openxmlformats.org/drawingml/2006/main" prst="line">
            <a:avLst/>
          </a:prstGeom>
          <a:noFill xmlns:a="http://schemas.openxmlformats.org/drawingml/2006/main"/>
          <a:ln xmlns:a="http://schemas.openxmlformats.org/drawingml/2006/main" w="9525">
            <a:solidFill>
              <a:srgbClr val="D7DDDA"/>
            </a:solidFill>
            <a:prstDash val="solid"/>
          </a:ln>
        </p:spPr>
        <p:txBody>
          <a:bodyPr xmlns:a="http://schemas.openxmlformats.org/drawingml/2006/main"/>
          <a:lstStyle xmlns:a="http://schemas.openxmlformats.org/drawingml/2006/main"/>
          <a:p xmlns:a="http://schemas.openxmlformats.org/drawingml/2006/main">
            <a:endParaRPr/>
          </a:p>
        </p:txBody>
      </p:sp>
      <p:pic>
        <p:nvPicPr>
          <p:cNvPr id="196" name="Picture 168"/>
          <p:cNvPicPr>
            <a:picLocks xmlns:a="http://schemas.openxmlformats.org/drawingml/2006/main" noChangeAspect="1"/>
          </p:cNvPicPr>
          <p:nvPr/>
        </p:nvPicPr>
        <p:blipFill>
          <a:blip xmlns:r="http://schemas.openxmlformats.org/officeDocument/2006/relationships" xmlns:a="http://schemas.openxmlformats.org/drawingml/2006/main" r:embed="R7c5733455ef346ad"/>
          <a:stretch xmlns:a="http://schemas.openxmlformats.org/drawingml/2006/main"/>
        </p:blipFill>
        <p:spPr>
          <a:xfrm xmlns:a="http://schemas.openxmlformats.org/drawingml/2006/main">
            <a:off x="571500" y="4336396"/>
            <a:ext cx="238125" cy="252132"/>
          </a:xfrm>
          <a:prstGeom xmlns:a="http://schemas.openxmlformats.org/drawingml/2006/main" prst="rect">
            <a:avLst/>
          </a:prstGeom>
        </p:spPr>
      </p:pic>
      <p:sp>
        <p:nvSpPr>
          <p:cNvPr id="48" name="Rectangle 47">
            <a:extLst xmlns:a="http://schemas.openxmlformats.org/drawingml/2006/main">
              <a:ext uri="{FF2B5EF4-FFF2-40B4-BE49-F238E27FC236}">
                <a16:creationId xmlns:a16="http://schemas.microsoft.com/office/drawing/2014/main" id="{4F7BB026-11C3-4BAC-81B8-7AD64051D1E3}"/>
              </a:ext>
            </a:extLst>
          </p:cNvPr>
          <p:cNvSpPr>
            <a:spLocks xmlns:a="http://schemas.openxmlformats.org/drawingml/2006/main" noGrp="1"/>
          </p:cNvSpPr>
          <p:nvPr/>
        </p:nvSpPr>
        <p:spPr>
          <a:xfrm xmlns:a="http://schemas.openxmlformats.org/drawingml/2006/main">
            <a:off x="990600" y="435292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25000"/>
              </a:lnSpc>
              <a:buNone/>
              <a:defRPr sz="930" b="0" i="0">
                <a:solidFill>
                  <a:srgbClr val="111111"/>
                </a:solidFill>
                <a:latin typeface="Arial"/>
                <a:ea typeface="Arial"/>
                <a:cs typeface="Arial"/>
              </a:defRPr>
            </a:pPr>
            <a:r>
              <a:rPr sz="930" b="0" i="0">
                <a:solidFill>
                  <a:srgbClr val="111111"/>
                </a:solidFill>
                <a:latin typeface="Arial"/>
                <a:ea typeface="Arial"/>
                <a:cs typeface="Arial"/>
              </a:rPr>
              <a:t>Production workloads</a:t>
            </a:r>
          </a:p>
        </p:txBody>
      </p:sp>
      <p:pic>
        <p:nvPicPr>
          <p:cNvPr id="198" name="Picture 170"/>
          <p:cNvPicPr>
            <a:picLocks xmlns:a="http://schemas.openxmlformats.org/drawingml/2006/main" noChangeAspect="1"/>
          </p:cNvPicPr>
          <p:nvPr/>
        </p:nvPicPr>
        <p:blipFill>
          <a:blip xmlns:r="http://schemas.openxmlformats.org/officeDocument/2006/relationships" xmlns:a="http://schemas.openxmlformats.org/drawingml/2006/main" r:embed="Rb8bf43de92174670"/>
          <a:stretch xmlns:a="http://schemas.openxmlformats.org/drawingml/2006/main"/>
        </p:blipFill>
        <p:spPr>
          <a:xfrm xmlns:a="http://schemas.openxmlformats.org/drawingml/2006/main">
            <a:off x="575511" y="4686300"/>
            <a:ext cx="230104" cy="257175"/>
          </a:xfrm>
          <a:prstGeom xmlns:a="http://schemas.openxmlformats.org/drawingml/2006/main" prst="rect">
            <a:avLst/>
          </a:prstGeom>
        </p:spPr>
      </p:pic>
      <p:sp>
        <p:nvSpPr>
          <p:cNvPr id="50" name="Rectangle 49">
            <a:extLst xmlns:a="http://schemas.openxmlformats.org/drawingml/2006/main">
              <a:ext uri="{FF2B5EF4-FFF2-40B4-BE49-F238E27FC236}">
                <a16:creationId xmlns:a16="http://schemas.microsoft.com/office/drawing/2014/main" id="{B118DDFD-CEBB-47E5-B28D-0C491C9C8859}"/>
              </a:ext>
            </a:extLst>
          </p:cNvPr>
          <p:cNvSpPr>
            <a:spLocks xmlns:a="http://schemas.openxmlformats.org/drawingml/2006/main" noGrp="1"/>
          </p:cNvSpPr>
          <p:nvPr/>
        </p:nvSpPr>
        <p:spPr>
          <a:xfrm xmlns:a="http://schemas.openxmlformats.org/drawingml/2006/main">
            <a:off x="990600" y="47053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25000"/>
              </a:lnSpc>
              <a:buNone/>
              <a:defRPr sz="930" b="0" i="0">
                <a:solidFill>
                  <a:srgbClr val="111111"/>
                </a:solidFill>
                <a:latin typeface="Arial"/>
                <a:ea typeface="Arial"/>
                <a:cs typeface="Arial"/>
              </a:defRPr>
            </a:pPr>
            <a:r>
              <a:rPr sz="930" b="0" i="0">
                <a:solidFill>
                  <a:srgbClr val="111111"/>
                </a:solidFill>
                <a:latin typeface="Arial"/>
                <a:ea typeface="Arial"/>
                <a:cs typeface="Arial"/>
              </a:rPr>
              <a:t>Business critical applications</a:t>
            </a:r>
          </a:p>
        </p:txBody>
      </p:sp>
      <p:pic>
        <p:nvPicPr>
          <p:cNvPr id="200" name="Picture 172"/>
          <p:cNvPicPr>
            <a:picLocks xmlns:a="http://schemas.openxmlformats.org/drawingml/2006/main" noChangeAspect="1"/>
          </p:cNvPicPr>
          <p:nvPr/>
        </p:nvPicPr>
        <p:blipFill>
          <a:blip xmlns:r="http://schemas.openxmlformats.org/officeDocument/2006/relationships" xmlns:a="http://schemas.openxmlformats.org/drawingml/2006/main" r:embed="R772279605928475c"/>
          <a:stretch xmlns:a="http://schemas.openxmlformats.org/drawingml/2006/main"/>
        </p:blipFill>
        <p:spPr>
          <a:xfrm xmlns:a="http://schemas.openxmlformats.org/drawingml/2006/main">
            <a:off x="571500" y="5055054"/>
            <a:ext cx="238125" cy="224518"/>
          </a:xfrm>
          <a:prstGeom xmlns:a="http://schemas.openxmlformats.org/drawingml/2006/main" prst="rect">
            <a:avLst/>
          </a:prstGeom>
        </p:spPr>
      </p:pic>
      <p:sp>
        <p:nvSpPr>
          <p:cNvPr id="52" name="Rectangle 51">
            <a:extLst xmlns:a="http://schemas.openxmlformats.org/drawingml/2006/main">
              <a:ext uri="{FF2B5EF4-FFF2-40B4-BE49-F238E27FC236}">
                <a16:creationId xmlns:a16="http://schemas.microsoft.com/office/drawing/2014/main" id="{779F4A81-C5DF-40AF-8221-94D3A421F20F}"/>
              </a:ext>
            </a:extLst>
          </p:cNvPr>
          <p:cNvSpPr>
            <a:spLocks xmlns:a="http://schemas.openxmlformats.org/drawingml/2006/main" noGrp="1"/>
          </p:cNvSpPr>
          <p:nvPr/>
        </p:nvSpPr>
        <p:spPr>
          <a:xfrm xmlns:a="http://schemas.openxmlformats.org/drawingml/2006/main">
            <a:off x="990600" y="505777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25000"/>
              </a:lnSpc>
              <a:buNone/>
              <a:defRPr sz="930" b="0" i="0">
                <a:solidFill>
                  <a:srgbClr val="111111"/>
                </a:solidFill>
                <a:latin typeface="Arial"/>
                <a:ea typeface="Arial"/>
                <a:cs typeface="Arial"/>
              </a:defRPr>
            </a:pPr>
            <a:r>
              <a:rPr sz="930" b="0" i="0">
                <a:solidFill>
                  <a:srgbClr val="111111"/>
                </a:solidFill>
                <a:latin typeface="Arial"/>
                <a:ea typeface="Arial"/>
                <a:cs typeface="Arial"/>
              </a:rPr>
              <a:t>Users &amp; business operations</a:t>
            </a:r>
          </a:p>
        </p:txBody>
      </p:sp>
      <p:pic>
        <p:nvPicPr>
          <p:cNvPr id="202" name="Picture 174"/>
          <p:cNvPicPr>
            <a:picLocks xmlns:a="http://schemas.openxmlformats.org/drawingml/2006/main" noChangeAspect="1"/>
          </p:cNvPicPr>
          <p:nvPr/>
        </p:nvPicPr>
        <p:blipFill>
          <a:blip xmlns:r="http://schemas.openxmlformats.org/officeDocument/2006/relationships" xmlns:a="http://schemas.openxmlformats.org/drawingml/2006/main" r:embed="R4bb3ddbc4e064436"/>
          <a:stretch xmlns:a="http://schemas.openxmlformats.org/drawingml/2006/main"/>
        </p:blipFill>
        <p:spPr>
          <a:xfrm xmlns:a="http://schemas.openxmlformats.org/drawingml/2006/main">
            <a:off x="572691" y="5391150"/>
            <a:ext cx="235744" cy="257175"/>
          </a:xfrm>
          <a:prstGeom xmlns:a="http://schemas.openxmlformats.org/drawingml/2006/main" prst="rect">
            <a:avLst/>
          </a:prstGeom>
        </p:spPr>
      </p:pic>
      <p:sp>
        <p:nvSpPr>
          <p:cNvPr id="54" name="Rectangle 53">
            <a:extLst xmlns:a="http://schemas.openxmlformats.org/drawingml/2006/main">
              <a:ext uri="{FF2B5EF4-FFF2-40B4-BE49-F238E27FC236}">
                <a16:creationId xmlns:a16="http://schemas.microsoft.com/office/drawing/2014/main" id="{A362E71A-14E2-418E-9A94-37E8AA78F9C8}"/>
              </a:ext>
            </a:extLst>
          </p:cNvPr>
          <p:cNvSpPr>
            <a:spLocks xmlns:a="http://schemas.openxmlformats.org/drawingml/2006/main" noGrp="1"/>
          </p:cNvSpPr>
          <p:nvPr/>
        </p:nvSpPr>
        <p:spPr>
          <a:xfrm xmlns:a="http://schemas.openxmlformats.org/drawingml/2006/main">
            <a:off x="990600" y="54102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25000"/>
              </a:lnSpc>
              <a:buNone/>
              <a:defRPr sz="930" b="0" i="0">
                <a:solidFill>
                  <a:srgbClr val="111111"/>
                </a:solidFill>
                <a:latin typeface="Arial"/>
                <a:ea typeface="Arial"/>
                <a:cs typeface="Arial"/>
              </a:defRPr>
            </a:pPr>
            <a:r>
              <a:rPr sz="930" b="0" i="0">
                <a:solidFill>
                  <a:srgbClr val="111111"/>
                </a:solidFill>
                <a:latin typeface="Arial"/>
                <a:ea typeface="Arial"/>
                <a:cs typeface="Arial"/>
              </a:rPr>
              <a:t>At risk from cost, complexity</a:t>
            </a:r>
          </a:p>
          <a:p xmlns:a="http://schemas.openxmlformats.org/drawingml/2006/main">
            <a:pPr algn="l">
              <a:lnSpc>
                <a:spcPct val="125000"/>
              </a:lnSpc>
              <a:buNone/>
              <a:defRPr sz="930" b="0" i="0">
                <a:solidFill>
                  <a:srgbClr val="111111"/>
                </a:solidFill>
                <a:latin typeface="Arial"/>
                <a:ea typeface="Arial"/>
                <a:cs typeface="Arial"/>
              </a:defRPr>
            </a:pPr>
            <a:r>
              <a:rPr sz="930" b="0" i="0">
                <a:solidFill>
                  <a:srgbClr val="111111"/>
                </a:solidFill>
                <a:latin typeface="Arial"/>
                <a:ea typeface="Arial"/>
                <a:cs typeface="Arial"/>
              </a:rPr>
              <a:t>and technical debt</a:t>
            </a:r>
          </a:p>
        </p:txBody>
      </p:sp>
      <p:sp>
        <p:nvSpPr>
          <p:cNvPr id="55" name="Rounded Rectangle 54">
            <a:extLst xmlns:a="http://schemas.openxmlformats.org/drawingml/2006/main">
              <a:ext uri="{FF2B5EF4-FFF2-40B4-BE49-F238E27FC236}">
                <a16:creationId xmlns:a16="http://schemas.microsoft.com/office/drawing/2014/main" id="{99F13FFF-0483-43C0-ABE3-C06D52700AF7}"/>
              </a:ext>
            </a:extLst>
          </p:cNvPr>
          <p:cNvSpPr>
            <a:spLocks xmlns:a="http://schemas.openxmlformats.org/drawingml/2006/main" noGrp="1"/>
          </p:cNvSpPr>
          <p:nvPr/>
        </p:nvSpPr>
        <p:spPr>
          <a:xfrm xmlns:a="http://schemas.openxmlformats.org/drawingml/2006/main">
            <a:off x="3600450" y="2409825"/>
            <a:ext cx="2752725" cy="3524250"/>
          </a:xfrm>
          <a:prstGeom xmlns:a="http://schemas.openxmlformats.org/drawingml/2006/main" prst="roundRect">
            <a:avLst>
              <a:gd name="adj" fmla="val 2768"/>
            </a:avLst>
          </a:prstGeom>
          <a:solidFill xmlns:a="http://schemas.openxmlformats.org/drawingml/2006/main">
            <a:srgbClr val="FFFFFF"/>
          </a:solidFill>
          <a:ln xmlns:a="http://schemas.openxmlformats.org/drawingml/2006/main" w="9525">
            <a:solidFill>
              <a:srgbClr val="00452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56" name="Rectangle 55">
            <a:extLst xmlns:a="http://schemas.openxmlformats.org/drawingml/2006/main">
              <a:ext uri="{FF2B5EF4-FFF2-40B4-BE49-F238E27FC236}">
                <a16:creationId xmlns:a16="http://schemas.microsoft.com/office/drawing/2014/main" id="{62041801-683C-4959-B54F-08A6699B5EEF}"/>
              </a:ext>
            </a:extLst>
          </p:cNvPr>
          <p:cNvSpPr>
            <a:spLocks xmlns:a="http://schemas.openxmlformats.org/drawingml/2006/main" noGrp="1"/>
          </p:cNvSpPr>
          <p:nvPr/>
        </p:nvSpPr>
        <p:spPr>
          <a:xfrm xmlns:a="http://schemas.openxmlformats.org/drawingml/2006/main">
            <a:off x="4362450" y="2562225"/>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38" b="1" i="0">
                <a:solidFill>
                  <a:srgbClr val="00452C"/>
                </a:solidFill>
                <a:latin typeface="Arial"/>
                <a:ea typeface="Arial"/>
                <a:cs typeface="Arial"/>
              </a:defRPr>
            </a:pPr>
            <a:r>
              <a:rPr sz="938" b="1" i="0">
                <a:solidFill>
                  <a:srgbClr val="00452C"/>
                </a:solidFill>
                <a:latin typeface="Arial"/>
                <a:ea typeface="Arial"/>
                <a:cs typeface="Arial"/>
              </a:rPr>
              <a:t>MIGRATION OPTIONS</a:t>
            </a:r>
          </a:p>
        </p:txBody>
      </p:sp>
      <p:pic>
        <p:nvPicPr>
          <p:cNvPr id="206" name="Picture 178"/>
          <p:cNvPicPr>
            <a:picLocks xmlns:a="http://schemas.openxmlformats.org/drawingml/2006/main" noChangeAspect="1"/>
          </p:cNvPicPr>
          <p:nvPr/>
        </p:nvPicPr>
        <p:blipFill>
          <a:blip xmlns:r="http://schemas.openxmlformats.org/officeDocument/2006/relationships" xmlns:a="http://schemas.openxmlformats.org/drawingml/2006/main" r:embed="Ra8fe9a0dc0294616"/>
          <a:stretch xmlns:a="http://schemas.openxmlformats.org/drawingml/2006/main"/>
        </p:blipFill>
        <p:spPr>
          <a:xfrm xmlns:a="http://schemas.openxmlformats.org/drawingml/2006/main">
            <a:off x="3990975" y="2985067"/>
            <a:ext cx="476250" cy="459241"/>
          </a:xfrm>
          <a:prstGeom xmlns:a="http://schemas.openxmlformats.org/drawingml/2006/main" prst="rect">
            <a:avLst/>
          </a:prstGeom>
        </p:spPr>
      </p:pic>
      <p:pic>
        <p:nvPicPr>
          <p:cNvPr id="207" name="Picture 179"/>
          <p:cNvPicPr>
            <a:picLocks xmlns:a="http://schemas.openxmlformats.org/drawingml/2006/main" noChangeAspect="1"/>
          </p:cNvPicPr>
          <p:nvPr/>
        </p:nvPicPr>
        <p:blipFill>
          <a:blip xmlns:r="http://schemas.openxmlformats.org/officeDocument/2006/relationships" xmlns:a="http://schemas.openxmlformats.org/drawingml/2006/main" r:embed="R9b581b54a27b4465"/>
          <a:stretch xmlns:a="http://schemas.openxmlformats.org/drawingml/2006/main"/>
        </p:blipFill>
        <p:spPr>
          <a:xfrm xmlns:a="http://schemas.openxmlformats.org/drawingml/2006/main">
            <a:off x="5529453" y="2943225"/>
            <a:ext cx="485394" cy="495300"/>
          </a:xfrm>
          <a:prstGeom xmlns:a="http://schemas.openxmlformats.org/drawingml/2006/main" prst="rect">
            <a:avLst/>
          </a:prstGeom>
        </p:spPr>
      </p:pic>
      <p:sp>
        <p:nvSpPr>
          <p:cNvPr id="59" name="Straight Connector 58">
            <a:extLst xmlns:a="http://schemas.openxmlformats.org/drawingml/2006/main">
              <a:ext uri="{FF2B5EF4-FFF2-40B4-BE49-F238E27FC236}">
                <a16:creationId xmlns:a16="http://schemas.microsoft.com/office/drawing/2014/main" id="{D60F1B7C-8223-47D7-B12D-E287D5518C37}"/>
              </a:ext>
            </a:extLst>
          </p:cNvPr>
          <p:cNvSpPr>
            <a:spLocks xmlns:a="http://schemas.openxmlformats.org/drawingml/2006/main" noGrp="1"/>
          </p:cNvSpPr>
          <p:nvPr/>
        </p:nvSpPr>
        <p:spPr>
          <a:xfrm xmlns:a="http://schemas.openxmlformats.org/drawingml/2006/main">
            <a:off x="4953000" y="2981325"/>
            <a:ext cx="0" cy="1333500"/>
          </a:xfrm>
          <a:prstGeom xmlns:a="http://schemas.openxmlformats.org/drawingml/2006/main" prst="line">
            <a:avLst/>
          </a:prstGeom>
          <a:noFill xmlns:a="http://schemas.openxmlformats.org/drawingml/2006/main"/>
          <a:ln xmlns:a="http://schemas.openxmlformats.org/drawingml/2006/main" w="9525">
            <a:solidFill>
              <a:srgbClr val="D7DDDA"/>
            </a:solidFill>
            <a:prstDash val="solid"/>
          </a:ln>
        </p:spPr>
        <p:txBody>
          <a:bodyPr xmlns:a="http://schemas.openxmlformats.org/drawingml/2006/main"/>
          <a:lstStyle xmlns:a="http://schemas.openxmlformats.org/drawingml/2006/main"/>
          <a:p xmlns:a="http://schemas.openxmlformats.org/drawingml/2006/main">
            <a:endParaRPr/>
          </a:p>
        </p:txBody>
      </p:sp>
      <p:sp>
        <p:nvSpPr>
          <p:cNvPr id="60" name="Oval 59">
            <a:extLst xmlns:a="http://schemas.openxmlformats.org/drawingml/2006/main">
              <a:ext uri="{FF2B5EF4-FFF2-40B4-BE49-F238E27FC236}">
                <a16:creationId xmlns:a16="http://schemas.microsoft.com/office/drawing/2014/main" id="{50CA0750-338A-44F1-B2FD-387311731D2E}"/>
              </a:ext>
            </a:extLst>
          </p:cNvPr>
          <p:cNvSpPr>
            <a:spLocks xmlns:a="http://schemas.openxmlformats.org/drawingml/2006/main" noGrp="1"/>
          </p:cNvSpPr>
          <p:nvPr/>
        </p:nvSpPr>
        <p:spPr>
          <a:xfrm xmlns:a="http://schemas.openxmlformats.org/drawingml/2006/main">
            <a:off x="4838700" y="3524250"/>
            <a:ext cx="323850" cy="323850"/>
          </a:xfrm>
          <a:prstGeom xmlns:a="http://schemas.openxmlformats.org/drawingml/2006/main" prst="ellipse">
            <a:avLst/>
          </a:prstGeom>
          <a:solidFill xmlns:a="http://schemas.openxmlformats.org/drawingml/2006/main">
            <a:srgbClr val="F8FAF8"/>
          </a:solidFill>
          <a:ln xmlns:a="http://schemas.openxmlformats.org/drawingml/2006/main" w="9525">
            <a:solidFill>
              <a:srgbClr val="00452C"/>
            </a:solidFill>
            <a:prstDash val="solid"/>
          </a:ln>
        </p:spPr>
        <p:txBody>
          <a:bodyPr xmlns:a="http://schemas.openxmlformats.org/drawingml/2006/main"/>
          <a:lstStyle xmlns:a="http://schemas.openxmlformats.org/drawingml/2006/main"/>
          <a:p xmlns:a="http://schemas.openxmlformats.org/drawingml/2006/main">
            <a:endParaRPr/>
          </a:p>
        </p:txBody>
      </p:sp>
      <p:sp>
        <p:nvSpPr>
          <p:cNvPr id="61" name="Rectangle 60">
            <a:extLst xmlns:a="http://schemas.openxmlformats.org/drawingml/2006/main">
              <a:ext uri="{FF2B5EF4-FFF2-40B4-BE49-F238E27FC236}">
                <a16:creationId xmlns:a16="http://schemas.microsoft.com/office/drawing/2014/main" id="{3964A9D2-C493-4599-9BE4-4AE288BF66FF}"/>
              </a:ext>
            </a:extLst>
          </p:cNvPr>
          <p:cNvSpPr>
            <a:spLocks xmlns:a="http://schemas.openxmlformats.org/drawingml/2006/main" noGrp="1"/>
          </p:cNvSpPr>
          <p:nvPr/>
        </p:nvSpPr>
        <p:spPr>
          <a:xfrm xmlns:a="http://schemas.openxmlformats.org/drawingml/2006/main">
            <a:off x="4905375" y="3629025"/>
            <a:ext cx="1905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13" b="1" i="0">
                <a:solidFill>
                  <a:srgbClr val="00452C"/>
                </a:solidFill>
                <a:latin typeface="Arial"/>
                <a:ea typeface="Arial"/>
                <a:cs typeface="Arial"/>
              </a:defRPr>
            </a:pPr>
            <a:r>
              <a:rPr sz="713" b="1" i="0">
                <a:solidFill>
                  <a:srgbClr val="00452C"/>
                </a:solidFill>
                <a:latin typeface="Arial"/>
                <a:ea typeface="Arial"/>
                <a:cs typeface="Arial"/>
              </a:rPr>
              <a:t>OR</a:t>
            </a:r>
          </a:p>
        </p:txBody>
      </p:sp>
      <p:sp>
        <p:nvSpPr>
          <p:cNvPr id="62" name="Rectangle 61">
            <a:extLst xmlns:a="http://schemas.openxmlformats.org/drawingml/2006/main">
              <a:ext uri="{FF2B5EF4-FFF2-40B4-BE49-F238E27FC236}">
                <a16:creationId xmlns:a16="http://schemas.microsoft.com/office/drawing/2014/main" id="{6DA05511-C2C6-4661-B64C-B1AAEB80747D}"/>
              </a:ext>
            </a:extLst>
          </p:cNvPr>
          <p:cNvSpPr>
            <a:spLocks xmlns:a="http://schemas.openxmlformats.org/drawingml/2006/main" noGrp="1"/>
          </p:cNvSpPr>
          <p:nvPr/>
        </p:nvSpPr>
        <p:spPr>
          <a:xfrm xmlns:a="http://schemas.openxmlformats.org/drawingml/2006/main">
            <a:off x="3943350" y="3524250"/>
            <a:ext cx="8286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15000"/>
              </a:lnSpc>
              <a:buNone/>
              <a:defRPr sz="900" b="1" i="0">
                <a:solidFill>
                  <a:srgbClr val="00452C"/>
                </a:solidFill>
                <a:latin typeface="Arial"/>
                <a:ea typeface="Arial"/>
                <a:cs typeface="Arial"/>
              </a:defRPr>
            </a:pPr>
            <a:r>
              <a:rPr sz="900" b="1" i="0">
                <a:solidFill>
                  <a:srgbClr val="00452C"/>
                </a:solidFill>
                <a:latin typeface="Arial"/>
                <a:ea typeface="Arial"/>
                <a:cs typeface="Arial"/>
              </a:rPr>
              <a:t>Oracle Cloud</a:t>
            </a:r>
          </a:p>
          <a:p xmlns:a="http://schemas.openxmlformats.org/drawingml/2006/main">
            <a:pPr algn="ctr">
              <a:lnSpc>
                <a:spcPct val="115000"/>
              </a:lnSpc>
              <a:buNone/>
              <a:defRPr sz="900" b="1" i="0">
                <a:solidFill>
                  <a:srgbClr val="00452C"/>
                </a:solidFill>
                <a:latin typeface="Arial"/>
                <a:ea typeface="Arial"/>
                <a:cs typeface="Arial"/>
              </a:defRPr>
            </a:pPr>
            <a:r>
              <a:rPr sz="900" b="1" i="0">
                <a:solidFill>
                  <a:srgbClr val="00452C"/>
                </a:solidFill>
                <a:latin typeface="Arial"/>
                <a:ea typeface="Arial"/>
                <a:cs typeface="Arial"/>
              </a:rPr>
              <a:t>Migrations (OCM)</a:t>
            </a:r>
          </a:p>
        </p:txBody>
      </p:sp>
      <p:sp>
        <p:nvSpPr>
          <p:cNvPr id="63" name="Rectangle 62">
            <a:extLst xmlns:a="http://schemas.openxmlformats.org/drawingml/2006/main">
              <a:ext uri="{FF2B5EF4-FFF2-40B4-BE49-F238E27FC236}">
                <a16:creationId xmlns:a16="http://schemas.microsoft.com/office/drawing/2014/main" id="{E89EF101-F91C-46F6-B3D2-057AD9CAEF50}"/>
              </a:ext>
            </a:extLst>
          </p:cNvPr>
          <p:cNvSpPr>
            <a:spLocks xmlns:a="http://schemas.openxmlformats.org/drawingml/2006/main" noGrp="1"/>
          </p:cNvSpPr>
          <p:nvPr/>
        </p:nvSpPr>
        <p:spPr>
          <a:xfrm xmlns:a="http://schemas.openxmlformats.org/drawingml/2006/main">
            <a:off x="3876675" y="3962400"/>
            <a:ext cx="95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25000"/>
              </a:lnSpc>
              <a:buNone/>
              <a:defRPr sz="757" b="0" i="0">
                <a:solidFill>
                  <a:srgbClr val="111111"/>
                </a:solidFill>
                <a:latin typeface="Arial"/>
                <a:ea typeface="Arial"/>
                <a:cs typeface="Arial"/>
              </a:defRPr>
            </a:pPr>
            <a:r>
              <a:rPr sz="757" b="0" i="0">
                <a:solidFill>
                  <a:srgbClr val="111111"/>
                </a:solidFill>
                <a:latin typeface="Arial"/>
                <a:ea typeface="Arial"/>
                <a:cs typeface="Arial"/>
              </a:rPr>
              <a:t>Oracle-managed</a:t>
            </a:r>
          </a:p>
          <a:p xmlns:a="http://schemas.openxmlformats.org/drawingml/2006/main">
            <a:pPr algn="ctr">
              <a:lnSpc>
                <a:spcPct val="125000"/>
              </a:lnSpc>
              <a:buNone/>
              <a:defRPr sz="757" b="0" i="0">
                <a:solidFill>
                  <a:srgbClr val="111111"/>
                </a:solidFill>
                <a:latin typeface="Arial"/>
                <a:ea typeface="Arial"/>
                <a:cs typeface="Arial"/>
              </a:defRPr>
            </a:pPr>
            <a:r>
              <a:rPr sz="757" b="0" i="0">
                <a:solidFill>
                  <a:srgbClr val="111111"/>
                </a:solidFill>
                <a:latin typeface="Arial"/>
                <a:ea typeface="Arial"/>
                <a:cs typeface="Arial"/>
              </a:rPr>
              <a:t>migration services</a:t>
            </a:r>
          </a:p>
          <a:p xmlns:a="http://schemas.openxmlformats.org/drawingml/2006/main">
            <a:pPr algn="ctr">
              <a:lnSpc>
                <a:spcPct val="125000"/>
              </a:lnSpc>
              <a:buNone/>
              <a:defRPr sz="757" b="0" i="0">
                <a:solidFill>
                  <a:srgbClr val="111111"/>
                </a:solidFill>
                <a:latin typeface="Arial"/>
                <a:ea typeface="Arial"/>
                <a:cs typeface="Arial"/>
              </a:defRPr>
            </a:pPr>
            <a:r>
              <a:rPr sz="757" b="0" i="0">
                <a:solidFill>
                  <a:srgbClr val="111111"/>
                </a:solidFill>
                <a:latin typeface="Arial"/>
                <a:ea typeface="Arial"/>
                <a:cs typeface="Arial"/>
              </a:rPr>
              <a:t>for VMware workloads.</a:t>
            </a:r>
          </a:p>
        </p:txBody>
      </p:sp>
      <p:sp>
        <p:nvSpPr>
          <p:cNvPr id="64" name="Rectangle 63">
            <a:extLst xmlns:a="http://schemas.openxmlformats.org/drawingml/2006/main">
              <a:ext uri="{FF2B5EF4-FFF2-40B4-BE49-F238E27FC236}">
                <a16:creationId xmlns:a16="http://schemas.microsoft.com/office/drawing/2014/main" id="{BC2A775D-A9FF-4F69-AD8E-524368D73579}"/>
              </a:ext>
            </a:extLst>
          </p:cNvPr>
          <p:cNvSpPr>
            <a:spLocks xmlns:a="http://schemas.openxmlformats.org/drawingml/2006/main" noGrp="1"/>
          </p:cNvSpPr>
          <p:nvPr/>
        </p:nvSpPr>
        <p:spPr>
          <a:xfrm xmlns:a="http://schemas.openxmlformats.org/drawingml/2006/main">
            <a:off x="5429250" y="3524250"/>
            <a:ext cx="9239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15000"/>
              </a:lnSpc>
              <a:buNone/>
              <a:defRPr sz="900" b="1" i="0">
                <a:solidFill>
                  <a:srgbClr val="00452C"/>
                </a:solidFill>
                <a:latin typeface="Arial"/>
                <a:ea typeface="Arial"/>
                <a:cs typeface="Arial"/>
              </a:defRPr>
            </a:pPr>
            <a:r>
              <a:rPr sz="900" b="1" i="0">
                <a:solidFill>
                  <a:srgbClr val="00452C"/>
                </a:solidFill>
                <a:latin typeface="Arial"/>
                <a:ea typeface="Arial"/>
                <a:cs typeface="Arial"/>
              </a:rPr>
              <a:t>Third-Party</a:t>
            </a:r>
          </a:p>
          <a:p xmlns:a="http://schemas.openxmlformats.org/drawingml/2006/main">
            <a:pPr algn="ctr">
              <a:lnSpc>
                <a:spcPct val="115000"/>
              </a:lnSpc>
              <a:buNone/>
              <a:defRPr sz="900" b="1" i="0">
                <a:solidFill>
                  <a:srgbClr val="00452C"/>
                </a:solidFill>
                <a:latin typeface="Arial"/>
                <a:ea typeface="Arial"/>
                <a:cs typeface="Arial"/>
              </a:defRPr>
            </a:pPr>
            <a:r>
              <a:rPr sz="900" b="1" i="0">
                <a:solidFill>
                  <a:srgbClr val="00452C"/>
                </a:solidFill>
                <a:latin typeface="Arial"/>
                <a:ea typeface="Arial"/>
                <a:cs typeface="Arial"/>
              </a:rPr>
              <a:t>Migration Tools</a:t>
            </a:r>
          </a:p>
        </p:txBody>
      </p:sp>
      <p:sp>
        <p:nvSpPr>
          <p:cNvPr id="65" name="Rectangle 64">
            <a:extLst xmlns:a="http://schemas.openxmlformats.org/drawingml/2006/main">
              <a:ext uri="{FF2B5EF4-FFF2-40B4-BE49-F238E27FC236}">
                <a16:creationId xmlns:a16="http://schemas.microsoft.com/office/drawing/2014/main" id="{4B9D8D2F-BE2F-4179-87CC-B2D8AAA3B56E}"/>
              </a:ext>
            </a:extLst>
          </p:cNvPr>
          <p:cNvSpPr>
            <a:spLocks xmlns:a="http://schemas.openxmlformats.org/drawingml/2006/main" noGrp="1"/>
          </p:cNvSpPr>
          <p:nvPr/>
        </p:nvSpPr>
        <p:spPr>
          <a:xfrm xmlns:a="http://schemas.openxmlformats.org/drawingml/2006/main">
            <a:off x="5257800" y="3962400"/>
            <a:ext cx="1066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25000"/>
              </a:lnSpc>
              <a:buNone/>
              <a:defRPr sz="757" b="0" i="0">
                <a:solidFill>
                  <a:srgbClr val="111111"/>
                </a:solidFill>
                <a:latin typeface="Arial"/>
                <a:ea typeface="Arial"/>
                <a:cs typeface="Arial"/>
              </a:defRPr>
            </a:pPr>
            <a:r>
              <a:rPr sz="757" b="0" i="0">
                <a:solidFill>
                  <a:srgbClr val="111111"/>
                </a:solidFill>
                <a:latin typeface="Arial"/>
                <a:ea typeface="Arial"/>
                <a:cs typeface="Arial"/>
              </a:rPr>
              <a:t>Partner and ecosystem</a:t>
            </a:r>
          </a:p>
          <a:p xmlns:a="http://schemas.openxmlformats.org/drawingml/2006/main">
            <a:pPr algn="ctr">
              <a:lnSpc>
                <a:spcPct val="125000"/>
              </a:lnSpc>
              <a:buNone/>
              <a:defRPr sz="757" b="0" i="0">
                <a:solidFill>
                  <a:srgbClr val="111111"/>
                </a:solidFill>
                <a:latin typeface="Arial"/>
                <a:ea typeface="Arial"/>
                <a:cs typeface="Arial"/>
              </a:defRPr>
            </a:pPr>
            <a:r>
              <a:rPr sz="757" b="0" i="0">
                <a:solidFill>
                  <a:srgbClr val="111111"/>
                </a:solidFill>
                <a:latin typeface="Arial"/>
                <a:ea typeface="Arial"/>
                <a:cs typeface="Arial"/>
              </a:rPr>
              <a:t>migration tools for</a:t>
            </a:r>
          </a:p>
          <a:p xmlns:a="http://schemas.openxmlformats.org/drawingml/2006/main">
            <a:pPr algn="ctr">
              <a:lnSpc>
                <a:spcPct val="125000"/>
              </a:lnSpc>
              <a:buNone/>
              <a:defRPr sz="757" b="0" i="0">
                <a:solidFill>
                  <a:srgbClr val="111111"/>
                </a:solidFill>
                <a:latin typeface="Arial"/>
                <a:ea typeface="Arial"/>
                <a:cs typeface="Arial"/>
              </a:defRPr>
            </a:pPr>
            <a:r>
              <a:rPr sz="757" b="0" i="0">
                <a:solidFill>
                  <a:srgbClr val="111111"/>
                </a:solidFill>
                <a:latin typeface="Arial"/>
                <a:ea typeface="Arial"/>
                <a:cs typeface="Arial"/>
              </a:rPr>
              <a:t>specialized workloads.</a:t>
            </a:r>
          </a:p>
        </p:txBody>
      </p:sp>
      <p:sp>
        <p:nvSpPr>
          <p:cNvPr id="66" name="Straight Connector 65">
            <a:extLst xmlns:a="http://schemas.openxmlformats.org/drawingml/2006/main">
              <a:ext uri="{FF2B5EF4-FFF2-40B4-BE49-F238E27FC236}">
                <a16:creationId xmlns:a16="http://schemas.microsoft.com/office/drawing/2014/main" id="{335EAA7E-20D5-40A2-8C61-B325331E81DA}"/>
              </a:ext>
            </a:extLst>
          </p:cNvPr>
          <p:cNvSpPr>
            <a:spLocks xmlns:a="http://schemas.openxmlformats.org/drawingml/2006/main" noGrp="1"/>
          </p:cNvSpPr>
          <p:nvPr/>
        </p:nvSpPr>
        <p:spPr>
          <a:xfrm xmlns:a="http://schemas.openxmlformats.org/drawingml/2006/main">
            <a:off x="3695700" y="4638675"/>
            <a:ext cx="2524125" cy="0"/>
          </a:xfrm>
          <a:prstGeom xmlns:a="http://schemas.openxmlformats.org/drawingml/2006/main" prst="line">
            <a:avLst/>
          </a:prstGeom>
          <a:noFill xmlns:a="http://schemas.openxmlformats.org/drawingml/2006/main"/>
          <a:ln xmlns:a="http://schemas.openxmlformats.org/drawingml/2006/main" w="9525">
            <a:solidFill>
              <a:srgbClr val="D7DDDA"/>
            </a:solidFill>
            <a:prstDash val="solid"/>
          </a:ln>
        </p:spPr>
        <p:txBody>
          <a:bodyPr xmlns:a="http://schemas.openxmlformats.org/drawingml/2006/main"/>
          <a:lstStyle xmlns:a="http://schemas.openxmlformats.org/drawingml/2006/main"/>
          <a:p xmlns:a="http://schemas.openxmlformats.org/drawingml/2006/main">
            <a:endParaRPr/>
          </a:p>
        </p:txBody>
      </p:sp>
      <p:sp>
        <p:nvSpPr>
          <p:cNvPr id="67" name="Rectangle 66">
            <a:extLst xmlns:a="http://schemas.openxmlformats.org/drawingml/2006/main">
              <a:ext uri="{FF2B5EF4-FFF2-40B4-BE49-F238E27FC236}">
                <a16:creationId xmlns:a16="http://schemas.microsoft.com/office/drawing/2014/main" id="{3635B714-0522-49BE-AE9B-63F537BB6105}"/>
              </a:ext>
            </a:extLst>
          </p:cNvPr>
          <p:cNvSpPr>
            <a:spLocks xmlns:a="http://schemas.openxmlformats.org/drawingml/2006/main" noGrp="1"/>
          </p:cNvSpPr>
          <p:nvPr/>
        </p:nvSpPr>
        <p:spPr>
          <a:xfrm xmlns:a="http://schemas.openxmlformats.org/drawingml/2006/main">
            <a:off x="4343400" y="481012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00452C"/>
                </a:solidFill>
                <a:latin typeface="Arial"/>
                <a:ea typeface="Arial"/>
                <a:cs typeface="Arial"/>
              </a:defRPr>
            </a:pPr>
            <a:r>
              <a:rPr sz="900" b="1" i="0">
                <a:solidFill>
                  <a:srgbClr val="00452C"/>
                </a:solidFill>
                <a:latin typeface="Arial"/>
                <a:ea typeface="Arial"/>
                <a:cs typeface="Arial"/>
              </a:rPr>
              <a:t>CONNECTIVITY OPTIONS</a:t>
            </a:r>
          </a:p>
        </p:txBody>
      </p:sp>
      <p:pic>
        <p:nvPicPr>
          <p:cNvPr id="217" name="Picture 189"/>
          <p:cNvPicPr>
            <a:picLocks xmlns:a="http://schemas.openxmlformats.org/drawingml/2006/main" noChangeAspect="1"/>
          </p:cNvPicPr>
          <p:nvPr/>
        </p:nvPicPr>
        <p:blipFill>
          <a:blip xmlns:r="http://schemas.openxmlformats.org/officeDocument/2006/relationships" xmlns:a="http://schemas.openxmlformats.org/drawingml/2006/main" r:embed="R16db86b30e8947d8"/>
          <a:stretch xmlns:a="http://schemas.openxmlformats.org/drawingml/2006/main"/>
        </p:blipFill>
        <p:spPr>
          <a:xfrm xmlns:a="http://schemas.openxmlformats.org/drawingml/2006/main">
            <a:off x="3947319" y="5057775"/>
            <a:ext cx="420688" cy="428625"/>
          </a:xfrm>
          <a:prstGeom xmlns:a="http://schemas.openxmlformats.org/drawingml/2006/main" prst="rect">
            <a:avLst/>
          </a:prstGeom>
        </p:spPr>
      </p:pic>
      <p:sp>
        <p:nvSpPr>
          <p:cNvPr id="69" name="Rectangle 68">
            <a:extLst xmlns:a="http://schemas.openxmlformats.org/drawingml/2006/main">
              <a:ext uri="{FF2B5EF4-FFF2-40B4-BE49-F238E27FC236}">
                <a16:creationId xmlns:a16="http://schemas.microsoft.com/office/drawing/2014/main" id="{FBCF0B19-F90A-407C-9640-9A549FA60728}"/>
              </a:ext>
            </a:extLst>
          </p:cNvPr>
          <p:cNvSpPr>
            <a:spLocks xmlns:a="http://schemas.openxmlformats.org/drawingml/2006/main" noGrp="1"/>
          </p:cNvSpPr>
          <p:nvPr/>
        </p:nvSpPr>
        <p:spPr>
          <a:xfrm xmlns:a="http://schemas.openxmlformats.org/drawingml/2006/main">
            <a:off x="3886200" y="5543550"/>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88" b="1" i="0">
                <a:solidFill>
                  <a:srgbClr val="111111"/>
                </a:solidFill>
                <a:latin typeface="Arial"/>
                <a:ea typeface="Arial"/>
                <a:cs typeface="Arial"/>
              </a:defRPr>
            </a:pPr>
            <a:r>
              <a:rPr sz="788" b="1" i="0">
                <a:solidFill>
                  <a:srgbClr val="111111"/>
                </a:solidFill>
                <a:latin typeface="Arial"/>
                <a:ea typeface="Arial"/>
                <a:cs typeface="Arial"/>
              </a:rPr>
              <a:t>Internet</a:t>
            </a:r>
          </a:p>
        </p:txBody>
      </p:sp>
      <p:pic>
        <p:nvPicPr>
          <p:cNvPr id="219" name="Picture 191"/>
          <p:cNvPicPr>
            <a:picLocks xmlns:a="http://schemas.openxmlformats.org/drawingml/2006/main" noChangeAspect="1"/>
          </p:cNvPicPr>
          <p:nvPr/>
        </p:nvPicPr>
        <p:blipFill>
          <a:blip xmlns:r="http://schemas.openxmlformats.org/officeDocument/2006/relationships" xmlns:a="http://schemas.openxmlformats.org/drawingml/2006/main" r:embed="R3990cd334c97465a"/>
          <a:stretch xmlns:a="http://schemas.openxmlformats.org/drawingml/2006/main"/>
        </p:blipFill>
        <p:spPr>
          <a:xfrm xmlns:a="http://schemas.openxmlformats.org/drawingml/2006/main">
            <a:off x="4875213" y="5057775"/>
            <a:ext cx="412750" cy="428625"/>
          </a:xfrm>
          <a:prstGeom xmlns:a="http://schemas.openxmlformats.org/drawingml/2006/main" prst="rect">
            <a:avLst/>
          </a:prstGeom>
        </p:spPr>
      </p:pic>
      <p:sp>
        <p:nvSpPr>
          <p:cNvPr id="71" name="Rectangle 70">
            <a:extLst xmlns:a="http://schemas.openxmlformats.org/drawingml/2006/main">
              <a:ext uri="{FF2B5EF4-FFF2-40B4-BE49-F238E27FC236}">
                <a16:creationId xmlns:a16="http://schemas.microsoft.com/office/drawing/2014/main" id="{D81E57CF-241D-48F1-A3ED-B3AD6891C4B5}"/>
              </a:ext>
            </a:extLst>
          </p:cNvPr>
          <p:cNvSpPr>
            <a:spLocks xmlns:a="http://schemas.openxmlformats.org/drawingml/2006/main" noGrp="1"/>
          </p:cNvSpPr>
          <p:nvPr/>
        </p:nvSpPr>
        <p:spPr>
          <a:xfrm xmlns:a="http://schemas.openxmlformats.org/drawingml/2006/main">
            <a:off x="4810125" y="5543550"/>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88" b="1" i="0">
                <a:solidFill>
                  <a:srgbClr val="111111"/>
                </a:solidFill>
                <a:latin typeface="Arial"/>
                <a:ea typeface="Arial"/>
                <a:cs typeface="Arial"/>
              </a:defRPr>
            </a:pPr>
            <a:r>
              <a:rPr sz="788" b="1" i="0">
                <a:solidFill>
                  <a:srgbClr val="111111"/>
                </a:solidFill>
                <a:latin typeface="Arial"/>
                <a:ea typeface="Arial"/>
                <a:cs typeface="Arial"/>
              </a:rPr>
              <a:t>VPN</a:t>
            </a:r>
          </a:p>
        </p:txBody>
      </p:sp>
      <p:pic>
        <p:nvPicPr>
          <p:cNvPr id="221" name="Picture 193"/>
          <p:cNvPicPr>
            <a:picLocks xmlns:a="http://schemas.openxmlformats.org/drawingml/2006/main" noChangeAspect="1"/>
          </p:cNvPicPr>
          <p:nvPr/>
        </p:nvPicPr>
        <p:blipFill>
          <a:blip xmlns:r="http://schemas.openxmlformats.org/officeDocument/2006/relationships" xmlns:a="http://schemas.openxmlformats.org/drawingml/2006/main" r:embed="R62aacaf416044864"/>
          <a:stretch xmlns:a="http://schemas.openxmlformats.org/drawingml/2006/main"/>
        </p:blipFill>
        <p:spPr>
          <a:xfrm xmlns:a="http://schemas.openxmlformats.org/drawingml/2006/main">
            <a:off x="5791200" y="5057775"/>
            <a:ext cx="428625" cy="428625"/>
          </a:xfrm>
          <a:prstGeom xmlns:a="http://schemas.openxmlformats.org/drawingml/2006/main" prst="rect">
            <a:avLst/>
          </a:prstGeom>
        </p:spPr>
      </p:pic>
      <p:sp>
        <p:nvSpPr>
          <p:cNvPr id="73" name="Rectangle 72">
            <a:extLst xmlns:a="http://schemas.openxmlformats.org/drawingml/2006/main">
              <a:ext uri="{FF2B5EF4-FFF2-40B4-BE49-F238E27FC236}">
                <a16:creationId xmlns:a16="http://schemas.microsoft.com/office/drawing/2014/main" id="{88CC04C6-F0B7-4BBF-8827-23A35A675F8F}"/>
              </a:ext>
            </a:extLst>
          </p:cNvPr>
          <p:cNvSpPr>
            <a:spLocks xmlns:a="http://schemas.openxmlformats.org/drawingml/2006/main" noGrp="1"/>
          </p:cNvSpPr>
          <p:nvPr/>
        </p:nvSpPr>
        <p:spPr>
          <a:xfrm xmlns:a="http://schemas.openxmlformats.org/drawingml/2006/main">
            <a:off x="5734050" y="5543550"/>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88" b="1" i="0">
                <a:solidFill>
                  <a:srgbClr val="111111"/>
                </a:solidFill>
                <a:latin typeface="Arial"/>
                <a:ea typeface="Arial"/>
                <a:cs typeface="Arial"/>
              </a:defRPr>
            </a:pPr>
            <a:r>
              <a:rPr sz="788" b="1" i="0">
                <a:solidFill>
                  <a:srgbClr val="111111"/>
                </a:solidFill>
                <a:latin typeface="Arial"/>
                <a:ea typeface="Arial"/>
                <a:cs typeface="Arial"/>
              </a:rPr>
              <a:t>FastConnect</a:t>
            </a:r>
          </a:p>
        </p:txBody>
      </p:sp>
      <p:sp>
        <p:nvSpPr>
          <p:cNvPr id="74" name="Right Arrow 73">
            <a:extLst xmlns:a="http://schemas.openxmlformats.org/drawingml/2006/main">
              <a:ext uri="{FF2B5EF4-FFF2-40B4-BE49-F238E27FC236}">
                <a16:creationId xmlns:a16="http://schemas.microsoft.com/office/drawing/2014/main" id="{2B54E790-7F12-4AFF-826A-06DCCFBE6738}"/>
              </a:ext>
            </a:extLst>
          </p:cNvPr>
          <p:cNvSpPr>
            <a:spLocks xmlns:a="http://schemas.openxmlformats.org/drawingml/2006/main" noGrp="1"/>
          </p:cNvSpPr>
          <p:nvPr/>
        </p:nvSpPr>
        <p:spPr>
          <a:xfrm xmlns:a="http://schemas.openxmlformats.org/drawingml/2006/main">
            <a:off x="3295650" y="3733800"/>
            <a:ext cx="285750" cy="342900"/>
          </a:xfrm>
          <a:prstGeom xmlns:a="http://schemas.openxmlformats.org/drawingml/2006/main" prst="rightArrow">
            <a:avLst/>
          </a:prstGeom>
          <a:solidFill xmlns:a="http://schemas.openxmlformats.org/drawingml/2006/main">
            <a:srgbClr val="00452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5" name="Right Arrow 74">
            <a:extLst xmlns:a="http://schemas.openxmlformats.org/drawingml/2006/main">
              <a:ext uri="{FF2B5EF4-FFF2-40B4-BE49-F238E27FC236}">
                <a16:creationId xmlns:a16="http://schemas.microsoft.com/office/drawing/2014/main" id="{FE1DB7C6-E23A-4593-9C06-40FE71DCBF53}"/>
              </a:ext>
            </a:extLst>
          </p:cNvPr>
          <p:cNvSpPr>
            <a:spLocks xmlns:a="http://schemas.openxmlformats.org/drawingml/2006/main" noGrp="1"/>
          </p:cNvSpPr>
          <p:nvPr/>
        </p:nvSpPr>
        <p:spPr>
          <a:xfrm xmlns:a="http://schemas.openxmlformats.org/drawingml/2006/main">
            <a:off x="6343650" y="3733800"/>
            <a:ext cx="285750" cy="342900"/>
          </a:xfrm>
          <a:prstGeom xmlns:a="http://schemas.openxmlformats.org/drawingml/2006/main" prst="rightArrow">
            <a:avLst/>
          </a:prstGeom>
          <a:solidFill xmlns:a="http://schemas.openxmlformats.org/drawingml/2006/main">
            <a:srgbClr val="00452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6" name="Rounded Rectangle 75">
            <a:extLst xmlns:a="http://schemas.openxmlformats.org/drawingml/2006/main">
              <a:ext uri="{FF2B5EF4-FFF2-40B4-BE49-F238E27FC236}">
                <a16:creationId xmlns:a16="http://schemas.microsoft.com/office/drawing/2014/main" id="{D8E971FD-5372-4D74-B9D1-83FFBE364E66}"/>
              </a:ext>
            </a:extLst>
          </p:cNvPr>
          <p:cNvSpPr>
            <a:spLocks xmlns:a="http://schemas.openxmlformats.org/drawingml/2006/main" noGrp="1"/>
          </p:cNvSpPr>
          <p:nvPr/>
        </p:nvSpPr>
        <p:spPr>
          <a:xfrm xmlns:a="http://schemas.openxmlformats.org/drawingml/2006/main">
            <a:off x="6572250" y="2409825"/>
            <a:ext cx="3171825" cy="3524250"/>
          </a:xfrm>
          <a:prstGeom xmlns:a="http://schemas.openxmlformats.org/drawingml/2006/main" prst="roundRect">
            <a:avLst>
              <a:gd name="adj" fmla="val 2402"/>
            </a:avLst>
          </a:prstGeom>
          <a:solidFill xmlns:a="http://schemas.openxmlformats.org/drawingml/2006/main">
            <a:srgbClr val="FFFFFF"/>
          </a:solidFill>
          <a:ln xmlns:a="http://schemas.openxmlformats.org/drawingml/2006/main" w="11430">
            <a:solidFill>
              <a:srgbClr val="E30613"/>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77" name="Rounded Rectangle 76">
            <a:extLst xmlns:a="http://schemas.openxmlformats.org/drawingml/2006/main">
              <a:ext uri="{FF2B5EF4-FFF2-40B4-BE49-F238E27FC236}">
                <a16:creationId xmlns:a16="http://schemas.microsoft.com/office/drawing/2014/main" id="{9B8881F4-85A9-4D42-8A77-28433C89F371}"/>
              </a:ext>
            </a:extLst>
          </p:cNvPr>
          <p:cNvSpPr>
            <a:spLocks xmlns:a="http://schemas.openxmlformats.org/drawingml/2006/main" noGrp="1"/>
          </p:cNvSpPr>
          <p:nvPr/>
        </p:nvSpPr>
        <p:spPr>
          <a:xfrm xmlns:a="http://schemas.openxmlformats.org/drawingml/2006/main">
            <a:off x="6572250" y="2409825"/>
            <a:ext cx="3171825" cy="304800"/>
          </a:xfrm>
          <a:prstGeom xmlns:a="http://schemas.openxmlformats.org/drawingml/2006/main" prst="roundRect">
            <a:avLst>
              <a:gd name="adj" fmla="val 25000"/>
            </a:avLst>
          </a:prstGeom>
          <a:gradFill xmlns:a="http://schemas.openxmlformats.org/drawingml/2006/main">
            <a:gsLst>
              <a:gs pos="0">
                <a:srgbClr val="C60000"/>
              </a:gs>
              <a:gs pos="100000">
                <a:srgbClr val="F00000"/>
              </a:gs>
            </a:gsLst>
            <a:lin ang="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8" name="Rectangle 77">
            <a:extLst xmlns:a="http://schemas.openxmlformats.org/drawingml/2006/main">
              <a:ext uri="{FF2B5EF4-FFF2-40B4-BE49-F238E27FC236}">
                <a16:creationId xmlns:a16="http://schemas.microsoft.com/office/drawing/2014/main" id="{D13034AC-2118-45A2-A947-88B49EFB984E}"/>
              </a:ext>
            </a:extLst>
          </p:cNvPr>
          <p:cNvSpPr>
            <a:spLocks xmlns:a="http://schemas.openxmlformats.org/drawingml/2006/main" noGrp="1"/>
          </p:cNvSpPr>
          <p:nvPr/>
        </p:nvSpPr>
        <p:spPr>
          <a:xfrm xmlns:a="http://schemas.openxmlformats.org/drawingml/2006/main">
            <a:off x="6572250" y="2657475"/>
            <a:ext cx="3171825" cy="66675"/>
          </a:xfrm>
          <a:prstGeom xmlns:a="http://schemas.openxmlformats.org/drawingml/2006/main" prst="rect">
            <a:avLst/>
          </a:prstGeom>
          <a:solidFill xmlns:a="http://schemas.openxmlformats.org/drawingml/2006/main">
            <a:srgbClr val="E5000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9" name="Rectangle 78">
            <a:extLst xmlns:a="http://schemas.openxmlformats.org/drawingml/2006/main">
              <a:ext uri="{FF2B5EF4-FFF2-40B4-BE49-F238E27FC236}">
                <a16:creationId xmlns:a16="http://schemas.microsoft.com/office/drawing/2014/main" id="{85A1CB4C-32EE-4563-B980-28BD59EA63B9}"/>
              </a:ext>
            </a:extLst>
          </p:cNvPr>
          <p:cNvSpPr>
            <a:spLocks xmlns:a="http://schemas.openxmlformats.org/drawingml/2006/main" noGrp="1"/>
          </p:cNvSpPr>
          <p:nvPr/>
        </p:nvSpPr>
        <p:spPr>
          <a:xfrm xmlns:a="http://schemas.openxmlformats.org/drawingml/2006/main">
            <a:off x="7029450" y="2524125"/>
            <a:ext cx="2333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38" b="1" i="0">
                <a:solidFill>
                  <a:srgbClr val="FFFFFF"/>
                </a:solidFill>
                <a:latin typeface="Arial"/>
                <a:ea typeface="Arial"/>
                <a:cs typeface="Arial"/>
              </a:defRPr>
            </a:pPr>
            <a:r>
              <a:rPr sz="938" b="1" i="0">
                <a:solidFill>
                  <a:srgbClr val="FFFFFF"/>
                </a:solidFill>
                <a:latin typeface="Arial"/>
                <a:ea typeface="Arial"/>
                <a:cs typeface="Arial"/>
              </a:rPr>
              <a:t>OCI COMPUTE TARGET ENVIRONMENT</a:t>
            </a:r>
          </a:p>
        </p:txBody>
      </p:sp>
      <p:sp>
        <p:nvSpPr>
          <p:cNvPr id="80" name="Rectangle 79">
            <a:extLst xmlns:a="http://schemas.openxmlformats.org/drawingml/2006/main">
              <a:ext uri="{FF2B5EF4-FFF2-40B4-BE49-F238E27FC236}">
                <a16:creationId xmlns:a16="http://schemas.microsoft.com/office/drawing/2014/main" id="{F8A3ECB7-3EDB-4A5B-BAA1-24D0785CE88B}"/>
              </a:ext>
            </a:extLst>
          </p:cNvPr>
          <p:cNvSpPr>
            <a:spLocks xmlns:a="http://schemas.openxmlformats.org/drawingml/2006/main" noGrp="1"/>
          </p:cNvSpPr>
          <p:nvPr/>
        </p:nvSpPr>
        <p:spPr>
          <a:xfrm xmlns:a="http://schemas.openxmlformats.org/drawingml/2006/main">
            <a:off x="7791450" y="3067050"/>
            <a:ext cx="904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38" b="1" i="0">
                <a:solidFill>
                  <a:srgbClr val="E30613"/>
                </a:solidFill>
                <a:latin typeface="Arial"/>
                <a:ea typeface="Arial"/>
                <a:cs typeface="Arial"/>
              </a:defRPr>
            </a:pPr>
            <a:r>
              <a:rPr sz="938" b="1" i="0">
                <a:solidFill>
                  <a:srgbClr val="E30613"/>
                </a:solidFill>
                <a:latin typeface="Arial"/>
                <a:ea typeface="Arial"/>
                <a:cs typeface="Arial"/>
              </a:rPr>
              <a:t>OCI REGION</a:t>
            </a:r>
          </a:p>
        </p:txBody>
      </p:sp>
      <p:sp>
        <p:nvSpPr>
          <p:cNvPr id="81" name="Rounded Rectangle 80">
            <a:extLst xmlns:a="http://schemas.openxmlformats.org/drawingml/2006/main">
              <a:ext uri="{FF2B5EF4-FFF2-40B4-BE49-F238E27FC236}">
                <a16:creationId xmlns:a16="http://schemas.microsoft.com/office/drawing/2014/main" id="{1D0A3214-2D6F-4A93-AD28-9616B4756A0F}"/>
              </a:ext>
            </a:extLst>
          </p:cNvPr>
          <p:cNvSpPr>
            <a:spLocks xmlns:a="http://schemas.openxmlformats.org/drawingml/2006/main" noGrp="1"/>
          </p:cNvSpPr>
          <p:nvPr/>
        </p:nvSpPr>
        <p:spPr>
          <a:xfrm xmlns:a="http://schemas.openxmlformats.org/drawingml/2006/main">
            <a:off x="6724650" y="3486150"/>
            <a:ext cx="2876550" cy="1343025"/>
          </a:xfrm>
          <a:prstGeom xmlns:a="http://schemas.openxmlformats.org/drawingml/2006/main" prst="roundRect">
            <a:avLst>
              <a:gd name="adj" fmla="val 5674"/>
            </a:avLst>
          </a:prstGeom>
          <a:solidFill xmlns:a="http://schemas.openxmlformats.org/drawingml/2006/main">
            <a:srgbClr val="FFFFFF"/>
          </a:solidFill>
          <a:ln xmlns:a="http://schemas.openxmlformats.org/drawingml/2006/main" w="9525">
            <a:solidFill>
              <a:srgbClr val="E30613"/>
            </a:solidFill>
            <a:prstDash val="solid"/>
          </a:ln>
        </p:spPr>
        <p:txBody>
          <a:bodyPr xmlns:a="http://schemas.openxmlformats.org/drawingml/2006/main"/>
          <a:lstStyle xmlns:a="http://schemas.openxmlformats.org/drawingml/2006/main"/>
          <a:p xmlns:a="http://schemas.openxmlformats.org/drawingml/2006/main">
            <a:endParaRPr/>
          </a:p>
        </p:txBody>
      </p:sp>
      <p:pic>
        <p:nvPicPr>
          <p:cNvPr id="231" name="Picture 203"/>
          <p:cNvPicPr>
            <a:picLocks xmlns:a="http://schemas.openxmlformats.org/drawingml/2006/main" noChangeAspect="1"/>
          </p:cNvPicPr>
          <p:nvPr/>
        </p:nvPicPr>
        <p:blipFill>
          <a:blip xmlns:r="http://schemas.openxmlformats.org/officeDocument/2006/relationships" xmlns:a="http://schemas.openxmlformats.org/drawingml/2006/main" r:embed="Rdff83f8f60594e6e"/>
          <a:stretch xmlns:a="http://schemas.openxmlformats.org/drawingml/2006/main"/>
        </p:blipFill>
        <p:spPr>
          <a:xfrm xmlns:a="http://schemas.openxmlformats.org/drawingml/2006/main">
            <a:off x="7000875" y="3762375"/>
            <a:ext cx="390525" cy="381000"/>
          </a:xfrm>
          <a:prstGeom xmlns:a="http://schemas.openxmlformats.org/drawingml/2006/main" prst="rect">
            <a:avLst/>
          </a:prstGeom>
        </p:spPr>
      </p:pic>
      <p:pic>
        <p:nvPicPr>
          <p:cNvPr id="232" name="Picture 204"/>
          <p:cNvPicPr>
            <a:picLocks xmlns:a="http://schemas.openxmlformats.org/drawingml/2006/main" noChangeAspect="1"/>
          </p:cNvPicPr>
          <p:nvPr/>
        </p:nvPicPr>
        <p:blipFill>
          <a:blip xmlns:r="http://schemas.openxmlformats.org/officeDocument/2006/relationships" xmlns:a="http://schemas.openxmlformats.org/drawingml/2006/main" r:embed="Rcefb5b3e8778471d"/>
          <a:stretch xmlns:a="http://schemas.openxmlformats.org/drawingml/2006/main"/>
        </p:blipFill>
        <p:spPr>
          <a:xfrm xmlns:a="http://schemas.openxmlformats.org/drawingml/2006/main">
            <a:off x="8072438" y="3714750"/>
            <a:ext cx="419100" cy="428625"/>
          </a:xfrm>
          <a:prstGeom xmlns:a="http://schemas.openxmlformats.org/drawingml/2006/main" prst="rect">
            <a:avLst/>
          </a:prstGeom>
        </p:spPr>
      </p:pic>
      <p:pic>
        <p:nvPicPr>
          <p:cNvPr id="233" name="Picture 205"/>
          <p:cNvPicPr>
            <a:picLocks xmlns:a="http://schemas.openxmlformats.org/drawingml/2006/main" noChangeAspect="1"/>
          </p:cNvPicPr>
          <p:nvPr/>
        </p:nvPicPr>
        <p:blipFill>
          <a:blip xmlns:r="http://schemas.openxmlformats.org/officeDocument/2006/relationships" xmlns:a="http://schemas.openxmlformats.org/drawingml/2006/main" r:embed="Ra7c1bc1f47654d6c"/>
          <a:stretch xmlns:a="http://schemas.openxmlformats.org/drawingml/2006/main"/>
        </p:blipFill>
        <p:spPr>
          <a:xfrm xmlns:a="http://schemas.openxmlformats.org/drawingml/2006/main">
            <a:off x="9072021" y="3724275"/>
            <a:ext cx="363032" cy="409575"/>
          </a:xfrm>
          <a:prstGeom xmlns:a="http://schemas.openxmlformats.org/drawingml/2006/main" prst="rect">
            <a:avLst/>
          </a:prstGeom>
        </p:spPr>
      </p:pic>
      <p:sp>
        <p:nvSpPr>
          <p:cNvPr id="85" name="Straight Connector 84">
            <a:extLst xmlns:a="http://schemas.openxmlformats.org/drawingml/2006/main">
              <a:ext uri="{FF2B5EF4-FFF2-40B4-BE49-F238E27FC236}">
                <a16:creationId xmlns:a16="http://schemas.microsoft.com/office/drawing/2014/main" id="{53782B8D-571D-4B07-9781-FCA77DE0FDB1}"/>
              </a:ext>
            </a:extLst>
          </p:cNvPr>
          <p:cNvSpPr>
            <a:spLocks xmlns:a="http://schemas.openxmlformats.org/drawingml/2006/main" noGrp="1"/>
          </p:cNvSpPr>
          <p:nvPr/>
        </p:nvSpPr>
        <p:spPr>
          <a:xfrm xmlns:a="http://schemas.openxmlformats.org/drawingml/2006/main">
            <a:off x="7648575" y="3762375"/>
            <a:ext cx="0" cy="790575"/>
          </a:xfrm>
          <a:prstGeom xmlns:a="http://schemas.openxmlformats.org/drawingml/2006/main" prst="line">
            <a:avLst/>
          </a:prstGeom>
          <a:noFill xmlns:a="http://schemas.openxmlformats.org/drawingml/2006/main"/>
          <a:ln xmlns:a="http://schemas.openxmlformats.org/drawingml/2006/main" w="9525">
            <a:solidFill>
              <a:srgbClr val="D7DDDA"/>
            </a:solidFill>
            <a:prstDash val="solid"/>
          </a:ln>
        </p:spPr>
        <p:txBody>
          <a:bodyPr xmlns:a="http://schemas.openxmlformats.org/drawingml/2006/main"/>
          <a:lstStyle xmlns:a="http://schemas.openxmlformats.org/drawingml/2006/main"/>
          <a:p xmlns:a="http://schemas.openxmlformats.org/drawingml/2006/main">
            <a:endParaRPr/>
          </a:p>
        </p:txBody>
      </p:sp>
      <p:sp>
        <p:nvSpPr>
          <p:cNvPr id="86" name="Straight Connector 85">
            <a:extLst xmlns:a="http://schemas.openxmlformats.org/drawingml/2006/main">
              <a:ext uri="{FF2B5EF4-FFF2-40B4-BE49-F238E27FC236}">
                <a16:creationId xmlns:a16="http://schemas.microsoft.com/office/drawing/2014/main" id="{6D5A3EE8-6AE5-4F43-8CCB-2FD6894A9C5F}"/>
              </a:ext>
            </a:extLst>
          </p:cNvPr>
          <p:cNvSpPr>
            <a:spLocks xmlns:a="http://schemas.openxmlformats.org/drawingml/2006/main" noGrp="1"/>
          </p:cNvSpPr>
          <p:nvPr/>
        </p:nvSpPr>
        <p:spPr>
          <a:xfrm xmlns:a="http://schemas.openxmlformats.org/drawingml/2006/main">
            <a:off x="8686800" y="3762375"/>
            <a:ext cx="0" cy="790575"/>
          </a:xfrm>
          <a:prstGeom xmlns:a="http://schemas.openxmlformats.org/drawingml/2006/main" prst="line">
            <a:avLst/>
          </a:prstGeom>
          <a:noFill xmlns:a="http://schemas.openxmlformats.org/drawingml/2006/main"/>
          <a:ln xmlns:a="http://schemas.openxmlformats.org/drawingml/2006/main" w="9525">
            <a:solidFill>
              <a:srgbClr val="D7DDDA"/>
            </a:solidFill>
            <a:prstDash val="solid"/>
          </a:ln>
        </p:spPr>
        <p:txBody>
          <a:bodyPr xmlns:a="http://schemas.openxmlformats.org/drawingml/2006/main"/>
          <a:lstStyle xmlns:a="http://schemas.openxmlformats.org/drawingml/2006/main"/>
          <a:p xmlns:a="http://schemas.openxmlformats.org/drawingml/2006/main">
            <a:endParaRPr/>
          </a:p>
        </p:txBody>
      </p:sp>
      <p:sp>
        <p:nvSpPr>
          <p:cNvPr id="87" name="Rectangle 86">
            <a:extLst xmlns:a="http://schemas.openxmlformats.org/drawingml/2006/main">
              <a:ext uri="{FF2B5EF4-FFF2-40B4-BE49-F238E27FC236}">
                <a16:creationId xmlns:a16="http://schemas.microsoft.com/office/drawing/2014/main" id="{AEBA9731-B300-47CD-995B-96D12CF67565}"/>
              </a:ext>
            </a:extLst>
          </p:cNvPr>
          <p:cNvSpPr>
            <a:spLocks xmlns:a="http://schemas.openxmlformats.org/drawingml/2006/main" noGrp="1"/>
          </p:cNvSpPr>
          <p:nvPr/>
        </p:nvSpPr>
        <p:spPr>
          <a:xfrm xmlns:a="http://schemas.openxmlformats.org/drawingml/2006/main">
            <a:off x="6867525" y="4276725"/>
            <a:ext cx="742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15000"/>
              </a:lnSpc>
              <a:buNone/>
              <a:defRPr sz="757" b="0" i="0">
                <a:solidFill>
                  <a:srgbClr val="111111"/>
                </a:solidFill>
                <a:latin typeface="Arial"/>
                <a:ea typeface="Arial"/>
                <a:cs typeface="Arial"/>
              </a:defRPr>
            </a:pPr>
            <a:r>
              <a:rPr sz="757" b="0" i="0">
                <a:solidFill>
                  <a:srgbClr val="111111"/>
                </a:solidFill>
                <a:latin typeface="Arial"/>
                <a:ea typeface="Arial"/>
                <a:cs typeface="Arial"/>
              </a:rPr>
              <a:t>Virtual Cloud</a:t>
            </a:r>
          </a:p>
          <a:p xmlns:a="http://schemas.openxmlformats.org/drawingml/2006/main">
            <a:pPr algn="ctr">
              <a:lnSpc>
                <a:spcPct val="115000"/>
              </a:lnSpc>
              <a:buNone/>
              <a:defRPr sz="757" b="0" i="0">
                <a:solidFill>
                  <a:srgbClr val="111111"/>
                </a:solidFill>
                <a:latin typeface="Arial"/>
                <a:ea typeface="Arial"/>
                <a:cs typeface="Arial"/>
              </a:defRPr>
            </a:pPr>
            <a:r>
              <a:rPr sz="757" b="0" i="0">
                <a:solidFill>
                  <a:srgbClr val="111111"/>
                </a:solidFill>
                <a:latin typeface="Arial"/>
                <a:ea typeface="Arial"/>
                <a:cs typeface="Arial"/>
              </a:rPr>
              <a:t>Network (VCN)</a:t>
            </a:r>
          </a:p>
        </p:txBody>
      </p:sp>
      <p:sp>
        <p:nvSpPr>
          <p:cNvPr id="88" name="Rectangle 87">
            <a:extLst xmlns:a="http://schemas.openxmlformats.org/drawingml/2006/main">
              <a:ext uri="{FF2B5EF4-FFF2-40B4-BE49-F238E27FC236}">
                <a16:creationId xmlns:a16="http://schemas.microsoft.com/office/drawing/2014/main" id="{41FBB636-1B39-4C59-AD6F-2CD49D6838D0}"/>
              </a:ext>
            </a:extLst>
          </p:cNvPr>
          <p:cNvSpPr>
            <a:spLocks xmlns:a="http://schemas.openxmlformats.org/drawingml/2006/main" noGrp="1"/>
          </p:cNvSpPr>
          <p:nvPr/>
        </p:nvSpPr>
        <p:spPr>
          <a:xfrm xmlns:a="http://schemas.openxmlformats.org/drawingml/2006/main">
            <a:off x="7877175" y="4276725"/>
            <a:ext cx="8191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15000"/>
              </a:lnSpc>
              <a:buNone/>
              <a:defRPr sz="757" b="0" i="0">
                <a:solidFill>
                  <a:srgbClr val="111111"/>
                </a:solidFill>
                <a:latin typeface="Arial"/>
                <a:ea typeface="Arial"/>
                <a:cs typeface="Arial"/>
              </a:defRPr>
            </a:pPr>
            <a:r>
              <a:rPr sz="757" b="0" i="0">
                <a:solidFill>
                  <a:srgbClr val="111111"/>
                </a:solidFill>
                <a:latin typeface="Arial"/>
                <a:ea typeface="Arial"/>
                <a:cs typeface="Arial"/>
              </a:rPr>
              <a:t>Compute Instances</a:t>
            </a:r>
          </a:p>
          <a:p xmlns:a="http://schemas.openxmlformats.org/drawingml/2006/main">
            <a:pPr algn="ctr">
              <a:lnSpc>
                <a:spcPct val="115000"/>
              </a:lnSpc>
              <a:buNone/>
              <a:defRPr sz="757" b="0" i="0">
                <a:solidFill>
                  <a:srgbClr val="111111"/>
                </a:solidFill>
                <a:latin typeface="Arial"/>
                <a:ea typeface="Arial"/>
                <a:cs typeface="Arial"/>
              </a:defRPr>
            </a:pPr>
            <a:r>
              <a:rPr sz="757" b="0" i="0">
                <a:solidFill>
                  <a:srgbClr val="111111"/>
                </a:solidFill>
                <a:latin typeface="Arial"/>
                <a:ea typeface="Arial"/>
                <a:cs typeface="Arial"/>
              </a:rPr>
              <a:t>(Flex Shapes)</a:t>
            </a:r>
          </a:p>
        </p:txBody>
      </p:sp>
      <p:sp>
        <p:nvSpPr>
          <p:cNvPr id="89" name="Rectangle 88">
            <a:extLst xmlns:a="http://schemas.openxmlformats.org/drawingml/2006/main">
              <a:ext uri="{FF2B5EF4-FFF2-40B4-BE49-F238E27FC236}">
                <a16:creationId xmlns:a16="http://schemas.microsoft.com/office/drawing/2014/main" id="{F79C58D5-44F2-446E-AE6E-5A56478D8D39}"/>
              </a:ext>
            </a:extLst>
          </p:cNvPr>
          <p:cNvSpPr>
            <a:spLocks xmlns:a="http://schemas.openxmlformats.org/drawingml/2006/main" noGrp="1"/>
          </p:cNvSpPr>
          <p:nvPr/>
        </p:nvSpPr>
        <p:spPr>
          <a:xfrm xmlns:a="http://schemas.openxmlformats.org/drawingml/2006/main">
            <a:off x="8905875" y="4276725"/>
            <a:ext cx="7239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15000"/>
              </a:lnSpc>
              <a:buNone/>
              <a:defRPr sz="757" b="0" i="0">
                <a:solidFill>
                  <a:srgbClr val="111111"/>
                </a:solidFill>
                <a:latin typeface="Arial"/>
                <a:ea typeface="Arial"/>
                <a:cs typeface="Arial"/>
              </a:defRPr>
            </a:pPr>
            <a:r>
              <a:rPr sz="757" b="0" i="0">
                <a:solidFill>
                  <a:srgbClr val="111111"/>
                </a:solidFill>
                <a:latin typeface="Arial"/>
                <a:ea typeface="Arial"/>
                <a:cs typeface="Arial"/>
              </a:rPr>
              <a:t>OCI Block</a:t>
            </a:r>
          </a:p>
          <a:p xmlns:a="http://schemas.openxmlformats.org/drawingml/2006/main">
            <a:pPr algn="ctr">
              <a:lnSpc>
                <a:spcPct val="115000"/>
              </a:lnSpc>
              <a:buNone/>
              <a:defRPr sz="757" b="0" i="0">
                <a:solidFill>
                  <a:srgbClr val="111111"/>
                </a:solidFill>
                <a:latin typeface="Arial"/>
                <a:ea typeface="Arial"/>
                <a:cs typeface="Arial"/>
              </a:defRPr>
            </a:pPr>
            <a:r>
              <a:rPr sz="757" b="0" i="0">
                <a:solidFill>
                  <a:srgbClr val="111111"/>
                </a:solidFill>
                <a:latin typeface="Arial"/>
                <a:ea typeface="Arial"/>
                <a:cs typeface="Arial"/>
              </a:rPr>
              <a:t>Volumes</a:t>
            </a:r>
          </a:p>
        </p:txBody>
      </p:sp>
      <p:sp>
        <p:nvSpPr>
          <p:cNvPr id="90" name="Rounded Rectangle 89">
            <a:extLst xmlns:a="http://schemas.openxmlformats.org/drawingml/2006/main">
              <a:ext uri="{FF2B5EF4-FFF2-40B4-BE49-F238E27FC236}">
                <a16:creationId xmlns:a16="http://schemas.microsoft.com/office/drawing/2014/main" id="{BDACEB6B-C8A1-46D0-BD55-6E821AA637E9}"/>
              </a:ext>
            </a:extLst>
          </p:cNvPr>
          <p:cNvSpPr>
            <a:spLocks xmlns:a="http://schemas.openxmlformats.org/drawingml/2006/main" noGrp="1"/>
          </p:cNvSpPr>
          <p:nvPr/>
        </p:nvSpPr>
        <p:spPr>
          <a:xfrm xmlns:a="http://schemas.openxmlformats.org/drawingml/2006/main">
            <a:off x="6724650" y="5143500"/>
            <a:ext cx="2876550" cy="485775"/>
          </a:xfrm>
          <a:prstGeom xmlns:a="http://schemas.openxmlformats.org/drawingml/2006/main" prst="roundRect">
            <a:avLst>
              <a:gd name="adj" fmla="val 15686"/>
            </a:avLst>
          </a:prstGeom>
          <a:solidFill xmlns:a="http://schemas.openxmlformats.org/drawingml/2006/main">
            <a:srgbClr val="FDEEE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240" name="Picture 212"/>
          <p:cNvPicPr>
            <a:picLocks xmlns:a="http://schemas.openxmlformats.org/drawingml/2006/main" noChangeAspect="1"/>
          </p:cNvPicPr>
          <p:nvPr/>
        </p:nvPicPr>
        <p:blipFill>
          <a:blip xmlns:r="http://schemas.openxmlformats.org/officeDocument/2006/relationships" xmlns:a="http://schemas.openxmlformats.org/drawingml/2006/main" r:embed="R049773069de14ea2"/>
          <a:stretch xmlns:a="http://schemas.openxmlformats.org/drawingml/2006/main"/>
        </p:blipFill>
        <p:spPr>
          <a:xfrm xmlns:a="http://schemas.openxmlformats.org/drawingml/2006/main">
            <a:off x="6896100" y="5219700"/>
            <a:ext cx="323850" cy="323850"/>
          </a:xfrm>
          <a:prstGeom xmlns:a="http://schemas.openxmlformats.org/drawingml/2006/main" prst="rect">
            <a:avLst/>
          </a:prstGeom>
        </p:spPr>
      </p:pic>
      <p:sp>
        <p:nvSpPr>
          <p:cNvPr id="92" name="Rectangle 91">
            <a:extLst xmlns:a="http://schemas.openxmlformats.org/drawingml/2006/main">
              <a:ext uri="{FF2B5EF4-FFF2-40B4-BE49-F238E27FC236}">
                <a16:creationId xmlns:a16="http://schemas.microsoft.com/office/drawing/2014/main" id="{426A9FF3-0B4D-4A04-984A-68BE296DBD0F}"/>
              </a:ext>
            </a:extLst>
          </p:cNvPr>
          <p:cNvSpPr>
            <a:spLocks xmlns:a="http://schemas.openxmlformats.org/drawingml/2006/main" noGrp="1"/>
          </p:cNvSpPr>
          <p:nvPr/>
        </p:nvSpPr>
        <p:spPr>
          <a:xfrm xmlns:a="http://schemas.openxmlformats.org/drawingml/2006/main">
            <a:off x="7296150" y="5286375"/>
            <a:ext cx="2095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20000"/>
              </a:lnSpc>
              <a:buNone/>
              <a:defRPr sz="848" b="1" i="0">
                <a:solidFill>
                  <a:srgbClr val="111111"/>
                </a:solidFill>
                <a:latin typeface="Arial"/>
                <a:ea typeface="Arial"/>
                <a:cs typeface="Arial"/>
              </a:defRPr>
            </a:pPr>
            <a:r>
              <a:rPr sz="848" b="1" i="0">
                <a:solidFill>
                  <a:srgbClr val="111111"/>
                </a:solidFill>
                <a:latin typeface="Arial"/>
                <a:ea typeface="Arial"/>
                <a:cs typeface="Arial"/>
              </a:rPr>
              <a:t>Secure, scalable and highly available</a:t>
            </a:r>
          </a:p>
          <a:p xmlns:a="http://schemas.openxmlformats.org/drawingml/2006/main">
            <a:pPr algn="l">
              <a:lnSpc>
                <a:spcPct val="120000"/>
              </a:lnSpc>
              <a:buNone/>
              <a:defRPr sz="848" b="1" i="0">
                <a:solidFill>
                  <a:srgbClr val="111111"/>
                </a:solidFill>
                <a:latin typeface="Arial"/>
                <a:ea typeface="Arial"/>
                <a:cs typeface="Arial"/>
              </a:defRPr>
            </a:pPr>
            <a:r>
              <a:rPr sz="848" b="1" i="0">
                <a:solidFill>
                  <a:srgbClr val="111111"/>
                </a:solidFill>
                <a:latin typeface="Arial"/>
                <a:ea typeface="Arial"/>
                <a:cs typeface="Arial"/>
              </a:rPr>
              <a:t>cloud infrastructure on OCI.</a:t>
            </a:r>
          </a:p>
        </p:txBody>
      </p:sp>
      <p:sp>
        <p:nvSpPr>
          <p:cNvPr id="93" name="Straight Connector 92">
            <a:extLst xmlns:a="http://schemas.openxmlformats.org/drawingml/2006/main">
              <a:ext uri="{FF2B5EF4-FFF2-40B4-BE49-F238E27FC236}">
                <a16:creationId xmlns:a16="http://schemas.microsoft.com/office/drawing/2014/main" id="{8062D03E-2FCE-4404-8A29-08570A9063F5}"/>
              </a:ext>
            </a:extLst>
          </p:cNvPr>
          <p:cNvSpPr>
            <a:spLocks xmlns:a="http://schemas.openxmlformats.org/drawingml/2006/main" noGrp="1"/>
          </p:cNvSpPr>
          <p:nvPr/>
        </p:nvSpPr>
        <p:spPr>
          <a:xfrm xmlns:a="http://schemas.openxmlformats.org/drawingml/2006/main">
            <a:off x="9953625" y="1409700"/>
            <a:ext cx="0" cy="4619625"/>
          </a:xfrm>
          <a:prstGeom xmlns:a="http://schemas.openxmlformats.org/drawingml/2006/main" prst="line">
            <a:avLst/>
          </a:prstGeom>
          <a:noFill xmlns:a="http://schemas.openxmlformats.org/drawingml/2006/main"/>
          <a:ln xmlns:a="http://schemas.openxmlformats.org/drawingml/2006/main" w="9525">
            <a:solidFill>
              <a:srgbClr val="C5CBC8"/>
            </a:solidFill>
            <a:prstDash val="solid"/>
          </a:ln>
        </p:spPr>
        <p:txBody>
          <a:bodyPr xmlns:a="http://schemas.openxmlformats.org/drawingml/2006/main"/>
          <a:lstStyle xmlns:a="http://schemas.openxmlformats.org/drawingml/2006/main"/>
          <a:p xmlns:a="http://schemas.openxmlformats.org/drawingml/2006/main">
            <a:endParaRPr/>
          </a:p>
        </p:txBody>
      </p:sp>
      <p:sp>
        <p:nvSpPr>
          <p:cNvPr id="94" name="Rectangle 93">
            <a:extLst xmlns:a="http://schemas.openxmlformats.org/drawingml/2006/main">
              <a:ext uri="{FF2B5EF4-FFF2-40B4-BE49-F238E27FC236}">
                <a16:creationId xmlns:a16="http://schemas.microsoft.com/office/drawing/2014/main" id="{90DB68CE-EF25-4E6E-8FA3-88F0A208ABB0}"/>
              </a:ext>
            </a:extLst>
          </p:cNvPr>
          <p:cNvSpPr>
            <a:spLocks xmlns:a="http://schemas.openxmlformats.org/drawingml/2006/main" noGrp="1"/>
          </p:cNvSpPr>
          <p:nvPr/>
        </p:nvSpPr>
        <p:spPr>
          <a:xfrm xmlns:a="http://schemas.openxmlformats.org/drawingml/2006/main">
            <a:off x="10134600" y="14382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90" b="1" i="0">
                <a:solidFill>
                  <a:srgbClr val="00452C"/>
                </a:solidFill>
                <a:latin typeface="Arial"/>
                <a:ea typeface="Arial"/>
                <a:cs typeface="Arial"/>
              </a:defRPr>
            </a:pPr>
            <a:r>
              <a:rPr sz="990" b="1" i="0">
                <a:solidFill>
                  <a:srgbClr val="00452C"/>
                </a:solidFill>
                <a:latin typeface="Arial"/>
                <a:ea typeface="Arial"/>
                <a:cs typeface="Arial"/>
              </a:rPr>
              <a:t>BUSINESS OUTCOMES</a:t>
            </a:r>
          </a:p>
        </p:txBody>
      </p:sp>
      <p:sp>
        <p:nvSpPr>
          <p:cNvPr id="95" name="Straight Connector 94">
            <a:extLst xmlns:a="http://schemas.openxmlformats.org/drawingml/2006/main">
              <a:ext uri="{FF2B5EF4-FFF2-40B4-BE49-F238E27FC236}">
                <a16:creationId xmlns:a16="http://schemas.microsoft.com/office/drawing/2014/main" id="{36038A14-6200-4447-BB79-C099811EB70B}"/>
              </a:ext>
            </a:extLst>
          </p:cNvPr>
          <p:cNvSpPr>
            <a:spLocks xmlns:a="http://schemas.openxmlformats.org/drawingml/2006/main" noGrp="1"/>
          </p:cNvSpPr>
          <p:nvPr/>
        </p:nvSpPr>
        <p:spPr>
          <a:xfrm xmlns:a="http://schemas.openxmlformats.org/drawingml/2006/main">
            <a:off x="10134600" y="1695450"/>
            <a:ext cx="1752600" cy="0"/>
          </a:xfrm>
          <a:prstGeom xmlns:a="http://schemas.openxmlformats.org/drawingml/2006/main" prst="line">
            <a:avLst/>
          </a:prstGeom>
          <a:noFill xmlns:a="http://schemas.openxmlformats.org/drawingml/2006/main"/>
          <a:ln xmlns:a="http://schemas.openxmlformats.org/drawingml/2006/main" w="12383">
            <a:solidFill>
              <a:srgbClr val="00452C"/>
            </a:solidFill>
            <a:prstDash val="solid"/>
          </a:ln>
        </p:spPr>
        <p:txBody>
          <a:bodyPr xmlns:a="http://schemas.openxmlformats.org/drawingml/2006/main"/>
          <a:lstStyle xmlns:a="http://schemas.openxmlformats.org/drawingml/2006/main"/>
          <a:p xmlns:a="http://schemas.openxmlformats.org/drawingml/2006/main">
            <a:endParaRPr/>
          </a:p>
        </p:txBody>
      </p:sp>
      <p:pic>
        <p:nvPicPr>
          <p:cNvPr id="245" name="Picture 217"/>
          <p:cNvPicPr>
            <a:picLocks xmlns:a="http://schemas.openxmlformats.org/drawingml/2006/main" noChangeAspect="1"/>
          </p:cNvPicPr>
          <p:nvPr/>
        </p:nvPicPr>
        <p:blipFill>
          <a:blip xmlns:r="http://schemas.openxmlformats.org/officeDocument/2006/relationships" xmlns:a="http://schemas.openxmlformats.org/drawingml/2006/main" r:embed="Rea93514b2ea44722"/>
          <a:stretch xmlns:a="http://schemas.openxmlformats.org/drawingml/2006/main"/>
        </p:blipFill>
        <p:spPr>
          <a:xfrm xmlns:a="http://schemas.openxmlformats.org/drawingml/2006/main">
            <a:off x="10106025" y="1857375"/>
            <a:ext cx="523875" cy="523875"/>
          </a:xfrm>
          <a:prstGeom xmlns:a="http://schemas.openxmlformats.org/drawingml/2006/main" prst="rect">
            <a:avLst/>
          </a:prstGeom>
        </p:spPr>
      </p:pic>
      <p:sp>
        <p:nvSpPr>
          <p:cNvPr id="97" name="Rectangle 96">
            <a:extLst xmlns:a="http://schemas.openxmlformats.org/drawingml/2006/main">
              <a:ext uri="{FF2B5EF4-FFF2-40B4-BE49-F238E27FC236}">
                <a16:creationId xmlns:a16="http://schemas.microsoft.com/office/drawing/2014/main" id="{6018DB0E-0132-4AB2-B4CF-194E4D364420}"/>
              </a:ext>
            </a:extLst>
          </p:cNvPr>
          <p:cNvSpPr>
            <a:spLocks xmlns:a="http://schemas.openxmlformats.org/drawingml/2006/main" noGrp="1"/>
          </p:cNvSpPr>
          <p:nvPr/>
        </p:nvSpPr>
        <p:spPr>
          <a:xfrm xmlns:a="http://schemas.openxmlformats.org/drawingml/2006/main">
            <a:off x="10668000" y="1905000"/>
            <a:ext cx="1381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863" b="1" i="0">
                <a:solidFill>
                  <a:srgbClr val="00452C"/>
                </a:solidFill>
                <a:latin typeface="Arial"/>
                <a:ea typeface="Arial"/>
                <a:cs typeface="Arial"/>
              </a:defRPr>
            </a:pPr>
            <a:r>
              <a:rPr sz="863" b="1" i="0">
                <a:solidFill>
                  <a:srgbClr val="00452C"/>
                </a:solidFill>
                <a:latin typeface="Arial"/>
                <a:ea typeface="Arial"/>
                <a:cs typeface="Arial"/>
              </a:rPr>
              <a:t>Lower Costs</a:t>
            </a:r>
          </a:p>
        </p:txBody>
      </p:sp>
      <p:sp>
        <p:nvSpPr>
          <p:cNvPr id="98" name="Rectangle 97">
            <a:extLst xmlns:a="http://schemas.openxmlformats.org/drawingml/2006/main">
              <a:ext uri="{FF2B5EF4-FFF2-40B4-BE49-F238E27FC236}">
                <a16:creationId xmlns:a16="http://schemas.microsoft.com/office/drawing/2014/main" id="{C27438A7-F5AC-492E-8AE2-686E5A686DA1}"/>
              </a:ext>
            </a:extLst>
          </p:cNvPr>
          <p:cNvSpPr>
            <a:spLocks xmlns:a="http://schemas.openxmlformats.org/drawingml/2006/main" noGrp="1"/>
          </p:cNvSpPr>
          <p:nvPr/>
        </p:nvSpPr>
        <p:spPr>
          <a:xfrm xmlns:a="http://schemas.openxmlformats.org/drawingml/2006/main">
            <a:off x="10668000" y="2114550"/>
            <a:ext cx="1352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20000"/>
              </a:lnSpc>
              <a:buNone/>
              <a:defRPr sz="765" b="0" i="0">
                <a:solidFill>
                  <a:srgbClr val="111111"/>
                </a:solidFill>
                <a:latin typeface="Arial"/>
                <a:ea typeface="Arial"/>
                <a:cs typeface="Arial"/>
              </a:defRPr>
            </a:pPr>
            <a:r>
              <a:rPr sz="765" b="0" i="0">
                <a:solidFill>
                  <a:srgbClr val="111111"/>
                </a:solidFill>
                <a:latin typeface="Arial"/>
                <a:ea typeface="Arial"/>
                <a:cs typeface="Arial"/>
              </a:rPr>
              <a:t>Reduce VMware licensing</a:t>
            </a:r>
          </a:p>
          <a:p xmlns:a="http://schemas.openxmlformats.org/drawingml/2006/main">
            <a:pPr algn="l">
              <a:lnSpc>
                <a:spcPct val="120000"/>
              </a:lnSpc>
              <a:buNone/>
              <a:defRPr sz="765" b="0" i="0">
                <a:solidFill>
                  <a:srgbClr val="111111"/>
                </a:solidFill>
                <a:latin typeface="Arial"/>
                <a:ea typeface="Arial"/>
                <a:cs typeface="Arial"/>
              </a:defRPr>
            </a:pPr>
            <a:r>
              <a:rPr sz="765" b="0" i="0">
                <a:solidFill>
                  <a:srgbClr val="111111"/>
                </a:solidFill>
                <a:latin typeface="Arial"/>
                <a:ea typeface="Arial"/>
                <a:cs typeface="Arial"/>
              </a:rPr>
              <a:t>and operational costs.</a:t>
            </a:r>
          </a:p>
        </p:txBody>
      </p:sp>
      <p:sp>
        <p:nvSpPr>
          <p:cNvPr id="99" name="Straight Connector 98">
            <a:extLst xmlns:a="http://schemas.openxmlformats.org/drawingml/2006/main">
              <a:ext uri="{FF2B5EF4-FFF2-40B4-BE49-F238E27FC236}">
                <a16:creationId xmlns:a16="http://schemas.microsoft.com/office/drawing/2014/main" id="{2FF284E2-9078-4CBE-A2E4-7F9DD4C18AF9}"/>
              </a:ext>
            </a:extLst>
          </p:cNvPr>
          <p:cNvSpPr>
            <a:spLocks xmlns:a="http://schemas.openxmlformats.org/drawingml/2006/main" noGrp="1"/>
          </p:cNvSpPr>
          <p:nvPr/>
        </p:nvSpPr>
        <p:spPr>
          <a:xfrm xmlns:a="http://schemas.openxmlformats.org/drawingml/2006/main">
            <a:off x="10134600" y="2590800"/>
            <a:ext cx="1866900" cy="0"/>
          </a:xfrm>
          <a:prstGeom xmlns:a="http://schemas.openxmlformats.org/drawingml/2006/main" prst="line">
            <a:avLst/>
          </a:prstGeom>
          <a:noFill xmlns:a="http://schemas.openxmlformats.org/drawingml/2006/main"/>
          <a:ln xmlns:a="http://schemas.openxmlformats.org/drawingml/2006/main" w="9525">
            <a:solidFill>
              <a:srgbClr val="D7DDDA"/>
            </a:solidFill>
            <a:prstDash val="solid"/>
          </a:ln>
        </p:spPr>
        <p:txBody>
          <a:bodyPr xmlns:a="http://schemas.openxmlformats.org/drawingml/2006/main"/>
          <a:lstStyle xmlns:a="http://schemas.openxmlformats.org/drawingml/2006/main"/>
          <a:p xmlns:a="http://schemas.openxmlformats.org/drawingml/2006/main">
            <a:endParaRPr/>
          </a:p>
        </p:txBody>
      </p:sp>
      <p:pic>
        <p:nvPicPr>
          <p:cNvPr id="249" name="Picture 221"/>
          <p:cNvPicPr>
            <a:picLocks xmlns:a="http://schemas.openxmlformats.org/drawingml/2006/main" noChangeAspect="1"/>
          </p:cNvPicPr>
          <p:nvPr/>
        </p:nvPicPr>
        <p:blipFill>
          <a:blip xmlns:r="http://schemas.openxmlformats.org/officeDocument/2006/relationships" xmlns:a="http://schemas.openxmlformats.org/drawingml/2006/main" r:embed="R478d7dedfadf4f7f"/>
          <a:stretch xmlns:a="http://schemas.openxmlformats.org/drawingml/2006/main"/>
        </p:blipFill>
        <p:spPr>
          <a:xfrm xmlns:a="http://schemas.openxmlformats.org/drawingml/2006/main">
            <a:off x="10106025" y="2676525"/>
            <a:ext cx="523875" cy="523875"/>
          </a:xfrm>
          <a:prstGeom xmlns:a="http://schemas.openxmlformats.org/drawingml/2006/main" prst="rect">
            <a:avLst/>
          </a:prstGeom>
        </p:spPr>
      </p:pic>
      <p:sp>
        <p:nvSpPr>
          <p:cNvPr id="101" name="Rectangle 100">
            <a:extLst xmlns:a="http://schemas.openxmlformats.org/drawingml/2006/main">
              <a:ext uri="{FF2B5EF4-FFF2-40B4-BE49-F238E27FC236}">
                <a16:creationId xmlns:a16="http://schemas.microsoft.com/office/drawing/2014/main" id="{8AA1A5D9-87DC-4EB8-B5EF-FF7C7CE14109}"/>
              </a:ext>
            </a:extLst>
          </p:cNvPr>
          <p:cNvSpPr>
            <a:spLocks xmlns:a="http://schemas.openxmlformats.org/drawingml/2006/main" noGrp="1"/>
          </p:cNvSpPr>
          <p:nvPr/>
        </p:nvSpPr>
        <p:spPr>
          <a:xfrm xmlns:a="http://schemas.openxmlformats.org/drawingml/2006/main">
            <a:off x="10668000" y="2724150"/>
            <a:ext cx="1381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863" b="1" i="0">
                <a:solidFill>
                  <a:srgbClr val="00452C"/>
                </a:solidFill>
                <a:latin typeface="Arial"/>
                <a:ea typeface="Arial"/>
                <a:cs typeface="Arial"/>
              </a:defRPr>
            </a:pPr>
            <a:r>
              <a:rPr sz="863" b="1" i="0">
                <a:solidFill>
                  <a:srgbClr val="00452C"/>
                </a:solidFill>
                <a:latin typeface="Arial"/>
                <a:ea typeface="Arial"/>
                <a:cs typeface="Arial"/>
              </a:rPr>
              <a:t>Right-Size Infrastructure</a:t>
            </a:r>
          </a:p>
        </p:txBody>
      </p:sp>
      <p:sp>
        <p:nvSpPr>
          <p:cNvPr id="102" name="Rectangle 101">
            <a:extLst xmlns:a="http://schemas.openxmlformats.org/drawingml/2006/main">
              <a:ext uri="{FF2B5EF4-FFF2-40B4-BE49-F238E27FC236}">
                <a16:creationId xmlns:a16="http://schemas.microsoft.com/office/drawing/2014/main" id="{44861EC4-2E70-4B3B-A3F2-E22ADA54062C}"/>
              </a:ext>
            </a:extLst>
          </p:cNvPr>
          <p:cNvSpPr>
            <a:spLocks xmlns:a="http://schemas.openxmlformats.org/drawingml/2006/main" noGrp="1"/>
          </p:cNvSpPr>
          <p:nvPr/>
        </p:nvSpPr>
        <p:spPr>
          <a:xfrm xmlns:a="http://schemas.openxmlformats.org/drawingml/2006/main">
            <a:off x="10668000" y="2933700"/>
            <a:ext cx="1352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20000"/>
              </a:lnSpc>
              <a:buNone/>
              <a:defRPr sz="765" b="0" i="0">
                <a:solidFill>
                  <a:srgbClr val="111111"/>
                </a:solidFill>
                <a:latin typeface="Arial"/>
                <a:ea typeface="Arial"/>
                <a:cs typeface="Arial"/>
              </a:defRPr>
            </a:pPr>
            <a:r>
              <a:rPr sz="765" b="0" i="0">
                <a:solidFill>
                  <a:srgbClr val="111111"/>
                </a:solidFill>
                <a:latin typeface="Arial"/>
                <a:ea typeface="Arial"/>
                <a:cs typeface="Arial"/>
              </a:rPr>
              <a:t>Optimize compute resources</a:t>
            </a:r>
          </a:p>
          <a:p xmlns:a="http://schemas.openxmlformats.org/drawingml/2006/main">
            <a:pPr algn="l">
              <a:lnSpc>
                <a:spcPct val="120000"/>
              </a:lnSpc>
              <a:buNone/>
              <a:defRPr sz="765" b="0" i="0">
                <a:solidFill>
                  <a:srgbClr val="111111"/>
                </a:solidFill>
                <a:latin typeface="Arial"/>
                <a:ea typeface="Arial"/>
                <a:cs typeface="Arial"/>
              </a:defRPr>
            </a:pPr>
            <a:r>
              <a:rPr sz="765" b="0" i="0">
                <a:solidFill>
                  <a:srgbClr val="111111"/>
                </a:solidFill>
                <a:latin typeface="Arial"/>
                <a:ea typeface="Arial"/>
                <a:cs typeface="Arial"/>
              </a:rPr>
              <a:t>using OCI Flex Shapes.</a:t>
            </a:r>
          </a:p>
        </p:txBody>
      </p:sp>
      <p:sp>
        <p:nvSpPr>
          <p:cNvPr id="103" name="Straight Connector 102">
            <a:extLst xmlns:a="http://schemas.openxmlformats.org/drawingml/2006/main">
              <a:ext uri="{FF2B5EF4-FFF2-40B4-BE49-F238E27FC236}">
                <a16:creationId xmlns:a16="http://schemas.microsoft.com/office/drawing/2014/main" id="{64985FD5-6D0D-4AE2-A6A0-8BD0C2E3F591}"/>
              </a:ext>
            </a:extLst>
          </p:cNvPr>
          <p:cNvSpPr>
            <a:spLocks xmlns:a="http://schemas.openxmlformats.org/drawingml/2006/main" noGrp="1"/>
          </p:cNvSpPr>
          <p:nvPr/>
        </p:nvSpPr>
        <p:spPr>
          <a:xfrm xmlns:a="http://schemas.openxmlformats.org/drawingml/2006/main">
            <a:off x="10134600" y="3409950"/>
            <a:ext cx="1866900" cy="0"/>
          </a:xfrm>
          <a:prstGeom xmlns:a="http://schemas.openxmlformats.org/drawingml/2006/main" prst="line">
            <a:avLst/>
          </a:prstGeom>
          <a:noFill xmlns:a="http://schemas.openxmlformats.org/drawingml/2006/main"/>
          <a:ln xmlns:a="http://schemas.openxmlformats.org/drawingml/2006/main" w="9525">
            <a:solidFill>
              <a:srgbClr val="D7DDDA"/>
            </a:solidFill>
            <a:prstDash val="solid"/>
          </a:ln>
        </p:spPr>
        <p:txBody>
          <a:bodyPr xmlns:a="http://schemas.openxmlformats.org/drawingml/2006/main"/>
          <a:lstStyle xmlns:a="http://schemas.openxmlformats.org/drawingml/2006/main"/>
          <a:p xmlns:a="http://schemas.openxmlformats.org/drawingml/2006/main">
            <a:endParaRPr/>
          </a:p>
        </p:txBody>
      </p:sp>
      <p:pic>
        <p:nvPicPr>
          <p:cNvPr id="253" name="Picture 225"/>
          <p:cNvPicPr>
            <a:picLocks xmlns:a="http://schemas.openxmlformats.org/drawingml/2006/main" noChangeAspect="1"/>
          </p:cNvPicPr>
          <p:nvPr/>
        </p:nvPicPr>
        <p:blipFill>
          <a:blip xmlns:r="http://schemas.openxmlformats.org/officeDocument/2006/relationships" xmlns:a="http://schemas.openxmlformats.org/drawingml/2006/main" r:embed="R38fb05999c11479c"/>
          <a:stretch xmlns:a="http://schemas.openxmlformats.org/drawingml/2006/main"/>
        </p:blipFill>
        <p:spPr>
          <a:xfrm xmlns:a="http://schemas.openxmlformats.org/drawingml/2006/main">
            <a:off x="10106025" y="3486150"/>
            <a:ext cx="523875" cy="523875"/>
          </a:xfrm>
          <a:prstGeom xmlns:a="http://schemas.openxmlformats.org/drawingml/2006/main" prst="rect">
            <a:avLst/>
          </a:prstGeom>
        </p:spPr>
      </p:pic>
      <p:sp>
        <p:nvSpPr>
          <p:cNvPr id="105" name="Rectangle 104">
            <a:extLst xmlns:a="http://schemas.openxmlformats.org/drawingml/2006/main">
              <a:ext uri="{FF2B5EF4-FFF2-40B4-BE49-F238E27FC236}">
                <a16:creationId xmlns:a16="http://schemas.microsoft.com/office/drawing/2014/main" id="{0E5AE84E-8371-4CA2-B720-F2EF6EFB688E}"/>
              </a:ext>
            </a:extLst>
          </p:cNvPr>
          <p:cNvSpPr>
            <a:spLocks xmlns:a="http://schemas.openxmlformats.org/drawingml/2006/main" noGrp="1"/>
          </p:cNvSpPr>
          <p:nvPr/>
        </p:nvSpPr>
        <p:spPr>
          <a:xfrm xmlns:a="http://schemas.openxmlformats.org/drawingml/2006/main">
            <a:off x="10668000" y="3533775"/>
            <a:ext cx="1381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863" b="1" i="0">
                <a:solidFill>
                  <a:srgbClr val="00452C"/>
                </a:solidFill>
                <a:latin typeface="Arial"/>
                <a:ea typeface="Arial"/>
                <a:cs typeface="Arial"/>
              </a:defRPr>
            </a:pPr>
            <a:r>
              <a:rPr sz="863" b="1" i="0">
                <a:solidFill>
                  <a:srgbClr val="00452C"/>
                </a:solidFill>
                <a:latin typeface="Arial"/>
                <a:ea typeface="Arial"/>
                <a:cs typeface="Arial"/>
              </a:rPr>
              <a:t>Elastic &amp; Scalable</a:t>
            </a:r>
          </a:p>
        </p:txBody>
      </p:sp>
      <p:sp>
        <p:nvSpPr>
          <p:cNvPr id="106" name="Rectangle 105">
            <a:extLst xmlns:a="http://schemas.openxmlformats.org/drawingml/2006/main">
              <a:ext uri="{FF2B5EF4-FFF2-40B4-BE49-F238E27FC236}">
                <a16:creationId xmlns:a16="http://schemas.microsoft.com/office/drawing/2014/main" id="{157646D1-4382-4B10-88E4-31D2E0556FBB}"/>
              </a:ext>
            </a:extLst>
          </p:cNvPr>
          <p:cNvSpPr>
            <a:spLocks xmlns:a="http://schemas.openxmlformats.org/drawingml/2006/main" noGrp="1"/>
          </p:cNvSpPr>
          <p:nvPr/>
        </p:nvSpPr>
        <p:spPr>
          <a:xfrm xmlns:a="http://schemas.openxmlformats.org/drawingml/2006/main">
            <a:off x="10668000" y="3743325"/>
            <a:ext cx="1352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20000"/>
              </a:lnSpc>
              <a:buNone/>
              <a:defRPr sz="765" b="0" i="0">
                <a:solidFill>
                  <a:srgbClr val="111111"/>
                </a:solidFill>
                <a:latin typeface="Arial"/>
                <a:ea typeface="Arial"/>
                <a:cs typeface="Arial"/>
              </a:defRPr>
            </a:pPr>
            <a:r>
              <a:rPr sz="765" b="0" i="0">
                <a:solidFill>
                  <a:srgbClr val="111111"/>
                </a:solidFill>
                <a:latin typeface="Arial"/>
                <a:ea typeface="Arial"/>
                <a:cs typeface="Arial"/>
              </a:rPr>
              <a:t>Scale resources up or</a:t>
            </a:r>
          </a:p>
          <a:p xmlns:a="http://schemas.openxmlformats.org/drawingml/2006/main">
            <a:pPr algn="l">
              <a:lnSpc>
                <a:spcPct val="120000"/>
              </a:lnSpc>
              <a:buNone/>
              <a:defRPr sz="765" b="0" i="0">
                <a:solidFill>
                  <a:srgbClr val="111111"/>
                </a:solidFill>
                <a:latin typeface="Arial"/>
                <a:ea typeface="Arial"/>
                <a:cs typeface="Arial"/>
              </a:defRPr>
            </a:pPr>
            <a:r>
              <a:rPr sz="765" b="0" i="0">
                <a:solidFill>
                  <a:srgbClr val="111111"/>
                </a:solidFill>
                <a:latin typeface="Arial"/>
                <a:ea typeface="Arial"/>
                <a:cs typeface="Arial"/>
              </a:rPr>
              <a:t>down as needed.</a:t>
            </a:r>
          </a:p>
        </p:txBody>
      </p:sp>
      <p:sp>
        <p:nvSpPr>
          <p:cNvPr id="107" name="Straight Connector 106">
            <a:extLst xmlns:a="http://schemas.openxmlformats.org/drawingml/2006/main">
              <a:ext uri="{FF2B5EF4-FFF2-40B4-BE49-F238E27FC236}">
                <a16:creationId xmlns:a16="http://schemas.microsoft.com/office/drawing/2014/main" id="{5D728FFC-3C38-471E-B62B-8C701CB2C912}"/>
              </a:ext>
            </a:extLst>
          </p:cNvPr>
          <p:cNvSpPr>
            <a:spLocks xmlns:a="http://schemas.openxmlformats.org/drawingml/2006/main" noGrp="1"/>
          </p:cNvSpPr>
          <p:nvPr/>
        </p:nvSpPr>
        <p:spPr>
          <a:xfrm xmlns:a="http://schemas.openxmlformats.org/drawingml/2006/main">
            <a:off x="10134600" y="4219575"/>
            <a:ext cx="1866900" cy="0"/>
          </a:xfrm>
          <a:prstGeom xmlns:a="http://schemas.openxmlformats.org/drawingml/2006/main" prst="line">
            <a:avLst/>
          </a:prstGeom>
          <a:noFill xmlns:a="http://schemas.openxmlformats.org/drawingml/2006/main"/>
          <a:ln xmlns:a="http://schemas.openxmlformats.org/drawingml/2006/main" w="9525">
            <a:solidFill>
              <a:srgbClr val="D7DDDA"/>
            </a:solidFill>
            <a:prstDash val="solid"/>
          </a:ln>
        </p:spPr>
        <p:txBody>
          <a:bodyPr xmlns:a="http://schemas.openxmlformats.org/drawingml/2006/main"/>
          <a:lstStyle xmlns:a="http://schemas.openxmlformats.org/drawingml/2006/main"/>
          <a:p xmlns:a="http://schemas.openxmlformats.org/drawingml/2006/main">
            <a:endParaRPr/>
          </a:p>
        </p:txBody>
      </p:sp>
      <p:pic>
        <p:nvPicPr>
          <p:cNvPr id="257" name="Picture 229"/>
          <p:cNvPicPr>
            <a:picLocks xmlns:a="http://schemas.openxmlformats.org/drawingml/2006/main" noChangeAspect="1"/>
          </p:cNvPicPr>
          <p:nvPr/>
        </p:nvPicPr>
        <p:blipFill>
          <a:blip xmlns:r="http://schemas.openxmlformats.org/officeDocument/2006/relationships" xmlns:a="http://schemas.openxmlformats.org/drawingml/2006/main" r:embed="R3cb42519c34e4f45"/>
          <a:stretch xmlns:a="http://schemas.openxmlformats.org/drawingml/2006/main"/>
        </p:blipFill>
        <p:spPr>
          <a:xfrm xmlns:a="http://schemas.openxmlformats.org/drawingml/2006/main">
            <a:off x="10106025" y="4295775"/>
            <a:ext cx="523875" cy="523875"/>
          </a:xfrm>
          <a:prstGeom xmlns:a="http://schemas.openxmlformats.org/drawingml/2006/main" prst="rect">
            <a:avLst/>
          </a:prstGeom>
        </p:spPr>
      </p:pic>
      <p:sp>
        <p:nvSpPr>
          <p:cNvPr id="109" name="Rectangle 108">
            <a:extLst xmlns:a="http://schemas.openxmlformats.org/drawingml/2006/main">
              <a:ext uri="{FF2B5EF4-FFF2-40B4-BE49-F238E27FC236}">
                <a16:creationId xmlns:a16="http://schemas.microsoft.com/office/drawing/2014/main" id="{9B6371C7-BABB-4EC6-BA25-B3573919A0E6}"/>
              </a:ext>
            </a:extLst>
          </p:cNvPr>
          <p:cNvSpPr>
            <a:spLocks xmlns:a="http://schemas.openxmlformats.org/drawingml/2006/main" noGrp="1"/>
          </p:cNvSpPr>
          <p:nvPr/>
        </p:nvSpPr>
        <p:spPr>
          <a:xfrm xmlns:a="http://schemas.openxmlformats.org/drawingml/2006/main">
            <a:off x="10668000" y="4343400"/>
            <a:ext cx="1381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863" b="1" i="0">
                <a:solidFill>
                  <a:srgbClr val="00452C"/>
                </a:solidFill>
                <a:latin typeface="Arial"/>
                <a:ea typeface="Arial"/>
                <a:cs typeface="Arial"/>
              </a:defRPr>
            </a:pPr>
            <a:r>
              <a:rPr sz="863" b="1" i="0">
                <a:solidFill>
                  <a:srgbClr val="00452C"/>
                </a:solidFill>
                <a:latin typeface="Arial"/>
                <a:ea typeface="Arial"/>
                <a:cs typeface="Arial"/>
              </a:rPr>
              <a:t>Cloud Native Modernization</a:t>
            </a:r>
          </a:p>
        </p:txBody>
      </p:sp>
      <p:sp>
        <p:nvSpPr>
          <p:cNvPr id="110" name="Rectangle 109">
            <a:extLst xmlns:a="http://schemas.openxmlformats.org/drawingml/2006/main">
              <a:ext uri="{FF2B5EF4-FFF2-40B4-BE49-F238E27FC236}">
                <a16:creationId xmlns:a16="http://schemas.microsoft.com/office/drawing/2014/main" id="{BC6B722B-ED6F-444A-82BA-5244DE4AEAD5}"/>
              </a:ext>
            </a:extLst>
          </p:cNvPr>
          <p:cNvSpPr>
            <a:spLocks xmlns:a="http://schemas.openxmlformats.org/drawingml/2006/main" noGrp="1"/>
          </p:cNvSpPr>
          <p:nvPr/>
        </p:nvSpPr>
        <p:spPr>
          <a:xfrm xmlns:a="http://schemas.openxmlformats.org/drawingml/2006/main">
            <a:off x="10668000" y="4552950"/>
            <a:ext cx="1352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20000"/>
              </a:lnSpc>
              <a:buNone/>
              <a:defRPr sz="765" b="0" i="0">
                <a:solidFill>
                  <a:srgbClr val="111111"/>
                </a:solidFill>
                <a:latin typeface="Arial"/>
                <a:ea typeface="Arial"/>
                <a:cs typeface="Arial"/>
              </a:defRPr>
            </a:pPr>
            <a:r>
              <a:rPr sz="765" b="0" i="0">
                <a:solidFill>
                  <a:srgbClr val="111111"/>
                </a:solidFill>
                <a:latin typeface="Arial"/>
                <a:ea typeface="Arial"/>
                <a:cs typeface="Arial"/>
              </a:rPr>
              <a:t>Adopt OCI native services</a:t>
            </a:r>
          </a:p>
          <a:p xmlns:a="http://schemas.openxmlformats.org/drawingml/2006/main">
            <a:pPr algn="l">
              <a:lnSpc>
                <a:spcPct val="120000"/>
              </a:lnSpc>
              <a:buNone/>
              <a:defRPr sz="765" b="0" i="0">
                <a:solidFill>
                  <a:srgbClr val="111111"/>
                </a:solidFill>
                <a:latin typeface="Arial"/>
                <a:ea typeface="Arial"/>
                <a:cs typeface="Arial"/>
              </a:defRPr>
            </a:pPr>
            <a:r>
              <a:rPr sz="765" b="0" i="0">
                <a:solidFill>
                  <a:srgbClr val="111111"/>
                </a:solidFill>
                <a:latin typeface="Arial"/>
                <a:ea typeface="Arial"/>
                <a:cs typeface="Arial"/>
              </a:rPr>
              <a:t>over time.</a:t>
            </a:r>
          </a:p>
        </p:txBody>
      </p:sp>
      <p:sp>
        <p:nvSpPr>
          <p:cNvPr id="111" name="Straight Connector 110">
            <a:extLst xmlns:a="http://schemas.openxmlformats.org/drawingml/2006/main">
              <a:ext uri="{FF2B5EF4-FFF2-40B4-BE49-F238E27FC236}">
                <a16:creationId xmlns:a16="http://schemas.microsoft.com/office/drawing/2014/main" id="{56D9EC54-3505-4553-8D9B-28CE78AAEEF4}"/>
              </a:ext>
            </a:extLst>
          </p:cNvPr>
          <p:cNvSpPr>
            <a:spLocks xmlns:a="http://schemas.openxmlformats.org/drawingml/2006/main" noGrp="1"/>
          </p:cNvSpPr>
          <p:nvPr/>
        </p:nvSpPr>
        <p:spPr>
          <a:xfrm xmlns:a="http://schemas.openxmlformats.org/drawingml/2006/main">
            <a:off x="10134600" y="5029200"/>
            <a:ext cx="1866900" cy="0"/>
          </a:xfrm>
          <a:prstGeom xmlns:a="http://schemas.openxmlformats.org/drawingml/2006/main" prst="line">
            <a:avLst/>
          </a:prstGeom>
          <a:noFill xmlns:a="http://schemas.openxmlformats.org/drawingml/2006/main"/>
          <a:ln xmlns:a="http://schemas.openxmlformats.org/drawingml/2006/main" w="9525">
            <a:solidFill>
              <a:srgbClr val="D7DDDA"/>
            </a:solidFill>
            <a:prstDash val="solid"/>
          </a:ln>
        </p:spPr>
        <p:txBody>
          <a:bodyPr xmlns:a="http://schemas.openxmlformats.org/drawingml/2006/main"/>
          <a:lstStyle xmlns:a="http://schemas.openxmlformats.org/drawingml/2006/main"/>
          <a:p xmlns:a="http://schemas.openxmlformats.org/drawingml/2006/main">
            <a:endParaRPr/>
          </a:p>
        </p:txBody>
      </p:sp>
      <p:pic>
        <p:nvPicPr>
          <p:cNvPr id="261" name="Picture 233"/>
          <p:cNvPicPr>
            <a:picLocks xmlns:a="http://schemas.openxmlformats.org/drawingml/2006/main" noChangeAspect="1"/>
          </p:cNvPicPr>
          <p:nvPr/>
        </p:nvPicPr>
        <p:blipFill>
          <a:blip xmlns:r="http://schemas.openxmlformats.org/officeDocument/2006/relationships" xmlns:a="http://schemas.openxmlformats.org/drawingml/2006/main" r:embed="R1600177924464327"/>
          <a:stretch xmlns:a="http://schemas.openxmlformats.org/drawingml/2006/main"/>
        </p:blipFill>
        <p:spPr>
          <a:xfrm xmlns:a="http://schemas.openxmlformats.org/drawingml/2006/main">
            <a:off x="10106025" y="5105400"/>
            <a:ext cx="523875" cy="523875"/>
          </a:xfrm>
          <a:prstGeom xmlns:a="http://schemas.openxmlformats.org/drawingml/2006/main" prst="rect">
            <a:avLst/>
          </a:prstGeom>
        </p:spPr>
      </p:pic>
      <p:sp>
        <p:nvSpPr>
          <p:cNvPr id="113" name="Rectangle 112">
            <a:extLst xmlns:a="http://schemas.openxmlformats.org/drawingml/2006/main">
              <a:ext uri="{FF2B5EF4-FFF2-40B4-BE49-F238E27FC236}">
                <a16:creationId xmlns:a16="http://schemas.microsoft.com/office/drawing/2014/main" id="{B9EF9EB7-8094-4E2E-B689-B02467BE4BED}"/>
              </a:ext>
            </a:extLst>
          </p:cNvPr>
          <p:cNvSpPr>
            <a:spLocks xmlns:a="http://schemas.openxmlformats.org/drawingml/2006/main" noGrp="1"/>
          </p:cNvSpPr>
          <p:nvPr/>
        </p:nvSpPr>
        <p:spPr>
          <a:xfrm xmlns:a="http://schemas.openxmlformats.org/drawingml/2006/main">
            <a:off x="10668000" y="5153025"/>
            <a:ext cx="1381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863" b="1" i="0">
                <a:solidFill>
                  <a:srgbClr val="00452C"/>
                </a:solidFill>
                <a:latin typeface="Arial"/>
                <a:ea typeface="Arial"/>
                <a:cs typeface="Arial"/>
              </a:defRPr>
            </a:pPr>
            <a:r>
              <a:rPr sz="863" b="1" i="0">
                <a:solidFill>
                  <a:srgbClr val="00452C"/>
                </a:solidFill>
                <a:latin typeface="Arial"/>
                <a:ea typeface="Arial"/>
                <a:cs typeface="Arial"/>
              </a:rPr>
              <a:t>Secure &amp; Resilient</a:t>
            </a:r>
          </a:p>
        </p:txBody>
      </p:sp>
      <p:sp>
        <p:nvSpPr>
          <p:cNvPr id="114" name="Rectangle 113">
            <a:extLst xmlns:a="http://schemas.openxmlformats.org/drawingml/2006/main">
              <a:ext uri="{FF2B5EF4-FFF2-40B4-BE49-F238E27FC236}">
                <a16:creationId xmlns:a16="http://schemas.microsoft.com/office/drawing/2014/main" id="{A6917848-6D0C-4CF1-A766-F0464BE53CA1}"/>
              </a:ext>
            </a:extLst>
          </p:cNvPr>
          <p:cNvSpPr>
            <a:spLocks xmlns:a="http://schemas.openxmlformats.org/drawingml/2006/main" noGrp="1"/>
          </p:cNvSpPr>
          <p:nvPr/>
        </p:nvSpPr>
        <p:spPr>
          <a:xfrm xmlns:a="http://schemas.openxmlformats.org/drawingml/2006/main">
            <a:off x="10668000" y="5362575"/>
            <a:ext cx="1352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20000"/>
              </a:lnSpc>
              <a:buNone/>
              <a:defRPr sz="765" b="0" i="0">
                <a:solidFill>
                  <a:srgbClr val="111111"/>
                </a:solidFill>
                <a:latin typeface="Arial"/>
                <a:ea typeface="Arial"/>
                <a:cs typeface="Arial"/>
              </a:defRPr>
            </a:pPr>
            <a:r>
              <a:rPr sz="765" b="0" i="0">
                <a:solidFill>
                  <a:srgbClr val="111111"/>
                </a:solidFill>
                <a:latin typeface="Arial"/>
                <a:ea typeface="Arial"/>
                <a:cs typeface="Arial"/>
              </a:rPr>
              <a:t>Built-in security and</a:t>
            </a:r>
          </a:p>
          <a:p xmlns:a="http://schemas.openxmlformats.org/drawingml/2006/main">
            <a:pPr algn="l">
              <a:lnSpc>
                <a:spcPct val="120000"/>
              </a:lnSpc>
              <a:buNone/>
              <a:defRPr sz="765" b="0" i="0">
                <a:solidFill>
                  <a:srgbClr val="111111"/>
                </a:solidFill>
                <a:latin typeface="Arial"/>
                <a:ea typeface="Arial"/>
                <a:cs typeface="Arial"/>
              </a:defRPr>
            </a:pPr>
            <a:r>
              <a:rPr sz="765" b="0" i="0">
                <a:solidFill>
                  <a:srgbClr val="111111"/>
                </a:solidFill>
                <a:latin typeface="Arial"/>
                <a:ea typeface="Arial"/>
                <a:cs typeface="Arial"/>
              </a:rPr>
              <a:t>high availability.</a:t>
            </a:r>
          </a:p>
        </p:txBody>
      </p:sp>
      <p:sp>
        <p:nvSpPr>
          <p:cNvPr id="115" name="Straight Connector 114">
            <a:extLst xmlns:a="http://schemas.openxmlformats.org/drawingml/2006/main">
              <a:ext uri="{FF2B5EF4-FFF2-40B4-BE49-F238E27FC236}">
                <a16:creationId xmlns:a16="http://schemas.microsoft.com/office/drawing/2014/main" id="{46E191F9-703A-467D-98F6-B28E987C4E8C}"/>
              </a:ext>
            </a:extLst>
          </p:cNvPr>
          <p:cNvSpPr>
            <a:spLocks xmlns:a="http://schemas.openxmlformats.org/drawingml/2006/main" noGrp="1"/>
          </p:cNvSpPr>
          <p:nvPr/>
        </p:nvSpPr>
        <p:spPr>
          <a:xfrm xmlns:a="http://schemas.openxmlformats.org/drawingml/2006/main">
            <a:off x="10134600" y="5838825"/>
            <a:ext cx="1866900" cy="0"/>
          </a:xfrm>
          <a:prstGeom xmlns:a="http://schemas.openxmlformats.org/drawingml/2006/main" prst="line">
            <a:avLst/>
          </a:prstGeom>
          <a:noFill xmlns:a="http://schemas.openxmlformats.org/drawingml/2006/main"/>
          <a:ln xmlns:a="http://schemas.openxmlformats.org/drawingml/2006/main" w="9525">
            <a:solidFill>
              <a:srgbClr val="D7DDDA"/>
            </a:solidFill>
            <a:prstDash val="solid"/>
          </a:ln>
        </p:spPr>
        <p:txBody>
          <a:bodyPr xmlns:a="http://schemas.openxmlformats.org/drawingml/2006/main"/>
          <a:lstStyle xmlns:a="http://schemas.openxmlformats.org/drawingml/2006/main"/>
          <a:p xmlns:a="http://schemas.openxmlformats.org/drawingml/2006/main">
            <a:endParaRPr/>
          </a:p>
        </p:txBody>
      </p:sp>
      <p:sp>
        <p:nvSpPr>
          <p:cNvPr id="116" name="Rounded Rectangle 115">
            <a:extLst xmlns:a="http://schemas.openxmlformats.org/drawingml/2006/main">
              <a:ext uri="{FF2B5EF4-FFF2-40B4-BE49-F238E27FC236}">
                <a16:creationId xmlns:a16="http://schemas.microsoft.com/office/drawing/2014/main" id="{2506CCB9-9BC8-4D8A-A0BC-78F2270D3F40}"/>
              </a:ext>
            </a:extLst>
          </p:cNvPr>
          <p:cNvSpPr>
            <a:spLocks xmlns:a="http://schemas.openxmlformats.org/drawingml/2006/main" noGrp="1"/>
          </p:cNvSpPr>
          <p:nvPr/>
        </p:nvSpPr>
        <p:spPr>
          <a:xfrm xmlns:a="http://schemas.openxmlformats.org/drawingml/2006/main">
            <a:off x="400050" y="5962650"/>
            <a:ext cx="9353550" cy="628650"/>
          </a:xfrm>
          <a:prstGeom xmlns:a="http://schemas.openxmlformats.org/drawingml/2006/main" prst="roundRect">
            <a:avLst>
              <a:gd name="adj" fmla="val 12121"/>
            </a:avLst>
          </a:prstGeom>
          <a:gradFill xmlns:a="http://schemas.openxmlformats.org/drawingml/2006/main">
            <a:gsLst>
              <a:gs pos="0">
                <a:srgbClr val="00351F"/>
              </a:gs>
              <a:gs pos="100000">
                <a:srgbClr val="075A35"/>
              </a:gs>
            </a:gsLst>
            <a:lin ang="0"/>
          </a:gra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pic>
        <p:nvPicPr>
          <p:cNvPr id="266" name="Picture 238"/>
          <p:cNvPicPr>
            <a:picLocks xmlns:a="http://schemas.openxmlformats.org/drawingml/2006/main" noChangeAspect="1"/>
          </p:cNvPicPr>
          <p:nvPr/>
        </p:nvPicPr>
        <p:blipFill>
          <a:blip xmlns:r="http://schemas.openxmlformats.org/officeDocument/2006/relationships" xmlns:a="http://schemas.openxmlformats.org/drawingml/2006/main" r:embed="Rfcf8ae6d29af4367"/>
          <a:stretch xmlns:a="http://schemas.openxmlformats.org/drawingml/2006/main"/>
        </p:blipFill>
        <p:spPr>
          <a:xfrm xmlns:a="http://schemas.openxmlformats.org/drawingml/2006/main">
            <a:off x="571293" y="6076950"/>
            <a:ext cx="409989" cy="428625"/>
          </a:xfrm>
          <a:prstGeom xmlns:a="http://schemas.openxmlformats.org/drawingml/2006/main" prst="rect">
            <a:avLst/>
          </a:prstGeom>
        </p:spPr>
      </p:pic>
      <p:sp>
        <p:nvSpPr>
          <p:cNvPr id="118" name="Rectangle 117">
            <a:extLst xmlns:a="http://schemas.openxmlformats.org/drawingml/2006/main">
              <a:ext uri="{FF2B5EF4-FFF2-40B4-BE49-F238E27FC236}">
                <a16:creationId xmlns:a16="http://schemas.microsoft.com/office/drawing/2014/main" id="{741917FB-2F4E-4E85-917F-6405F39CAE3A}"/>
              </a:ext>
            </a:extLst>
          </p:cNvPr>
          <p:cNvSpPr>
            <a:spLocks xmlns:a="http://schemas.openxmlformats.org/drawingml/2006/main" noGrp="1"/>
          </p:cNvSpPr>
          <p:nvPr/>
        </p:nvSpPr>
        <p:spPr>
          <a:xfrm xmlns:a="http://schemas.openxmlformats.org/drawingml/2006/main">
            <a:off x="1200150" y="6067425"/>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85" b="1" i="0">
                <a:solidFill>
                  <a:srgbClr val="FFFFFF"/>
                </a:solidFill>
                <a:latin typeface="Arial"/>
                <a:ea typeface="Arial"/>
                <a:cs typeface="Arial"/>
              </a:defRPr>
            </a:pPr>
            <a:r>
              <a:rPr sz="1185" b="1" i="0">
                <a:solidFill>
                  <a:srgbClr val="FFFFFF"/>
                </a:solidFill>
                <a:latin typeface="Arial"/>
                <a:ea typeface="Arial"/>
                <a:cs typeface="Arial"/>
              </a:rPr>
              <a:t>Modernize VMware workloads on OCI with flexible compute, managed storage and cloud-native services.</a:t>
            </a:r>
          </a:p>
        </p:txBody>
      </p:sp>
      <p:sp>
        <p:nvSpPr>
          <p:cNvPr id="119" name="Rectangle 118">
            <a:extLst xmlns:a="http://schemas.openxmlformats.org/drawingml/2006/main">
              <a:ext uri="{FF2B5EF4-FFF2-40B4-BE49-F238E27FC236}">
                <a16:creationId xmlns:a16="http://schemas.microsoft.com/office/drawing/2014/main" id="{CA710CD1-804A-407C-9DAD-7BB1F02E2B2F}"/>
              </a:ext>
            </a:extLst>
          </p:cNvPr>
          <p:cNvSpPr>
            <a:spLocks xmlns:a="http://schemas.openxmlformats.org/drawingml/2006/main" noGrp="1"/>
          </p:cNvSpPr>
          <p:nvPr/>
        </p:nvSpPr>
        <p:spPr>
          <a:xfrm xmlns:a="http://schemas.openxmlformats.org/drawingml/2006/main">
            <a:off x="1200150" y="6219825"/>
            <a:ext cx="7858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25000"/>
              </a:lnSpc>
              <a:buNone/>
              <a:defRPr sz="930" b="0" i="0">
                <a:solidFill>
                  <a:srgbClr val="FFFFFF"/>
                </a:solidFill>
                <a:latin typeface="Arial"/>
                <a:ea typeface="Arial"/>
                <a:cs typeface="Arial"/>
              </a:defRPr>
            </a:pPr>
            <a:r>
              <a:rPr sz="930" b="0" i="0">
                <a:solidFill>
                  <a:srgbClr val="FFFFFF"/>
                </a:solidFill>
                <a:latin typeface="Arial"/>
                <a:ea typeface="Arial"/>
                <a:cs typeface="Arial"/>
              </a:rPr>
              <a:t>Reduce costs, simplify operations and accelerate innovation.</a:t>
            </a:r>
          </a:p>
          <a:p xmlns:a="http://schemas.openxmlformats.org/drawingml/2006/main">
            <a:pPr algn="l">
              <a:lnSpc>
                <a:spcPct val="125000"/>
              </a:lnSpc>
              <a:buNone/>
              <a:defRPr sz="930" b="0" i="0">
                <a:solidFill>
                  <a:srgbClr val="FFFFFF"/>
                </a:solidFill>
                <a:latin typeface="Arial"/>
                <a:ea typeface="Arial"/>
                <a:cs typeface="Arial"/>
              </a:defRPr>
            </a:pPr>
            <a:r>
              <a:rPr sz="930" b="0" i="0">
                <a:solidFill>
                  <a:srgbClr val="FFFFFF"/>
                </a:solidFill>
                <a:latin typeface="Arial"/>
                <a:ea typeface="Arial"/>
                <a:cs typeface="Arial"/>
              </a:rPr>
              <a:t>Reduce VMware dependency while accelerating cloud adoption.</a:t>
            </a:r>
          </a:p>
        </p:txBody>
      </p:sp>
      <p:sp>
        <p:nvSpPr>
          <p:cNvPr id="120" name="Rectangle 119">
            <a:extLst xmlns:a="http://schemas.openxmlformats.org/drawingml/2006/main">
              <a:ext uri="{FF2B5EF4-FFF2-40B4-BE49-F238E27FC236}">
                <a16:creationId xmlns:a16="http://schemas.microsoft.com/office/drawing/2014/main" id="{B07D6D35-4848-4C5A-A5CC-A315549C1905}"/>
              </a:ext>
            </a:extLst>
          </p:cNvPr>
          <p:cNvSpPr>
            <a:spLocks xmlns:a="http://schemas.openxmlformats.org/drawingml/2006/main" noGrp="1"/>
          </p:cNvSpPr>
          <p:nvPr/>
        </p:nvSpPr>
        <p:spPr>
          <a:xfrm xmlns:a="http://schemas.openxmlformats.org/drawingml/2006/main">
            <a:off x="342900" y="6677025"/>
            <a:ext cx="685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713" b="0" i="0">
                <a:solidFill>
                  <a:srgbClr val="555555"/>
                </a:solidFill>
                <a:latin typeface="Arial"/>
                <a:ea typeface="Arial"/>
                <a:cs typeface="Arial"/>
              </a:defRPr>
            </a:pPr>
            <a:r>
              <a:rPr sz="713" b="0" i="0">
                <a:solidFill>
                  <a:srgbClr val="555555"/>
                </a:solidFill>
                <a:latin typeface="Arial"/>
                <a:ea typeface="Arial"/>
                <a:cs typeface="Arial"/>
              </a:rPr>
              <a:t>Copyright © 2026, Oracle and/or its affiliates</a:t>
            </a:r>
          </a:p>
        </p:txBody>
      </p:sp>
      <p:sp>
        <p:nvSpPr>
          <p:cNvPr id="121" name="Rectangle 120">
            <a:extLst xmlns:a="http://schemas.openxmlformats.org/drawingml/2006/main">
              <a:ext uri="{FF2B5EF4-FFF2-40B4-BE49-F238E27FC236}">
                <a16:creationId xmlns:a16="http://schemas.microsoft.com/office/drawing/2014/main" id="{41B98EDE-E064-4E06-A83D-0FAE69F642FC}"/>
              </a:ext>
            </a:extLst>
          </p:cNvPr>
          <p:cNvSpPr>
            <a:spLocks xmlns:a="http://schemas.openxmlformats.org/drawingml/2006/main" noGrp="1"/>
          </p:cNvSpPr>
          <p:nvPr/>
        </p:nvSpPr>
        <p:spPr>
          <a:xfrm xmlns:a="http://schemas.openxmlformats.org/drawingml/2006/main">
            <a:off x="2647950" y="6677025"/>
            <a:ext cx="114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713" b="0" i="0">
                <a:solidFill>
                  <a:srgbClr val="555555"/>
                </a:solidFill>
                <a:latin typeface="Arial"/>
                <a:ea typeface="Arial"/>
                <a:cs typeface="Arial"/>
              </a:defRPr>
            </a:pPr>
            <a:r>
              <a:rPr sz="713" b="0" i="0">
                <a:solidFill>
                  <a:srgbClr val="555555"/>
                </a:solidFill>
                <a:latin typeface="Arial"/>
                <a:ea typeface="Arial"/>
                <a:cs typeface="Arial"/>
              </a:rPr>
              <a:t>|</a:t>
            </a:r>
          </a:p>
        </p:txBody>
      </p:sp>
      <p:sp>
        <p:nvSpPr>
          <p:cNvPr id="122" name="Rectangle 121">
            <a:extLst xmlns:a="http://schemas.openxmlformats.org/drawingml/2006/main">
              <a:ext uri="{FF2B5EF4-FFF2-40B4-BE49-F238E27FC236}">
                <a16:creationId xmlns:a16="http://schemas.microsoft.com/office/drawing/2014/main" id="{BE42D4B6-72DF-483D-B805-D2F82CFE7DA8}"/>
              </a:ext>
            </a:extLst>
          </p:cNvPr>
          <p:cNvSpPr>
            <a:spLocks xmlns:a="http://schemas.openxmlformats.org/drawingml/2006/main" noGrp="1"/>
          </p:cNvSpPr>
          <p:nvPr/>
        </p:nvSpPr>
        <p:spPr>
          <a:xfrm xmlns:a="http://schemas.openxmlformats.org/drawingml/2006/main">
            <a:off x="2819400" y="667702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713" b="0" i="0">
                <a:solidFill>
                  <a:srgbClr val="E30613"/>
                </a:solidFill>
                <a:latin typeface="Arial"/>
                <a:ea typeface="Arial"/>
                <a:cs typeface="Arial"/>
              </a:defRPr>
            </a:pPr>
            <a:r>
              <a:rPr sz="713" b="0" i="0">
                <a:solidFill>
                  <a:srgbClr val="E30613"/>
                </a:solidFill>
                <a:latin typeface="Arial"/>
                <a:ea typeface="Arial"/>
                <a:cs typeface="Arial"/>
              </a:rPr>
              <a:t>Confidential: Internal/Restricted/Highly Restricted</a:t>
            </a:r>
          </a:p>
        </p:txBody>
      </p:sp>
    </p:spTree>
    <p:extLst>
      <p:ext uri="{BB962C8B-B14F-4D97-AF65-F5344CB8AC3E}">
        <p14:creationId xmlns:p14="http://schemas.microsoft.com/office/powerpoint/2010/main" val="72035097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75" name="Oval 74">
            <a:extLst xmlns:a="http://schemas.openxmlformats.org/drawingml/2006/main">
              <a:ext uri="{FF2B5EF4-FFF2-40B4-BE49-F238E27FC236}">
                <a16:creationId xmlns:a16="http://schemas.microsoft.com/office/drawing/2014/main" id="{21F0DC85-8080-41CB-9F08-90BF24F47782}"/>
              </a:ext>
            </a:extLst>
          </p:cNvPr>
          <p:cNvSpPr>
            <a:spLocks xmlns:a="http://schemas.openxmlformats.org/drawingml/2006/main" noGrp="1"/>
          </p:cNvSpPr>
          <p:nvPr/>
        </p:nvSpPr>
        <p:spPr>
          <a:xfrm xmlns:a="http://schemas.openxmlformats.org/drawingml/2006/main">
            <a:off x="219075" y="2838450"/>
            <a:ext cx="47625" cy="4762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Oval 1">
            <a:extLst xmlns:a="http://schemas.openxmlformats.org/drawingml/2006/main">
              <a:ext uri="{FF2B5EF4-FFF2-40B4-BE49-F238E27FC236}">
                <a16:creationId xmlns:a16="http://schemas.microsoft.com/office/drawing/2014/main" id="{2F83E7F2-4739-496D-AEA1-9C7E9AF7442A}"/>
              </a:ext>
            </a:extLst>
          </p:cNvPr>
          <p:cNvSpPr>
            <a:spLocks xmlns:a="http://schemas.openxmlformats.org/drawingml/2006/main" noGrp="1"/>
          </p:cNvSpPr>
          <p:nvPr/>
        </p:nvSpPr>
        <p:spPr>
          <a:xfrm xmlns:a="http://schemas.openxmlformats.org/drawingml/2006/main">
            <a:off x="5133975" y="552450"/>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Oval 2">
            <a:extLst xmlns:a="http://schemas.openxmlformats.org/drawingml/2006/main">
              <a:ext uri="{FF2B5EF4-FFF2-40B4-BE49-F238E27FC236}">
                <a16:creationId xmlns:a16="http://schemas.microsoft.com/office/drawing/2014/main" id="{50365660-F790-4395-BCCA-A1B5A74443CB}"/>
              </a:ext>
            </a:extLst>
          </p:cNvPr>
          <p:cNvSpPr>
            <a:spLocks xmlns:a="http://schemas.openxmlformats.org/drawingml/2006/main" noGrp="1"/>
          </p:cNvSpPr>
          <p:nvPr/>
        </p:nvSpPr>
        <p:spPr>
          <a:xfrm xmlns:a="http://schemas.openxmlformats.org/drawingml/2006/main">
            <a:off x="5638800" y="933450"/>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Oval 3">
            <a:extLst xmlns:a="http://schemas.openxmlformats.org/drawingml/2006/main">
              <a:ext uri="{FF2B5EF4-FFF2-40B4-BE49-F238E27FC236}">
                <a16:creationId xmlns:a16="http://schemas.microsoft.com/office/drawing/2014/main" id="{9375D8DC-CA5F-40B0-B7BF-056CF93CA4C9}"/>
              </a:ext>
            </a:extLst>
          </p:cNvPr>
          <p:cNvSpPr>
            <a:spLocks xmlns:a="http://schemas.openxmlformats.org/drawingml/2006/main" noGrp="1"/>
          </p:cNvSpPr>
          <p:nvPr/>
        </p:nvSpPr>
        <p:spPr>
          <a:xfrm xmlns:a="http://schemas.openxmlformats.org/drawingml/2006/main">
            <a:off x="5810250" y="552450"/>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Oval 4">
            <a:extLst xmlns:a="http://schemas.openxmlformats.org/drawingml/2006/main">
              <a:ext uri="{FF2B5EF4-FFF2-40B4-BE49-F238E27FC236}">
                <a16:creationId xmlns:a16="http://schemas.microsoft.com/office/drawing/2014/main" id="{9B4636DC-97BE-46CA-BEB6-6BF5B65A7B74}"/>
              </a:ext>
            </a:extLst>
          </p:cNvPr>
          <p:cNvSpPr>
            <a:spLocks xmlns:a="http://schemas.openxmlformats.org/drawingml/2006/main" noGrp="1"/>
          </p:cNvSpPr>
          <p:nvPr/>
        </p:nvSpPr>
        <p:spPr>
          <a:xfrm xmlns:a="http://schemas.openxmlformats.org/drawingml/2006/main">
            <a:off x="4505325" y="981075"/>
            <a:ext cx="57150" cy="5715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567805AE-F6C9-426B-897E-D76835211245}"/>
              </a:ext>
            </a:extLst>
          </p:cNvPr>
          <p:cNvSpPr>
            <a:spLocks xmlns:a="http://schemas.openxmlformats.org/drawingml/2006/main" noGrp="1"/>
          </p:cNvSpPr>
          <p:nvPr/>
        </p:nvSpPr>
        <p:spPr>
          <a:xfrm xmlns:a="http://schemas.openxmlformats.org/drawingml/2006/main">
            <a:off x="5705475" y="990600"/>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B71CAA8A-0646-4E30-A41C-31D47C1744F5}"/>
              </a:ext>
            </a:extLst>
          </p:cNvPr>
          <p:cNvSpPr>
            <a:spLocks xmlns:a="http://schemas.openxmlformats.org/drawingml/2006/main" noGrp="1"/>
          </p:cNvSpPr>
          <p:nvPr/>
        </p:nvSpPr>
        <p:spPr>
          <a:xfrm xmlns:a="http://schemas.openxmlformats.org/drawingml/2006/main">
            <a:off x="6096000" y="1162050"/>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8004BEBF-6AFB-4C2C-929C-BF89C0BEE4CC}"/>
              </a:ext>
            </a:extLst>
          </p:cNvPr>
          <p:cNvSpPr>
            <a:spLocks xmlns:a="http://schemas.openxmlformats.org/drawingml/2006/main" noGrp="1"/>
          </p:cNvSpPr>
          <p:nvPr/>
        </p:nvSpPr>
        <p:spPr>
          <a:xfrm xmlns:a="http://schemas.openxmlformats.org/drawingml/2006/main">
            <a:off x="6753225" y="1304925"/>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971687F6-47A9-4150-89D4-7D270B8B3DC6}"/>
              </a:ext>
            </a:extLst>
          </p:cNvPr>
          <p:cNvSpPr>
            <a:spLocks xmlns:a="http://schemas.openxmlformats.org/drawingml/2006/main" noGrp="1"/>
          </p:cNvSpPr>
          <p:nvPr/>
        </p:nvSpPr>
        <p:spPr>
          <a:xfrm xmlns:a="http://schemas.openxmlformats.org/drawingml/2006/main">
            <a:off x="7239000" y="381000"/>
            <a:ext cx="66675" cy="666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0" name="Oval 9">
            <a:extLst xmlns:a="http://schemas.openxmlformats.org/drawingml/2006/main">
              <a:ext uri="{FF2B5EF4-FFF2-40B4-BE49-F238E27FC236}">
                <a16:creationId xmlns:a16="http://schemas.microsoft.com/office/drawing/2014/main" id="{22DB11DC-8AE3-4708-B895-9DCF02DCCDCD}"/>
              </a:ext>
            </a:extLst>
          </p:cNvPr>
          <p:cNvSpPr>
            <a:spLocks xmlns:a="http://schemas.openxmlformats.org/drawingml/2006/main" noGrp="1"/>
          </p:cNvSpPr>
          <p:nvPr/>
        </p:nvSpPr>
        <p:spPr>
          <a:xfrm xmlns:a="http://schemas.openxmlformats.org/drawingml/2006/main">
            <a:off x="8839200" y="790575"/>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1" name="Oval 10">
            <a:extLst xmlns:a="http://schemas.openxmlformats.org/drawingml/2006/main">
              <a:ext uri="{FF2B5EF4-FFF2-40B4-BE49-F238E27FC236}">
                <a16:creationId xmlns:a16="http://schemas.microsoft.com/office/drawing/2014/main" id="{4170C531-2321-40E2-8044-BC5E8CA5BB58}"/>
              </a:ext>
            </a:extLst>
          </p:cNvPr>
          <p:cNvSpPr>
            <a:spLocks xmlns:a="http://schemas.openxmlformats.org/drawingml/2006/main" noGrp="1"/>
          </p:cNvSpPr>
          <p:nvPr/>
        </p:nvSpPr>
        <p:spPr>
          <a:xfrm xmlns:a="http://schemas.openxmlformats.org/drawingml/2006/main">
            <a:off x="9048750" y="1495425"/>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Oval 11">
            <a:extLst xmlns:a="http://schemas.openxmlformats.org/drawingml/2006/main">
              <a:ext uri="{FF2B5EF4-FFF2-40B4-BE49-F238E27FC236}">
                <a16:creationId xmlns:a16="http://schemas.microsoft.com/office/drawing/2014/main" id="{7A4DA6F0-0E7F-4975-91FC-B8833E1EF25E}"/>
              </a:ext>
            </a:extLst>
          </p:cNvPr>
          <p:cNvSpPr>
            <a:spLocks xmlns:a="http://schemas.openxmlformats.org/drawingml/2006/main" noGrp="1"/>
          </p:cNvSpPr>
          <p:nvPr/>
        </p:nvSpPr>
        <p:spPr>
          <a:xfrm xmlns:a="http://schemas.openxmlformats.org/drawingml/2006/main">
            <a:off x="9239250" y="1647825"/>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3" name="Oval 12">
            <a:extLst xmlns:a="http://schemas.openxmlformats.org/drawingml/2006/main">
              <a:ext uri="{FF2B5EF4-FFF2-40B4-BE49-F238E27FC236}">
                <a16:creationId xmlns:a16="http://schemas.microsoft.com/office/drawing/2014/main" id="{30D3E989-E565-43CA-B47B-51F6E2E6D5A5}"/>
              </a:ext>
            </a:extLst>
          </p:cNvPr>
          <p:cNvSpPr>
            <a:spLocks xmlns:a="http://schemas.openxmlformats.org/drawingml/2006/main" noGrp="1"/>
          </p:cNvSpPr>
          <p:nvPr/>
        </p:nvSpPr>
        <p:spPr>
          <a:xfrm xmlns:a="http://schemas.openxmlformats.org/drawingml/2006/main">
            <a:off x="9944100" y="2076450"/>
            <a:ext cx="47625" cy="4762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4" name="Oval 13">
            <a:extLst xmlns:a="http://schemas.openxmlformats.org/drawingml/2006/main">
              <a:ext uri="{FF2B5EF4-FFF2-40B4-BE49-F238E27FC236}">
                <a16:creationId xmlns:a16="http://schemas.microsoft.com/office/drawing/2014/main" id="{E90AC5F6-AD11-4372-9904-82389EC0DDD8}"/>
              </a:ext>
            </a:extLst>
          </p:cNvPr>
          <p:cNvSpPr>
            <a:spLocks xmlns:a="http://schemas.openxmlformats.org/drawingml/2006/main" noGrp="1"/>
          </p:cNvSpPr>
          <p:nvPr/>
        </p:nvSpPr>
        <p:spPr>
          <a:xfrm xmlns:a="http://schemas.openxmlformats.org/drawingml/2006/main">
            <a:off x="11258550" y="228600"/>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5" name="Oval 14">
            <a:extLst xmlns:a="http://schemas.openxmlformats.org/drawingml/2006/main">
              <a:ext uri="{FF2B5EF4-FFF2-40B4-BE49-F238E27FC236}">
                <a16:creationId xmlns:a16="http://schemas.microsoft.com/office/drawing/2014/main" id="{7B52B2D8-D6B9-4D4D-B2A5-2C8D8AA80805}"/>
              </a:ext>
            </a:extLst>
          </p:cNvPr>
          <p:cNvSpPr>
            <a:spLocks xmlns:a="http://schemas.openxmlformats.org/drawingml/2006/main" noGrp="1"/>
          </p:cNvSpPr>
          <p:nvPr/>
        </p:nvSpPr>
        <p:spPr>
          <a:xfrm xmlns:a="http://schemas.openxmlformats.org/drawingml/2006/main">
            <a:off x="11306175" y="466725"/>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6" name="Oval 15">
            <a:extLst xmlns:a="http://schemas.openxmlformats.org/drawingml/2006/main">
              <a:ext uri="{FF2B5EF4-FFF2-40B4-BE49-F238E27FC236}">
                <a16:creationId xmlns:a16="http://schemas.microsoft.com/office/drawing/2014/main" id="{69CE3ABD-20CA-492A-A395-49E29EFAB399}"/>
              </a:ext>
            </a:extLst>
          </p:cNvPr>
          <p:cNvSpPr>
            <a:spLocks xmlns:a="http://schemas.openxmlformats.org/drawingml/2006/main" noGrp="1"/>
          </p:cNvSpPr>
          <p:nvPr/>
        </p:nvSpPr>
        <p:spPr>
          <a:xfrm xmlns:a="http://schemas.openxmlformats.org/drawingml/2006/main">
            <a:off x="11811000" y="723900"/>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7" name="Oval 16">
            <a:extLst xmlns:a="http://schemas.openxmlformats.org/drawingml/2006/main">
              <a:ext uri="{FF2B5EF4-FFF2-40B4-BE49-F238E27FC236}">
                <a16:creationId xmlns:a16="http://schemas.microsoft.com/office/drawing/2014/main" id="{B88F33C5-401C-4533-ABE2-633CA7C878A6}"/>
              </a:ext>
            </a:extLst>
          </p:cNvPr>
          <p:cNvSpPr>
            <a:spLocks xmlns:a="http://schemas.openxmlformats.org/drawingml/2006/main" noGrp="1"/>
          </p:cNvSpPr>
          <p:nvPr/>
        </p:nvSpPr>
        <p:spPr>
          <a:xfrm xmlns:a="http://schemas.openxmlformats.org/drawingml/2006/main">
            <a:off x="11991975" y="1181100"/>
            <a:ext cx="47625" cy="4762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8" name="Oval 17">
            <a:extLst xmlns:a="http://schemas.openxmlformats.org/drawingml/2006/main">
              <a:ext uri="{FF2B5EF4-FFF2-40B4-BE49-F238E27FC236}">
                <a16:creationId xmlns:a16="http://schemas.microsoft.com/office/drawing/2014/main" id="{81912CAD-A491-40CB-BE59-97E8CE401F65}"/>
              </a:ext>
            </a:extLst>
          </p:cNvPr>
          <p:cNvSpPr>
            <a:spLocks xmlns:a="http://schemas.openxmlformats.org/drawingml/2006/main" noGrp="1"/>
          </p:cNvSpPr>
          <p:nvPr/>
        </p:nvSpPr>
        <p:spPr>
          <a:xfrm xmlns:a="http://schemas.openxmlformats.org/drawingml/2006/main">
            <a:off x="0" y="3028950"/>
            <a:ext cx="1381125" cy="1219200"/>
          </a:xfrm>
          <a:prstGeom xmlns:a="http://schemas.openxmlformats.org/drawingml/2006/main" prst="ellipse">
            <a:avLst/>
          </a:prstGeom>
          <a:solidFill xmlns:a="http://schemas.openxmlformats.org/drawingml/2006/main">
            <a:srgbClr val="F5F8F6"/>
          </a:solidFill>
          <a:ln xmlns:a="http://schemas.openxmlformats.org/drawingml/2006/main" w="9525">
            <a:solidFill>
              <a:srgbClr val="E3E8E5"/>
            </a:solidFill>
            <a:prstDash val="dot"/>
          </a:ln>
        </p:spPr>
        <p:txBody>
          <a:bodyPr xmlns:a="http://schemas.openxmlformats.org/drawingml/2006/main"/>
          <a:lstStyle xmlns:a="http://schemas.openxmlformats.org/drawingml/2006/main"/>
          <a:p xmlns:a="http://schemas.openxmlformats.org/drawingml/2006/main">
            <a:endParaRPr/>
          </a:p>
        </p:txBody>
      </p:sp>
      <p:pic>
        <p:nvPicPr>
          <p:cNvPr id="107" name="Picture 93"/>
          <p:cNvPicPr>
            <a:picLocks xmlns:a="http://schemas.openxmlformats.org/drawingml/2006/main" noChangeAspect="1"/>
          </p:cNvPicPr>
          <p:nvPr/>
        </p:nvPicPr>
        <p:blipFill>
          <a:blip xmlns:r="http://schemas.openxmlformats.org/officeDocument/2006/relationships" xmlns:a="http://schemas.openxmlformats.org/drawingml/2006/main" r:embed="R1ba56c22598e493f"/>
          <a:stretch xmlns:a="http://schemas.openxmlformats.org/drawingml/2006/main"/>
        </p:blipFill>
        <p:spPr>
          <a:xfrm xmlns:a="http://schemas.openxmlformats.org/drawingml/2006/main">
            <a:off x="426149" y="276225"/>
            <a:ext cx="1824228" cy="542925"/>
          </a:xfrm>
          <a:prstGeom xmlns:a="http://schemas.openxmlformats.org/drawingml/2006/main" prst="rect">
            <a:avLst/>
          </a:prstGeom>
        </p:spPr>
      </p:pic>
      <p:sp>
        <p:nvSpPr>
          <p:cNvPr id="21" name="Rectangle 20">
            <a:extLst xmlns:a="http://schemas.openxmlformats.org/drawingml/2006/main">
              <a:ext uri="{FF2B5EF4-FFF2-40B4-BE49-F238E27FC236}">
                <a16:creationId xmlns:a16="http://schemas.microsoft.com/office/drawing/2014/main" id="{C287F6CF-5BDC-4BBA-BB60-B25AA48793ED}"/>
              </a:ext>
            </a:extLst>
          </p:cNvPr>
          <p:cNvSpPr>
            <a:spLocks xmlns:a="http://schemas.openxmlformats.org/drawingml/2006/main" noGrp="1"/>
          </p:cNvSpPr>
          <p:nvPr/>
        </p:nvSpPr>
        <p:spPr>
          <a:xfrm xmlns:a="http://schemas.openxmlformats.org/drawingml/2006/main">
            <a:off x="400050" y="1118185"/>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3150" b="1" i="0">
                <a:solidFill>
                  <a:srgbClr val="003B25"/>
                </a:solidFill>
                <a:latin typeface="Arial"/>
                <a:ea typeface="Arial"/>
                <a:cs typeface="Arial"/>
              </a:defRPr>
            </a:pPr>
            <a:r>
              <a:rPr sz="3150" b="1" i="0">
                <a:solidFill>
                  <a:srgbClr val="003B25"/>
                </a:solidFill>
                <a:latin typeface="Arial"/>
                <a:ea typeface="Arial"/>
                <a:cs typeface="Arial"/>
              </a:rPr>
              <a:t>Current Environment</a:t>
            </a:r>
          </a:p>
        </p:txBody>
      </p:sp>
      <p:sp>
        <p:nvSpPr>
          <p:cNvPr id="22" name="Rectangle 21">
            <a:extLst xmlns:a="http://schemas.openxmlformats.org/drawingml/2006/main">
              <a:ext uri="{FF2B5EF4-FFF2-40B4-BE49-F238E27FC236}">
                <a16:creationId xmlns:a16="http://schemas.microsoft.com/office/drawing/2014/main" id="{7181C17D-13DF-4692-BC64-FC2AD05459C9}"/>
              </a:ext>
            </a:extLst>
          </p:cNvPr>
          <p:cNvSpPr>
            <a:spLocks xmlns:a="http://schemas.openxmlformats.org/drawingml/2006/main" noGrp="1"/>
          </p:cNvSpPr>
          <p:nvPr/>
        </p:nvSpPr>
        <p:spPr>
          <a:xfrm xmlns:a="http://schemas.openxmlformats.org/drawingml/2006/main">
            <a:off x="400050" y="1704975"/>
            <a:ext cx="371475" cy="38100"/>
          </a:xfrm>
          <a:prstGeom xmlns:a="http://schemas.openxmlformats.org/drawingml/2006/main" prst="rect">
            <a:avLst/>
          </a:prstGeom>
          <a:solidFill xmlns:a="http://schemas.openxmlformats.org/drawingml/2006/main">
            <a:srgbClr val="F0000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3" name="Rectangle 22">
            <a:extLst xmlns:a="http://schemas.openxmlformats.org/drawingml/2006/main">
              <a:ext uri="{FF2B5EF4-FFF2-40B4-BE49-F238E27FC236}">
                <a16:creationId xmlns:a16="http://schemas.microsoft.com/office/drawing/2014/main" id="{CF1157D8-7FA6-44EE-9ABA-8C1B2D76EB92}"/>
              </a:ext>
            </a:extLst>
          </p:cNvPr>
          <p:cNvSpPr>
            <a:spLocks xmlns:a="http://schemas.openxmlformats.org/drawingml/2006/main" noGrp="1"/>
          </p:cNvSpPr>
          <p:nvPr/>
        </p:nvSpPr>
        <p:spPr>
          <a:xfrm xmlns:a="http://schemas.openxmlformats.org/drawingml/2006/main">
            <a:off x="400050" y="1885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0" i="0">
                <a:solidFill>
                  <a:srgbClr val="111111"/>
                </a:solidFill>
                <a:latin typeface="Arial"/>
                <a:ea typeface="Arial"/>
                <a:cs typeface="Arial"/>
              </a:defRPr>
            </a:pPr>
            <a:r>
              <a:rPr sz="1200" b="0" i="0">
                <a:solidFill>
                  <a:srgbClr val="111111"/>
                </a:solidFill>
                <a:latin typeface="Arial"/>
                <a:ea typeface="Arial"/>
                <a:cs typeface="Arial"/>
              </a:rPr>
              <a:t>Analysis based on RVTools data shared by the customer.</a:t>
            </a:r>
          </a:p>
        </p:txBody>
      </p:sp>
      <p:sp>
        <p:nvSpPr>
          <p:cNvPr id="24" name="Rounded Rectangle 23">
            <a:extLst xmlns:a="http://schemas.openxmlformats.org/drawingml/2006/main">
              <a:ext uri="{FF2B5EF4-FFF2-40B4-BE49-F238E27FC236}">
                <a16:creationId xmlns:a16="http://schemas.microsoft.com/office/drawing/2014/main" id="{7742F759-7FA3-4F04-BD5F-BC22AB94CD82}"/>
              </a:ext>
            </a:extLst>
          </p:cNvPr>
          <p:cNvSpPr>
            <a:spLocks xmlns:a="http://schemas.openxmlformats.org/drawingml/2006/main" noGrp="1"/>
          </p:cNvSpPr>
          <p:nvPr/>
        </p:nvSpPr>
        <p:spPr>
          <a:xfrm xmlns:a="http://schemas.openxmlformats.org/drawingml/2006/main">
            <a:off x="400050" y="2181225"/>
            <a:ext cx="11334750" cy="2152650"/>
          </a:xfrm>
          <a:prstGeom xmlns:a="http://schemas.openxmlformats.org/drawingml/2006/main" prst="roundRect">
            <a:avLst>
              <a:gd name="adj" fmla="val 3097"/>
            </a:avLst>
          </a:prstGeom>
          <a:solidFill xmlns:a="http://schemas.openxmlformats.org/drawingml/2006/main">
            <a:srgbClr val="FFFFFF"/>
          </a:solidFill>
          <a:ln xmlns:a="http://schemas.openxmlformats.org/drawingml/2006/main" w="9525">
            <a:solidFill>
              <a:srgbClr val="D9DED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25" name="Rounded Rectangle 24">
            <a:extLst xmlns:a="http://schemas.openxmlformats.org/drawingml/2006/main">
              <a:ext uri="{FF2B5EF4-FFF2-40B4-BE49-F238E27FC236}">
                <a16:creationId xmlns:a16="http://schemas.microsoft.com/office/drawing/2014/main" id="{B404DBE3-517A-4268-99D5-24CDE97D5A55}"/>
              </a:ext>
            </a:extLst>
          </p:cNvPr>
          <p:cNvSpPr>
            <a:spLocks xmlns:a="http://schemas.openxmlformats.org/drawingml/2006/main" noGrp="1"/>
          </p:cNvSpPr>
          <p:nvPr/>
        </p:nvSpPr>
        <p:spPr>
          <a:xfrm xmlns:a="http://schemas.openxmlformats.org/drawingml/2006/main">
            <a:off x="400050" y="2181225"/>
            <a:ext cx="11334750" cy="419100"/>
          </a:xfrm>
          <a:prstGeom xmlns:a="http://schemas.openxmlformats.org/drawingml/2006/main" prst="roundRect">
            <a:avLst>
              <a:gd name="adj" fmla="val 15909"/>
            </a:avLst>
          </a:prstGeom>
          <a:gradFill xmlns:a="http://schemas.openxmlformats.org/drawingml/2006/main">
            <a:gsLst>
              <a:gs pos="0">
                <a:srgbClr val="003B25"/>
              </a:gs>
              <a:gs pos="100000">
                <a:srgbClr val="0A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6" name="Rectangle 25">
            <a:extLst xmlns:a="http://schemas.openxmlformats.org/drawingml/2006/main">
              <a:ext uri="{FF2B5EF4-FFF2-40B4-BE49-F238E27FC236}">
                <a16:creationId xmlns:a16="http://schemas.microsoft.com/office/drawing/2014/main" id="{F149E187-8D0C-45BD-B937-45018F857AE1}"/>
              </a:ext>
            </a:extLst>
          </p:cNvPr>
          <p:cNvSpPr>
            <a:spLocks xmlns:a="http://schemas.openxmlformats.org/drawingml/2006/main" noGrp="1"/>
          </p:cNvSpPr>
          <p:nvPr/>
        </p:nvSpPr>
        <p:spPr>
          <a:xfrm xmlns:a="http://schemas.openxmlformats.org/drawingml/2006/main">
            <a:off x="400050" y="2514600"/>
            <a:ext cx="11334750" cy="85725"/>
          </a:xfrm>
          <a:prstGeom xmlns:a="http://schemas.openxmlformats.org/drawingml/2006/main" prst="rect">
            <a:avLst/>
          </a:prstGeom>
          <a:gradFill xmlns:a="http://schemas.openxmlformats.org/drawingml/2006/main">
            <a:gsLst>
              <a:gs pos="0">
                <a:srgbClr val="003B25"/>
              </a:gs>
              <a:gs pos="100000">
                <a:srgbClr val="0A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114" name="Picture 100"/>
          <p:cNvPicPr>
            <a:picLocks xmlns:a="http://schemas.openxmlformats.org/drawingml/2006/main" noChangeAspect="1"/>
          </p:cNvPicPr>
          <p:nvPr/>
        </p:nvPicPr>
        <p:blipFill>
          <a:blip xmlns:r="http://schemas.openxmlformats.org/officeDocument/2006/relationships" xmlns:a="http://schemas.openxmlformats.org/drawingml/2006/main" r:embed="R3d1fb4340daf4a6d"/>
          <a:stretch xmlns:a="http://schemas.openxmlformats.org/drawingml/2006/main"/>
        </p:blipFill>
        <p:spPr>
          <a:xfrm xmlns:a="http://schemas.openxmlformats.org/drawingml/2006/main">
            <a:off x="600075" y="2261185"/>
            <a:ext cx="285750" cy="278230"/>
          </a:xfrm>
          <a:prstGeom xmlns:a="http://schemas.openxmlformats.org/drawingml/2006/main" prst="rect">
            <a:avLst/>
          </a:prstGeom>
        </p:spPr>
      </p:pic>
      <p:sp>
        <p:nvSpPr>
          <p:cNvPr id="28" name="editable-current-datacenter">
            <a:extLst xmlns:a="http://schemas.openxmlformats.org/drawingml/2006/main">
              <a:ext uri="{FF2B5EF4-FFF2-40B4-BE49-F238E27FC236}">
                <a16:creationId xmlns:a16="http://schemas.microsoft.com/office/drawing/2014/main" id="{1FCDE930-188D-4EA2-8394-918FC60EA432}"/>
              </a:ext>
            </a:extLst>
          </p:cNvPr>
          <p:cNvSpPr>
            <a:spLocks xmlns:a="http://schemas.openxmlformats.org/drawingml/2006/main" noGrp="1"/>
          </p:cNvSpPr>
          <p:nvPr/>
        </p:nvSpPr>
        <p:spPr>
          <a:xfrm xmlns:a="http://schemas.openxmlformats.org/drawingml/2006/main">
            <a:off x="981075" y="233362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350" b="1" i="0">
                <a:solidFill>
                  <a:srgbClr val="FFFFFF"/>
                </a:solidFill>
                <a:latin typeface="Arial"/>
                <a:ea typeface="Arial"/>
                <a:cs typeface="Arial"/>
              </a:defRPr>
            </a:pPr>
            <a:r>
              <a:rPr sz="1350" b="1" i="0">
                <a:solidFill>
                  <a:srgbClr val="FFFFFF"/>
                </a:solidFill>
                <a:latin typeface="Arial"/>
                <a:ea typeface="Arial"/>
                <a:cs typeface="Arial"/>
              </a:rPr>
              <a:t>Datacenter 1 – CLIENT</a:t>
            </a:r>
          </a:p>
        </p:txBody>
      </p:sp>
      <p:sp>
        <p:nvSpPr>
          <p:cNvPr id="29" name="Straight Connector 28">
            <a:extLst xmlns:a="http://schemas.openxmlformats.org/drawingml/2006/main">
              <a:ext uri="{FF2B5EF4-FFF2-40B4-BE49-F238E27FC236}">
                <a16:creationId xmlns:a16="http://schemas.microsoft.com/office/drawing/2014/main" id="{073F4B3D-A689-436F-BCE6-8235406074F8}"/>
              </a:ext>
            </a:extLst>
          </p:cNvPr>
          <p:cNvSpPr>
            <a:spLocks xmlns:a="http://schemas.openxmlformats.org/drawingml/2006/main" noGrp="1"/>
          </p:cNvSpPr>
          <p:nvPr/>
        </p:nvSpPr>
        <p:spPr>
          <a:xfrm xmlns:a="http://schemas.openxmlformats.org/drawingml/2006/main">
            <a:off x="3200400" y="2857500"/>
            <a:ext cx="0" cy="102870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Straight Connector 29">
            <a:extLst xmlns:a="http://schemas.openxmlformats.org/drawingml/2006/main">
              <a:ext uri="{FF2B5EF4-FFF2-40B4-BE49-F238E27FC236}">
                <a16:creationId xmlns:a16="http://schemas.microsoft.com/office/drawing/2014/main" id="{FB60119E-4550-4C62-A1C7-2490DD52390F}"/>
              </a:ext>
            </a:extLst>
          </p:cNvPr>
          <p:cNvSpPr>
            <a:spLocks xmlns:a="http://schemas.openxmlformats.org/drawingml/2006/main" noGrp="1"/>
          </p:cNvSpPr>
          <p:nvPr/>
        </p:nvSpPr>
        <p:spPr>
          <a:xfrm xmlns:a="http://schemas.openxmlformats.org/drawingml/2006/main">
            <a:off x="5981700" y="2857500"/>
            <a:ext cx="0" cy="102870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Straight Connector 30">
            <a:extLst xmlns:a="http://schemas.openxmlformats.org/drawingml/2006/main">
              <a:ext uri="{FF2B5EF4-FFF2-40B4-BE49-F238E27FC236}">
                <a16:creationId xmlns:a16="http://schemas.microsoft.com/office/drawing/2014/main" id="{635B3C01-9C5E-4AA0-AC7B-F394D0687E36}"/>
              </a:ext>
            </a:extLst>
          </p:cNvPr>
          <p:cNvSpPr>
            <a:spLocks xmlns:a="http://schemas.openxmlformats.org/drawingml/2006/main" noGrp="1"/>
          </p:cNvSpPr>
          <p:nvPr/>
        </p:nvSpPr>
        <p:spPr>
          <a:xfrm xmlns:a="http://schemas.openxmlformats.org/drawingml/2006/main">
            <a:off x="8724900" y="2857500"/>
            <a:ext cx="0" cy="102870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Rectangle 31">
            <a:extLst xmlns:a="http://schemas.openxmlformats.org/drawingml/2006/main">
              <a:ext uri="{FF2B5EF4-FFF2-40B4-BE49-F238E27FC236}">
                <a16:creationId xmlns:a16="http://schemas.microsoft.com/office/drawing/2014/main" id="{B59BC397-1AED-455B-BFE0-6D1460C9CD8C}"/>
              </a:ext>
            </a:extLst>
          </p:cNvPr>
          <p:cNvSpPr>
            <a:spLocks xmlns:a="http://schemas.openxmlformats.org/drawingml/2006/main" noGrp="1"/>
          </p:cNvSpPr>
          <p:nvPr/>
        </p:nvSpPr>
        <p:spPr>
          <a:xfrm xmlns:a="http://schemas.openxmlformats.org/drawingml/2006/main">
            <a:off x="1171575" y="336232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VMs</a:t>
            </a:r>
          </a:p>
        </p:txBody>
      </p:sp>
      <p:sp>
        <p:nvSpPr>
          <p:cNvPr id="33" name="editable-current-vms">
            <a:extLst xmlns:a="http://schemas.openxmlformats.org/drawingml/2006/main">
              <a:ext uri="{FF2B5EF4-FFF2-40B4-BE49-F238E27FC236}">
                <a16:creationId xmlns:a16="http://schemas.microsoft.com/office/drawing/2014/main" id="{127C50D5-D813-45E0-8A65-C431BD0456FE}"/>
              </a:ext>
            </a:extLst>
          </p:cNvPr>
          <p:cNvSpPr>
            <a:spLocks xmlns:a="http://schemas.openxmlformats.org/drawingml/2006/main" noGrp="1"/>
          </p:cNvSpPr>
          <p:nvPr/>
        </p:nvSpPr>
        <p:spPr>
          <a:xfrm xmlns:a="http://schemas.openxmlformats.org/drawingml/2006/main">
            <a:off x="1171575" y="3609975"/>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20,100</a:t>
            </a:r>
          </a:p>
        </p:txBody>
      </p:sp>
      <p:pic>
        <p:nvPicPr>
          <p:cNvPr id="121" name="Picture 107"/>
          <p:cNvPicPr>
            <a:picLocks xmlns:a="http://schemas.openxmlformats.org/drawingml/2006/main" noChangeAspect="1"/>
          </p:cNvPicPr>
          <p:nvPr/>
        </p:nvPicPr>
        <p:blipFill>
          <a:blip xmlns:r="http://schemas.openxmlformats.org/officeDocument/2006/relationships" xmlns:a="http://schemas.openxmlformats.org/drawingml/2006/main" r:embed="R75bf0f6813ce426c"/>
          <a:stretch xmlns:a="http://schemas.openxmlformats.org/drawingml/2006/main"/>
        </p:blipFill>
        <p:spPr>
          <a:xfrm xmlns:a="http://schemas.openxmlformats.org/drawingml/2006/main">
            <a:off x="1590675" y="2781300"/>
            <a:ext cx="495300" cy="495300"/>
          </a:xfrm>
          <a:prstGeom xmlns:a="http://schemas.openxmlformats.org/drawingml/2006/main" prst="rect">
            <a:avLst/>
          </a:prstGeom>
        </p:spPr>
      </p:pic>
      <p:sp>
        <p:nvSpPr>
          <p:cNvPr id="35" name="Rectangle 34">
            <a:extLst xmlns:a="http://schemas.openxmlformats.org/drawingml/2006/main">
              <a:ext uri="{FF2B5EF4-FFF2-40B4-BE49-F238E27FC236}">
                <a16:creationId xmlns:a16="http://schemas.microsoft.com/office/drawing/2014/main" id="{CCA77633-015F-457C-984D-6673C096DB92}"/>
              </a:ext>
            </a:extLst>
          </p:cNvPr>
          <p:cNvSpPr>
            <a:spLocks xmlns:a="http://schemas.openxmlformats.org/drawingml/2006/main" noGrp="1"/>
          </p:cNvSpPr>
          <p:nvPr/>
        </p:nvSpPr>
        <p:spPr>
          <a:xfrm xmlns:a="http://schemas.openxmlformats.org/drawingml/2006/main">
            <a:off x="3952875" y="336232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vCPUs</a:t>
            </a:r>
          </a:p>
        </p:txBody>
      </p:sp>
      <p:sp>
        <p:nvSpPr>
          <p:cNvPr id="36" name="editable-current-vcpus">
            <a:extLst xmlns:a="http://schemas.openxmlformats.org/drawingml/2006/main">
              <a:ext uri="{FF2B5EF4-FFF2-40B4-BE49-F238E27FC236}">
                <a16:creationId xmlns:a16="http://schemas.microsoft.com/office/drawing/2014/main" id="{D3349B43-D610-4795-98E9-37BED54D9ECE}"/>
              </a:ext>
            </a:extLst>
          </p:cNvPr>
          <p:cNvSpPr>
            <a:spLocks xmlns:a="http://schemas.openxmlformats.org/drawingml/2006/main" noGrp="1"/>
          </p:cNvSpPr>
          <p:nvPr/>
        </p:nvSpPr>
        <p:spPr>
          <a:xfrm xmlns:a="http://schemas.openxmlformats.org/drawingml/2006/main">
            <a:off x="3952875" y="3609975"/>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3,000</a:t>
            </a:r>
          </a:p>
        </p:txBody>
      </p:sp>
      <p:pic>
        <p:nvPicPr>
          <p:cNvPr id="124" name="Picture 110"/>
          <p:cNvPicPr>
            <a:picLocks xmlns:a="http://schemas.openxmlformats.org/drawingml/2006/main" noChangeAspect="1"/>
          </p:cNvPicPr>
          <p:nvPr/>
        </p:nvPicPr>
        <p:blipFill>
          <a:blip xmlns:r="http://schemas.openxmlformats.org/officeDocument/2006/relationships" xmlns:a="http://schemas.openxmlformats.org/drawingml/2006/main" r:embed="R1d744d4ebfce468c"/>
          <a:stretch xmlns:a="http://schemas.openxmlformats.org/drawingml/2006/main"/>
        </p:blipFill>
        <p:spPr>
          <a:xfrm xmlns:a="http://schemas.openxmlformats.org/drawingml/2006/main">
            <a:off x="4371975" y="2781300"/>
            <a:ext cx="495300" cy="495300"/>
          </a:xfrm>
          <a:prstGeom xmlns:a="http://schemas.openxmlformats.org/drawingml/2006/main" prst="rect">
            <a:avLst/>
          </a:prstGeom>
        </p:spPr>
      </p:pic>
      <p:sp>
        <p:nvSpPr>
          <p:cNvPr id="38" name="Rectangle 37">
            <a:extLst xmlns:a="http://schemas.openxmlformats.org/drawingml/2006/main">
              <a:ext uri="{FF2B5EF4-FFF2-40B4-BE49-F238E27FC236}">
                <a16:creationId xmlns:a16="http://schemas.microsoft.com/office/drawing/2014/main" id="{52A61E4A-8FF4-4FA2-BD1B-74AD7A47DE93}"/>
              </a:ext>
            </a:extLst>
          </p:cNvPr>
          <p:cNvSpPr>
            <a:spLocks xmlns:a="http://schemas.openxmlformats.org/drawingml/2006/main" noGrp="1"/>
          </p:cNvSpPr>
          <p:nvPr/>
        </p:nvSpPr>
        <p:spPr>
          <a:xfrm xmlns:a="http://schemas.openxmlformats.org/drawingml/2006/main">
            <a:off x="6696075" y="336232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vRAM (GB)</a:t>
            </a:r>
          </a:p>
        </p:txBody>
      </p:sp>
      <p:sp>
        <p:nvSpPr>
          <p:cNvPr id="39" name="editable-current-vram">
            <a:extLst xmlns:a="http://schemas.openxmlformats.org/drawingml/2006/main">
              <a:ext uri="{FF2B5EF4-FFF2-40B4-BE49-F238E27FC236}">
                <a16:creationId xmlns:a16="http://schemas.microsoft.com/office/drawing/2014/main" id="{90A624D4-C31B-42AE-A588-376259BB8A49}"/>
              </a:ext>
            </a:extLst>
          </p:cNvPr>
          <p:cNvSpPr>
            <a:spLocks xmlns:a="http://schemas.openxmlformats.org/drawingml/2006/main" noGrp="1"/>
          </p:cNvSpPr>
          <p:nvPr/>
        </p:nvSpPr>
        <p:spPr>
          <a:xfrm xmlns:a="http://schemas.openxmlformats.org/drawingml/2006/main">
            <a:off x="6696075" y="3609975"/>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30,000</a:t>
            </a:r>
          </a:p>
        </p:txBody>
      </p:sp>
      <p:pic>
        <p:nvPicPr>
          <p:cNvPr id="127" name="Picture 113"/>
          <p:cNvPicPr>
            <a:picLocks xmlns:a="http://schemas.openxmlformats.org/drawingml/2006/main" noChangeAspect="1"/>
          </p:cNvPicPr>
          <p:nvPr/>
        </p:nvPicPr>
        <p:blipFill>
          <a:blip xmlns:r="http://schemas.openxmlformats.org/officeDocument/2006/relationships" xmlns:a="http://schemas.openxmlformats.org/drawingml/2006/main" r:embed="R8855bb94d11e4aac"/>
          <a:stretch xmlns:a="http://schemas.openxmlformats.org/drawingml/2006/main"/>
        </p:blipFill>
        <p:spPr>
          <a:xfrm xmlns:a="http://schemas.openxmlformats.org/drawingml/2006/main">
            <a:off x="7115175" y="2781300"/>
            <a:ext cx="495300" cy="495300"/>
          </a:xfrm>
          <a:prstGeom xmlns:a="http://schemas.openxmlformats.org/drawingml/2006/main" prst="rect">
            <a:avLst/>
          </a:prstGeom>
        </p:spPr>
      </p:pic>
      <p:sp>
        <p:nvSpPr>
          <p:cNvPr id="41" name="Rectangle 40">
            <a:extLst xmlns:a="http://schemas.openxmlformats.org/drawingml/2006/main">
              <a:ext uri="{FF2B5EF4-FFF2-40B4-BE49-F238E27FC236}">
                <a16:creationId xmlns:a16="http://schemas.microsoft.com/office/drawing/2014/main" id="{8F1EB62F-0498-4D60-9534-8F4AE5E5A7C5}"/>
              </a:ext>
            </a:extLst>
          </p:cNvPr>
          <p:cNvSpPr>
            <a:spLocks xmlns:a="http://schemas.openxmlformats.org/drawingml/2006/main" noGrp="1"/>
          </p:cNvSpPr>
          <p:nvPr/>
        </p:nvSpPr>
        <p:spPr>
          <a:xfrm xmlns:a="http://schemas.openxmlformats.org/drawingml/2006/main">
            <a:off x="9448800" y="336232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Storage (TB)</a:t>
            </a:r>
          </a:p>
        </p:txBody>
      </p:sp>
      <p:sp>
        <p:nvSpPr>
          <p:cNvPr id="42" name="editable-current-storage">
            <a:extLst xmlns:a="http://schemas.openxmlformats.org/drawingml/2006/main">
              <a:ext uri="{FF2B5EF4-FFF2-40B4-BE49-F238E27FC236}">
                <a16:creationId xmlns:a16="http://schemas.microsoft.com/office/drawing/2014/main" id="{84830E81-2535-4FE2-8239-D8779C43C1A8}"/>
              </a:ext>
            </a:extLst>
          </p:cNvPr>
          <p:cNvSpPr>
            <a:spLocks xmlns:a="http://schemas.openxmlformats.org/drawingml/2006/main" noGrp="1"/>
          </p:cNvSpPr>
          <p:nvPr/>
        </p:nvSpPr>
        <p:spPr>
          <a:xfrm xmlns:a="http://schemas.openxmlformats.org/drawingml/2006/main">
            <a:off x="9448800" y="3609975"/>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210</a:t>
            </a:r>
          </a:p>
        </p:txBody>
      </p:sp>
      <p:pic>
        <p:nvPicPr>
          <p:cNvPr id="130" name="Picture 116"/>
          <p:cNvPicPr>
            <a:picLocks xmlns:a="http://schemas.openxmlformats.org/drawingml/2006/main" noChangeAspect="1"/>
          </p:cNvPicPr>
          <p:nvPr/>
        </p:nvPicPr>
        <p:blipFill>
          <a:blip xmlns:r="http://schemas.openxmlformats.org/officeDocument/2006/relationships" xmlns:a="http://schemas.openxmlformats.org/drawingml/2006/main" r:embed="Re8449ccd21fd4b72"/>
          <a:stretch xmlns:a="http://schemas.openxmlformats.org/drawingml/2006/main"/>
        </p:blipFill>
        <p:spPr>
          <a:xfrm xmlns:a="http://schemas.openxmlformats.org/drawingml/2006/main">
            <a:off x="9867900" y="2781300"/>
            <a:ext cx="495300" cy="495300"/>
          </a:xfrm>
          <a:prstGeom xmlns:a="http://schemas.openxmlformats.org/drawingml/2006/main" prst="rect">
            <a:avLst/>
          </a:prstGeom>
        </p:spPr>
      </p:pic>
      <p:sp>
        <p:nvSpPr>
          <p:cNvPr id="44" name="editable-current-powered-on">
            <a:extLst xmlns:a="http://schemas.openxmlformats.org/drawingml/2006/main">
              <a:ext uri="{FF2B5EF4-FFF2-40B4-BE49-F238E27FC236}">
                <a16:creationId xmlns:a16="http://schemas.microsoft.com/office/drawing/2014/main" id="{40B2A91E-AAE2-4FEB-AD52-D18E23D0EC0B}"/>
              </a:ext>
            </a:extLst>
          </p:cNvPr>
          <p:cNvSpPr>
            <a:spLocks xmlns:a="http://schemas.openxmlformats.org/drawingml/2006/main" noGrp="1"/>
          </p:cNvSpPr>
          <p:nvPr/>
        </p:nvSpPr>
        <p:spPr>
          <a:xfrm xmlns:a="http://schemas.openxmlformats.org/drawingml/2006/main">
            <a:off x="1323975" y="387667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r">
              <a:lnSpc>
                <a:spcPct val="100000"/>
              </a:lnSpc>
              <a:buNone/>
              <a:defRPr sz="825" b="0" i="0">
                <a:solidFill>
                  <a:srgbClr val="111111"/>
                </a:solidFill>
                <a:latin typeface="Arial"/>
                <a:ea typeface="Arial"/>
                <a:cs typeface="Arial"/>
              </a:defRPr>
            </a:pPr>
            <a:r>
              <a:rPr sz="825" b="0" i="0">
                <a:solidFill>
                  <a:srgbClr val="111111"/>
                </a:solidFill>
                <a:latin typeface="Arial"/>
                <a:ea typeface="Arial"/>
                <a:cs typeface="Arial"/>
              </a:rPr>
              <a:t>18,400</a:t>
            </a:r>
          </a:p>
        </p:txBody>
      </p:sp>
      <p:sp>
        <p:nvSpPr>
          <p:cNvPr id="45" name="Rectangle 44">
            <a:extLst xmlns:a="http://schemas.openxmlformats.org/drawingml/2006/main">
              <a:ext uri="{FF2B5EF4-FFF2-40B4-BE49-F238E27FC236}">
                <a16:creationId xmlns:a16="http://schemas.microsoft.com/office/drawing/2014/main" id="{277AB89B-0977-4880-A97D-D7648C371A3B}"/>
              </a:ext>
            </a:extLst>
          </p:cNvPr>
          <p:cNvSpPr>
            <a:spLocks xmlns:a="http://schemas.openxmlformats.org/drawingml/2006/main" noGrp="1"/>
          </p:cNvSpPr>
          <p:nvPr/>
        </p:nvSpPr>
        <p:spPr>
          <a:xfrm xmlns:a="http://schemas.openxmlformats.org/drawingml/2006/main">
            <a:off x="1800225" y="3876675"/>
            <a:ext cx="809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Powered On</a:t>
            </a:r>
          </a:p>
        </p:txBody>
      </p:sp>
      <p:sp>
        <p:nvSpPr>
          <p:cNvPr id="46" name="editable-current-powered-off">
            <a:extLst xmlns:a="http://schemas.openxmlformats.org/drawingml/2006/main">
              <a:ext uri="{FF2B5EF4-FFF2-40B4-BE49-F238E27FC236}">
                <a16:creationId xmlns:a16="http://schemas.microsoft.com/office/drawing/2014/main" id="{F7F48385-3BC4-475A-A935-67C101D814FB}"/>
              </a:ext>
            </a:extLst>
          </p:cNvPr>
          <p:cNvSpPr>
            <a:spLocks xmlns:a="http://schemas.openxmlformats.org/drawingml/2006/main" noGrp="1"/>
          </p:cNvSpPr>
          <p:nvPr/>
        </p:nvSpPr>
        <p:spPr>
          <a:xfrm xmlns:a="http://schemas.openxmlformats.org/drawingml/2006/main">
            <a:off x="1323975" y="406717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r">
              <a:lnSpc>
                <a:spcPct val="100000"/>
              </a:lnSpc>
              <a:buNone/>
              <a:defRPr sz="825" b="0" i="0">
                <a:solidFill>
                  <a:srgbClr val="111111"/>
                </a:solidFill>
                <a:latin typeface="Arial"/>
                <a:ea typeface="Arial"/>
                <a:cs typeface="Arial"/>
              </a:defRPr>
            </a:pPr>
            <a:r>
              <a:rPr sz="825" b="0" i="0">
                <a:solidFill>
                  <a:srgbClr val="111111"/>
                </a:solidFill>
                <a:latin typeface="Arial"/>
                <a:ea typeface="Arial"/>
                <a:cs typeface="Arial"/>
              </a:rPr>
              <a:t>1,700</a:t>
            </a:r>
          </a:p>
        </p:txBody>
      </p:sp>
      <p:sp>
        <p:nvSpPr>
          <p:cNvPr id="47" name="Rectangle 46">
            <a:extLst xmlns:a="http://schemas.openxmlformats.org/drawingml/2006/main">
              <a:ext uri="{FF2B5EF4-FFF2-40B4-BE49-F238E27FC236}">
                <a16:creationId xmlns:a16="http://schemas.microsoft.com/office/drawing/2014/main" id="{4F72CCE0-CF33-447A-9A99-12F0DB96E23B}"/>
              </a:ext>
            </a:extLst>
          </p:cNvPr>
          <p:cNvSpPr>
            <a:spLocks xmlns:a="http://schemas.openxmlformats.org/drawingml/2006/main" noGrp="1"/>
          </p:cNvSpPr>
          <p:nvPr/>
        </p:nvSpPr>
        <p:spPr>
          <a:xfrm xmlns:a="http://schemas.openxmlformats.org/drawingml/2006/main">
            <a:off x="1800225" y="4067175"/>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Powered Off</a:t>
            </a:r>
          </a:p>
        </p:txBody>
      </p:sp>
      <p:sp>
        <p:nvSpPr>
          <p:cNvPr id="48" name="Rounded Rectangle 47">
            <a:extLst xmlns:a="http://schemas.openxmlformats.org/drawingml/2006/main">
              <a:ext uri="{FF2B5EF4-FFF2-40B4-BE49-F238E27FC236}">
                <a16:creationId xmlns:a16="http://schemas.microsoft.com/office/drawing/2014/main" id="{298F7E7A-D055-437F-B62D-B044692E6F88}"/>
              </a:ext>
            </a:extLst>
          </p:cNvPr>
          <p:cNvSpPr>
            <a:spLocks xmlns:a="http://schemas.openxmlformats.org/drawingml/2006/main" noGrp="1"/>
          </p:cNvSpPr>
          <p:nvPr/>
        </p:nvSpPr>
        <p:spPr>
          <a:xfrm xmlns:a="http://schemas.openxmlformats.org/drawingml/2006/main">
            <a:off x="400050" y="4486275"/>
            <a:ext cx="11334750" cy="1009650"/>
          </a:xfrm>
          <a:prstGeom xmlns:a="http://schemas.openxmlformats.org/drawingml/2006/main" prst="roundRect">
            <a:avLst>
              <a:gd name="adj" fmla="val 6604"/>
            </a:avLst>
          </a:prstGeom>
          <a:solidFill xmlns:a="http://schemas.openxmlformats.org/drawingml/2006/main">
            <a:srgbClr val="F3F7F5"/>
          </a:solidFill>
          <a:ln xmlns:a="http://schemas.openxmlformats.org/drawingml/2006/main" w="9525">
            <a:solidFill>
              <a:srgbClr val="D9DED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49" name="Rounded Rectangle 48">
            <a:extLst xmlns:a="http://schemas.openxmlformats.org/drawingml/2006/main">
              <a:ext uri="{FF2B5EF4-FFF2-40B4-BE49-F238E27FC236}">
                <a16:creationId xmlns:a16="http://schemas.microsoft.com/office/drawing/2014/main" id="{F92C2AB9-B877-4DDB-BCDD-C92BBFD94A50}"/>
              </a:ext>
            </a:extLst>
          </p:cNvPr>
          <p:cNvSpPr>
            <a:spLocks xmlns:a="http://schemas.openxmlformats.org/drawingml/2006/main" noGrp="1"/>
          </p:cNvSpPr>
          <p:nvPr/>
        </p:nvSpPr>
        <p:spPr>
          <a:xfrm xmlns:a="http://schemas.openxmlformats.org/drawingml/2006/main">
            <a:off x="400050" y="4486275"/>
            <a:ext cx="1819275" cy="1009650"/>
          </a:xfrm>
          <a:prstGeom xmlns:a="http://schemas.openxmlformats.org/drawingml/2006/main" prst="roundRect">
            <a:avLst>
              <a:gd name="adj" fmla="val 6604"/>
            </a:avLst>
          </a:prstGeom>
          <a:gradFill xmlns:a="http://schemas.openxmlformats.org/drawingml/2006/main">
            <a:gsLst>
              <a:gs pos="0">
                <a:srgbClr val="003B25"/>
              </a:gs>
              <a:gs pos="100000">
                <a:srgbClr val="0A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0" name="Rectangle 49">
            <a:extLst xmlns:a="http://schemas.openxmlformats.org/drawingml/2006/main">
              <a:ext uri="{FF2B5EF4-FFF2-40B4-BE49-F238E27FC236}">
                <a16:creationId xmlns:a16="http://schemas.microsoft.com/office/drawing/2014/main" id="{47D07B68-7D3B-4636-AEC8-6CB4A4FC4595}"/>
              </a:ext>
            </a:extLst>
          </p:cNvPr>
          <p:cNvSpPr>
            <a:spLocks xmlns:a="http://schemas.openxmlformats.org/drawingml/2006/main" noGrp="1"/>
          </p:cNvSpPr>
          <p:nvPr/>
        </p:nvSpPr>
        <p:spPr>
          <a:xfrm xmlns:a="http://schemas.openxmlformats.org/drawingml/2006/main">
            <a:off x="1447800" y="4486275"/>
            <a:ext cx="771525" cy="1009650"/>
          </a:xfrm>
          <a:prstGeom xmlns:a="http://schemas.openxmlformats.org/drawingml/2006/main" prst="rect">
            <a:avLst/>
          </a:prstGeom>
          <a:gradFill xmlns:a="http://schemas.openxmlformats.org/drawingml/2006/main">
            <a:gsLst>
              <a:gs pos="0">
                <a:srgbClr val="003B25"/>
              </a:gs>
              <a:gs pos="100000">
                <a:srgbClr val="0A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138" name="Picture 124"/>
          <p:cNvPicPr>
            <a:picLocks xmlns:a="http://schemas.openxmlformats.org/drawingml/2006/main" noChangeAspect="1"/>
          </p:cNvPicPr>
          <p:nvPr/>
        </p:nvPicPr>
        <p:blipFill>
          <a:blip xmlns:r="http://schemas.openxmlformats.org/officeDocument/2006/relationships" xmlns:a="http://schemas.openxmlformats.org/drawingml/2006/main" r:embed="R0207d1cbaffa4578"/>
          <a:stretch xmlns:a="http://schemas.openxmlformats.org/drawingml/2006/main"/>
        </p:blipFill>
        <p:spPr>
          <a:xfrm xmlns:a="http://schemas.openxmlformats.org/drawingml/2006/main">
            <a:off x="1076325" y="4671030"/>
            <a:ext cx="476250" cy="468690"/>
          </a:xfrm>
          <a:prstGeom xmlns:a="http://schemas.openxmlformats.org/drawingml/2006/main" prst="rect">
            <a:avLst/>
          </a:prstGeom>
        </p:spPr>
      </p:pic>
      <p:sp>
        <p:nvSpPr>
          <p:cNvPr id="52" name="Rectangle 51">
            <a:extLst xmlns:a="http://schemas.openxmlformats.org/drawingml/2006/main">
              <a:ext uri="{FF2B5EF4-FFF2-40B4-BE49-F238E27FC236}">
                <a16:creationId xmlns:a16="http://schemas.microsoft.com/office/drawing/2014/main" id="{7135EB0C-DEDC-471B-8F07-A8F41F1E2D6A}"/>
              </a:ext>
            </a:extLst>
          </p:cNvPr>
          <p:cNvSpPr>
            <a:spLocks xmlns:a="http://schemas.openxmlformats.org/drawingml/2006/main" noGrp="1"/>
          </p:cNvSpPr>
          <p:nvPr/>
        </p:nvSpPr>
        <p:spPr>
          <a:xfrm xmlns:a="http://schemas.openxmlformats.org/drawingml/2006/main">
            <a:off x="666750" y="5162550"/>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Total Environment</a:t>
            </a:r>
          </a:p>
        </p:txBody>
      </p:sp>
      <p:sp>
        <p:nvSpPr>
          <p:cNvPr id="53" name="Straight Connector 52">
            <a:extLst xmlns:a="http://schemas.openxmlformats.org/drawingml/2006/main">
              <a:ext uri="{FF2B5EF4-FFF2-40B4-BE49-F238E27FC236}">
                <a16:creationId xmlns:a16="http://schemas.microsoft.com/office/drawing/2014/main" id="{6A04919F-C898-4046-9165-502C7FD7BAF0}"/>
              </a:ext>
            </a:extLst>
          </p:cNvPr>
          <p:cNvSpPr>
            <a:spLocks xmlns:a="http://schemas.openxmlformats.org/drawingml/2006/main" noGrp="1"/>
          </p:cNvSpPr>
          <p:nvPr/>
        </p:nvSpPr>
        <p:spPr>
          <a:xfrm xmlns:a="http://schemas.openxmlformats.org/drawingml/2006/main">
            <a:off x="4686300" y="4714875"/>
            <a:ext cx="0" cy="59055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54" name="Straight Connector 53">
            <a:extLst xmlns:a="http://schemas.openxmlformats.org/drawingml/2006/main">
              <a:ext uri="{FF2B5EF4-FFF2-40B4-BE49-F238E27FC236}">
                <a16:creationId xmlns:a16="http://schemas.microsoft.com/office/drawing/2014/main" id="{279DB36C-681C-4FD2-A588-9A4BF85211F2}"/>
              </a:ext>
            </a:extLst>
          </p:cNvPr>
          <p:cNvSpPr>
            <a:spLocks xmlns:a="http://schemas.openxmlformats.org/drawingml/2006/main" noGrp="1"/>
          </p:cNvSpPr>
          <p:nvPr/>
        </p:nvSpPr>
        <p:spPr>
          <a:xfrm xmlns:a="http://schemas.openxmlformats.org/drawingml/2006/main">
            <a:off x="7029450" y="4714875"/>
            <a:ext cx="0" cy="59055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55" name="Straight Connector 54">
            <a:extLst xmlns:a="http://schemas.openxmlformats.org/drawingml/2006/main">
              <a:ext uri="{FF2B5EF4-FFF2-40B4-BE49-F238E27FC236}">
                <a16:creationId xmlns:a16="http://schemas.microsoft.com/office/drawing/2014/main" id="{C8F92710-B721-4F19-B1ED-A9D5B1B54C85}"/>
              </a:ext>
            </a:extLst>
          </p:cNvPr>
          <p:cNvSpPr>
            <a:spLocks xmlns:a="http://schemas.openxmlformats.org/drawingml/2006/main" noGrp="1"/>
          </p:cNvSpPr>
          <p:nvPr/>
        </p:nvSpPr>
        <p:spPr>
          <a:xfrm xmlns:a="http://schemas.openxmlformats.org/drawingml/2006/main">
            <a:off x="9486900" y="4714875"/>
            <a:ext cx="0" cy="59055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56" name="Rectangle 55">
            <a:extLst xmlns:a="http://schemas.openxmlformats.org/drawingml/2006/main">
              <a:ext uri="{FF2B5EF4-FFF2-40B4-BE49-F238E27FC236}">
                <a16:creationId xmlns:a16="http://schemas.microsoft.com/office/drawing/2014/main" id="{347AE0DB-5FC1-4C08-A3B9-5D2E17AF0014}"/>
              </a:ext>
            </a:extLst>
          </p:cNvPr>
          <p:cNvSpPr>
            <a:spLocks xmlns:a="http://schemas.openxmlformats.org/drawingml/2006/main" noGrp="1"/>
          </p:cNvSpPr>
          <p:nvPr/>
        </p:nvSpPr>
        <p:spPr>
          <a:xfrm xmlns:a="http://schemas.openxmlformats.org/drawingml/2006/main">
            <a:off x="3343275" y="47148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VMs</a:t>
            </a:r>
          </a:p>
        </p:txBody>
      </p:sp>
      <p:sp>
        <p:nvSpPr>
          <p:cNvPr id="57" name="editable-total-vms">
            <a:extLst xmlns:a="http://schemas.openxmlformats.org/drawingml/2006/main">
              <a:ext uri="{FF2B5EF4-FFF2-40B4-BE49-F238E27FC236}">
                <a16:creationId xmlns:a16="http://schemas.microsoft.com/office/drawing/2014/main" id="{51D8B33B-988C-462B-91B7-386F22B8BCA6}"/>
              </a:ext>
            </a:extLst>
          </p:cNvPr>
          <p:cNvSpPr>
            <a:spLocks xmlns:a="http://schemas.openxmlformats.org/drawingml/2006/main" noGrp="1"/>
          </p:cNvSpPr>
          <p:nvPr/>
        </p:nvSpPr>
        <p:spPr>
          <a:xfrm xmlns:a="http://schemas.openxmlformats.org/drawingml/2006/main">
            <a:off x="3343275" y="4972050"/>
            <a:ext cx="114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20,100</a:t>
            </a:r>
          </a:p>
        </p:txBody>
      </p:sp>
      <p:pic>
        <p:nvPicPr>
          <p:cNvPr id="145" name="Picture 131"/>
          <p:cNvPicPr>
            <a:picLocks xmlns:a="http://schemas.openxmlformats.org/drawingml/2006/main" noChangeAspect="1"/>
          </p:cNvPicPr>
          <p:nvPr/>
        </p:nvPicPr>
        <p:blipFill>
          <a:blip xmlns:r="http://schemas.openxmlformats.org/officeDocument/2006/relationships" xmlns:a="http://schemas.openxmlformats.org/drawingml/2006/main" r:embed="R15d65eb7fa1f4706"/>
          <a:stretch xmlns:a="http://schemas.openxmlformats.org/drawingml/2006/main"/>
        </p:blipFill>
        <p:spPr>
          <a:xfrm xmlns:a="http://schemas.openxmlformats.org/drawingml/2006/main">
            <a:off x="2887742" y="4905375"/>
            <a:ext cx="396716" cy="323850"/>
          </a:xfrm>
          <a:prstGeom xmlns:a="http://schemas.openxmlformats.org/drawingml/2006/main" prst="rect">
            <a:avLst/>
          </a:prstGeom>
        </p:spPr>
      </p:pic>
      <p:sp>
        <p:nvSpPr>
          <p:cNvPr id="59" name="editable-total-powered-on">
            <a:extLst xmlns:a="http://schemas.openxmlformats.org/drawingml/2006/main">
              <a:ext uri="{FF2B5EF4-FFF2-40B4-BE49-F238E27FC236}">
                <a16:creationId xmlns:a16="http://schemas.microsoft.com/office/drawing/2014/main" id="{8DF81488-E310-4D2F-9D0F-A65D6E2C5976}"/>
              </a:ext>
            </a:extLst>
          </p:cNvPr>
          <p:cNvSpPr>
            <a:spLocks xmlns:a="http://schemas.openxmlformats.org/drawingml/2006/main" noGrp="1"/>
          </p:cNvSpPr>
          <p:nvPr/>
        </p:nvSpPr>
        <p:spPr>
          <a:xfrm xmlns:a="http://schemas.openxmlformats.org/drawingml/2006/main">
            <a:off x="3286125" y="5229225"/>
            <a:ext cx="1285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25" b="1" i="0">
                <a:solidFill>
                  <a:srgbClr val="111111"/>
                </a:solidFill>
                <a:latin typeface="Arial"/>
                <a:ea typeface="Arial"/>
                <a:cs typeface="Arial"/>
              </a:defRPr>
            </a:pPr>
            <a:r>
              <a:rPr sz="825" b="1" i="0">
                <a:solidFill>
                  <a:srgbClr val="111111"/>
                </a:solidFill>
                <a:latin typeface="Arial"/>
                <a:ea typeface="Arial"/>
                <a:cs typeface="Arial"/>
              </a:rPr>
              <a:t>18,400 Powered On</a:t>
            </a:r>
          </a:p>
        </p:txBody>
      </p:sp>
      <p:sp>
        <p:nvSpPr>
          <p:cNvPr id="60" name="editable-total-powered-off">
            <a:extLst xmlns:a="http://schemas.openxmlformats.org/drawingml/2006/main">
              <a:ext uri="{FF2B5EF4-FFF2-40B4-BE49-F238E27FC236}">
                <a16:creationId xmlns:a16="http://schemas.microsoft.com/office/drawing/2014/main" id="{51FD95D0-64F2-4723-B4EF-3731265C852D}"/>
              </a:ext>
            </a:extLst>
          </p:cNvPr>
          <p:cNvSpPr>
            <a:spLocks xmlns:a="http://schemas.openxmlformats.org/drawingml/2006/main" noGrp="1"/>
          </p:cNvSpPr>
          <p:nvPr/>
        </p:nvSpPr>
        <p:spPr>
          <a:xfrm xmlns:a="http://schemas.openxmlformats.org/drawingml/2006/main">
            <a:off x="3286125" y="5391150"/>
            <a:ext cx="1285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25" b="1" i="0">
                <a:solidFill>
                  <a:srgbClr val="111111"/>
                </a:solidFill>
                <a:latin typeface="Arial"/>
                <a:ea typeface="Arial"/>
                <a:cs typeface="Arial"/>
              </a:defRPr>
            </a:pPr>
            <a:r>
              <a:rPr sz="825" b="1" i="0">
                <a:solidFill>
                  <a:srgbClr val="111111"/>
                </a:solidFill>
                <a:latin typeface="Arial"/>
                <a:ea typeface="Arial"/>
                <a:cs typeface="Arial"/>
              </a:rPr>
              <a:t>1,700 Powered Off</a:t>
            </a:r>
          </a:p>
        </p:txBody>
      </p:sp>
      <p:sp>
        <p:nvSpPr>
          <p:cNvPr id="61" name="Rectangle 60">
            <a:extLst xmlns:a="http://schemas.openxmlformats.org/drawingml/2006/main">
              <a:ext uri="{FF2B5EF4-FFF2-40B4-BE49-F238E27FC236}">
                <a16:creationId xmlns:a16="http://schemas.microsoft.com/office/drawing/2014/main" id="{9F4CC3CC-C30D-4DD3-B648-2B2F6B76145C}"/>
              </a:ext>
            </a:extLst>
          </p:cNvPr>
          <p:cNvSpPr>
            <a:spLocks xmlns:a="http://schemas.openxmlformats.org/drawingml/2006/main" noGrp="1"/>
          </p:cNvSpPr>
          <p:nvPr/>
        </p:nvSpPr>
        <p:spPr>
          <a:xfrm xmlns:a="http://schemas.openxmlformats.org/drawingml/2006/main">
            <a:off x="5743575" y="47148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vCPUs</a:t>
            </a:r>
          </a:p>
        </p:txBody>
      </p:sp>
      <p:sp>
        <p:nvSpPr>
          <p:cNvPr id="62" name="editable-total-vcpus">
            <a:extLst xmlns:a="http://schemas.openxmlformats.org/drawingml/2006/main">
              <a:ext uri="{FF2B5EF4-FFF2-40B4-BE49-F238E27FC236}">
                <a16:creationId xmlns:a16="http://schemas.microsoft.com/office/drawing/2014/main" id="{E325BBAA-CE89-47A2-A7F4-5A715EE06FCB}"/>
              </a:ext>
            </a:extLst>
          </p:cNvPr>
          <p:cNvSpPr>
            <a:spLocks xmlns:a="http://schemas.openxmlformats.org/drawingml/2006/main" noGrp="1"/>
          </p:cNvSpPr>
          <p:nvPr/>
        </p:nvSpPr>
        <p:spPr>
          <a:xfrm xmlns:a="http://schemas.openxmlformats.org/drawingml/2006/main">
            <a:off x="5743575" y="4972050"/>
            <a:ext cx="114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3,000</a:t>
            </a:r>
          </a:p>
        </p:txBody>
      </p:sp>
      <p:pic>
        <p:nvPicPr>
          <p:cNvPr id="150" name="Picture 136"/>
          <p:cNvPicPr>
            <a:picLocks xmlns:a="http://schemas.openxmlformats.org/drawingml/2006/main" noChangeAspect="1"/>
          </p:cNvPicPr>
          <p:nvPr/>
        </p:nvPicPr>
        <p:blipFill>
          <a:blip xmlns:r="http://schemas.openxmlformats.org/officeDocument/2006/relationships" xmlns:a="http://schemas.openxmlformats.org/drawingml/2006/main" r:embed="R3bdce65a64324922"/>
          <a:stretch xmlns:a="http://schemas.openxmlformats.org/drawingml/2006/main"/>
        </p:blipFill>
        <p:spPr>
          <a:xfrm xmlns:a="http://schemas.openxmlformats.org/drawingml/2006/main">
            <a:off x="5190898" y="4905375"/>
            <a:ext cx="362404" cy="323850"/>
          </a:xfrm>
          <a:prstGeom xmlns:a="http://schemas.openxmlformats.org/drawingml/2006/main" prst="rect">
            <a:avLst/>
          </a:prstGeom>
        </p:spPr>
      </p:pic>
      <p:sp>
        <p:nvSpPr>
          <p:cNvPr id="64" name="Rectangle 63">
            <a:extLst xmlns:a="http://schemas.openxmlformats.org/drawingml/2006/main">
              <a:ext uri="{FF2B5EF4-FFF2-40B4-BE49-F238E27FC236}">
                <a16:creationId xmlns:a16="http://schemas.microsoft.com/office/drawing/2014/main" id="{E2B940B4-7B6B-4837-992C-0BD50611487D}"/>
              </a:ext>
            </a:extLst>
          </p:cNvPr>
          <p:cNvSpPr>
            <a:spLocks xmlns:a="http://schemas.openxmlformats.org/drawingml/2006/main" noGrp="1"/>
          </p:cNvSpPr>
          <p:nvPr/>
        </p:nvSpPr>
        <p:spPr>
          <a:xfrm xmlns:a="http://schemas.openxmlformats.org/drawingml/2006/main">
            <a:off x="8048625" y="471487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vRAM (GB)</a:t>
            </a:r>
          </a:p>
        </p:txBody>
      </p:sp>
      <p:sp>
        <p:nvSpPr>
          <p:cNvPr id="65" name="editable-total-vram">
            <a:extLst xmlns:a="http://schemas.openxmlformats.org/drawingml/2006/main">
              <a:ext uri="{FF2B5EF4-FFF2-40B4-BE49-F238E27FC236}">
                <a16:creationId xmlns:a16="http://schemas.microsoft.com/office/drawing/2014/main" id="{56B58190-EEA5-42BC-BCEE-C9F09864DABB}"/>
              </a:ext>
            </a:extLst>
          </p:cNvPr>
          <p:cNvSpPr>
            <a:spLocks xmlns:a="http://schemas.openxmlformats.org/drawingml/2006/main" noGrp="1"/>
          </p:cNvSpPr>
          <p:nvPr/>
        </p:nvSpPr>
        <p:spPr>
          <a:xfrm xmlns:a="http://schemas.openxmlformats.org/drawingml/2006/main">
            <a:off x="8048625" y="4972050"/>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30,000</a:t>
            </a:r>
          </a:p>
        </p:txBody>
      </p:sp>
      <p:pic>
        <p:nvPicPr>
          <p:cNvPr id="153" name="Picture 139"/>
          <p:cNvPicPr>
            <a:picLocks xmlns:a="http://schemas.openxmlformats.org/drawingml/2006/main" noChangeAspect="1"/>
          </p:cNvPicPr>
          <p:nvPr/>
        </p:nvPicPr>
        <p:blipFill>
          <a:blip xmlns:r="http://schemas.openxmlformats.org/officeDocument/2006/relationships" xmlns:a="http://schemas.openxmlformats.org/drawingml/2006/main" r:embed="R896882b19e33436e"/>
          <a:stretch xmlns:a="http://schemas.openxmlformats.org/drawingml/2006/main"/>
        </p:blipFill>
        <p:spPr>
          <a:xfrm xmlns:a="http://schemas.openxmlformats.org/drawingml/2006/main">
            <a:off x="7477125" y="4907280"/>
            <a:ext cx="400050" cy="320040"/>
          </a:xfrm>
          <a:prstGeom xmlns:a="http://schemas.openxmlformats.org/drawingml/2006/main" prst="rect">
            <a:avLst/>
          </a:prstGeom>
        </p:spPr>
      </p:pic>
      <p:sp>
        <p:nvSpPr>
          <p:cNvPr id="67" name="Rectangle 66">
            <a:extLst xmlns:a="http://schemas.openxmlformats.org/drawingml/2006/main">
              <a:ext uri="{FF2B5EF4-FFF2-40B4-BE49-F238E27FC236}">
                <a16:creationId xmlns:a16="http://schemas.microsoft.com/office/drawing/2014/main" id="{BA2E8F4D-19EC-4045-BD00-D33C490582FA}"/>
              </a:ext>
            </a:extLst>
          </p:cNvPr>
          <p:cNvSpPr>
            <a:spLocks xmlns:a="http://schemas.openxmlformats.org/drawingml/2006/main" noGrp="1"/>
          </p:cNvSpPr>
          <p:nvPr/>
        </p:nvSpPr>
        <p:spPr>
          <a:xfrm xmlns:a="http://schemas.openxmlformats.org/drawingml/2006/main">
            <a:off x="10306050" y="4714875"/>
            <a:ext cx="1504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Storage (TB)</a:t>
            </a:r>
          </a:p>
        </p:txBody>
      </p:sp>
      <p:sp>
        <p:nvSpPr>
          <p:cNvPr id="68" name="editable-total-storage">
            <a:extLst xmlns:a="http://schemas.openxmlformats.org/drawingml/2006/main">
              <a:ext uri="{FF2B5EF4-FFF2-40B4-BE49-F238E27FC236}">
                <a16:creationId xmlns:a16="http://schemas.microsoft.com/office/drawing/2014/main" id="{53CE7ECC-6CED-4750-B06E-332986EBDB45}"/>
              </a:ext>
            </a:extLst>
          </p:cNvPr>
          <p:cNvSpPr>
            <a:spLocks xmlns:a="http://schemas.openxmlformats.org/drawingml/2006/main" noGrp="1"/>
          </p:cNvSpPr>
          <p:nvPr/>
        </p:nvSpPr>
        <p:spPr>
          <a:xfrm xmlns:a="http://schemas.openxmlformats.org/drawingml/2006/main">
            <a:off x="10306050" y="4972050"/>
            <a:ext cx="15049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210</a:t>
            </a:r>
          </a:p>
        </p:txBody>
      </p:sp>
      <p:pic>
        <p:nvPicPr>
          <p:cNvPr id="156" name="Picture 142"/>
          <p:cNvPicPr>
            <a:picLocks xmlns:a="http://schemas.openxmlformats.org/drawingml/2006/main" noChangeAspect="1"/>
          </p:cNvPicPr>
          <p:nvPr/>
        </p:nvPicPr>
        <p:blipFill>
          <a:blip xmlns:r="http://schemas.openxmlformats.org/officeDocument/2006/relationships" xmlns:a="http://schemas.openxmlformats.org/drawingml/2006/main" r:embed="R116b2f00350b48ef"/>
          <a:stretch xmlns:a="http://schemas.openxmlformats.org/drawingml/2006/main"/>
        </p:blipFill>
        <p:spPr>
          <a:xfrm xmlns:a="http://schemas.openxmlformats.org/drawingml/2006/main">
            <a:off x="9960531" y="4905375"/>
            <a:ext cx="348139" cy="323850"/>
          </a:xfrm>
          <a:prstGeom xmlns:a="http://schemas.openxmlformats.org/drawingml/2006/main" prst="rect">
            <a:avLst/>
          </a:prstGeom>
        </p:spPr>
      </p:pic>
      <p:sp>
        <p:nvSpPr>
          <p:cNvPr id="70" name="Rounded Rectangle 69">
            <a:extLst xmlns:a="http://schemas.openxmlformats.org/drawingml/2006/main">
              <a:ext uri="{FF2B5EF4-FFF2-40B4-BE49-F238E27FC236}">
                <a16:creationId xmlns:a16="http://schemas.microsoft.com/office/drawing/2014/main" id="{B6E9607F-C2EC-477A-BAF6-C5E067CAF87D}"/>
              </a:ext>
            </a:extLst>
          </p:cNvPr>
          <p:cNvSpPr>
            <a:spLocks xmlns:a="http://schemas.openxmlformats.org/drawingml/2006/main" noGrp="1"/>
          </p:cNvSpPr>
          <p:nvPr/>
        </p:nvSpPr>
        <p:spPr>
          <a:xfrm xmlns:a="http://schemas.openxmlformats.org/drawingml/2006/main">
            <a:off x="400050" y="5734050"/>
            <a:ext cx="11334750" cy="47625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9DEDA"/>
            </a:solidFill>
            <a:prstDash val="solid"/>
          </a:ln>
        </p:spPr>
        <p:txBody>
          <a:bodyPr xmlns:a="http://schemas.openxmlformats.org/drawingml/2006/main"/>
          <a:lstStyle xmlns:a="http://schemas.openxmlformats.org/drawingml/2006/main"/>
          <a:p xmlns:a="http://schemas.openxmlformats.org/drawingml/2006/main">
            <a:endParaRPr/>
          </a:p>
        </p:txBody>
      </p:sp>
      <p:pic>
        <p:nvPicPr>
          <p:cNvPr id="158" name="Picture 144"/>
          <p:cNvPicPr>
            <a:picLocks xmlns:a="http://schemas.openxmlformats.org/drawingml/2006/main" noChangeAspect="1"/>
          </p:cNvPicPr>
          <p:nvPr/>
        </p:nvPicPr>
        <p:blipFill>
          <a:blip xmlns:r="http://schemas.openxmlformats.org/officeDocument/2006/relationships" xmlns:a="http://schemas.openxmlformats.org/drawingml/2006/main" r:embed="Rce7c67ef581e49cd"/>
          <a:stretch xmlns:a="http://schemas.openxmlformats.org/drawingml/2006/main"/>
        </p:blipFill>
        <p:spPr>
          <a:xfrm xmlns:a="http://schemas.openxmlformats.org/drawingml/2006/main">
            <a:off x="632416" y="5838825"/>
            <a:ext cx="316319" cy="323850"/>
          </a:xfrm>
          <a:prstGeom xmlns:a="http://schemas.openxmlformats.org/drawingml/2006/main" prst="rect">
            <a:avLst/>
          </a:prstGeom>
        </p:spPr>
      </p:pic>
      <p:sp>
        <p:nvSpPr>
          <p:cNvPr id="72" name="Rectangle 71">
            <a:extLst xmlns:a="http://schemas.openxmlformats.org/drawingml/2006/main">
              <a:ext uri="{FF2B5EF4-FFF2-40B4-BE49-F238E27FC236}">
                <a16:creationId xmlns:a16="http://schemas.microsoft.com/office/drawing/2014/main" id="{C928459C-9AA2-4970-83C9-66B7F0DEE5BA}"/>
              </a:ext>
            </a:extLst>
          </p:cNvPr>
          <p:cNvSpPr>
            <a:spLocks xmlns:a="http://schemas.openxmlformats.org/drawingml/2006/main" noGrp="1"/>
          </p:cNvSpPr>
          <p:nvPr/>
        </p:nvSpPr>
        <p:spPr>
          <a:xfrm xmlns:a="http://schemas.openxmlformats.org/drawingml/2006/main">
            <a:off x="1085850" y="5934075"/>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50" b="0" i="0">
                <a:solidFill>
                  <a:srgbClr val="111111"/>
                </a:solidFill>
                <a:latin typeface="Arial"/>
                <a:ea typeface="Arial"/>
                <a:cs typeface="Arial"/>
              </a:defRPr>
            </a:pPr>
            <a:r>
              <a:rPr sz="1050" b="0" i="0">
                <a:solidFill>
                  <a:srgbClr val="111111"/>
                </a:solidFill>
                <a:latin typeface="Arial"/>
                <a:ea typeface="Arial"/>
                <a:cs typeface="Arial"/>
              </a:rPr>
              <a:t>This sizing is based on the information available at the time of analysis and should be validated during the detailed design phase.</a:t>
            </a:r>
          </a:p>
        </p:txBody>
      </p:sp>
      <p:sp>
        <p:nvSpPr>
          <p:cNvPr id="73" name="Rectangle 72">
            <a:extLst xmlns:a="http://schemas.openxmlformats.org/drawingml/2006/main">
              <a:ext uri="{FF2B5EF4-FFF2-40B4-BE49-F238E27FC236}">
                <a16:creationId xmlns:a16="http://schemas.microsoft.com/office/drawing/2014/main" id="{B0FDF0E8-75F0-4E20-AB65-98949A664606}"/>
              </a:ext>
            </a:extLst>
          </p:cNvPr>
          <p:cNvSpPr>
            <a:spLocks xmlns:a="http://schemas.openxmlformats.org/drawingml/2006/main" noGrp="1"/>
          </p:cNvSpPr>
          <p:nvPr/>
        </p:nvSpPr>
        <p:spPr>
          <a:xfrm xmlns:a="http://schemas.openxmlformats.org/drawingml/2006/main">
            <a:off x="1133475" y="6553200"/>
            <a:ext cx="533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675" b="0" i="0">
                <a:solidFill>
                  <a:srgbClr val="5E5E5E"/>
                </a:solidFill>
                <a:latin typeface="Arial"/>
                <a:ea typeface="Arial"/>
                <a:cs typeface="Arial"/>
              </a:defRPr>
            </a:pPr>
            <a:r>
              <a:rPr sz="675" b="0" i="0">
                <a:solidFill>
                  <a:srgbClr val="5E5E5E"/>
                </a:solidFill>
                <a:latin typeface="Arial"/>
                <a:ea typeface="Arial"/>
                <a:cs typeface="Arial"/>
              </a:rPr>
              <a:t>Copyright © 2026, Oracle and/or its affiliates | Confidential: Internal/Restricted/Highly Restricted</a:t>
            </a:r>
          </a:p>
        </p:txBody>
      </p:sp>
      <p:pic>
        <p:nvPicPr>
          <p:cNvPr id="161" name="Picture 147"/>
          <p:cNvPicPr>
            <a:picLocks xmlns:a="http://schemas.openxmlformats.org/drawingml/2006/main" noChangeAspect="1"/>
          </p:cNvPicPr>
          <p:nvPr/>
        </p:nvPicPr>
        <p:blipFill>
          <a:blip xmlns:r="http://schemas.openxmlformats.org/officeDocument/2006/relationships" xmlns:a="http://schemas.openxmlformats.org/drawingml/2006/main" r:embed="Rcc3f2e87373f4772"/>
          <a:stretch xmlns:a="http://schemas.openxmlformats.org/drawingml/2006/main"/>
        </p:blipFill>
        <p:spPr>
          <a:xfrm xmlns:a="http://schemas.openxmlformats.org/drawingml/2006/main">
            <a:off x="11382375" y="6459855"/>
            <a:ext cx="419100" cy="396240"/>
          </a:xfrm>
          <a:prstGeom xmlns:a="http://schemas.openxmlformats.org/drawingml/2006/main" prst="rect">
            <a:avLst/>
          </a:prstGeom>
        </p:spPr>
      </p:pic>
    </p:spTree>
    <p:extLst>
      <p:ext uri="{BB962C8B-B14F-4D97-AF65-F5344CB8AC3E}">
        <p14:creationId xmlns:p14="http://schemas.microsoft.com/office/powerpoint/2010/main" val="162122243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1" name="Oval 50">
            <a:extLst xmlns:a="http://schemas.openxmlformats.org/drawingml/2006/main">
              <a:ext uri="{FF2B5EF4-FFF2-40B4-BE49-F238E27FC236}">
                <a16:creationId xmlns:a16="http://schemas.microsoft.com/office/drawing/2014/main" id="{73A5942D-D23C-45E6-ACE1-2F77352B9317}"/>
              </a:ext>
            </a:extLst>
          </p:cNvPr>
          <p:cNvSpPr>
            <a:spLocks xmlns:a="http://schemas.openxmlformats.org/drawingml/2006/main" noGrp="1"/>
          </p:cNvSpPr>
          <p:nvPr/>
        </p:nvSpPr>
        <p:spPr>
          <a:xfrm xmlns:a="http://schemas.openxmlformats.org/drawingml/2006/main">
            <a:off x="5133975" y="657225"/>
            <a:ext cx="38100" cy="38100"/>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Oval 1">
            <a:extLst xmlns:a="http://schemas.openxmlformats.org/drawingml/2006/main">
              <a:ext uri="{FF2B5EF4-FFF2-40B4-BE49-F238E27FC236}">
                <a16:creationId xmlns:a16="http://schemas.microsoft.com/office/drawing/2014/main" id="{73088BEA-17DF-442D-9BC7-02155DD5C445}"/>
              </a:ext>
            </a:extLst>
          </p:cNvPr>
          <p:cNvSpPr>
            <a:spLocks xmlns:a="http://schemas.openxmlformats.org/drawingml/2006/main" noGrp="1"/>
          </p:cNvSpPr>
          <p:nvPr/>
        </p:nvSpPr>
        <p:spPr>
          <a:xfrm xmlns:a="http://schemas.openxmlformats.org/drawingml/2006/main">
            <a:off x="6181725" y="685800"/>
            <a:ext cx="28575" cy="28575"/>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Oval 2">
            <a:extLst xmlns:a="http://schemas.openxmlformats.org/drawingml/2006/main">
              <a:ext uri="{FF2B5EF4-FFF2-40B4-BE49-F238E27FC236}">
                <a16:creationId xmlns:a16="http://schemas.microsoft.com/office/drawing/2014/main" id="{FF40793F-68B7-4A09-857E-9B1E1E9D9BCF}"/>
              </a:ext>
            </a:extLst>
          </p:cNvPr>
          <p:cNvSpPr>
            <a:spLocks xmlns:a="http://schemas.openxmlformats.org/drawingml/2006/main" noGrp="1"/>
          </p:cNvSpPr>
          <p:nvPr/>
        </p:nvSpPr>
        <p:spPr>
          <a:xfrm xmlns:a="http://schemas.openxmlformats.org/drawingml/2006/main">
            <a:off x="7239000" y="504825"/>
            <a:ext cx="57150" cy="57150"/>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Oval 3">
            <a:extLst xmlns:a="http://schemas.openxmlformats.org/drawingml/2006/main">
              <a:ext uri="{FF2B5EF4-FFF2-40B4-BE49-F238E27FC236}">
                <a16:creationId xmlns:a16="http://schemas.microsoft.com/office/drawing/2014/main" id="{674B1F8E-B96D-4B16-B046-787E8702A629}"/>
              </a:ext>
            </a:extLst>
          </p:cNvPr>
          <p:cNvSpPr>
            <a:spLocks xmlns:a="http://schemas.openxmlformats.org/drawingml/2006/main" noGrp="1"/>
          </p:cNvSpPr>
          <p:nvPr/>
        </p:nvSpPr>
        <p:spPr>
          <a:xfrm xmlns:a="http://schemas.openxmlformats.org/drawingml/2006/main">
            <a:off x="11010900" y="1123950"/>
            <a:ext cx="19050" cy="19050"/>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Oval 4">
            <a:extLst xmlns:a="http://schemas.openxmlformats.org/drawingml/2006/main">
              <a:ext uri="{FF2B5EF4-FFF2-40B4-BE49-F238E27FC236}">
                <a16:creationId xmlns:a16="http://schemas.microsoft.com/office/drawing/2014/main" id="{ECE320BA-C63B-4BBF-94C5-92BE5192DC61}"/>
              </a:ext>
            </a:extLst>
          </p:cNvPr>
          <p:cNvSpPr>
            <a:spLocks xmlns:a="http://schemas.openxmlformats.org/drawingml/2006/main" noGrp="1"/>
          </p:cNvSpPr>
          <p:nvPr/>
        </p:nvSpPr>
        <p:spPr>
          <a:xfrm xmlns:a="http://schemas.openxmlformats.org/drawingml/2006/main">
            <a:off x="9220200" y="1581150"/>
            <a:ext cx="38100" cy="38100"/>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AF232F3B-1324-4364-BD60-137FAF1990F8}"/>
              </a:ext>
            </a:extLst>
          </p:cNvPr>
          <p:cNvSpPr>
            <a:spLocks xmlns:a="http://schemas.openxmlformats.org/drawingml/2006/main" noGrp="1"/>
          </p:cNvSpPr>
          <p:nvPr/>
        </p:nvSpPr>
        <p:spPr>
          <a:xfrm xmlns:a="http://schemas.openxmlformats.org/drawingml/2006/main">
            <a:off x="11410950" y="1647825"/>
            <a:ext cx="28575" cy="28575"/>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12DA0ADF-18D5-4143-BAFB-C1D4E0322D43}"/>
              </a:ext>
            </a:extLst>
          </p:cNvPr>
          <p:cNvSpPr>
            <a:spLocks xmlns:a="http://schemas.openxmlformats.org/drawingml/2006/main" noGrp="1"/>
          </p:cNvSpPr>
          <p:nvPr/>
        </p:nvSpPr>
        <p:spPr>
          <a:xfrm xmlns:a="http://schemas.openxmlformats.org/drawingml/2006/main">
            <a:off x="9982200" y="3000375"/>
            <a:ext cx="28575" cy="28575"/>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8EF1F3FD-6495-4F9F-8163-4CEB685C76C1}"/>
              </a:ext>
            </a:extLst>
          </p:cNvPr>
          <p:cNvSpPr>
            <a:spLocks xmlns:a="http://schemas.openxmlformats.org/drawingml/2006/main" noGrp="1"/>
          </p:cNvSpPr>
          <p:nvPr/>
        </p:nvSpPr>
        <p:spPr>
          <a:xfrm xmlns:a="http://schemas.openxmlformats.org/drawingml/2006/main">
            <a:off x="9344025" y="4781550"/>
            <a:ext cx="47625" cy="47625"/>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B3A8DECC-6222-4521-82D5-B349CA05389D}"/>
              </a:ext>
            </a:extLst>
          </p:cNvPr>
          <p:cNvSpPr>
            <a:spLocks xmlns:a="http://schemas.openxmlformats.org/drawingml/2006/main" noGrp="1"/>
          </p:cNvSpPr>
          <p:nvPr/>
        </p:nvSpPr>
        <p:spPr>
          <a:xfrm xmlns:a="http://schemas.openxmlformats.org/drawingml/2006/main">
            <a:off x="11658600" y="5848350"/>
            <a:ext cx="38100" cy="38100"/>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70" name="Picture 60"/>
          <p:cNvPicPr>
            <a:picLocks xmlns:a="http://schemas.openxmlformats.org/drawingml/2006/main" noChangeAspect="1"/>
          </p:cNvPicPr>
          <p:nvPr/>
        </p:nvPicPr>
        <p:blipFill>
          <a:blip xmlns:r="http://schemas.openxmlformats.org/officeDocument/2006/relationships" xmlns:a="http://schemas.openxmlformats.org/drawingml/2006/main" r:embed="R9b829e029c004232"/>
          <a:stretch xmlns:a="http://schemas.openxmlformats.org/drawingml/2006/main"/>
        </p:blipFill>
        <p:spPr>
          <a:xfrm xmlns:a="http://schemas.openxmlformats.org/drawingml/2006/main">
            <a:off x="361950" y="357187"/>
            <a:ext cx="1927741" cy="600075"/>
          </a:xfrm>
          <a:prstGeom xmlns:a="http://schemas.openxmlformats.org/drawingml/2006/main" prst="rect">
            <a:avLst/>
          </a:prstGeom>
        </p:spPr>
      </p:pic>
      <p:sp>
        <p:nvSpPr>
          <p:cNvPr id="12" name="Rectangle 11">
            <a:extLst xmlns:a="http://schemas.openxmlformats.org/drawingml/2006/main">
              <a:ext uri="{FF2B5EF4-FFF2-40B4-BE49-F238E27FC236}">
                <a16:creationId xmlns:a16="http://schemas.microsoft.com/office/drawing/2014/main" id="{181FA5E6-65B3-42DA-A23A-AE93E6720CB2}"/>
              </a:ext>
            </a:extLst>
          </p:cNvPr>
          <p:cNvSpPr>
            <a:spLocks xmlns:a="http://schemas.openxmlformats.org/drawingml/2006/main" noGrp="1"/>
          </p:cNvSpPr>
          <p:nvPr/>
        </p:nvSpPr>
        <p:spPr>
          <a:xfrm xmlns:a="http://schemas.openxmlformats.org/drawingml/2006/main">
            <a:off x="361950" y="1133475"/>
            <a:ext cx="628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3150" b="1" i="0">
                <a:solidFill>
                  <a:srgbClr val="003B25"/>
                </a:solidFill>
                <a:latin typeface="Arial"/>
                <a:ea typeface="Arial"/>
                <a:cs typeface="Arial"/>
              </a:defRPr>
            </a:pPr>
            <a:r>
              <a:rPr sz="3150" b="1" i="0">
                <a:solidFill>
                  <a:srgbClr val="003B25"/>
                </a:solidFill>
                <a:latin typeface="Arial"/>
                <a:ea typeface="Arial"/>
                <a:cs typeface="Arial"/>
              </a:rPr>
              <a:t>Assumptions &amp; Methodology</a:t>
            </a:r>
          </a:p>
        </p:txBody>
      </p:sp>
      <p:sp>
        <p:nvSpPr>
          <p:cNvPr id="13" name="Rectangle 12">
            <a:extLst xmlns:a="http://schemas.openxmlformats.org/drawingml/2006/main">
              <a:ext uri="{FF2B5EF4-FFF2-40B4-BE49-F238E27FC236}">
                <a16:creationId xmlns:a16="http://schemas.microsoft.com/office/drawing/2014/main" id="{B629860D-8183-4AA2-8F53-EEB151589651}"/>
              </a:ext>
            </a:extLst>
          </p:cNvPr>
          <p:cNvSpPr>
            <a:spLocks xmlns:a="http://schemas.openxmlformats.org/drawingml/2006/main" noGrp="1"/>
          </p:cNvSpPr>
          <p:nvPr/>
        </p:nvSpPr>
        <p:spPr>
          <a:xfrm xmlns:a="http://schemas.openxmlformats.org/drawingml/2006/main">
            <a:off x="371475" y="1676400"/>
            <a:ext cx="381000" cy="38100"/>
          </a:xfrm>
          <a:prstGeom xmlns:a="http://schemas.openxmlformats.org/drawingml/2006/main" prst="rect">
            <a:avLst/>
          </a:prstGeom>
          <a:solidFill xmlns:a="http://schemas.openxmlformats.org/drawingml/2006/main">
            <a:srgbClr val="F0000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3E173982-393B-42AC-A28E-FA0B0948FCC0}"/>
              </a:ext>
            </a:extLst>
          </p:cNvPr>
          <p:cNvSpPr>
            <a:spLocks xmlns:a="http://schemas.openxmlformats.org/drawingml/2006/main" noGrp="1"/>
          </p:cNvSpPr>
          <p:nvPr/>
        </p:nvSpPr>
        <p:spPr>
          <a:xfrm xmlns:a="http://schemas.openxmlformats.org/drawingml/2006/main">
            <a:off x="390525" y="1838325"/>
            <a:ext cx="609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5000"/>
              </a:lnSpc>
              <a:buNone/>
              <a:defRPr sz="1200" b="0" i="0">
                <a:solidFill>
                  <a:srgbClr val="111111"/>
                </a:solidFill>
                <a:latin typeface="Arial"/>
                <a:ea typeface="Arial"/>
                <a:cs typeface="Arial"/>
              </a:defRPr>
            </a:pPr>
            <a:r>
              <a:rPr sz="1200" b="0" i="0">
                <a:solidFill>
                  <a:srgbClr val="111111"/>
                </a:solidFill>
                <a:latin typeface="Arial"/>
                <a:ea typeface="Arial"/>
                <a:cs typeface="Arial"/>
              </a:rPr>
              <a:t>The proposed sizing is based on the information provided by the customer</a:t>
            </a:r>
          </a:p>
          <a:p xmlns:a="http://schemas.openxmlformats.org/drawingml/2006/main">
            <a:pPr algn="l">
              <a:lnSpc>
                <a:spcPct val="115000"/>
              </a:lnSpc>
              <a:buNone/>
              <a:defRPr sz="1200" b="0" i="0">
                <a:solidFill>
                  <a:srgbClr val="111111"/>
                </a:solidFill>
                <a:latin typeface="Arial"/>
                <a:ea typeface="Arial"/>
                <a:cs typeface="Arial"/>
              </a:defRPr>
            </a:pPr>
            <a:r>
              <a:rPr sz="1200" b="0" i="0">
                <a:solidFill>
                  <a:srgbClr val="111111"/>
                </a:solidFill>
                <a:latin typeface="Arial"/>
                <a:ea typeface="Arial"/>
                <a:cs typeface="Arial"/>
              </a:rPr>
              <a:t>and the following assumptions and methodology.</a:t>
            </a:r>
          </a:p>
        </p:txBody>
      </p:sp>
      <p:sp>
        <p:nvSpPr>
          <p:cNvPr id="15" name="Rounded Rectangle 14">
            <a:extLst xmlns:a="http://schemas.openxmlformats.org/drawingml/2006/main">
              <a:ext uri="{FF2B5EF4-FFF2-40B4-BE49-F238E27FC236}">
                <a16:creationId xmlns:a16="http://schemas.microsoft.com/office/drawing/2014/main" id="{D05FD567-6830-4B7C-A6B4-1C17F3F5C538}"/>
              </a:ext>
            </a:extLst>
          </p:cNvPr>
          <p:cNvSpPr>
            <a:spLocks xmlns:a="http://schemas.openxmlformats.org/drawingml/2006/main" noGrp="1"/>
          </p:cNvSpPr>
          <p:nvPr/>
        </p:nvSpPr>
        <p:spPr>
          <a:xfrm xmlns:a="http://schemas.openxmlformats.org/drawingml/2006/main">
            <a:off x="381000" y="2343150"/>
            <a:ext cx="7391400" cy="3676650"/>
          </a:xfrm>
          <a:prstGeom xmlns:a="http://schemas.openxmlformats.org/drawingml/2006/main" prst="roundRect">
            <a:avLst>
              <a:gd name="adj" fmla="val 1813"/>
            </a:avLst>
          </a:prstGeom>
          <a:solidFill xmlns:a="http://schemas.openxmlformats.org/drawingml/2006/main">
            <a:srgbClr val="FFFFFF"/>
          </a:solidFill>
          <a:ln xmlns:a="http://schemas.openxmlformats.org/drawingml/2006/main" w="9525">
            <a:solidFill>
              <a:srgbClr val="CED6D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6" name="Rounded Rectangle 15">
            <a:extLst xmlns:a="http://schemas.openxmlformats.org/drawingml/2006/main">
              <a:ext uri="{FF2B5EF4-FFF2-40B4-BE49-F238E27FC236}">
                <a16:creationId xmlns:a16="http://schemas.microsoft.com/office/drawing/2014/main" id="{7E7120EA-B371-422A-9F44-F023B4B89BD2}"/>
              </a:ext>
            </a:extLst>
          </p:cNvPr>
          <p:cNvSpPr>
            <a:spLocks xmlns:a="http://schemas.openxmlformats.org/drawingml/2006/main" noGrp="1"/>
          </p:cNvSpPr>
          <p:nvPr/>
        </p:nvSpPr>
        <p:spPr>
          <a:xfrm xmlns:a="http://schemas.openxmlformats.org/drawingml/2006/main">
            <a:off x="381000" y="2343150"/>
            <a:ext cx="7391400" cy="361950"/>
          </a:xfrm>
          <a:prstGeom xmlns:a="http://schemas.openxmlformats.org/drawingml/2006/main" prst="roundRect">
            <a:avLst>
              <a:gd name="adj" fmla="val 18421"/>
            </a:avLst>
          </a:prstGeom>
          <a:gradFill xmlns:a="http://schemas.openxmlformats.org/drawingml/2006/main">
            <a:gsLst>
              <a:gs pos="0">
                <a:srgbClr val="00351F"/>
              </a:gs>
              <a:gs pos="100000">
                <a:srgbClr val="075431"/>
              </a:gs>
            </a:gsLst>
            <a:lin ang="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76" name="Picture 66"/>
          <p:cNvPicPr>
            <a:picLocks xmlns:a="http://schemas.openxmlformats.org/drawingml/2006/main" noChangeAspect="1"/>
          </p:cNvPicPr>
          <p:nvPr/>
        </p:nvPicPr>
        <p:blipFill>
          <a:blip xmlns:r="http://schemas.openxmlformats.org/officeDocument/2006/relationships" xmlns:a="http://schemas.openxmlformats.org/drawingml/2006/main" r:embed="R230b93a1dc934c81"/>
          <a:stretch xmlns:a="http://schemas.openxmlformats.org/drawingml/2006/main"/>
        </p:blipFill>
        <p:spPr>
          <a:xfrm xmlns:a="http://schemas.openxmlformats.org/drawingml/2006/main">
            <a:off x="617492" y="2390775"/>
            <a:ext cx="260441" cy="276225"/>
          </a:xfrm>
          <a:prstGeom xmlns:a="http://schemas.openxmlformats.org/drawingml/2006/main" prst="rect">
            <a:avLst/>
          </a:prstGeom>
        </p:spPr>
      </p:pic>
      <p:sp>
        <p:nvSpPr>
          <p:cNvPr id="18" name="Rectangle 17">
            <a:extLst xmlns:a="http://schemas.openxmlformats.org/drawingml/2006/main">
              <a:ext uri="{FF2B5EF4-FFF2-40B4-BE49-F238E27FC236}">
                <a16:creationId xmlns:a16="http://schemas.microsoft.com/office/drawing/2014/main" id="{E91505E6-4E87-4F2F-9412-FA897C3D79C8}"/>
              </a:ext>
            </a:extLst>
          </p:cNvPr>
          <p:cNvSpPr>
            <a:spLocks xmlns:a="http://schemas.openxmlformats.org/drawingml/2006/main" noGrp="1"/>
          </p:cNvSpPr>
          <p:nvPr/>
        </p:nvSpPr>
        <p:spPr>
          <a:xfrm xmlns:a="http://schemas.openxmlformats.org/drawingml/2006/main">
            <a:off x="1019175" y="24384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Sizing Methodology</a:t>
            </a:r>
          </a:p>
        </p:txBody>
      </p:sp>
      <p:pic>
        <p:nvPicPr>
          <p:cNvPr id="78" name="Picture 68"/>
          <p:cNvPicPr>
            <a:picLocks xmlns:a="http://schemas.openxmlformats.org/drawingml/2006/main" noChangeAspect="1"/>
          </p:cNvPicPr>
          <p:nvPr/>
        </p:nvPicPr>
        <p:blipFill>
          <a:blip xmlns:r="http://schemas.openxmlformats.org/officeDocument/2006/relationships" xmlns:a="http://schemas.openxmlformats.org/drawingml/2006/main" r:embed="R64d8a1ed6c084bcd"/>
          <a:stretch xmlns:a="http://schemas.openxmlformats.org/drawingml/2006/main"/>
        </p:blipFill>
        <p:spPr>
          <a:xfrm xmlns:a="http://schemas.openxmlformats.org/drawingml/2006/main">
            <a:off x="600075" y="2779303"/>
            <a:ext cx="466725" cy="451669"/>
          </a:xfrm>
          <a:prstGeom xmlns:a="http://schemas.openxmlformats.org/drawingml/2006/main" prst="rect">
            <a:avLst/>
          </a:prstGeom>
        </p:spPr>
      </p:pic>
      <p:sp>
        <p:nvSpPr>
          <p:cNvPr id="20" name="Rectangle 19">
            <a:extLst xmlns:a="http://schemas.openxmlformats.org/drawingml/2006/main">
              <a:ext uri="{FF2B5EF4-FFF2-40B4-BE49-F238E27FC236}">
                <a16:creationId xmlns:a16="http://schemas.microsoft.com/office/drawing/2014/main" id="{42908386-5A93-4A58-A462-83A24A156EB4}"/>
              </a:ext>
            </a:extLst>
          </p:cNvPr>
          <p:cNvSpPr>
            <a:spLocks xmlns:a="http://schemas.openxmlformats.org/drawingml/2006/main" noGrp="1"/>
          </p:cNvSpPr>
          <p:nvPr/>
        </p:nvSpPr>
        <p:spPr>
          <a:xfrm xmlns:a="http://schemas.openxmlformats.org/drawingml/2006/main">
            <a:off x="1333500" y="2914650"/>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Data Source</a:t>
            </a:r>
          </a:p>
        </p:txBody>
      </p:sp>
      <p:sp>
        <p:nvSpPr>
          <p:cNvPr id="21" name="Straight Connector 20">
            <a:extLst xmlns:a="http://schemas.openxmlformats.org/drawingml/2006/main">
              <a:ext uri="{FF2B5EF4-FFF2-40B4-BE49-F238E27FC236}">
                <a16:creationId xmlns:a16="http://schemas.microsoft.com/office/drawing/2014/main" id="{74A58121-1B16-4F12-92B5-F259AF492CB0}"/>
              </a:ext>
            </a:extLst>
          </p:cNvPr>
          <p:cNvSpPr>
            <a:spLocks xmlns:a="http://schemas.openxmlformats.org/drawingml/2006/main" noGrp="1"/>
          </p:cNvSpPr>
          <p:nvPr/>
        </p:nvSpPr>
        <p:spPr>
          <a:xfrm xmlns:a="http://schemas.openxmlformats.org/drawingml/2006/main">
            <a:off x="3333750" y="2828925"/>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Rectangle 21">
            <a:extLst xmlns:a="http://schemas.openxmlformats.org/drawingml/2006/main">
              <a:ext uri="{FF2B5EF4-FFF2-40B4-BE49-F238E27FC236}">
                <a16:creationId xmlns:a16="http://schemas.microsoft.com/office/drawing/2014/main" id="{71D931CB-6DBE-4D20-B729-98885198EFAC}"/>
              </a:ext>
            </a:extLst>
          </p:cNvPr>
          <p:cNvSpPr>
            <a:spLocks xmlns:a="http://schemas.openxmlformats.org/drawingml/2006/main" noGrp="1"/>
          </p:cNvSpPr>
          <p:nvPr/>
        </p:nvSpPr>
        <p:spPr>
          <a:xfrm xmlns:a="http://schemas.openxmlformats.org/drawingml/2006/main">
            <a:off x="3676650" y="2828925"/>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RVTools export provided by the customer</a:t>
            </a:r>
          </a:p>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(Analysis Date: May 08, 2025)</a:t>
            </a:r>
          </a:p>
        </p:txBody>
      </p:sp>
      <p:sp>
        <p:nvSpPr>
          <p:cNvPr id="23" name="Straight Connector 22">
            <a:extLst xmlns:a="http://schemas.openxmlformats.org/drawingml/2006/main">
              <a:ext uri="{FF2B5EF4-FFF2-40B4-BE49-F238E27FC236}">
                <a16:creationId xmlns:a16="http://schemas.microsoft.com/office/drawing/2014/main" id="{23397379-0F76-4614-83F5-A13601AE9797}"/>
              </a:ext>
            </a:extLst>
          </p:cNvPr>
          <p:cNvSpPr>
            <a:spLocks xmlns:a="http://schemas.openxmlformats.org/drawingml/2006/main" noGrp="1"/>
          </p:cNvSpPr>
          <p:nvPr/>
        </p:nvSpPr>
        <p:spPr>
          <a:xfrm xmlns:a="http://schemas.openxmlformats.org/drawingml/2006/main">
            <a:off x="600075" y="3264218"/>
            <a:ext cx="6981825" cy="0"/>
          </a:xfrm>
          <a:prstGeom xmlns:a="http://schemas.openxmlformats.org/drawingml/2006/main" prst="line">
            <a:avLst/>
          </a:prstGeom>
          <a:noFill xmlns:a="http://schemas.openxmlformats.org/drawingml/2006/main"/>
          <a:ln xmlns:a="http://schemas.openxmlformats.org/drawingml/2006/main" w="9525">
            <a:solidFill>
              <a:srgbClr val="DDE2DE"/>
            </a:solidFill>
            <a:prstDash val="solid"/>
          </a:ln>
        </p:spPr>
        <p:txBody>
          <a:bodyPr xmlns:a="http://schemas.openxmlformats.org/drawingml/2006/main"/>
          <a:lstStyle xmlns:a="http://schemas.openxmlformats.org/drawingml/2006/main"/>
          <a:p xmlns:a="http://schemas.openxmlformats.org/drawingml/2006/main">
            <a:endParaRPr/>
          </a:p>
        </p:txBody>
      </p:sp>
      <p:pic>
        <p:nvPicPr>
          <p:cNvPr id="83" name="Picture 73"/>
          <p:cNvPicPr>
            <a:picLocks xmlns:a="http://schemas.openxmlformats.org/drawingml/2006/main" noChangeAspect="1"/>
          </p:cNvPicPr>
          <p:nvPr/>
        </p:nvPicPr>
        <p:blipFill>
          <a:blip xmlns:r="http://schemas.openxmlformats.org/officeDocument/2006/relationships" xmlns:a="http://schemas.openxmlformats.org/drawingml/2006/main" r:embed="Rb00f343c8011403d"/>
          <a:stretch xmlns:a="http://schemas.openxmlformats.org/drawingml/2006/main"/>
        </p:blipFill>
        <p:spPr>
          <a:xfrm xmlns:a="http://schemas.openxmlformats.org/drawingml/2006/main">
            <a:off x="600075" y="3309845"/>
            <a:ext cx="466725" cy="451669"/>
          </a:xfrm>
          <a:prstGeom xmlns:a="http://schemas.openxmlformats.org/drawingml/2006/main" prst="rect">
            <a:avLst/>
          </a:prstGeom>
        </p:spPr>
      </p:pic>
      <p:sp>
        <p:nvSpPr>
          <p:cNvPr id="25" name="Rectangle 24">
            <a:extLst xmlns:a="http://schemas.openxmlformats.org/drawingml/2006/main">
              <a:ext uri="{FF2B5EF4-FFF2-40B4-BE49-F238E27FC236}">
                <a16:creationId xmlns:a16="http://schemas.microsoft.com/office/drawing/2014/main" id="{DE8908F2-D896-472D-AF70-B94F25AE6292}"/>
              </a:ext>
            </a:extLst>
          </p:cNvPr>
          <p:cNvSpPr>
            <a:spLocks xmlns:a="http://schemas.openxmlformats.org/drawingml/2006/main" noGrp="1"/>
          </p:cNvSpPr>
          <p:nvPr/>
        </p:nvSpPr>
        <p:spPr>
          <a:xfrm xmlns:a="http://schemas.openxmlformats.org/drawingml/2006/main">
            <a:off x="1333500" y="3445193"/>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Sizing Approach</a:t>
            </a:r>
          </a:p>
        </p:txBody>
      </p:sp>
      <p:sp>
        <p:nvSpPr>
          <p:cNvPr id="26" name="Straight Connector 25">
            <a:extLst xmlns:a="http://schemas.openxmlformats.org/drawingml/2006/main">
              <a:ext uri="{FF2B5EF4-FFF2-40B4-BE49-F238E27FC236}">
                <a16:creationId xmlns:a16="http://schemas.microsoft.com/office/drawing/2014/main" id="{CFDEC23A-6F66-49D5-87D3-62C87F39D16D}"/>
              </a:ext>
            </a:extLst>
          </p:cNvPr>
          <p:cNvSpPr>
            <a:spLocks xmlns:a="http://schemas.openxmlformats.org/drawingml/2006/main" noGrp="1"/>
          </p:cNvSpPr>
          <p:nvPr/>
        </p:nvSpPr>
        <p:spPr>
          <a:xfrm xmlns:a="http://schemas.openxmlformats.org/drawingml/2006/main">
            <a:off x="3333750" y="3359468"/>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Rectangle 26">
            <a:extLst xmlns:a="http://schemas.openxmlformats.org/drawingml/2006/main">
              <a:ext uri="{FF2B5EF4-FFF2-40B4-BE49-F238E27FC236}">
                <a16:creationId xmlns:a16="http://schemas.microsoft.com/office/drawing/2014/main" id="{0ECE9441-9ABA-4D86-B0D0-CA3DF1A3EB96}"/>
              </a:ext>
            </a:extLst>
          </p:cNvPr>
          <p:cNvSpPr>
            <a:spLocks xmlns:a="http://schemas.openxmlformats.org/drawingml/2006/main" noGrp="1"/>
          </p:cNvSpPr>
          <p:nvPr/>
        </p:nvSpPr>
        <p:spPr>
          <a:xfrm xmlns:a="http://schemas.openxmlformats.org/drawingml/2006/main">
            <a:off x="3676650" y="3359468"/>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Capacity based on current utilization</a:t>
            </a:r>
          </a:p>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and projected growth</a:t>
            </a:r>
          </a:p>
        </p:txBody>
      </p:sp>
      <p:sp>
        <p:nvSpPr>
          <p:cNvPr id="28" name="Straight Connector 27">
            <a:extLst xmlns:a="http://schemas.openxmlformats.org/drawingml/2006/main">
              <a:ext uri="{FF2B5EF4-FFF2-40B4-BE49-F238E27FC236}">
                <a16:creationId xmlns:a16="http://schemas.microsoft.com/office/drawing/2014/main" id="{45CE46C6-B9C0-4849-A834-96BE06538FA8}"/>
              </a:ext>
            </a:extLst>
          </p:cNvPr>
          <p:cNvSpPr>
            <a:spLocks xmlns:a="http://schemas.openxmlformats.org/drawingml/2006/main" noGrp="1"/>
          </p:cNvSpPr>
          <p:nvPr/>
        </p:nvSpPr>
        <p:spPr>
          <a:xfrm xmlns:a="http://schemas.openxmlformats.org/drawingml/2006/main">
            <a:off x="600075" y="3794760"/>
            <a:ext cx="6981825" cy="0"/>
          </a:xfrm>
          <a:prstGeom xmlns:a="http://schemas.openxmlformats.org/drawingml/2006/main" prst="line">
            <a:avLst/>
          </a:prstGeom>
          <a:noFill xmlns:a="http://schemas.openxmlformats.org/drawingml/2006/main"/>
          <a:ln xmlns:a="http://schemas.openxmlformats.org/drawingml/2006/main" w="9525">
            <a:solidFill>
              <a:srgbClr val="DDE2DE"/>
            </a:solidFill>
            <a:prstDash val="solid"/>
          </a:ln>
        </p:spPr>
        <p:txBody>
          <a:bodyPr xmlns:a="http://schemas.openxmlformats.org/drawingml/2006/main"/>
          <a:lstStyle xmlns:a="http://schemas.openxmlformats.org/drawingml/2006/main"/>
          <a:p xmlns:a="http://schemas.openxmlformats.org/drawingml/2006/main">
            <a:endParaRPr/>
          </a:p>
        </p:txBody>
      </p:sp>
      <p:pic>
        <p:nvPicPr>
          <p:cNvPr id="88" name="Picture 78"/>
          <p:cNvPicPr>
            <a:picLocks xmlns:a="http://schemas.openxmlformats.org/drawingml/2006/main" noChangeAspect="1"/>
          </p:cNvPicPr>
          <p:nvPr/>
        </p:nvPicPr>
        <p:blipFill>
          <a:blip xmlns:r="http://schemas.openxmlformats.org/officeDocument/2006/relationships" xmlns:a="http://schemas.openxmlformats.org/drawingml/2006/main" r:embed="R65c6f85dca5941b3"/>
          <a:stretch xmlns:a="http://schemas.openxmlformats.org/drawingml/2006/main"/>
        </p:blipFill>
        <p:spPr>
          <a:xfrm xmlns:a="http://schemas.openxmlformats.org/drawingml/2006/main">
            <a:off x="600075" y="3836686"/>
            <a:ext cx="466725" cy="459074"/>
          </a:xfrm>
          <a:prstGeom xmlns:a="http://schemas.openxmlformats.org/drawingml/2006/main" prst="rect">
            <a:avLst/>
          </a:prstGeom>
        </p:spPr>
      </p:pic>
      <p:sp>
        <p:nvSpPr>
          <p:cNvPr id="30" name="Rectangle 29">
            <a:extLst xmlns:a="http://schemas.openxmlformats.org/drawingml/2006/main">
              <a:ext uri="{FF2B5EF4-FFF2-40B4-BE49-F238E27FC236}">
                <a16:creationId xmlns:a16="http://schemas.microsoft.com/office/drawing/2014/main" id="{78085D01-F2D9-4FF8-AFE8-59DAD7CB0343}"/>
              </a:ext>
            </a:extLst>
          </p:cNvPr>
          <p:cNvSpPr>
            <a:spLocks xmlns:a="http://schemas.openxmlformats.org/drawingml/2006/main" noGrp="1"/>
          </p:cNvSpPr>
          <p:nvPr/>
        </p:nvSpPr>
        <p:spPr>
          <a:xfrm xmlns:a="http://schemas.openxmlformats.org/drawingml/2006/main">
            <a:off x="1333500" y="3975735"/>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CPU Contention Ratio</a:t>
            </a:r>
          </a:p>
        </p:txBody>
      </p:sp>
      <p:sp>
        <p:nvSpPr>
          <p:cNvPr id="31" name="Straight Connector 30">
            <a:extLst xmlns:a="http://schemas.openxmlformats.org/drawingml/2006/main">
              <a:ext uri="{FF2B5EF4-FFF2-40B4-BE49-F238E27FC236}">
                <a16:creationId xmlns:a16="http://schemas.microsoft.com/office/drawing/2014/main" id="{72944B4F-936E-4666-BCB5-19428C80B4D4}"/>
              </a:ext>
            </a:extLst>
          </p:cNvPr>
          <p:cNvSpPr>
            <a:spLocks xmlns:a="http://schemas.openxmlformats.org/drawingml/2006/main" noGrp="1"/>
          </p:cNvSpPr>
          <p:nvPr/>
        </p:nvSpPr>
        <p:spPr>
          <a:xfrm xmlns:a="http://schemas.openxmlformats.org/drawingml/2006/main">
            <a:off x="3333750" y="3890010"/>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editable-cpu-contention-ratio">
            <a:extLst xmlns:a="http://schemas.openxmlformats.org/drawingml/2006/main">
              <a:ext uri="{FF2B5EF4-FFF2-40B4-BE49-F238E27FC236}">
                <a16:creationId xmlns:a16="http://schemas.microsoft.com/office/drawing/2014/main" id="{4BB2C1F5-D562-49B2-9F9A-0CC0CC218F6B}"/>
              </a:ext>
            </a:extLst>
          </p:cNvPr>
          <p:cNvSpPr>
            <a:spLocks xmlns:a="http://schemas.openxmlformats.org/drawingml/2006/main" noGrp="1"/>
          </p:cNvSpPr>
          <p:nvPr/>
        </p:nvSpPr>
        <p:spPr>
          <a:xfrm xmlns:a="http://schemas.openxmlformats.org/drawingml/2006/main">
            <a:off x="3676650" y="389001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425" b="1" i="0">
                <a:solidFill>
                  <a:srgbClr val="111111"/>
                </a:solidFill>
                <a:latin typeface="Arial"/>
                <a:ea typeface="Arial"/>
                <a:cs typeface="Arial"/>
              </a:defRPr>
            </a:pPr>
            <a:r>
              <a:rPr sz="1425" b="1" i="0">
                <a:solidFill>
                  <a:srgbClr val="111111"/>
                </a:solidFill>
                <a:latin typeface="Arial"/>
                <a:ea typeface="Arial"/>
                <a:cs typeface="Arial"/>
              </a:rPr>
              <a:t>1:6</a:t>
            </a:r>
          </a:p>
        </p:txBody>
      </p:sp>
      <p:sp>
        <p:nvSpPr>
          <p:cNvPr id="33" name="Rectangle 32">
            <a:extLst xmlns:a="http://schemas.openxmlformats.org/drawingml/2006/main">
              <a:ext uri="{FF2B5EF4-FFF2-40B4-BE49-F238E27FC236}">
                <a16:creationId xmlns:a16="http://schemas.microsoft.com/office/drawing/2014/main" id="{C1010FD1-CF72-4430-AE27-159930A3A4CD}"/>
              </a:ext>
            </a:extLst>
          </p:cNvPr>
          <p:cNvSpPr>
            <a:spLocks xmlns:a="http://schemas.openxmlformats.org/drawingml/2006/main" noGrp="1"/>
          </p:cNvSpPr>
          <p:nvPr/>
        </p:nvSpPr>
        <p:spPr>
          <a:xfrm xmlns:a="http://schemas.openxmlformats.org/drawingml/2006/main">
            <a:off x="3676650" y="4109085"/>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75" b="0" i="0">
                <a:solidFill>
                  <a:srgbClr val="111111"/>
                </a:solidFill>
                <a:latin typeface="Arial"/>
                <a:ea typeface="Arial"/>
                <a:cs typeface="Arial"/>
              </a:defRPr>
            </a:pPr>
            <a:r>
              <a:rPr sz="975" b="0" i="0">
                <a:solidFill>
                  <a:srgbClr val="111111"/>
                </a:solidFill>
                <a:latin typeface="Arial"/>
                <a:ea typeface="Arial"/>
                <a:cs typeface="Arial"/>
              </a:rPr>
              <a:t>(Industry standard for medium consolidation)</a:t>
            </a:r>
          </a:p>
        </p:txBody>
      </p:sp>
      <p:sp>
        <p:nvSpPr>
          <p:cNvPr id="34" name="Straight Connector 33">
            <a:extLst xmlns:a="http://schemas.openxmlformats.org/drawingml/2006/main">
              <a:ext uri="{FF2B5EF4-FFF2-40B4-BE49-F238E27FC236}">
                <a16:creationId xmlns:a16="http://schemas.microsoft.com/office/drawing/2014/main" id="{02CD068C-C8FC-47C9-BB57-3D4C64351CFA}"/>
              </a:ext>
            </a:extLst>
          </p:cNvPr>
          <p:cNvSpPr>
            <a:spLocks xmlns:a="http://schemas.openxmlformats.org/drawingml/2006/main" noGrp="1"/>
          </p:cNvSpPr>
          <p:nvPr/>
        </p:nvSpPr>
        <p:spPr>
          <a:xfrm xmlns:a="http://schemas.openxmlformats.org/drawingml/2006/main">
            <a:off x="600075" y="4325303"/>
            <a:ext cx="6981825" cy="0"/>
          </a:xfrm>
          <a:prstGeom xmlns:a="http://schemas.openxmlformats.org/drawingml/2006/main" prst="line">
            <a:avLst/>
          </a:prstGeom>
          <a:noFill xmlns:a="http://schemas.openxmlformats.org/drawingml/2006/main"/>
          <a:ln xmlns:a="http://schemas.openxmlformats.org/drawingml/2006/main" w="9525">
            <a:solidFill>
              <a:srgbClr val="DDE2DE"/>
            </a:solidFill>
            <a:prstDash val="solid"/>
          </a:ln>
        </p:spPr>
        <p:txBody>
          <a:bodyPr xmlns:a="http://schemas.openxmlformats.org/drawingml/2006/main"/>
          <a:lstStyle xmlns:a="http://schemas.openxmlformats.org/drawingml/2006/main"/>
          <a:p xmlns:a="http://schemas.openxmlformats.org/drawingml/2006/main">
            <a:endParaRPr/>
          </a:p>
        </p:txBody>
      </p:sp>
      <p:pic>
        <p:nvPicPr>
          <p:cNvPr id="94" name="Picture 84"/>
          <p:cNvPicPr>
            <a:picLocks xmlns:a="http://schemas.openxmlformats.org/drawingml/2006/main" noChangeAspect="1"/>
          </p:cNvPicPr>
          <p:nvPr/>
        </p:nvPicPr>
        <p:blipFill>
          <a:blip xmlns:r="http://schemas.openxmlformats.org/officeDocument/2006/relationships" xmlns:a="http://schemas.openxmlformats.org/drawingml/2006/main" r:embed="R68335078a67b4213"/>
          <a:stretch xmlns:a="http://schemas.openxmlformats.org/drawingml/2006/main"/>
        </p:blipFill>
        <p:spPr>
          <a:xfrm xmlns:a="http://schemas.openxmlformats.org/drawingml/2006/main">
            <a:off x="600075" y="4367228"/>
            <a:ext cx="466725" cy="459074"/>
          </a:xfrm>
          <a:prstGeom xmlns:a="http://schemas.openxmlformats.org/drawingml/2006/main" prst="rect">
            <a:avLst/>
          </a:prstGeom>
        </p:spPr>
      </p:pic>
      <p:sp>
        <p:nvSpPr>
          <p:cNvPr id="36" name="Rectangle 35">
            <a:extLst xmlns:a="http://schemas.openxmlformats.org/drawingml/2006/main">
              <a:ext uri="{FF2B5EF4-FFF2-40B4-BE49-F238E27FC236}">
                <a16:creationId xmlns:a16="http://schemas.microsoft.com/office/drawing/2014/main" id="{35B0B338-2A00-4402-837C-6832FD369235}"/>
              </a:ext>
            </a:extLst>
          </p:cNvPr>
          <p:cNvSpPr>
            <a:spLocks xmlns:a="http://schemas.openxmlformats.org/drawingml/2006/main" noGrp="1"/>
          </p:cNvSpPr>
          <p:nvPr/>
        </p:nvSpPr>
        <p:spPr>
          <a:xfrm xmlns:a="http://schemas.openxmlformats.org/drawingml/2006/main">
            <a:off x="1333500" y="4506278"/>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Average Utilization</a:t>
            </a:r>
          </a:p>
        </p:txBody>
      </p:sp>
      <p:sp>
        <p:nvSpPr>
          <p:cNvPr id="37" name="Straight Connector 36">
            <a:extLst xmlns:a="http://schemas.openxmlformats.org/drawingml/2006/main">
              <a:ext uri="{FF2B5EF4-FFF2-40B4-BE49-F238E27FC236}">
                <a16:creationId xmlns:a16="http://schemas.microsoft.com/office/drawing/2014/main" id="{0004D49C-3CEF-4D64-8EE4-5C2EF19B65F0}"/>
              </a:ext>
            </a:extLst>
          </p:cNvPr>
          <p:cNvSpPr>
            <a:spLocks xmlns:a="http://schemas.openxmlformats.org/drawingml/2006/main" noGrp="1"/>
          </p:cNvSpPr>
          <p:nvPr/>
        </p:nvSpPr>
        <p:spPr>
          <a:xfrm xmlns:a="http://schemas.openxmlformats.org/drawingml/2006/main">
            <a:off x="3333750" y="4420553"/>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Rectangle 37">
            <a:extLst xmlns:a="http://schemas.openxmlformats.org/drawingml/2006/main">
              <a:ext uri="{FF2B5EF4-FFF2-40B4-BE49-F238E27FC236}">
                <a16:creationId xmlns:a16="http://schemas.microsoft.com/office/drawing/2014/main" id="{B09B219E-B635-42E5-8711-6CCAA05CC5BA}"/>
              </a:ext>
            </a:extLst>
          </p:cNvPr>
          <p:cNvSpPr>
            <a:spLocks xmlns:a="http://schemas.openxmlformats.org/drawingml/2006/main" noGrp="1"/>
          </p:cNvSpPr>
          <p:nvPr/>
        </p:nvSpPr>
        <p:spPr>
          <a:xfrm xmlns:a="http://schemas.openxmlformats.org/drawingml/2006/main">
            <a:off x="3676650" y="4420553"/>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vCPU: 50%</a:t>
            </a:r>
          </a:p>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vMEM</a:t>
            </a:r>
            <a:r>
              <a:rPr sz="1125" b="0" i="0">
                <a:solidFill>
                  <a:srgbClr val="111111"/>
                </a:solidFill>
                <a:latin typeface="Arial"/>
                <a:ea typeface="Arial"/>
                <a:cs typeface="Arial"/>
              </a:rPr>
              <a:t>: 60%</a:t>
            </a:r>
          </a:p>
        </p:txBody>
      </p:sp>
      <p:sp>
        <p:nvSpPr>
          <p:cNvPr id="39" name="Straight Connector 38">
            <a:extLst xmlns:a="http://schemas.openxmlformats.org/drawingml/2006/main">
              <a:ext uri="{FF2B5EF4-FFF2-40B4-BE49-F238E27FC236}">
                <a16:creationId xmlns:a16="http://schemas.microsoft.com/office/drawing/2014/main" id="{B5294845-2E5B-41F1-8CD4-A4D7AFAA9406}"/>
              </a:ext>
            </a:extLst>
          </p:cNvPr>
          <p:cNvSpPr>
            <a:spLocks xmlns:a="http://schemas.openxmlformats.org/drawingml/2006/main" noGrp="1"/>
          </p:cNvSpPr>
          <p:nvPr/>
        </p:nvSpPr>
        <p:spPr>
          <a:xfrm xmlns:a="http://schemas.openxmlformats.org/drawingml/2006/main">
            <a:off x="600075" y="4855845"/>
            <a:ext cx="6981825" cy="0"/>
          </a:xfrm>
          <a:prstGeom xmlns:a="http://schemas.openxmlformats.org/drawingml/2006/main" prst="line">
            <a:avLst/>
          </a:prstGeom>
          <a:noFill xmlns:a="http://schemas.openxmlformats.org/drawingml/2006/main"/>
          <a:ln xmlns:a="http://schemas.openxmlformats.org/drawingml/2006/main" w="9525">
            <a:solidFill>
              <a:srgbClr val="DDE2DE"/>
            </a:solidFill>
            <a:prstDash val="solid"/>
          </a:ln>
        </p:spPr>
        <p:txBody>
          <a:bodyPr xmlns:a="http://schemas.openxmlformats.org/drawingml/2006/main"/>
          <a:lstStyle xmlns:a="http://schemas.openxmlformats.org/drawingml/2006/main"/>
          <a:p xmlns:a="http://schemas.openxmlformats.org/drawingml/2006/main">
            <a:endParaRPr/>
          </a:p>
        </p:txBody>
      </p:sp>
      <p:pic>
        <p:nvPicPr>
          <p:cNvPr id="99" name="Picture 89"/>
          <p:cNvPicPr>
            <a:picLocks xmlns:a="http://schemas.openxmlformats.org/drawingml/2006/main" noChangeAspect="1"/>
          </p:cNvPicPr>
          <p:nvPr/>
        </p:nvPicPr>
        <p:blipFill>
          <a:blip xmlns:r="http://schemas.openxmlformats.org/officeDocument/2006/relationships" xmlns:a="http://schemas.openxmlformats.org/drawingml/2006/main" r:embed="R227f3e0db7e24bff"/>
          <a:stretch xmlns:a="http://schemas.openxmlformats.org/drawingml/2006/main"/>
        </p:blipFill>
        <p:spPr>
          <a:xfrm xmlns:a="http://schemas.openxmlformats.org/drawingml/2006/main">
            <a:off x="600075" y="4897771"/>
            <a:ext cx="466725" cy="459074"/>
          </a:xfrm>
          <a:prstGeom xmlns:a="http://schemas.openxmlformats.org/drawingml/2006/main" prst="rect">
            <a:avLst/>
          </a:prstGeom>
        </p:spPr>
      </p:pic>
      <p:sp>
        <p:nvSpPr>
          <p:cNvPr id="41" name="Rectangle 40">
            <a:extLst xmlns:a="http://schemas.openxmlformats.org/drawingml/2006/main">
              <a:ext uri="{FF2B5EF4-FFF2-40B4-BE49-F238E27FC236}">
                <a16:creationId xmlns:a16="http://schemas.microsoft.com/office/drawing/2014/main" id="{3237AD7F-4836-4176-AF9D-C45EBA307DA5}"/>
              </a:ext>
            </a:extLst>
          </p:cNvPr>
          <p:cNvSpPr>
            <a:spLocks xmlns:a="http://schemas.openxmlformats.org/drawingml/2006/main" noGrp="1"/>
          </p:cNvSpPr>
          <p:nvPr/>
        </p:nvSpPr>
        <p:spPr>
          <a:xfrm xmlns:a="http://schemas.openxmlformats.org/drawingml/2006/main">
            <a:off x="1333500" y="5036820"/>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Target Utilization</a:t>
            </a:r>
          </a:p>
        </p:txBody>
      </p:sp>
      <p:sp>
        <p:nvSpPr>
          <p:cNvPr id="42" name="Straight Connector 41">
            <a:extLst xmlns:a="http://schemas.openxmlformats.org/drawingml/2006/main">
              <a:ext uri="{FF2B5EF4-FFF2-40B4-BE49-F238E27FC236}">
                <a16:creationId xmlns:a16="http://schemas.microsoft.com/office/drawing/2014/main" id="{4D9346C3-2665-41B0-99E5-1FA2EBA0C533}"/>
              </a:ext>
            </a:extLst>
          </p:cNvPr>
          <p:cNvSpPr>
            <a:spLocks xmlns:a="http://schemas.openxmlformats.org/drawingml/2006/main" noGrp="1"/>
          </p:cNvSpPr>
          <p:nvPr/>
        </p:nvSpPr>
        <p:spPr>
          <a:xfrm xmlns:a="http://schemas.openxmlformats.org/drawingml/2006/main">
            <a:off x="3333750" y="4951095"/>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43" name="Rectangle 42">
            <a:extLst xmlns:a="http://schemas.openxmlformats.org/drawingml/2006/main">
              <a:ext uri="{FF2B5EF4-FFF2-40B4-BE49-F238E27FC236}">
                <a16:creationId xmlns:a16="http://schemas.microsoft.com/office/drawing/2014/main" id="{DBC0D906-17E6-4658-8738-8B3675430291}"/>
              </a:ext>
            </a:extLst>
          </p:cNvPr>
          <p:cNvSpPr>
            <a:spLocks xmlns:a="http://schemas.openxmlformats.org/drawingml/2006/main" noGrp="1"/>
          </p:cNvSpPr>
          <p:nvPr/>
        </p:nvSpPr>
        <p:spPr>
          <a:xfrm xmlns:a="http://schemas.openxmlformats.org/drawingml/2006/main">
            <a:off x="3676650" y="4951095"/>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80%</a:t>
            </a:r>
          </a:p>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(For both vCPU and vMEM)</a:t>
            </a:r>
          </a:p>
        </p:txBody>
      </p:sp>
      <p:sp>
        <p:nvSpPr>
          <p:cNvPr id="44" name="Straight Connector 43">
            <a:extLst xmlns:a="http://schemas.openxmlformats.org/drawingml/2006/main">
              <a:ext uri="{FF2B5EF4-FFF2-40B4-BE49-F238E27FC236}">
                <a16:creationId xmlns:a16="http://schemas.microsoft.com/office/drawing/2014/main" id="{76C190DA-7557-4EF8-A3B4-C1CD1D532610}"/>
              </a:ext>
            </a:extLst>
          </p:cNvPr>
          <p:cNvSpPr>
            <a:spLocks xmlns:a="http://schemas.openxmlformats.org/drawingml/2006/main" noGrp="1"/>
          </p:cNvSpPr>
          <p:nvPr/>
        </p:nvSpPr>
        <p:spPr>
          <a:xfrm xmlns:a="http://schemas.openxmlformats.org/drawingml/2006/main">
            <a:off x="600075" y="5386388"/>
            <a:ext cx="6981825" cy="0"/>
          </a:xfrm>
          <a:prstGeom xmlns:a="http://schemas.openxmlformats.org/drawingml/2006/main" prst="line">
            <a:avLst/>
          </a:prstGeom>
          <a:noFill xmlns:a="http://schemas.openxmlformats.org/drawingml/2006/main"/>
          <a:ln xmlns:a="http://schemas.openxmlformats.org/drawingml/2006/main" w="9525">
            <a:solidFill>
              <a:srgbClr val="DDE2DE"/>
            </a:solidFill>
            <a:prstDash val="solid"/>
          </a:ln>
        </p:spPr>
        <p:txBody>
          <a:bodyPr xmlns:a="http://schemas.openxmlformats.org/drawingml/2006/main"/>
          <a:lstStyle xmlns:a="http://schemas.openxmlformats.org/drawingml/2006/main"/>
          <a:p xmlns:a="http://schemas.openxmlformats.org/drawingml/2006/main">
            <a:endParaRPr/>
          </a:p>
        </p:txBody>
      </p:sp>
      <p:pic>
        <p:nvPicPr>
          <p:cNvPr id="104" name="Picture 94"/>
          <p:cNvPicPr>
            <a:picLocks xmlns:a="http://schemas.openxmlformats.org/drawingml/2006/main" noChangeAspect="1"/>
          </p:cNvPicPr>
          <p:nvPr/>
        </p:nvPicPr>
        <p:blipFill>
          <a:blip xmlns:r="http://schemas.openxmlformats.org/officeDocument/2006/relationships" xmlns:a="http://schemas.openxmlformats.org/drawingml/2006/main" r:embed="R7830e50c6a154a45"/>
          <a:stretch xmlns:a="http://schemas.openxmlformats.org/drawingml/2006/main"/>
        </p:blipFill>
        <p:spPr>
          <a:xfrm xmlns:a="http://schemas.openxmlformats.org/drawingml/2006/main">
            <a:off x="600075" y="5424488"/>
            <a:ext cx="466725" cy="466725"/>
          </a:xfrm>
          <a:prstGeom xmlns:a="http://schemas.openxmlformats.org/drawingml/2006/main" prst="rect">
            <a:avLst/>
          </a:prstGeom>
        </p:spPr>
      </p:pic>
      <p:sp>
        <p:nvSpPr>
          <p:cNvPr id="46" name="Rectangle 45">
            <a:extLst xmlns:a="http://schemas.openxmlformats.org/drawingml/2006/main">
              <a:ext uri="{FF2B5EF4-FFF2-40B4-BE49-F238E27FC236}">
                <a16:creationId xmlns:a16="http://schemas.microsoft.com/office/drawing/2014/main" id="{1AAF8FDE-50FC-4C3F-9F81-15310F8F98EE}"/>
              </a:ext>
            </a:extLst>
          </p:cNvPr>
          <p:cNvSpPr>
            <a:spLocks xmlns:a="http://schemas.openxmlformats.org/drawingml/2006/main" noGrp="1"/>
          </p:cNvSpPr>
          <p:nvPr/>
        </p:nvSpPr>
        <p:spPr>
          <a:xfrm xmlns:a="http://schemas.openxmlformats.org/drawingml/2006/main">
            <a:off x="1333500" y="5567363"/>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Storage Type</a:t>
            </a:r>
          </a:p>
        </p:txBody>
      </p:sp>
      <p:sp>
        <p:nvSpPr>
          <p:cNvPr id="47" name="Straight Connector 46">
            <a:extLst xmlns:a="http://schemas.openxmlformats.org/drawingml/2006/main">
              <a:ext uri="{FF2B5EF4-FFF2-40B4-BE49-F238E27FC236}">
                <a16:creationId xmlns:a16="http://schemas.microsoft.com/office/drawing/2014/main" id="{FFEF831B-5985-4EBD-83C8-50668461DF24}"/>
              </a:ext>
            </a:extLst>
          </p:cNvPr>
          <p:cNvSpPr>
            <a:spLocks xmlns:a="http://schemas.openxmlformats.org/drawingml/2006/main" noGrp="1"/>
          </p:cNvSpPr>
          <p:nvPr/>
        </p:nvSpPr>
        <p:spPr>
          <a:xfrm xmlns:a="http://schemas.openxmlformats.org/drawingml/2006/main">
            <a:off x="3333750" y="5481638"/>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48" name="editable-methodology-storage-type">
            <a:extLst xmlns:a="http://schemas.openxmlformats.org/drawingml/2006/main">
              <a:ext uri="{FF2B5EF4-FFF2-40B4-BE49-F238E27FC236}">
                <a16:creationId xmlns:a16="http://schemas.microsoft.com/office/drawing/2014/main" id="{FCCC5123-50EE-49F7-9C4E-AD8B5F15572B}"/>
              </a:ext>
            </a:extLst>
          </p:cNvPr>
          <p:cNvSpPr>
            <a:spLocks xmlns:a="http://schemas.openxmlformats.org/drawingml/2006/main" noGrp="1"/>
          </p:cNvSpPr>
          <p:nvPr/>
        </p:nvSpPr>
        <p:spPr>
          <a:xfrm xmlns:a="http://schemas.openxmlformats.org/drawingml/2006/main">
            <a:off x="3676650" y="5481638"/>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OCI Block Volume</a:t>
            </a:r>
          </a:p>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(Block Storage)</a:t>
            </a:r>
          </a:p>
        </p:txBody>
      </p:sp>
      <p:sp>
        <p:nvSpPr>
          <p:cNvPr id="49" name="Rectangle 48">
            <a:extLst xmlns:a="http://schemas.openxmlformats.org/drawingml/2006/main">
              <a:ext uri="{FF2B5EF4-FFF2-40B4-BE49-F238E27FC236}">
                <a16:creationId xmlns:a16="http://schemas.microsoft.com/office/drawing/2014/main" id="{16E4D860-FD45-4FE4-BDF9-3E6C0A6C9676}"/>
              </a:ext>
            </a:extLst>
          </p:cNvPr>
          <p:cNvSpPr>
            <a:spLocks xmlns:a="http://schemas.openxmlformats.org/drawingml/2006/main" noGrp="1"/>
          </p:cNvSpPr>
          <p:nvPr/>
        </p:nvSpPr>
        <p:spPr>
          <a:xfrm xmlns:a="http://schemas.openxmlformats.org/drawingml/2006/main">
            <a:off x="1133475" y="6553200"/>
            <a:ext cx="514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675" b="0" i="0">
                <a:solidFill>
                  <a:srgbClr val="555555"/>
                </a:solidFill>
                <a:latin typeface="Arial"/>
                <a:ea typeface="Arial"/>
                <a:cs typeface="Arial"/>
              </a:defRPr>
            </a:pPr>
            <a:r>
              <a:rPr sz="675" b="0" i="0">
                <a:solidFill>
                  <a:srgbClr val="555555"/>
                </a:solidFill>
                <a:latin typeface="Arial"/>
                <a:ea typeface="Arial"/>
                <a:cs typeface="Arial"/>
              </a:rPr>
              <a:t>Copyright © 2026, Oracle and/or its affiliates | Confidential: Internal/Restricted/Highly Restricted</a:t>
            </a:r>
          </a:p>
        </p:txBody>
      </p:sp>
      <p:pic>
        <p:nvPicPr>
          <p:cNvPr id="109" name="Picture 99"/>
          <p:cNvPicPr>
            <a:picLocks xmlns:a="http://schemas.openxmlformats.org/drawingml/2006/main" noChangeAspect="1"/>
          </p:cNvPicPr>
          <p:nvPr/>
        </p:nvPicPr>
        <p:blipFill>
          <a:blip xmlns:r="http://schemas.openxmlformats.org/officeDocument/2006/relationships" xmlns:a="http://schemas.openxmlformats.org/drawingml/2006/main" r:embed="R0f5f0cfa22694c26"/>
          <a:stretch xmlns:a="http://schemas.openxmlformats.org/drawingml/2006/main"/>
        </p:blipFill>
        <p:spPr>
          <a:xfrm xmlns:a="http://schemas.openxmlformats.org/drawingml/2006/main">
            <a:off x="11391900" y="6479151"/>
            <a:ext cx="400050" cy="329073"/>
          </a:xfrm>
          <a:prstGeom xmlns:a="http://schemas.openxmlformats.org/drawingml/2006/main" prst="rect">
            <a:avLst/>
          </a:prstGeom>
        </p:spPr>
      </p:pic>
    </p:spTree>
    <p:extLst>
      <p:ext uri="{BB962C8B-B14F-4D97-AF65-F5344CB8AC3E}">
        <p14:creationId xmlns:p14="http://schemas.microsoft.com/office/powerpoint/2010/main" val="948357235"/>
      </p:ext>
    </p:extLst>
  </p:cSld>
</p:sld>
</file>

<file path=ppt/slides/slide5.xml><?xml version="1.0" encoding="utf-8"?>
<p:sld xmlns:p="http://schemas.openxmlformats.org/presentationml/2006/main">
  <p:cSld>
    <p:bg>
      <p:bgPr>
        <a:solidFill xmlns:a="http://schemas.openxmlformats.org/drawingml/2006/main">
          <a:srgbClr val="FBFAF8"/>
        </a:solidFill>
      </p:bgPr>
    </p:bg>
    <p:spTree>
      <p:nvGrpSpPr>
        <p:cNvPr id="1" name=""/>
        <p:cNvGrpSpPr/>
        <p:nvPr/>
      </p:nvGrpSpPr>
      <p:grpSpPr>
        <a:xfrm xmlns:a="http://schemas.openxmlformats.org/drawingml/2006/main"/>
      </p:grpSpPr>
      <p:sp>
        <p:nvSpPr>
          <p:cNvPr id="153" name="Oval 152">
            <a:extLst xmlns:a="http://schemas.openxmlformats.org/drawingml/2006/main">
              <a:ext uri="{FF2B5EF4-FFF2-40B4-BE49-F238E27FC236}">
                <a16:creationId xmlns:a16="http://schemas.microsoft.com/office/drawing/2014/main" id="{0F5C40B1-2D39-4222-A6F8-D1BB4CF316FA}"/>
              </a:ext>
            </a:extLst>
          </p:cNvPr>
          <p:cNvSpPr>
            <a:spLocks xmlns:a="http://schemas.openxmlformats.org/drawingml/2006/main" noGrp="1"/>
          </p:cNvSpPr>
          <p:nvPr/>
        </p:nvSpPr>
        <p:spPr>
          <a:xfrm xmlns:a="http://schemas.openxmlformats.org/drawingml/2006/main">
            <a:off x="4876800" y="552450"/>
            <a:ext cx="38100" cy="38100"/>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Oval 1">
            <a:extLst xmlns:a="http://schemas.openxmlformats.org/drawingml/2006/main">
              <a:ext uri="{FF2B5EF4-FFF2-40B4-BE49-F238E27FC236}">
                <a16:creationId xmlns:a16="http://schemas.microsoft.com/office/drawing/2014/main" id="{5684B581-FEC6-42E9-8C15-C82B7A6ABF9B}"/>
              </a:ext>
            </a:extLst>
          </p:cNvPr>
          <p:cNvSpPr>
            <a:spLocks xmlns:a="http://schemas.openxmlformats.org/drawingml/2006/main" noGrp="1"/>
          </p:cNvSpPr>
          <p:nvPr/>
        </p:nvSpPr>
        <p:spPr>
          <a:xfrm xmlns:a="http://schemas.openxmlformats.org/drawingml/2006/main">
            <a:off x="5886450" y="628650"/>
            <a:ext cx="23813" cy="23813"/>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Oval 2">
            <a:extLst xmlns:a="http://schemas.openxmlformats.org/drawingml/2006/main">
              <a:ext uri="{FF2B5EF4-FFF2-40B4-BE49-F238E27FC236}">
                <a16:creationId xmlns:a16="http://schemas.microsoft.com/office/drawing/2014/main" id="{5A62B43D-936A-4C36-BD98-97DC7B6119FA}"/>
              </a:ext>
            </a:extLst>
          </p:cNvPr>
          <p:cNvSpPr>
            <a:spLocks xmlns:a="http://schemas.openxmlformats.org/drawingml/2006/main" noGrp="1"/>
          </p:cNvSpPr>
          <p:nvPr/>
        </p:nvSpPr>
        <p:spPr>
          <a:xfrm xmlns:a="http://schemas.openxmlformats.org/drawingml/2006/main">
            <a:off x="6896100" y="400050"/>
            <a:ext cx="57150" cy="57150"/>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Oval 3">
            <a:extLst xmlns:a="http://schemas.openxmlformats.org/drawingml/2006/main">
              <a:ext uri="{FF2B5EF4-FFF2-40B4-BE49-F238E27FC236}">
                <a16:creationId xmlns:a16="http://schemas.microsoft.com/office/drawing/2014/main" id="{685F7376-8139-4332-A399-A233C35663D6}"/>
              </a:ext>
            </a:extLst>
          </p:cNvPr>
          <p:cNvSpPr>
            <a:spLocks xmlns:a="http://schemas.openxmlformats.org/drawingml/2006/main" noGrp="1"/>
          </p:cNvSpPr>
          <p:nvPr/>
        </p:nvSpPr>
        <p:spPr>
          <a:xfrm xmlns:a="http://schemas.openxmlformats.org/drawingml/2006/main">
            <a:off x="8858250" y="838200"/>
            <a:ext cx="23813" cy="23813"/>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Oval 4">
            <a:extLst xmlns:a="http://schemas.openxmlformats.org/drawingml/2006/main">
              <a:ext uri="{FF2B5EF4-FFF2-40B4-BE49-F238E27FC236}">
                <a16:creationId xmlns:a16="http://schemas.microsoft.com/office/drawing/2014/main" id="{00725A03-9564-450A-9A96-3A9EA4C50CC0}"/>
              </a:ext>
            </a:extLst>
          </p:cNvPr>
          <p:cNvSpPr>
            <a:spLocks xmlns:a="http://schemas.openxmlformats.org/drawingml/2006/main" noGrp="1"/>
          </p:cNvSpPr>
          <p:nvPr/>
        </p:nvSpPr>
        <p:spPr>
          <a:xfrm xmlns:a="http://schemas.openxmlformats.org/drawingml/2006/main">
            <a:off x="10515600" y="723900"/>
            <a:ext cx="28575" cy="28575"/>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D25C76D9-771C-486C-8E5F-A0A6E453F9D5}"/>
              </a:ext>
            </a:extLst>
          </p:cNvPr>
          <p:cNvSpPr>
            <a:spLocks xmlns:a="http://schemas.openxmlformats.org/drawingml/2006/main" noGrp="1"/>
          </p:cNvSpPr>
          <p:nvPr/>
        </p:nvSpPr>
        <p:spPr>
          <a:xfrm xmlns:a="http://schemas.openxmlformats.org/drawingml/2006/main">
            <a:off x="11163300" y="1181100"/>
            <a:ext cx="28575" cy="28575"/>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74847140-2288-47BB-B3DA-D500C2B53C1C}"/>
              </a:ext>
            </a:extLst>
          </p:cNvPr>
          <p:cNvSpPr>
            <a:spLocks xmlns:a="http://schemas.openxmlformats.org/drawingml/2006/main" noGrp="1"/>
          </p:cNvSpPr>
          <p:nvPr/>
        </p:nvSpPr>
        <p:spPr>
          <a:xfrm xmlns:a="http://schemas.openxmlformats.org/drawingml/2006/main">
            <a:off x="4629150" y="2990850"/>
            <a:ext cx="28575" cy="28575"/>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1ACA8D49-49E9-43C9-AB15-9555E9CAF9FF}"/>
              </a:ext>
            </a:extLst>
          </p:cNvPr>
          <p:cNvSpPr>
            <a:spLocks xmlns:a="http://schemas.openxmlformats.org/drawingml/2006/main" noGrp="1"/>
          </p:cNvSpPr>
          <p:nvPr/>
        </p:nvSpPr>
        <p:spPr>
          <a:xfrm xmlns:a="http://schemas.openxmlformats.org/drawingml/2006/main">
            <a:off x="8496300" y="2943225"/>
            <a:ext cx="19050" cy="19050"/>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9C1B150D-EE77-490D-A5FB-D305DF80D731}"/>
              </a:ext>
            </a:extLst>
          </p:cNvPr>
          <p:cNvSpPr>
            <a:spLocks xmlns:a="http://schemas.openxmlformats.org/drawingml/2006/main" noGrp="1"/>
          </p:cNvSpPr>
          <p:nvPr/>
        </p:nvSpPr>
        <p:spPr>
          <a:xfrm xmlns:a="http://schemas.openxmlformats.org/drawingml/2006/main">
            <a:off x="9677400" y="3790950"/>
            <a:ext cx="38100" cy="38100"/>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0" name="Oval 9">
            <a:extLst xmlns:a="http://schemas.openxmlformats.org/drawingml/2006/main">
              <a:ext uri="{FF2B5EF4-FFF2-40B4-BE49-F238E27FC236}">
                <a16:creationId xmlns:a16="http://schemas.microsoft.com/office/drawing/2014/main" id="{4A30984B-6790-4BDE-8A69-6285AD5ABAE7}"/>
              </a:ext>
            </a:extLst>
          </p:cNvPr>
          <p:cNvSpPr>
            <a:spLocks xmlns:a="http://schemas.openxmlformats.org/drawingml/2006/main" noGrp="1"/>
          </p:cNvSpPr>
          <p:nvPr/>
        </p:nvSpPr>
        <p:spPr>
          <a:xfrm xmlns:a="http://schemas.openxmlformats.org/drawingml/2006/main">
            <a:off x="11468100" y="5857875"/>
            <a:ext cx="28575" cy="28575"/>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1" name="Oval 10">
            <a:extLst xmlns:a="http://schemas.openxmlformats.org/drawingml/2006/main">
              <a:ext uri="{FF2B5EF4-FFF2-40B4-BE49-F238E27FC236}">
                <a16:creationId xmlns:a16="http://schemas.microsoft.com/office/drawing/2014/main" id="{211058D5-9C5F-4DFF-ADC2-124BD7436C61}"/>
              </a:ext>
            </a:extLst>
          </p:cNvPr>
          <p:cNvSpPr>
            <a:spLocks xmlns:a="http://schemas.openxmlformats.org/drawingml/2006/main" noGrp="1"/>
          </p:cNvSpPr>
          <p:nvPr/>
        </p:nvSpPr>
        <p:spPr>
          <a:xfrm xmlns:a="http://schemas.openxmlformats.org/drawingml/2006/main">
            <a:off x="514350" y="2895600"/>
            <a:ext cx="38100" cy="38100"/>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Oval 11">
            <a:extLst xmlns:a="http://schemas.openxmlformats.org/drawingml/2006/main">
              <a:ext uri="{FF2B5EF4-FFF2-40B4-BE49-F238E27FC236}">
                <a16:creationId xmlns:a16="http://schemas.microsoft.com/office/drawing/2014/main" id="{A7D0A6C1-AA22-4638-8D95-CA9B235D9112}"/>
              </a:ext>
            </a:extLst>
          </p:cNvPr>
          <p:cNvSpPr>
            <a:spLocks xmlns:a="http://schemas.openxmlformats.org/drawingml/2006/main" noGrp="1"/>
          </p:cNvSpPr>
          <p:nvPr/>
        </p:nvSpPr>
        <p:spPr>
          <a:xfrm xmlns:a="http://schemas.openxmlformats.org/drawingml/2006/main">
            <a:off x="304800" y="3409950"/>
            <a:ext cx="28575" cy="28575"/>
          </a:xfrm>
          <a:prstGeom xmlns:a="http://schemas.openxmlformats.org/drawingml/2006/main" prst="ellipse">
            <a:avLst/>
          </a:prstGeom>
          <a:solidFill xmlns:a="http://schemas.openxmlformats.org/drawingml/2006/main">
            <a:srgbClr val="E4E6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3" name="Oval 12">
            <a:extLst xmlns:a="http://schemas.openxmlformats.org/drawingml/2006/main">
              <a:ext uri="{FF2B5EF4-FFF2-40B4-BE49-F238E27FC236}">
                <a16:creationId xmlns:a16="http://schemas.microsoft.com/office/drawing/2014/main" id="{CC8EA281-0968-492E-8C57-1F692D023A02}"/>
              </a:ext>
            </a:extLst>
          </p:cNvPr>
          <p:cNvSpPr>
            <a:spLocks xmlns:a="http://schemas.openxmlformats.org/drawingml/2006/main" noGrp="1"/>
          </p:cNvSpPr>
          <p:nvPr/>
        </p:nvSpPr>
        <p:spPr>
          <a:xfrm xmlns:a="http://schemas.openxmlformats.org/drawingml/2006/main">
            <a:off x="0" y="3124200"/>
            <a:ext cx="1524000" cy="2381250"/>
          </a:xfrm>
          <a:prstGeom xmlns:a="http://schemas.openxmlformats.org/drawingml/2006/main" prst="ellipse">
            <a:avLst/>
          </a:prstGeom>
          <a:solidFill xmlns:a="http://schemas.openxmlformats.org/drawingml/2006/main">
            <a:srgbClr val="F5F7F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183" name="Picture 165"/>
          <p:cNvPicPr>
            <a:picLocks xmlns:a="http://schemas.openxmlformats.org/drawingml/2006/main" noChangeAspect="1"/>
          </p:cNvPicPr>
          <p:nvPr/>
        </p:nvPicPr>
        <p:blipFill>
          <a:blip xmlns:r="http://schemas.openxmlformats.org/officeDocument/2006/relationships" xmlns:a="http://schemas.openxmlformats.org/drawingml/2006/main" r:embed="Rd87df9db39ff4131"/>
          <a:stretch xmlns:a="http://schemas.openxmlformats.org/drawingml/2006/main"/>
        </p:blipFill>
        <p:spPr>
          <a:xfrm xmlns:a="http://schemas.openxmlformats.org/drawingml/2006/main">
            <a:off x="9525000" y="285750"/>
            <a:ext cx="2514600" cy="314325"/>
          </a:xfrm>
          <a:prstGeom xmlns:a="http://schemas.openxmlformats.org/drawingml/2006/main" prst="rect">
            <a:avLst/>
          </a:prstGeom>
        </p:spPr>
      </p:pic>
      <p:sp>
        <p:nvSpPr>
          <p:cNvPr id="15" name="Rectangle 14">
            <a:extLst xmlns:a="http://schemas.openxmlformats.org/drawingml/2006/main">
              <a:ext uri="{FF2B5EF4-FFF2-40B4-BE49-F238E27FC236}">
                <a16:creationId xmlns:a16="http://schemas.microsoft.com/office/drawing/2014/main" id="{0FC4DED7-B5EA-40DB-94F5-26999F2D98AF}"/>
              </a:ext>
            </a:extLst>
          </p:cNvPr>
          <p:cNvSpPr>
            <a:spLocks xmlns:a="http://schemas.openxmlformats.org/drawingml/2006/main" noGrp="1"/>
          </p:cNvSpPr>
          <p:nvPr/>
        </p:nvSpPr>
        <p:spPr>
          <a:xfrm xmlns:a="http://schemas.openxmlformats.org/drawingml/2006/main">
            <a:off x="342900" y="238125"/>
            <a:ext cx="723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2700" b="1" i="0">
                <a:solidFill>
                  <a:srgbClr val="111111"/>
                </a:solidFill>
                <a:latin typeface="Arial"/>
                <a:ea typeface="Arial"/>
                <a:cs typeface="Arial"/>
              </a:defRPr>
            </a:pPr>
            <a:r>
              <a:rPr sz="2700" b="1" i="0">
                <a:solidFill>
                  <a:srgbClr val="111111"/>
                </a:solidFill>
                <a:latin typeface="Arial"/>
                <a:ea typeface="Arial"/>
                <a:cs typeface="Arial"/>
              </a:rPr>
              <a:t>Infrastructure Sizing Summary – OCI Compute</a:t>
            </a:r>
          </a:p>
        </p:txBody>
      </p:sp>
      <p:sp>
        <p:nvSpPr>
          <p:cNvPr id="16" name="Rectangle 15">
            <a:extLst xmlns:a="http://schemas.openxmlformats.org/drawingml/2006/main">
              <a:ext uri="{FF2B5EF4-FFF2-40B4-BE49-F238E27FC236}">
                <a16:creationId xmlns:a16="http://schemas.microsoft.com/office/drawing/2014/main" id="{46351190-4281-4DE0-B53D-F17CA7BE60D9}"/>
              </a:ext>
            </a:extLst>
          </p:cNvPr>
          <p:cNvSpPr>
            <a:spLocks xmlns:a="http://schemas.openxmlformats.org/drawingml/2006/main" noGrp="1"/>
          </p:cNvSpPr>
          <p:nvPr/>
        </p:nvSpPr>
        <p:spPr>
          <a:xfrm xmlns:a="http://schemas.openxmlformats.org/drawingml/2006/main">
            <a:off x="342900" y="723900"/>
            <a:ext cx="581025" cy="38100"/>
          </a:xfrm>
          <a:prstGeom xmlns:a="http://schemas.openxmlformats.org/drawingml/2006/main" prst="rect">
            <a:avLst/>
          </a:prstGeom>
          <a:solidFill xmlns:a="http://schemas.openxmlformats.org/drawingml/2006/main">
            <a:srgbClr val="00452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7" name="Rectangle 16">
            <a:extLst xmlns:a="http://schemas.openxmlformats.org/drawingml/2006/main">
              <a:ext uri="{FF2B5EF4-FFF2-40B4-BE49-F238E27FC236}">
                <a16:creationId xmlns:a16="http://schemas.microsoft.com/office/drawing/2014/main" id="{8DAAEEB6-CEBA-4804-A585-EBFACBC5DD19}"/>
              </a:ext>
            </a:extLst>
          </p:cNvPr>
          <p:cNvSpPr>
            <a:spLocks xmlns:a="http://schemas.openxmlformats.org/drawingml/2006/main" noGrp="1"/>
          </p:cNvSpPr>
          <p:nvPr/>
        </p:nvSpPr>
        <p:spPr>
          <a:xfrm xmlns:a="http://schemas.openxmlformats.org/drawingml/2006/main">
            <a:off x="342900" y="895350"/>
            <a:ext cx="657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75" b="0" i="0">
                <a:solidFill>
                  <a:srgbClr val="0E1E2A"/>
                </a:solidFill>
                <a:latin typeface="Arial"/>
                <a:ea typeface="Arial"/>
                <a:cs typeface="Arial"/>
              </a:defRPr>
            </a:pPr>
            <a:r>
              <a:rPr sz="1275" b="0" i="0">
                <a:solidFill>
                  <a:srgbClr val="0E1E2A"/>
                </a:solidFill>
                <a:latin typeface="Arial"/>
                <a:ea typeface="Arial"/>
                <a:cs typeface="Arial"/>
              </a:rPr>
              <a:t>Right-sized OCI Compute infrastructure to support your VMware workloads.</a:t>
            </a:r>
          </a:p>
        </p:txBody>
      </p:sp>
      <p:sp>
        <p:nvSpPr>
          <p:cNvPr id="18" name="Rounded Rectangle 17">
            <a:extLst xmlns:a="http://schemas.openxmlformats.org/drawingml/2006/main">
              <a:ext uri="{FF2B5EF4-FFF2-40B4-BE49-F238E27FC236}">
                <a16:creationId xmlns:a16="http://schemas.microsoft.com/office/drawing/2014/main" id="{FB98C243-7D70-4693-913A-5BC45CA807EA}"/>
              </a:ext>
            </a:extLst>
          </p:cNvPr>
          <p:cNvSpPr>
            <a:spLocks xmlns:a="http://schemas.openxmlformats.org/drawingml/2006/main" noGrp="1"/>
          </p:cNvSpPr>
          <p:nvPr/>
        </p:nvSpPr>
        <p:spPr>
          <a:xfrm xmlns:a="http://schemas.openxmlformats.org/drawingml/2006/main">
            <a:off x="342900" y="1333500"/>
            <a:ext cx="11334750" cy="1362075"/>
          </a:xfrm>
          <a:prstGeom xmlns:a="http://schemas.openxmlformats.org/drawingml/2006/main" prst="roundRect">
            <a:avLst>
              <a:gd name="adj" fmla="val 5594"/>
            </a:avLst>
          </a:prstGeom>
          <a:solidFill xmlns:a="http://schemas.openxmlformats.org/drawingml/2006/main">
            <a:srgbClr val="FFFFFF"/>
          </a:solidFill>
          <a:ln xmlns:a="http://schemas.openxmlformats.org/drawingml/2006/main" w="9525">
            <a:solidFill>
              <a:srgbClr val="D7DDD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9" name="Rounded Rectangle 18">
            <a:extLst xmlns:a="http://schemas.openxmlformats.org/drawingml/2006/main">
              <a:ext uri="{FF2B5EF4-FFF2-40B4-BE49-F238E27FC236}">
                <a16:creationId xmlns:a16="http://schemas.microsoft.com/office/drawing/2014/main" id="{E2A44A89-B4D1-4515-A302-E480AA4A3AFB}"/>
              </a:ext>
            </a:extLst>
          </p:cNvPr>
          <p:cNvSpPr>
            <a:spLocks xmlns:a="http://schemas.openxmlformats.org/drawingml/2006/main" noGrp="1"/>
          </p:cNvSpPr>
          <p:nvPr/>
        </p:nvSpPr>
        <p:spPr>
          <a:xfrm xmlns:a="http://schemas.openxmlformats.org/drawingml/2006/main">
            <a:off x="342900" y="1276350"/>
            <a:ext cx="2190750" cy="276225"/>
          </a:xfrm>
          <a:prstGeom xmlns:a="http://schemas.openxmlformats.org/drawingml/2006/main" prst="roundRect">
            <a:avLst>
              <a:gd name="adj" fmla="val 20690"/>
            </a:avLst>
          </a:prstGeom>
          <a:gradFill xmlns:a="http://schemas.openxmlformats.org/drawingml/2006/main">
            <a:gsLst>
              <a:gs pos="0">
                <a:srgbClr val="00351F"/>
              </a:gs>
              <a:gs pos="100000">
                <a:srgbClr val="075A35"/>
              </a:gs>
            </a:gsLst>
            <a:lin ang="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0" name="Rectangle 19">
            <a:extLst xmlns:a="http://schemas.openxmlformats.org/drawingml/2006/main">
              <a:ext uri="{FF2B5EF4-FFF2-40B4-BE49-F238E27FC236}">
                <a16:creationId xmlns:a16="http://schemas.microsoft.com/office/drawing/2014/main" id="{8BFCB290-C148-4AAD-8F8C-70319E36710F}"/>
              </a:ext>
            </a:extLst>
          </p:cNvPr>
          <p:cNvSpPr>
            <a:spLocks xmlns:a="http://schemas.openxmlformats.org/drawingml/2006/main" noGrp="1"/>
          </p:cNvSpPr>
          <p:nvPr/>
        </p:nvSpPr>
        <p:spPr>
          <a:xfrm xmlns:a="http://schemas.openxmlformats.org/drawingml/2006/main">
            <a:off x="342900" y="1495425"/>
            <a:ext cx="2190750" cy="66675"/>
          </a:xfrm>
          <a:prstGeom xmlns:a="http://schemas.openxmlformats.org/drawingml/2006/main" prst="rect">
            <a:avLst/>
          </a:prstGeom>
          <a:gradFill xmlns:a="http://schemas.openxmlformats.org/drawingml/2006/main">
            <a:gsLst>
              <a:gs pos="0">
                <a:srgbClr val="00351F"/>
              </a:gs>
              <a:gs pos="100000">
                <a:srgbClr val="075A35"/>
              </a:gs>
            </a:gsLst>
            <a:lin ang="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1" name="Oval 20">
            <a:extLst xmlns:a="http://schemas.openxmlformats.org/drawingml/2006/main">
              <a:ext uri="{FF2B5EF4-FFF2-40B4-BE49-F238E27FC236}">
                <a16:creationId xmlns:a16="http://schemas.microsoft.com/office/drawing/2014/main" id="{31F0F078-BD49-4751-8BC4-2B0F1FD77DAA}"/>
              </a:ext>
            </a:extLst>
          </p:cNvPr>
          <p:cNvSpPr>
            <a:spLocks xmlns:a="http://schemas.openxmlformats.org/drawingml/2006/main" noGrp="1"/>
          </p:cNvSpPr>
          <p:nvPr/>
        </p:nvSpPr>
        <p:spPr>
          <a:xfrm xmlns:a="http://schemas.openxmlformats.org/drawingml/2006/main">
            <a:off x="438150" y="1314450"/>
            <a:ext cx="209550" cy="20955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2" name="Rectangle 21">
            <a:extLst xmlns:a="http://schemas.openxmlformats.org/drawingml/2006/main">
              <a:ext uri="{FF2B5EF4-FFF2-40B4-BE49-F238E27FC236}">
                <a16:creationId xmlns:a16="http://schemas.microsoft.com/office/drawing/2014/main" id="{734FE3E6-3270-49AF-98A8-ED52F54827C3}"/>
              </a:ext>
            </a:extLst>
          </p:cNvPr>
          <p:cNvSpPr>
            <a:spLocks xmlns:a="http://schemas.openxmlformats.org/drawingml/2006/main" noGrp="1"/>
          </p:cNvSpPr>
          <p:nvPr/>
        </p:nvSpPr>
        <p:spPr>
          <a:xfrm xmlns:a="http://schemas.openxmlformats.org/drawingml/2006/main">
            <a:off x="485775" y="1343025"/>
            <a:ext cx="1143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75" b="1" i="0">
                <a:solidFill>
                  <a:srgbClr val="00452C"/>
                </a:solidFill>
                <a:latin typeface="Arial"/>
                <a:ea typeface="Arial"/>
                <a:cs typeface="Arial"/>
              </a:defRPr>
            </a:pPr>
            <a:r>
              <a:rPr sz="975" b="1" i="0">
                <a:solidFill>
                  <a:srgbClr val="00452C"/>
                </a:solidFill>
                <a:latin typeface="Arial"/>
                <a:ea typeface="Arial"/>
                <a:cs typeface="Arial"/>
              </a:rPr>
              <a:t>1</a:t>
            </a:r>
          </a:p>
        </p:txBody>
      </p:sp>
      <p:sp>
        <p:nvSpPr>
          <p:cNvPr id="23" name="Rectangle 22">
            <a:extLst xmlns:a="http://schemas.openxmlformats.org/drawingml/2006/main">
              <a:ext uri="{FF2B5EF4-FFF2-40B4-BE49-F238E27FC236}">
                <a16:creationId xmlns:a16="http://schemas.microsoft.com/office/drawing/2014/main" id="{F7D18801-948C-4538-83C7-34E7284F6A9F}"/>
              </a:ext>
            </a:extLst>
          </p:cNvPr>
          <p:cNvSpPr>
            <a:spLocks xmlns:a="http://schemas.openxmlformats.org/drawingml/2006/main" noGrp="1"/>
          </p:cNvSpPr>
          <p:nvPr/>
        </p:nvSpPr>
        <p:spPr>
          <a:xfrm xmlns:a="http://schemas.openxmlformats.org/drawingml/2006/main">
            <a:off x="752475" y="1333500"/>
            <a:ext cx="1695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WORKLOAD SUMMARY</a:t>
            </a:r>
          </a:p>
        </p:txBody>
      </p:sp>
      <p:pic>
        <p:nvPicPr>
          <p:cNvPr id="193" name="Picture 175"/>
          <p:cNvPicPr>
            <a:picLocks xmlns:a="http://schemas.openxmlformats.org/drawingml/2006/main" noChangeAspect="1"/>
          </p:cNvPicPr>
          <p:nvPr/>
        </p:nvPicPr>
        <p:blipFill>
          <a:blip xmlns:r="http://schemas.openxmlformats.org/officeDocument/2006/relationships" xmlns:a="http://schemas.openxmlformats.org/drawingml/2006/main" r:embed="R3077c311a55d4c28"/>
          <a:stretch xmlns:a="http://schemas.openxmlformats.org/drawingml/2006/main"/>
        </p:blipFill>
        <p:spPr>
          <a:xfrm xmlns:a="http://schemas.openxmlformats.org/drawingml/2006/main">
            <a:off x="514350" y="1740333"/>
            <a:ext cx="552450" cy="443634"/>
          </a:xfrm>
          <a:prstGeom xmlns:a="http://schemas.openxmlformats.org/drawingml/2006/main" prst="rect">
            <a:avLst/>
          </a:prstGeom>
        </p:spPr>
      </p:pic>
      <p:sp>
        <p:nvSpPr>
          <p:cNvPr id="25" name="editable-native-vms">
            <a:extLst xmlns:a="http://schemas.openxmlformats.org/drawingml/2006/main">
              <a:ext uri="{FF2B5EF4-FFF2-40B4-BE49-F238E27FC236}">
                <a16:creationId xmlns:a16="http://schemas.microsoft.com/office/drawing/2014/main" id="{9A623641-6420-4B80-A2DD-146AA2489F45}"/>
              </a:ext>
            </a:extLst>
          </p:cNvPr>
          <p:cNvSpPr>
            <a:spLocks xmlns:a="http://schemas.openxmlformats.org/drawingml/2006/main" noGrp="1"/>
          </p:cNvSpPr>
          <p:nvPr/>
        </p:nvSpPr>
        <p:spPr>
          <a:xfrm xmlns:a="http://schemas.openxmlformats.org/drawingml/2006/main">
            <a:off x="1295400" y="169545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875" b="1" i="0">
                <a:solidFill>
                  <a:srgbClr val="00452C"/>
                </a:solidFill>
                <a:latin typeface="Arial"/>
                <a:ea typeface="Arial"/>
                <a:cs typeface="Arial"/>
              </a:defRPr>
            </a:pPr>
            <a:r>
              <a:rPr sz="1875" b="1" i="0">
                <a:solidFill>
                  <a:srgbClr val="00452C"/>
                </a:solidFill>
                <a:latin typeface="Arial"/>
                <a:ea typeface="Arial"/>
                <a:cs typeface="Arial"/>
              </a:rPr>
              <a:t>110</a:t>
            </a:r>
          </a:p>
        </p:txBody>
      </p:sp>
      <p:sp>
        <p:nvSpPr>
          <p:cNvPr id="26" name="Rectangle 25">
            <a:extLst xmlns:a="http://schemas.openxmlformats.org/drawingml/2006/main">
              <a:ext uri="{FF2B5EF4-FFF2-40B4-BE49-F238E27FC236}">
                <a16:creationId xmlns:a16="http://schemas.microsoft.com/office/drawing/2014/main" id="{B6E5F444-5AF6-4696-AF38-DED2CD5E3576}"/>
              </a:ext>
            </a:extLst>
          </p:cNvPr>
          <p:cNvSpPr>
            <a:spLocks xmlns:a="http://schemas.openxmlformats.org/drawingml/2006/main" noGrp="1"/>
          </p:cNvSpPr>
          <p:nvPr/>
        </p:nvSpPr>
        <p:spPr>
          <a:xfrm xmlns:a="http://schemas.openxmlformats.org/drawingml/2006/main">
            <a:off x="1295400" y="2038350"/>
            <a:ext cx="1047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88" b="0" i="0">
                <a:solidFill>
                  <a:srgbClr val="111111"/>
                </a:solidFill>
                <a:latin typeface="Arial"/>
                <a:ea typeface="Arial"/>
                <a:cs typeface="Arial"/>
              </a:defRPr>
            </a:pPr>
            <a:r>
              <a:rPr sz="1088" b="0" i="0">
                <a:solidFill>
                  <a:srgbClr val="111111"/>
                </a:solidFill>
                <a:latin typeface="Arial"/>
                <a:ea typeface="Arial"/>
                <a:cs typeface="Arial"/>
              </a:rPr>
              <a:t>VMs</a:t>
            </a:r>
          </a:p>
        </p:txBody>
      </p:sp>
      <p:sp>
        <p:nvSpPr>
          <p:cNvPr id="27" name="Rectangle 26">
            <a:extLst xmlns:a="http://schemas.openxmlformats.org/drawingml/2006/main">
              <a:ext uri="{FF2B5EF4-FFF2-40B4-BE49-F238E27FC236}">
                <a16:creationId xmlns:a16="http://schemas.microsoft.com/office/drawing/2014/main" id="{69786406-2288-49FC-A285-FC52A51E9E22}"/>
              </a:ext>
            </a:extLst>
          </p:cNvPr>
          <p:cNvSpPr>
            <a:spLocks xmlns:a="http://schemas.openxmlformats.org/drawingml/2006/main" noGrp="1"/>
          </p:cNvSpPr>
          <p:nvPr/>
        </p:nvSpPr>
        <p:spPr>
          <a:xfrm xmlns:a="http://schemas.openxmlformats.org/drawingml/2006/main">
            <a:off x="1295400" y="2305050"/>
            <a:ext cx="1333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713" b="0" i="0">
                <a:solidFill>
                  <a:srgbClr val="222222"/>
                </a:solidFill>
                <a:latin typeface="Arial"/>
                <a:ea typeface="Arial"/>
                <a:cs typeface="Arial"/>
              </a:defRPr>
            </a:pPr>
            <a:r>
              <a:rPr sz="713" b="0" i="0">
                <a:solidFill>
                  <a:srgbClr val="222222"/>
                </a:solidFill>
                <a:latin typeface="Arial"/>
                <a:ea typeface="Arial"/>
                <a:cs typeface="Arial"/>
              </a:rPr>
              <a:t>Selected in Step 2</a:t>
            </a:r>
          </a:p>
        </p:txBody>
      </p:sp>
      <p:sp>
        <p:nvSpPr>
          <p:cNvPr id="28" name="Straight Connector 27">
            <a:extLst xmlns:a="http://schemas.openxmlformats.org/drawingml/2006/main">
              <a:ext uri="{FF2B5EF4-FFF2-40B4-BE49-F238E27FC236}">
                <a16:creationId xmlns:a16="http://schemas.microsoft.com/office/drawing/2014/main" id="{222143D4-E12A-4927-A960-3AF5D2061537}"/>
              </a:ext>
            </a:extLst>
          </p:cNvPr>
          <p:cNvSpPr>
            <a:spLocks xmlns:a="http://schemas.openxmlformats.org/drawingml/2006/main" noGrp="1"/>
          </p:cNvSpPr>
          <p:nvPr/>
        </p:nvSpPr>
        <p:spPr>
          <a:xfrm xmlns:a="http://schemas.openxmlformats.org/drawingml/2006/main">
            <a:off x="2762250" y="1628775"/>
            <a:ext cx="0" cy="790575"/>
          </a:xfrm>
          <a:prstGeom xmlns:a="http://schemas.openxmlformats.org/drawingml/2006/main" prst="line">
            <a:avLst/>
          </a:prstGeom>
          <a:noFill xmlns:a="http://schemas.openxmlformats.org/drawingml/2006/main"/>
          <a:ln xmlns:a="http://schemas.openxmlformats.org/drawingml/2006/main" w="9525">
            <a:solidFill>
              <a:srgbClr val="D7DDDA"/>
            </a:solidFill>
            <a:prstDash val="solid"/>
          </a:ln>
        </p:spPr>
        <p:txBody>
          <a:bodyPr xmlns:a="http://schemas.openxmlformats.org/drawingml/2006/main"/>
          <a:lstStyle xmlns:a="http://schemas.openxmlformats.org/drawingml/2006/main"/>
          <a:p xmlns:a="http://schemas.openxmlformats.org/drawingml/2006/main">
            <a:endParaRPr/>
          </a:p>
        </p:txBody>
      </p:sp>
      <p:pic>
        <p:nvPicPr>
          <p:cNvPr id="198" name="Picture 180"/>
          <p:cNvPicPr>
            <a:picLocks xmlns:a="http://schemas.openxmlformats.org/drawingml/2006/main" noChangeAspect="1"/>
          </p:cNvPicPr>
          <p:nvPr/>
        </p:nvPicPr>
        <p:blipFill>
          <a:blip xmlns:r="http://schemas.openxmlformats.org/officeDocument/2006/relationships" xmlns:a="http://schemas.openxmlformats.org/drawingml/2006/main" r:embed="R0fcaf1c906e949f4"/>
          <a:stretch xmlns:a="http://schemas.openxmlformats.org/drawingml/2006/main"/>
        </p:blipFill>
        <p:spPr>
          <a:xfrm xmlns:a="http://schemas.openxmlformats.org/drawingml/2006/main">
            <a:off x="3143250" y="1704975"/>
            <a:ext cx="514350" cy="514350"/>
          </a:xfrm>
          <a:prstGeom xmlns:a="http://schemas.openxmlformats.org/drawingml/2006/main" prst="rect">
            <a:avLst/>
          </a:prstGeom>
        </p:spPr>
      </p:pic>
      <p:sp>
        <p:nvSpPr>
          <p:cNvPr id="30" name="editable-native-ocpus">
            <a:extLst xmlns:a="http://schemas.openxmlformats.org/drawingml/2006/main">
              <a:ext uri="{FF2B5EF4-FFF2-40B4-BE49-F238E27FC236}">
                <a16:creationId xmlns:a16="http://schemas.microsoft.com/office/drawing/2014/main" id="{F99680A0-0BC2-44CD-9973-BC6E0AE488BC}"/>
              </a:ext>
            </a:extLst>
          </p:cNvPr>
          <p:cNvSpPr>
            <a:spLocks xmlns:a="http://schemas.openxmlformats.org/drawingml/2006/main" noGrp="1"/>
          </p:cNvSpPr>
          <p:nvPr/>
        </p:nvSpPr>
        <p:spPr>
          <a:xfrm xmlns:a="http://schemas.openxmlformats.org/drawingml/2006/main">
            <a:off x="3924300" y="169545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875" b="1" i="0">
                <a:solidFill>
                  <a:srgbClr val="00452C"/>
                </a:solidFill>
                <a:latin typeface="Arial"/>
                <a:ea typeface="Arial"/>
                <a:cs typeface="Arial"/>
              </a:defRPr>
            </a:pPr>
            <a:r>
              <a:rPr sz="1875" b="1" i="0">
                <a:solidFill>
                  <a:srgbClr val="00452C"/>
                </a:solidFill>
                <a:latin typeface="Arial"/>
                <a:ea typeface="Arial"/>
                <a:cs typeface="Arial"/>
              </a:rPr>
              <a:t>377</a:t>
            </a:r>
          </a:p>
        </p:txBody>
      </p:sp>
      <p:sp>
        <p:nvSpPr>
          <p:cNvPr id="31" name="Rectangle 30">
            <a:extLst xmlns:a="http://schemas.openxmlformats.org/drawingml/2006/main">
              <a:ext uri="{FF2B5EF4-FFF2-40B4-BE49-F238E27FC236}">
                <a16:creationId xmlns:a16="http://schemas.microsoft.com/office/drawing/2014/main" id="{BC6F9212-2F26-4DE0-8DBF-7ADF6CF4A267}"/>
              </a:ext>
            </a:extLst>
          </p:cNvPr>
          <p:cNvSpPr>
            <a:spLocks xmlns:a="http://schemas.openxmlformats.org/drawingml/2006/main" noGrp="1"/>
          </p:cNvSpPr>
          <p:nvPr/>
        </p:nvSpPr>
        <p:spPr>
          <a:xfrm xmlns:a="http://schemas.openxmlformats.org/drawingml/2006/main">
            <a:off x="3924300" y="2038350"/>
            <a:ext cx="1047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88" b="0" i="0">
                <a:solidFill>
                  <a:srgbClr val="111111"/>
                </a:solidFill>
                <a:latin typeface="Arial"/>
                <a:ea typeface="Arial"/>
                <a:cs typeface="Arial"/>
              </a:defRPr>
            </a:pPr>
            <a:r>
              <a:rPr sz="1088" b="0" i="0">
                <a:solidFill>
                  <a:srgbClr val="111111"/>
                </a:solidFill>
                <a:latin typeface="Arial"/>
                <a:ea typeface="Arial"/>
                <a:cs typeface="Arial"/>
              </a:rPr>
              <a:t>OCPU</a:t>
            </a:r>
          </a:p>
        </p:txBody>
      </p:sp>
      <p:sp>
        <p:nvSpPr>
          <p:cNvPr id="32" name="Rectangle 31">
            <a:extLst xmlns:a="http://schemas.openxmlformats.org/drawingml/2006/main">
              <a:ext uri="{FF2B5EF4-FFF2-40B4-BE49-F238E27FC236}">
                <a16:creationId xmlns:a16="http://schemas.microsoft.com/office/drawing/2014/main" id="{E044A9BF-F0E8-4177-98DE-BE5DCA1B078B}"/>
              </a:ext>
            </a:extLst>
          </p:cNvPr>
          <p:cNvSpPr>
            <a:spLocks xmlns:a="http://schemas.openxmlformats.org/drawingml/2006/main" noGrp="1"/>
          </p:cNvSpPr>
          <p:nvPr/>
        </p:nvSpPr>
        <p:spPr>
          <a:xfrm xmlns:a="http://schemas.openxmlformats.org/drawingml/2006/main">
            <a:off x="3924300" y="2305050"/>
            <a:ext cx="1333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713" b="0" i="0">
                <a:solidFill>
                  <a:srgbClr val="222222"/>
                </a:solidFill>
                <a:latin typeface="Arial"/>
                <a:ea typeface="Arial"/>
                <a:cs typeface="Arial"/>
              </a:defRPr>
            </a:pPr>
            <a:r>
              <a:rPr sz="713" b="0" i="0">
                <a:solidFill>
                  <a:srgbClr val="222222"/>
                </a:solidFill>
                <a:latin typeface="Arial"/>
                <a:ea typeface="Arial"/>
                <a:cs typeface="Arial"/>
              </a:rPr>
              <a:t>Source VM inventory</a:t>
            </a:r>
          </a:p>
        </p:txBody>
      </p:sp>
      <p:sp>
        <p:nvSpPr>
          <p:cNvPr id="33" name="Straight Connector 32">
            <a:extLst xmlns:a="http://schemas.openxmlformats.org/drawingml/2006/main">
              <a:ext uri="{FF2B5EF4-FFF2-40B4-BE49-F238E27FC236}">
                <a16:creationId xmlns:a16="http://schemas.microsoft.com/office/drawing/2014/main" id="{56AFE074-F29A-4789-99EE-DBD469BD38DB}"/>
              </a:ext>
            </a:extLst>
          </p:cNvPr>
          <p:cNvSpPr>
            <a:spLocks xmlns:a="http://schemas.openxmlformats.org/drawingml/2006/main" noGrp="1"/>
          </p:cNvSpPr>
          <p:nvPr/>
        </p:nvSpPr>
        <p:spPr>
          <a:xfrm xmlns:a="http://schemas.openxmlformats.org/drawingml/2006/main">
            <a:off x="5000625" y="1628775"/>
            <a:ext cx="0" cy="790575"/>
          </a:xfrm>
          <a:prstGeom xmlns:a="http://schemas.openxmlformats.org/drawingml/2006/main" prst="line">
            <a:avLst/>
          </a:prstGeom>
          <a:noFill xmlns:a="http://schemas.openxmlformats.org/drawingml/2006/main"/>
          <a:ln xmlns:a="http://schemas.openxmlformats.org/drawingml/2006/main" w="9525">
            <a:solidFill>
              <a:srgbClr val="D7DDDA"/>
            </a:solidFill>
            <a:prstDash val="solid"/>
          </a:ln>
        </p:spPr>
        <p:txBody>
          <a:bodyPr xmlns:a="http://schemas.openxmlformats.org/drawingml/2006/main"/>
          <a:lstStyle xmlns:a="http://schemas.openxmlformats.org/drawingml/2006/main"/>
          <a:p xmlns:a="http://schemas.openxmlformats.org/drawingml/2006/main">
            <a:endParaRPr/>
          </a:p>
        </p:txBody>
      </p:sp>
      <p:pic>
        <p:nvPicPr>
          <p:cNvPr id="203" name="Picture 185"/>
          <p:cNvPicPr>
            <a:picLocks xmlns:a="http://schemas.openxmlformats.org/drawingml/2006/main" noChangeAspect="1"/>
          </p:cNvPicPr>
          <p:nvPr/>
        </p:nvPicPr>
        <p:blipFill>
          <a:blip xmlns:r="http://schemas.openxmlformats.org/officeDocument/2006/relationships" xmlns:a="http://schemas.openxmlformats.org/drawingml/2006/main" r:embed="R1efc4a3d22944cfb"/>
          <a:stretch xmlns:a="http://schemas.openxmlformats.org/drawingml/2006/main"/>
        </p:blipFill>
        <p:spPr>
          <a:xfrm xmlns:a="http://schemas.openxmlformats.org/drawingml/2006/main">
            <a:off x="5314950" y="1781175"/>
            <a:ext cx="552450" cy="361950"/>
          </a:xfrm>
          <a:prstGeom xmlns:a="http://schemas.openxmlformats.org/drawingml/2006/main" prst="rect">
            <a:avLst/>
          </a:prstGeom>
        </p:spPr>
      </p:pic>
      <p:sp>
        <p:nvSpPr>
          <p:cNvPr id="35" name="editable-native-vram">
            <a:extLst xmlns:a="http://schemas.openxmlformats.org/drawingml/2006/main">
              <a:ext uri="{FF2B5EF4-FFF2-40B4-BE49-F238E27FC236}">
                <a16:creationId xmlns:a16="http://schemas.microsoft.com/office/drawing/2014/main" id="{B1C599DD-A402-4C39-982C-F4F03E17CBEC}"/>
              </a:ext>
            </a:extLst>
          </p:cNvPr>
          <p:cNvSpPr>
            <a:spLocks xmlns:a="http://schemas.openxmlformats.org/drawingml/2006/main" noGrp="1"/>
          </p:cNvSpPr>
          <p:nvPr/>
        </p:nvSpPr>
        <p:spPr>
          <a:xfrm xmlns:a="http://schemas.openxmlformats.org/drawingml/2006/main">
            <a:off x="6096000" y="169545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875" b="1" i="0">
                <a:solidFill>
                  <a:srgbClr val="00452C"/>
                </a:solidFill>
                <a:latin typeface="Arial"/>
                <a:ea typeface="Arial"/>
                <a:cs typeface="Arial"/>
              </a:defRPr>
            </a:pPr>
            <a:r>
              <a:rPr sz="1875" b="1" i="0">
                <a:solidFill>
                  <a:srgbClr val="00452C"/>
                </a:solidFill>
                <a:latin typeface="Arial"/>
                <a:ea typeface="Arial"/>
                <a:cs typeface="Arial"/>
              </a:rPr>
              <a:t>1.2 TB</a:t>
            </a:r>
          </a:p>
        </p:txBody>
      </p:sp>
      <p:sp>
        <p:nvSpPr>
          <p:cNvPr id="36" name="Rectangle 35">
            <a:extLst xmlns:a="http://schemas.openxmlformats.org/drawingml/2006/main">
              <a:ext uri="{FF2B5EF4-FFF2-40B4-BE49-F238E27FC236}">
                <a16:creationId xmlns:a16="http://schemas.microsoft.com/office/drawing/2014/main" id="{FDE2EA0D-B5D2-46F8-A047-39A27378D0F6}"/>
              </a:ext>
            </a:extLst>
          </p:cNvPr>
          <p:cNvSpPr>
            <a:spLocks xmlns:a="http://schemas.openxmlformats.org/drawingml/2006/main" noGrp="1"/>
          </p:cNvSpPr>
          <p:nvPr/>
        </p:nvSpPr>
        <p:spPr>
          <a:xfrm xmlns:a="http://schemas.openxmlformats.org/drawingml/2006/main">
            <a:off x="6096000" y="2038350"/>
            <a:ext cx="1047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88" b="0" i="0">
                <a:solidFill>
                  <a:srgbClr val="111111"/>
                </a:solidFill>
                <a:latin typeface="Arial"/>
                <a:ea typeface="Arial"/>
                <a:cs typeface="Arial"/>
              </a:defRPr>
            </a:pPr>
            <a:r>
              <a:rPr sz="1088" b="0" i="0">
                <a:solidFill>
                  <a:srgbClr val="111111"/>
                </a:solidFill>
                <a:latin typeface="Arial"/>
                <a:ea typeface="Arial"/>
                <a:cs typeface="Arial"/>
              </a:rPr>
              <a:t>RAM (GB)</a:t>
            </a:r>
          </a:p>
        </p:txBody>
      </p:sp>
      <p:sp>
        <p:nvSpPr>
          <p:cNvPr id="37" name="Rectangle 36">
            <a:extLst xmlns:a="http://schemas.openxmlformats.org/drawingml/2006/main">
              <a:ext uri="{FF2B5EF4-FFF2-40B4-BE49-F238E27FC236}">
                <a16:creationId xmlns:a16="http://schemas.microsoft.com/office/drawing/2014/main" id="{8E5E2C64-4744-4711-8984-E8679875A543}"/>
              </a:ext>
            </a:extLst>
          </p:cNvPr>
          <p:cNvSpPr>
            <a:spLocks xmlns:a="http://schemas.openxmlformats.org/drawingml/2006/main" noGrp="1"/>
          </p:cNvSpPr>
          <p:nvPr/>
        </p:nvSpPr>
        <p:spPr>
          <a:xfrm xmlns:a="http://schemas.openxmlformats.org/drawingml/2006/main">
            <a:off x="6096000" y="2305050"/>
            <a:ext cx="1333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713" b="0" i="0">
                <a:solidFill>
                  <a:srgbClr val="222222"/>
                </a:solidFill>
                <a:latin typeface="Arial"/>
                <a:ea typeface="Arial"/>
                <a:cs typeface="Arial"/>
              </a:defRPr>
            </a:pPr>
            <a:r>
              <a:rPr sz="713" b="0" i="0">
                <a:solidFill>
                  <a:srgbClr val="222222"/>
                </a:solidFill>
                <a:latin typeface="Arial"/>
                <a:ea typeface="Arial"/>
                <a:cs typeface="Arial"/>
              </a:rPr>
              <a:t>Priced as flexible memory</a:t>
            </a:r>
          </a:p>
        </p:txBody>
      </p:sp>
      <p:sp>
        <p:nvSpPr>
          <p:cNvPr id="38" name="Straight Connector 37">
            <a:extLst xmlns:a="http://schemas.openxmlformats.org/drawingml/2006/main">
              <a:ext uri="{FF2B5EF4-FFF2-40B4-BE49-F238E27FC236}">
                <a16:creationId xmlns:a16="http://schemas.microsoft.com/office/drawing/2014/main" id="{776BAA67-345E-4985-9D5A-ED097B39B353}"/>
              </a:ext>
            </a:extLst>
          </p:cNvPr>
          <p:cNvSpPr>
            <a:spLocks xmlns:a="http://schemas.openxmlformats.org/drawingml/2006/main" noGrp="1"/>
          </p:cNvSpPr>
          <p:nvPr/>
        </p:nvSpPr>
        <p:spPr>
          <a:xfrm xmlns:a="http://schemas.openxmlformats.org/drawingml/2006/main">
            <a:off x="7486650" y="1628775"/>
            <a:ext cx="0" cy="790575"/>
          </a:xfrm>
          <a:prstGeom xmlns:a="http://schemas.openxmlformats.org/drawingml/2006/main" prst="line">
            <a:avLst/>
          </a:prstGeom>
          <a:noFill xmlns:a="http://schemas.openxmlformats.org/drawingml/2006/main"/>
          <a:ln xmlns:a="http://schemas.openxmlformats.org/drawingml/2006/main" w="9525">
            <a:solidFill>
              <a:srgbClr val="D7DDDA"/>
            </a:solidFill>
            <a:prstDash val="solid"/>
          </a:ln>
        </p:spPr>
        <p:txBody>
          <a:bodyPr xmlns:a="http://schemas.openxmlformats.org/drawingml/2006/main"/>
          <a:lstStyle xmlns:a="http://schemas.openxmlformats.org/drawingml/2006/main"/>
          <a:p xmlns:a="http://schemas.openxmlformats.org/drawingml/2006/main">
            <a:endParaRPr/>
          </a:p>
        </p:txBody>
      </p:sp>
      <p:pic>
        <p:nvPicPr>
          <p:cNvPr id="208" name="Picture 190"/>
          <p:cNvPicPr>
            <a:picLocks xmlns:a="http://schemas.openxmlformats.org/drawingml/2006/main" noChangeAspect="1"/>
          </p:cNvPicPr>
          <p:nvPr/>
        </p:nvPicPr>
        <p:blipFill>
          <a:blip xmlns:r="http://schemas.openxmlformats.org/officeDocument/2006/relationships" xmlns:a="http://schemas.openxmlformats.org/drawingml/2006/main" r:embed="R65f30a19e1834ed9"/>
          <a:stretch xmlns:a="http://schemas.openxmlformats.org/drawingml/2006/main"/>
        </p:blipFill>
        <p:spPr>
          <a:xfrm xmlns:a="http://schemas.openxmlformats.org/drawingml/2006/main">
            <a:off x="7872413" y="1695450"/>
            <a:ext cx="504825" cy="533400"/>
          </a:xfrm>
          <a:prstGeom xmlns:a="http://schemas.openxmlformats.org/drawingml/2006/main" prst="rect">
            <a:avLst/>
          </a:prstGeom>
        </p:spPr>
      </p:pic>
      <p:sp>
        <p:nvSpPr>
          <p:cNvPr id="40" name="editable-native-storage">
            <a:extLst xmlns:a="http://schemas.openxmlformats.org/drawingml/2006/main">
              <a:ext uri="{FF2B5EF4-FFF2-40B4-BE49-F238E27FC236}">
                <a16:creationId xmlns:a16="http://schemas.microsoft.com/office/drawing/2014/main" id="{F637F980-5E38-4595-9C0C-ACE4B526ADEA}"/>
              </a:ext>
            </a:extLst>
          </p:cNvPr>
          <p:cNvSpPr>
            <a:spLocks xmlns:a="http://schemas.openxmlformats.org/drawingml/2006/main" noGrp="1"/>
          </p:cNvSpPr>
          <p:nvPr/>
        </p:nvSpPr>
        <p:spPr>
          <a:xfrm xmlns:a="http://schemas.openxmlformats.org/drawingml/2006/main">
            <a:off x="8629650" y="169545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875" b="1" i="0">
                <a:solidFill>
                  <a:srgbClr val="00452C"/>
                </a:solidFill>
                <a:latin typeface="Arial"/>
                <a:ea typeface="Arial"/>
                <a:cs typeface="Arial"/>
              </a:defRPr>
            </a:pPr>
            <a:r>
              <a:rPr sz="1875" b="1" i="0">
                <a:solidFill>
                  <a:srgbClr val="00452C"/>
                </a:solidFill>
                <a:latin typeface="Arial"/>
                <a:ea typeface="Arial"/>
                <a:cs typeface="Arial"/>
              </a:rPr>
              <a:t>35 TB</a:t>
            </a:r>
          </a:p>
        </p:txBody>
      </p:sp>
      <p:sp>
        <p:nvSpPr>
          <p:cNvPr id="41" name="Rectangle 40">
            <a:extLst xmlns:a="http://schemas.openxmlformats.org/drawingml/2006/main">
              <a:ext uri="{FF2B5EF4-FFF2-40B4-BE49-F238E27FC236}">
                <a16:creationId xmlns:a16="http://schemas.microsoft.com/office/drawing/2014/main" id="{F8214754-DCEA-4AC3-AE90-D183D4BF763A}"/>
              </a:ext>
            </a:extLst>
          </p:cNvPr>
          <p:cNvSpPr>
            <a:spLocks xmlns:a="http://schemas.openxmlformats.org/drawingml/2006/main" noGrp="1"/>
          </p:cNvSpPr>
          <p:nvPr/>
        </p:nvSpPr>
        <p:spPr>
          <a:xfrm xmlns:a="http://schemas.openxmlformats.org/drawingml/2006/main">
            <a:off x="8629650" y="2038350"/>
            <a:ext cx="1047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88" b="0" i="0">
                <a:solidFill>
                  <a:srgbClr val="111111"/>
                </a:solidFill>
                <a:latin typeface="Arial"/>
                <a:ea typeface="Arial"/>
                <a:cs typeface="Arial"/>
              </a:defRPr>
            </a:pPr>
            <a:r>
              <a:rPr sz="1088" b="0" i="0">
                <a:solidFill>
                  <a:srgbClr val="111111"/>
                </a:solidFill>
                <a:latin typeface="Arial"/>
                <a:ea typeface="Arial"/>
                <a:cs typeface="Arial"/>
              </a:rPr>
              <a:t>Block Volume</a:t>
            </a:r>
          </a:p>
        </p:txBody>
      </p:sp>
      <p:sp>
        <p:nvSpPr>
          <p:cNvPr id="42" name="Rectangle 41">
            <a:extLst xmlns:a="http://schemas.openxmlformats.org/drawingml/2006/main">
              <a:ext uri="{FF2B5EF4-FFF2-40B4-BE49-F238E27FC236}">
                <a16:creationId xmlns:a16="http://schemas.microsoft.com/office/drawing/2014/main" id="{4AB5FAF1-3190-4DED-ADF2-18F3644BBF0E}"/>
              </a:ext>
            </a:extLst>
          </p:cNvPr>
          <p:cNvSpPr>
            <a:spLocks xmlns:a="http://schemas.openxmlformats.org/drawingml/2006/main" noGrp="1"/>
          </p:cNvSpPr>
          <p:nvPr/>
        </p:nvSpPr>
        <p:spPr>
          <a:xfrm xmlns:a="http://schemas.openxmlformats.org/drawingml/2006/main">
            <a:off x="8629650" y="2305050"/>
            <a:ext cx="1333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713" b="0" i="0">
                <a:solidFill>
                  <a:srgbClr val="222222"/>
                </a:solidFill>
                <a:latin typeface="Arial"/>
                <a:ea typeface="Arial"/>
                <a:cs typeface="Arial"/>
              </a:defRPr>
            </a:pPr>
            <a:r>
              <a:rPr sz="713" b="0" i="0">
                <a:solidFill>
                  <a:srgbClr val="222222"/>
                </a:solidFill>
                <a:latin typeface="Arial"/>
                <a:ea typeface="Arial"/>
                <a:cs typeface="Arial"/>
              </a:rPr>
              <a:t>Total capacity</a:t>
            </a:r>
          </a:p>
        </p:txBody>
      </p:sp>
      <p:sp>
        <p:nvSpPr>
          <p:cNvPr id="43" name="Straight Connector 42">
            <a:extLst xmlns:a="http://schemas.openxmlformats.org/drawingml/2006/main">
              <a:ext uri="{FF2B5EF4-FFF2-40B4-BE49-F238E27FC236}">
                <a16:creationId xmlns:a16="http://schemas.microsoft.com/office/drawing/2014/main" id="{9D05C6B1-2591-47E8-8B5F-3B6B104DDA4D}"/>
              </a:ext>
            </a:extLst>
          </p:cNvPr>
          <p:cNvSpPr>
            <a:spLocks xmlns:a="http://schemas.openxmlformats.org/drawingml/2006/main" noGrp="1"/>
          </p:cNvSpPr>
          <p:nvPr/>
        </p:nvSpPr>
        <p:spPr>
          <a:xfrm xmlns:a="http://schemas.openxmlformats.org/drawingml/2006/main">
            <a:off x="9544050" y="1628775"/>
            <a:ext cx="0" cy="790575"/>
          </a:xfrm>
          <a:prstGeom xmlns:a="http://schemas.openxmlformats.org/drawingml/2006/main" prst="line">
            <a:avLst/>
          </a:prstGeom>
          <a:noFill xmlns:a="http://schemas.openxmlformats.org/drawingml/2006/main"/>
          <a:ln xmlns:a="http://schemas.openxmlformats.org/drawingml/2006/main" w="9525">
            <a:solidFill>
              <a:srgbClr val="D7DDDA"/>
            </a:solidFill>
            <a:prstDash val="solid"/>
          </a:ln>
        </p:spPr>
        <p:txBody>
          <a:bodyPr xmlns:a="http://schemas.openxmlformats.org/drawingml/2006/main"/>
          <a:lstStyle xmlns:a="http://schemas.openxmlformats.org/drawingml/2006/main"/>
          <a:p xmlns:a="http://schemas.openxmlformats.org/drawingml/2006/main">
            <a:endParaRPr/>
          </a:p>
        </p:txBody>
      </p:sp>
      <p:pic>
        <p:nvPicPr>
          <p:cNvPr id="213" name="Picture 195"/>
          <p:cNvPicPr>
            <a:picLocks xmlns:a="http://schemas.openxmlformats.org/drawingml/2006/main" noChangeAspect="1"/>
          </p:cNvPicPr>
          <p:nvPr/>
        </p:nvPicPr>
        <p:blipFill>
          <a:blip xmlns:r="http://schemas.openxmlformats.org/officeDocument/2006/relationships" xmlns:a="http://schemas.openxmlformats.org/drawingml/2006/main" r:embed="R2383294cd39a4bc1"/>
          <a:stretch xmlns:a="http://schemas.openxmlformats.org/drawingml/2006/main"/>
        </p:blipFill>
        <p:spPr>
          <a:xfrm xmlns:a="http://schemas.openxmlformats.org/drawingml/2006/main">
            <a:off x="9886950" y="1600200"/>
            <a:ext cx="819150" cy="857250"/>
          </a:xfrm>
          <a:prstGeom xmlns:a="http://schemas.openxmlformats.org/drawingml/2006/main" prst="rect">
            <a:avLst/>
          </a:prstGeom>
        </p:spPr>
      </p:pic>
      <p:sp>
        <p:nvSpPr>
          <p:cNvPr id="45" name="Rectangle 44">
            <a:extLst xmlns:a="http://schemas.openxmlformats.org/drawingml/2006/main">
              <a:ext uri="{FF2B5EF4-FFF2-40B4-BE49-F238E27FC236}">
                <a16:creationId xmlns:a16="http://schemas.microsoft.com/office/drawing/2014/main" id="{781979E5-4762-4996-9358-55BF34F04657}"/>
              </a:ext>
            </a:extLst>
          </p:cNvPr>
          <p:cNvSpPr>
            <a:spLocks xmlns:a="http://schemas.openxmlformats.org/drawingml/2006/main" noGrp="1"/>
          </p:cNvSpPr>
          <p:nvPr/>
        </p:nvSpPr>
        <p:spPr>
          <a:xfrm xmlns:a="http://schemas.openxmlformats.org/drawingml/2006/main">
            <a:off x="10144125" y="1905000"/>
            <a:ext cx="3524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350" b="1" i="0">
                <a:solidFill>
                  <a:srgbClr val="00452C"/>
                </a:solidFill>
                <a:latin typeface="Arial"/>
                <a:ea typeface="Arial"/>
                <a:cs typeface="Arial"/>
              </a:defRPr>
            </a:pPr>
            <a:r>
              <a:rPr sz="1350" b="1" i="0">
                <a:solidFill>
                  <a:srgbClr val="00452C"/>
                </a:solidFill>
                <a:latin typeface="Arial"/>
                <a:ea typeface="Arial"/>
                <a:cs typeface="Arial"/>
              </a:rPr>
              <a:t>83%</a:t>
            </a:r>
          </a:p>
        </p:txBody>
      </p:sp>
      <p:sp>
        <p:nvSpPr>
          <p:cNvPr id="46" name="Rectangle 45">
            <a:extLst xmlns:a="http://schemas.openxmlformats.org/drawingml/2006/main">
              <a:ext uri="{FF2B5EF4-FFF2-40B4-BE49-F238E27FC236}">
                <a16:creationId xmlns:a16="http://schemas.microsoft.com/office/drawing/2014/main" id="{EA23A37D-74E2-4BB1-9AD1-19FDA9C1F518}"/>
              </a:ext>
            </a:extLst>
          </p:cNvPr>
          <p:cNvSpPr>
            <a:spLocks xmlns:a="http://schemas.openxmlformats.org/drawingml/2006/main" noGrp="1"/>
          </p:cNvSpPr>
          <p:nvPr/>
        </p:nvSpPr>
        <p:spPr>
          <a:xfrm xmlns:a="http://schemas.openxmlformats.org/drawingml/2006/main">
            <a:off x="10763250" y="1762125"/>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5000"/>
              </a:lnSpc>
              <a:buNone/>
              <a:defRPr sz="1013" b="1" i="0">
                <a:solidFill>
                  <a:srgbClr val="00452C"/>
                </a:solidFill>
                <a:latin typeface="Arial"/>
                <a:ea typeface="Arial"/>
                <a:cs typeface="Arial"/>
              </a:defRPr>
            </a:pPr>
            <a:r>
              <a:rPr sz="1013" b="1" i="0">
                <a:solidFill>
                  <a:srgbClr val="00452C"/>
                </a:solidFill>
                <a:latin typeface="Arial"/>
                <a:ea typeface="Arial"/>
                <a:cs typeface="Arial"/>
              </a:rPr>
              <a:t>OCI Native</a:t>
            </a:r>
          </a:p>
          <a:p xmlns:a="http://schemas.openxmlformats.org/drawingml/2006/main">
            <a:pPr algn="l">
              <a:lnSpc>
                <a:spcPct val="115000"/>
              </a:lnSpc>
              <a:buNone/>
              <a:defRPr sz="1013" b="1" i="0">
                <a:solidFill>
                  <a:srgbClr val="00452C"/>
                </a:solidFill>
                <a:latin typeface="Arial"/>
                <a:ea typeface="Arial"/>
                <a:cs typeface="Arial"/>
              </a:defRPr>
            </a:pPr>
            <a:r>
              <a:rPr sz="1013" b="1" i="0">
                <a:solidFill>
                  <a:srgbClr val="00452C"/>
                </a:solidFill>
                <a:latin typeface="Arial"/>
                <a:ea typeface="Arial"/>
                <a:cs typeface="Arial"/>
              </a:rPr>
              <a:t>Ready</a:t>
            </a:r>
          </a:p>
        </p:txBody>
      </p:sp>
      <p:sp>
        <p:nvSpPr>
          <p:cNvPr id="47" name="Rectangle 46">
            <a:extLst xmlns:a="http://schemas.openxmlformats.org/drawingml/2006/main">
              <a:ext uri="{FF2B5EF4-FFF2-40B4-BE49-F238E27FC236}">
                <a16:creationId xmlns:a16="http://schemas.microsoft.com/office/drawing/2014/main" id="{D719B753-8129-4A71-805F-20EB497DCF7E}"/>
              </a:ext>
            </a:extLst>
          </p:cNvPr>
          <p:cNvSpPr>
            <a:spLocks xmlns:a="http://schemas.openxmlformats.org/drawingml/2006/main" noGrp="1"/>
          </p:cNvSpPr>
          <p:nvPr/>
        </p:nvSpPr>
        <p:spPr>
          <a:xfrm xmlns:a="http://schemas.openxmlformats.org/drawingml/2006/main">
            <a:off x="10763250" y="2266950"/>
            <a:ext cx="857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20000"/>
              </a:lnSpc>
              <a:buNone/>
              <a:defRPr sz="863" b="0" i="0">
                <a:solidFill>
                  <a:srgbClr val="1A1A1A"/>
                </a:solidFill>
                <a:latin typeface="Arial"/>
                <a:ea typeface="Arial"/>
                <a:cs typeface="Arial"/>
              </a:defRPr>
            </a:pPr>
            <a:r>
              <a:rPr sz="863" b="0" i="0">
                <a:solidFill>
                  <a:srgbClr val="1A1A1A"/>
                </a:solidFill>
                <a:latin typeface="Arial"/>
                <a:ea typeface="Arial"/>
                <a:cs typeface="Arial"/>
              </a:rPr>
              <a:t>Flexible and</a:t>
            </a:r>
          </a:p>
          <a:p xmlns:a="http://schemas.openxmlformats.org/drawingml/2006/main">
            <a:pPr algn="l">
              <a:lnSpc>
                <a:spcPct val="120000"/>
              </a:lnSpc>
              <a:buNone/>
              <a:defRPr sz="863" b="0" i="0">
                <a:solidFill>
                  <a:srgbClr val="1A1A1A"/>
                </a:solidFill>
                <a:latin typeface="Arial"/>
                <a:ea typeface="Arial"/>
                <a:cs typeface="Arial"/>
              </a:defRPr>
            </a:pPr>
            <a:r>
              <a:rPr sz="863" b="0" i="0">
                <a:solidFill>
                  <a:srgbClr val="1A1A1A"/>
                </a:solidFill>
                <a:latin typeface="Arial"/>
                <a:ea typeface="Arial"/>
                <a:cs typeface="Arial"/>
              </a:rPr>
              <a:t>optimized</a:t>
            </a:r>
          </a:p>
        </p:txBody>
      </p:sp>
      <p:sp>
        <p:nvSpPr>
          <p:cNvPr id="48" name="Rounded Rectangle 47">
            <a:extLst xmlns:a="http://schemas.openxmlformats.org/drawingml/2006/main">
              <a:ext uri="{FF2B5EF4-FFF2-40B4-BE49-F238E27FC236}">
                <a16:creationId xmlns:a16="http://schemas.microsoft.com/office/drawing/2014/main" id="{1AAA120E-A24A-4AE5-8884-932DE1E913AD}"/>
              </a:ext>
            </a:extLst>
          </p:cNvPr>
          <p:cNvSpPr>
            <a:spLocks xmlns:a="http://schemas.openxmlformats.org/drawingml/2006/main" noGrp="1"/>
          </p:cNvSpPr>
          <p:nvPr/>
        </p:nvSpPr>
        <p:spPr>
          <a:xfrm xmlns:a="http://schemas.openxmlformats.org/drawingml/2006/main">
            <a:off x="571500" y="2847975"/>
            <a:ext cx="4695825" cy="3409950"/>
          </a:xfrm>
          <a:prstGeom xmlns:a="http://schemas.openxmlformats.org/drawingml/2006/main" prst="roundRect">
            <a:avLst>
              <a:gd name="adj" fmla="val 2235"/>
            </a:avLst>
          </a:prstGeom>
          <a:solidFill xmlns:a="http://schemas.openxmlformats.org/drawingml/2006/main">
            <a:srgbClr val="FFFFFF"/>
          </a:solidFill>
          <a:ln xmlns:a="http://schemas.openxmlformats.org/drawingml/2006/main" w="9525">
            <a:solidFill>
              <a:srgbClr val="D7DDD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49" name="Rounded Rectangle 48">
            <a:extLst xmlns:a="http://schemas.openxmlformats.org/drawingml/2006/main">
              <a:ext uri="{FF2B5EF4-FFF2-40B4-BE49-F238E27FC236}">
                <a16:creationId xmlns:a16="http://schemas.microsoft.com/office/drawing/2014/main" id="{7FAA2FD4-7125-4D07-8E20-F4B095A06329}"/>
              </a:ext>
            </a:extLst>
          </p:cNvPr>
          <p:cNvSpPr>
            <a:spLocks xmlns:a="http://schemas.openxmlformats.org/drawingml/2006/main" noGrp="1"/>
          </p:cNvSpPr>
          <p:nvPr/>
        </p:nvSpPr>
        <p:spPr>
          <a:xfrm xmlns:a="http://schemas.openxmlformats.org/drawingml/2006/main">
            <a:off x="571500" y="2847975"/>
            <a:ext cx="4695825" cy="276225"/>
          </a:xfrm>
          <a:prstGeom xmlns:a="http://schemas.openxmlformats.org/drawingml/2006/main" prst="roundRect">
            <a:avLst>
              <a:gd name="adj" fmla="val 20690"/>
            </a:avLst>
          </a:prstGeom>
          <a:gradFill xmlns:a="http://schemas.openxmlformats.org/drawingml/2006/main">
            <a:gsLst>
              <a:gs pos="0">
                <a:srgbClr val="00351F"/>
              </a:gs>
              <a:gs pos="100000">
                <a:srgbClr val="075A35"/>
              </a:gs>
            </a:gsLst>
            <a:lin ang="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0" name="Rectangle 49">
            <a:extLst xmlns:a="http://schemas.openxmlformats.org/drawingml/2006/main">
              <a:ext uri="{FF2B5EF4-FFF2-40B4-BE49-F238E27FC236}">
                <a16:creationId xmlns:a16="http://schemas.microsoft.com/office/drawing/2014/main" id="{4A4A5C32-4BB8-4B47-AC2F-0000D474A75E}"/>
              </a:ext>
            </a:extLst>
          </p:cNvPr>
          <p:cNvSpPr>
            <a:spLocks xmlns:a="http://schemas.openxmlformats.org/drawingml/2006/main" noGrp="1"/>
          </p:cNvSpPr>
          <p:nvPr/>
        </p:nvSpPr>
        <p:spPr>
          <a:xfrm xmlns:a="http://schemas.openxmlformats.org/drawingml/2006/main">
            <a:off x="571500" y="3067050"/>
            <a:ext cx="4695825" cy="66675"/>
          </a:xfrm>
          <a:prstGeom xmlns:a="http://schemas.openxmlformats.org/drawingml/2006/main" prst="rect">
            <a:avLst/>
          </a:prstGeom>
          <a:gradFill xmlns:a="http://schemas.openxmlformats.org/drawingml/2006/main">
            <a:gsLst>
              <a:gs pos="0">
                <a:srgbClr val="00351F"/>
              </a:gs>
              <a:gs pos="100000">
                <a:srgbClr val="075A35"/>
              </a:gs>
            </a:gsLst>
            <a:lin ang="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1" name="Oval 50">
            <a:extLst xmlns:a="http://schemas.openxmlformats.org/drawingml/2006/main">
              <a:ext uri="{FF2B5EF4-FFF2-40B4-BE49-F238E27FC236}">
                <a16:creationId xmlns:a16="http://schemas.microsoft.com/office/drawing/2014/main" id="{E0517C72-BBA0-486C-AE03-6781A25B6179}"/>
              </a:ext>
            </a:extLst>
          </p:cNvPr>
          <p:cNvSpPr>
            <a:spLocks xmlns:a="http://schemas.openxmlformats.org/drawingml/2006/main" noGrp="1"/>
          </p:cNvSpPr>
          <p:nvPr/>
        </p:nvSpPr>
        <p:spPr>
          <a:xfrm xmlns:a="http://schemas.openxmlformats.org/drawingml/2006/main">
            <a:off x="666750" y="2886075"/>
            <a:ext cx="209550" cy="20955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2" name="Rectangle 51">
            <a:extLst xmlns:a="http://schemas.openxmlformats.org/drawingml/2006/main">
              <a:ext uri="{FF2B5EF4-FFF2-40B4-BE49-F238E27FC236}">
                <a16:creationId xmlns:a16="http://schemas.microsoft.com/office/drawing/2014/main" id="{D268825C-C656-443E-976B-A98861EFA2D8}"/>
              </a:ext>
            </a:extLst>
          </p:cNvPr>
          <p:cNvSpPr>
            <a:spLocks xmlns:a="http://schemas.openxmlformats.org/drawingml/2006/main" noGrp="1"/>
          </p:cNvSpPr>
          <p:nvPr/>
        </p:nvSpPr>
        <p:spPr>
          <a:xfrm xmlns:a="http://schemas.openxmlformats.org/drawingml/2006/main">
            <a:off x="714375" y="2914650"/>
            <a:ext cx="1143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75" b="1" i="0">
                <a:solidFill>
                  <a:srgbClr val="00452C"/>
                </a:solidFill>
                <a:latin typeface="Arial"/>
                <a:ea typeface="Arial"/>
                <a:cs typeface="Arial"/>
              </a:defRPr>
            </a:pPr>
            <a:r>
              <a:rPr sz="975" b="1" i="0">
                <a:solidFill>
                  <a:srgbClr val="00452C"/>
                </a:solidFill>
                <a:latin typeface="Arial"/>
                <a:ea typeface="Arial"/>
                <a:cs typeface="Arial"/>
              </a:rPr>
              <a:t>2</a:t>
            </a:r>
          </a:p>
        </p:txBody>
      </p:sp>
      <p:sp>
        <p:nvSpPr>
          <p:cNvPr id="53" name="Rectangle 52">
            <a:extLst xmlns:a="http://schemas.openxmlformats.org/drawingml/2006/main">
              <a:ext uri="{FF2B5EF4-FFF2-40B4-BE49-F238E27FC236}">
                <a16:creationId xmlns:a16="http://schemas.microsoft.com/office/drawing/2014/main" id="{9E15C135-65BF-48C9-A161-25889273F150}"/>
              </a:ext>
            </a:extLst>
          </p:cNvPr>
          <p:cNvSpPr>
            <a:spLocks xmlns:a="http://schemas.openxmlformats.org/drawingml/2006/main" noGrp="1"/>
          </p:cNvSpPr>
          <p:nvPr/>
        </p:nvSpPr>
        <p:spPr>
          <a:xfrm xmlns:a="http://schemas.openxmlformats.org/drawingml/2006/main">
            <a:off x="981075" y="2905125"/>
            <a:ext cx="42005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COMPUTE MIX (BY SHAPE)</a:t>
            </a:r>
          </a:p>
        </p:txBody>
      </p:sp>
      <p:pic>
        <p:nvPicPr>
          <p:cNvPr id="223" name="Picture 205"/>
          <p:cNvPicPr>
            <a:picLocks xmlns:a="http://schemas.openxmlformats.org/drawingml/2006/main" noChangeAspect="1"/>
          </p:cNvPicPr>
          <p:nvPr/>
        </p:nvPicPr>
        <p:blipFill>
          <a:blip xmlns:r="http://schemas.openxmlformats.org/officeDocument/2006/relationships" xmlns:a="http://schemas.openxmlformats.org/drawingml/2006/main" r:embed="R2858bbfa8c82457c"/>
          <a:stretch xmlns:a="http://schemas.openxmlformats.org/drawingml/2006/main"/>
        </p:blipFill>
        <p:spPr>
          <a:xfrm xmlns:a="http://schemas.openxmlformats.org/drawingml/2006/main">
            <a:off x="762000" y="3262313"/>
            <a:ext cx="304800" cy="219075"/>
          </a:xfrm>
          <a:prstGeom xmlns:a="http://schemas.openxmlformats.org/drawingml/2006/main" prst="rect">
            <a:avLst/>
          </a:prstGeom>
        </p:spPr>
      </p:pic>
      <p:sp>
        <p:nvSpPr>
          <p:cNvPr id="55" name="Rectangle 54">
            <a:extLst xmlns:a="http://schemas.openxmlformats.org/drawingml/2006/main">
              <a:ext uri="{FF2B5EF4-FFF2-40B4-BE49-F238E27FC236}">
                <a16:creationId xmlns:a16="http://schemas.microsoft.com/office/drawing/2014/main" id="{671D7800-7190-4F18-BDA3-24DA5B48AA19}"/>
              </a:ext>
            </a:extLst>
          </p:cNvPr>
          <p:cNvSpPr>
            <a:spLocks xmlns:a="http://schemas.openxmlformats.org/drawingml/2006/main" noGrp="1"/>
          </p:cNvSpPr>
          <p:nvPr/>
        </p:nvSpPr>
        <p:spPr>
          <a:xfrm xmlns:a="http://schemas.openxmlformats.org/drawingml/2006/main">
            <a:off x="1162050" y="3267075"/>
            <a:ext cx="3429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840" b="0" i="0">
                <a:solidFill>
                  <a:srgbClr val="111111"/>
                </a:solidFill>
                <a:latin typeface="Arial"/>
                <a:ea typeface="Arial"/>
                <a:cs typeface="Arial"/>
              </a:defRPr>
            </a:pPr>
            <a:r>
              <a:rPr sz="840" b="0" i="0">
                <a:solidFill>
                  <a:srgbClr val="111111"/>
                </a:solidFill>
                <a:latin typeface="Arial"/>
                <a:ea typeface="Arial"/>
                <a:cs typeface="Arial"/>
              </a:rPr>
              <a:t>Right-sized compute shapes based on workload requirements</a:t>
            </a:r>
          </a:p>
        </p:txBody>
      </p:sp>
      <p:sp>
        <p:nvSpPr>
          <p:cNvPr id="56" name="Rectangle 55">
            <a:extLst xmlns:a="http://schemas.openxmlformats.org/drawingml/2006/main">
              <a:ext uri="{FF2B5EF4-FFF2-40B4-BE49-F238E27FC236}">
                <a16:creationId xmlns:a16="http://schemas.microsoft.com/office/drawing/2014/main" id="{B5D952D8-A518-482B-B3A3-73BC8C2118D9}"/>
              </a:ext>
            </a:extLst>
          </p:cNvPr>
          <p:cNvSpPr>
            <a:spLocks xmlns:a="http://schemas.openxmlformats.org/drawingml/2006/main" noGrp="1"/>
          </p:cNvSpPr>
          <p:nvPr/>
        </p:nvSpPr>
        <p:spPr>
          <a:xfrm xmlns:a="http://schemas.openxmlformats.org/drawingml/2006/main">
            <a:off x="1104900" y="36766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Compute Shape</a:t>
            </a:r>
          </a:p>
        </p:txBody>
      </p:sp>
      <p:sp>
        <p:nvSpPr>
          <p:cNvPr id="57" name="Rectangle 56">
            <a:extLst xmlns:a="http://schemas.openxmlformats.org/drawingml/2006/main">
              <a:ext uri="{FF2B5EF4-FFF2-40B4-BE49-F238E27FC236}">
                <a16:creationId xmlns:a16="http://schemas.microsoft.com/office/drawing/2014/main" id="{0E397972-565E-48D2-9FA2-8A886F707C1D}"/>
              </a:ext>
            </a:extLst>
          </p:cNvPr>
          <p:cNvSpPr>
            <a:spLocks xmlns:a="http://schemas.openxmlformats.org/drawingml/2006/main" noGrp="1"/>
          </p:cNvSpPr>
          <p:nvPr/>
        </p:nvSpPr>
        <p:spPr>
          <a:xfrm xmlns:a="http://schemas.openxmlformats.org/drawingml/2006/main">
            <a:off x="2781300" y="3676650"/>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VMs</a:t>
            </a:r>
          </a:p>
        </p:txBody>
      </p:sp>
      <p:sp>
        <p:nvSpPr>
          <p:cNvPr id="58" name="Rectangle 57">
            <a:extLst xmlns:a="http://schemas.openxmlformats.org/drawingml/2006/main">
              <a:ext uri="{FF2B5EF4-FFF2-40B4-BE49-F238E27FC236}">
                <a16:creationId xmlns:a16="http://schemas.microsoft.com/office/drawing/2014/main" id="{1F17AF45-8495-4674-A1CE-37BC0DA4FE0B}"/>
              </a:ext>
            </a:extLst>
          </p:cNvPr>
          <p:cNvSpPr>
            <a:spLocks xmlns:a="http://schemas.openxmlformats.org/drawingml/2006/main" noGrp="1"/>
          </p:cNvSpPr>
          <p:nvPr/>
        </p:nvSpPr>
        <p:spPr>
          <a:xfrm xmlns:a="http://schemas.openxmlformats.org/drawingml/2006/main">
            <a:off x="3619500" y="3676650"/>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OCPU</a:t>
            </a:r>
          </a:p>
        </p:txBody>
      </p:sp>
      <p:sp>
        <p:nvSpPr>
          <p:cNvPr id="59" name="Rectangle 58">
            <a:extLst xmlns:a="http://schemas.openxmlformats.org/drawingml/2006/main">
              <a:ext uri="{FF2B5EF4-FFF2-40B4-BE49-F238E27FC236}">
                <a16:creationId xmlns:a16="http://schemas.microsoft.com/office/drawing/2014/main" id="{C4C6B76F-431F-432D-80B8-6DC1CEE14E93}"/>
              </a:ext>
            </a:extLst>
          </p:cNvPr>
          <p:cNvSpPr>
            <a:spLocks xmlns:a="http://schemas.openxmlformats.org/drawingml/2006/main" noGrp="1"/>
          </p:cNvSpPr>
          <p:nvPr/>
        </p:nvSpPr>
        <p:spPr>
          <a:xfrm xmlns:a="http://schemas.openxmlformats.org/drawingml/2006/main">
            <a:off x="4457700" y="3676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RAM (GB)</a:t>
            </a:r>
          </a:p>
        </p:txBody>
      </p:sp>
      <p:sp>
        <p:nvSpPr>
          <p:cNvPr id="60" name="Straight Connector 59">
            <a:extLst xmlns:a="http://schemas.openxmlformats.org/drawingml/2006/main">
              <a:ext uri="{FF2B5EF4-FFF2-40B4-BE49-F238E27FC236}">
                <a16:creationId xmlns:a16="http://schemas.microsoft.com/office/drawing/2014/main" id="{30542356-6660-487D-9F86-80D148EA8BDE}"/>
              </a:ext>
            </a:extLst>
          </p:cNvPr>
          <p:cNvSpPr>
            <a:spLocks xmlns:a="http://schemas.openxmlformats.org/drawingml/2006/main" noGrp="1"/>
          </p:cNvSpPr>
          <p:nvPr/>
        </p:nvSpPr>
        <p:spPr>
          <a:xfrm xmlns:a="http://schemas.openxmlformats.org/drawingml/2006/main">
            <a:off x="676275" y="3933825"/>
            <a:ext cx="4448175" cy="0"/>
          </a:xfrm>
          <a:prstGeom xmlns:a="http://schemas.openxmlformats.org/drawingml/2006/main" prst="line">
            <a:avLst/>
          </a:prstGeom>
          <a:noFill xmlns:a="http://schemas.openxmlformats.org/drawingml/2006/main"/>
          <a:ln xmlns:a="http://schemas.openxmlformats.org/drawingml/2006/main" w="9525">
            <a:solidFill>
              <a:srgbClr val="D7DDDA"/>
            </a:solidFill>
            <a:prstDash val="solid"/>
          </a:ln>
        </p:spPr>
        <p:txBody>
          <a:bodyPr xmlns:a="http://schemas.openxmlformats.org/drawingml/2006/main"/>
          <a:lstStyle xmlns:a="http://schemas.openxmlformats.org/drawingml/2006/main"/>
          <a:p xmlns:a="http://schemas.openxmlformats.org/drawingml/2006/main">
            <a:endParaRPr/>
          </a:p>
        </p:txBody>
      </p:sp>
      <p:pic>
        <p:nvPicPr>
          <p:cNvPr id="230" name="Picture 212"/>
          <p:cNvPicPr>
            <a:picLocks xmlns:a="http://schemas.openxmlformats.org/drawingml/2006/main" noChangeAspect="1"/>
          </p:cNvPicPr>
          <p:nvPr/>
        </p:nvPicPr>
        <p:blipFill>
          <a:blip xmlns:r="http://schemas.openxmlformats.org/officeDocument/2006/relationships" xmlns:a="http://schemas.openxmlformats.org/drawingml/2006/main" r:embed="R10035e2411ab4dc5"/>
          <a:stretch xmlns:a="http://schemas.openxmlformats.org/drawingml/2006/main"/>
        </p:blipFill>
        <p:spPr>
          <a:xfrm xmlns:a="http://schemas.openxmlformats.org/drawingml/2006/main">
            <a:off x="787567" y="4124325"/>
            <a:ext cx="234616" cy="171450"/>
          </a:xfrm>
          <a:prstGeom xmlns:a="http://schemas.openxmlformats.org/drawingml/2006/main" prst="rect">
            <a:avLst/>
          </a:prstGeom>
        </p:spPr>
      </p:pic>
      <p:sp>
        <p:nvSpPr>
          <p:cNvPr id="62" name="editable-native-shape-row-1">
            <a:extLst xmlns:a="http://schemas.openxmlformats.org/drawingml/2006/main">
              <a:ext uri="{FF2B5EF4-FFF2-40B4-BE49-F238E27FC236}">
                <a16:creationId xmlns:a16="http://schemas.microsoft.com/office/drawing/2014/main" id="{4DA9F587-EB3B-4D97-AC01-9AB43EB6D755}"/>
              </a:ext>
            </a:extLst>
          </p:cNvPr>
          <p:cNvSpPr>
            <a:spLocks xmlns:a="http://schemas.openxmlformats.org/drawingml/2006/main" noGrp="1"/>
          </p:cNvSpPr>
          <p:nvPr/>
        </p:nvSpPr>
        <p:spPr>
          <a:xfrm xmlns:a="http://schemas.openxmlformats.org/drawingml/2006/main">
            <a:off x="1200150" y="4053344"/>
            <a:ext cx="1476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810" b="1" i="0">
                <a:solidFill>
                  <a:srgbClr val="111111"/>
                </a:solidFill>
                <a:latin typeface="Arial"/>
                <a:ea typeface="Arial"/>
                <a:cs typeface="Arial"/>
              </a:defRPr>
            </a:pPr>
            <a:r>
              <a:rPr sz="810" b="1" i="0">
                <a:solidFill>
                  <a:srgbClr val="111111"/>
                </a:solidFill>
                <a:latin typeface="Arial"/>
                <a:ea typeface="Arial"/>
                <a:cs typeface="Arial"/>
              </a:rPr>
              <a:t>VM.Standard.E5.Flex</a:t>
            </a:r>
          </a:p>
        </p:txBody>
      </p:sp>
      <p:sp>
        <p:nvSpPr>
          <p:cNvPr id="63" name="editable-native-shape-vms-row-1">
            <a:extLst xmlns:a="http://schemas.openxmlformats.org/drawingml/2006/main">
              <a:ext uri="{FF2B5EF4-FFF2-40B4-BE49-F238E27FC236}">
                <a16:creationId xmlns:a16="http://schemas.microsoft.com/office/drawing/2014/main" id="{DEF1117B-2D1B-455D-8280-E9ADEFD597CD}"/>
              </a:ext>
            </a:extLst>
          </p:cNvPr>
          <p:cNvSpPr>
            <a:spLocks xmlns:a="http://schemas.openxmlformats.org/drawingml/2006/main" noGrp="1"/>
          </p:cNvSpPr>
          <p:nvPr/>
        </p:nvSpPr>
        <p:spPr>
          <a:xfrm xmlns:a="http://schemas.openxmlformats.org/drawingml/2006/main">
            <a:off x="2819400" y="404812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62</a:t>
            </a:r>
          </a:p>
        </p:txBody>
      </p:sp>
      <p:sp>
        <p:nvSpPr>
          <p:cNvPr id="64" name="Rectangle 63">
            <a:extLst xmlns:a="http://schemas.openxmlformats.org/drawingml/2006/main">
              <a:ext uri="{FF2B5EF4-FFF2-40B4-BE49-F238E27FC236}">
                <a16:creationId xmlns:a16="http://schemas.microsoft.com/office/drawing/2014/main" id="{DC01B53D-D41E-4423-B4AA-B997311FF885}"/>
              </a:ext>
            </a:extLst>
          </p:cNvPr>
          <p:cNvSpPr>
            <a:spLocks xmlns:a="http://schemas.openxmlformats.org/drawingml/2006/main" noGrp="1"/>
          </p:cNvSpPr>
          <p:nvPr/>
        </p:nvSpPr>
        <p:spPr>
          <a:xfrm xmlns:a="http://schemas.openxmlformats.org/drawingml/2006/main">
            <a:off x="2819400" y="4229100"/>
            <a:ext cx="4286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VMs</a:t>
            </a:r>
          </a:p>
        </p:txBody>
      </p:sp>
      <p:sp>
        <p:nvSpPr>
          <p:cNvPr id="65" name="editable-native-shape-ocpus-row-1">
            <a:extLst xmlns:a="http://schemas.openxmlformats.org/drawingml/2006/main">
              <a:ext uri="{FF2B5EF4-FFF2-40B4-BE49-F238E27FC236}">
                <a16:creationId xmlns:a16="http://schemas.microsoft.com/office/drawing/2014/main" id="{C489FA76-6094-4711-8687-F9C0CB1950BA}"/>
              </a:ext>
            </a:extLst>
          </p:cNvPr>
          <p:cNvSpPr>
            <a:spLocks xmlns:a="http://schemas.openxmlformats.org/drawingml/2006/main" noGrp="1"/>
          </p:cNvSpPr>
          <p:nvPr/>
        </p:nvSpPr>
        <p:spPr>
          <a:xfrm xmlns:a="http://schemas.openxmlformats.org/drawingml/2006/main">
            <a:off x="3629025" y="4048125"/>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214</a:t>
            </a:r>
          </a:p>
        </p:txBody>
      </p:sp>
      <p:sp>
        <p:nvSpPr>
          <p:cNvPr id="66" name="Rectangle 65">
            <a:extLst xmlns:a="http://schemas.openxmlformats.org/drawingml/2006/main">
              <a:ext uri="{FF2B5EF4-FFF2-40B4-BE49-F238E27FC236}">
                <a16:creationId xmlns:a16="http://schemas.microsoft.com/office/drawing/2014/main" id="{6D04C927-1851-4A82-8A6D-A217A01FFFE0}"/>
              </a:ext>
            </a:extLst>
          </p:cNvPr>
          <p:cNvSpPr>
            <a:spLocks xmlns:a="http://schemas.openxmlformats.org/drawingml/2006/main" noGrp="1"/>
          </p:cNvSpPr>
          <p:nvPr/>
        </p:nvSpPr>
        <p:spPr>
          <a:xfrm xmlns:a="http://schemas.openxmlformats.org/drawingml/2006/main">
            <a:off x="3629025" y="4229100"/>
            <a:ext cx="552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OCPU</a:t>
            </a:r>
          </a:p>
        </p:txBody>
      </p:sp>
      <p:sp>
        <p:nvSpPr>
          <p:cNvPr id="67" name="editable-native-shape-ram-row-1">
            <a:extLst xmlns:a="http://schemas.openxmlformats.org/drawingml/2006/main">
              <a:ext uri="{FF2B5EF4-FFF2-40B4-BE49-F238E27FC236}">
                <a16:creationId xmlns:a16="http://schemas.microsoft.com/office/drawing/2014/main" id="{4136FCAB-51C5-4149-B832-02ED86F2BC14}"/>
              </a:ext>
            </a:extLst>
          </p:cNvPr>
          <p:cNvSpPr>
            <a:spLocks xmlns:a="http://schemas.openxmlformats.org/drawingml/2006/main" noGrp="1"/>
          </p:cNvSpPr>
          <p:nvPr/>
        </p:nvSpPr>
        <p:spPr>
          <a:xfrm xmlns:a="http://schemas.openxmlformats.org/drawingml/2006/main">
            <a:off x="4457700" y="4048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684 GB</a:t>
            </a:r>
          </a:p>
        </p:txBody>
      </p:sp>
      <p:sp>
        <p:nvSpPr>
          <p:cNvPr id="68" name="Rectangle 67">
            <a:extLst xmlns:a="http://schemas.openxmlformats.org/drawingml/2006/main">
              <a:ext uri="{FF2B5EF4-FFF2-40B4-BE49-F238E27FC236}">
                <a16:creationId xmlns:a16="http://schemas.microsoft.com/office/drawing/2014/main" id="{FE7FF1C7-C8F2-49F1-93EA-C7F7BB5FAA5E}"/>
              </a:ext>
            </a:extLst>
          </p:cNvPr>
          <p:cNvSpPr>
            <a:spLocks xmlns:a="http://schemas.openxmlformats.org/drawingml/2006/main" noGrp="1"/>
          </p:cNvSpPr>
          <p:nvPr/>
        </p:nvSpPr>
        <p:spPr>
          <a:xfrm xmlns:a="http://schemas.openxmlformats.org/drawingml/2006/main">
            <a:off x="4533900" y="4229100"/>
            <a:ext cx="52387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GB</a:t>
            </a:r>
          </a:p>
        </p:txBody>
      </p:sp>
      <p:sp>
        <p:nvSpPr>
          <p:cNvPr id="69" name="Straight Connector 68">
            <a:extLst xmlns:a="http://schemas.openxmlformats.org/drawingml/2006/main">
              <a:ext uri="{FF2B5EF4-FFF2-40B4-BE49-F238E27FC236}">
                <a16:creationId xmlns:a16="http://schemas.microsoft.com/office/drawing/2014/main" id="{F89A755B-EE44-4109-81E3-977A31DB9580}"/>
              </a:ext>
            </a:extLst>
          </p:cNvPr>
          <p:cNvSpPr>
            <a:spLocks xmlns:a="http://schemas.openxmlformats.org/drawingml/2006/main" noGrp="1"/>
          </p:cNvSpPr>
          <p:nvPr/>
        </p:nvSpPr>
        <p:spPr>
          <a:xfrm xmlns:a="http://schemas.openxmlformats.org/drawingml/2006/main">
            <a:off x="676275" y="4410075"/>
            <a:ext cx="4448175" cy="0"/>
          </a:xfrm>
          <a:prstGeom xmlns:a="http://schemas.openxmlformats.org/drawingml/2006/main" prst="line">
            <a:avLst/>
          </a:prstGeom>
          <a:noFill xmlns:a="http://schemas.openxmlformats.org/drawingml/2006/main"/>
          <a:ln xmlns:a="http://schemas.openxmlformats.org/drawingml/2006/main" w="9525">
            <a:solidFill>
              <a:srgbClr val="E6E9E7"/>
            </a:solidFill>
            <a:prstDash val="solid"/>
          </a:ln>
        </p:spPr>
        <p:txBody>
          <a:bodyPr xmlns:a="http://schemas.openxmlformats.org/drawingml/2006/main"/>
          <a:lstStyle xmlns:a="http://schemas.openxmlformats.org/drawingml/2006/main"/>
          <a:p xmlns:a="http://schemas.openxmlformats.org/drawingml/2006/main">
            <a:endParaRPr/>
          </a:p>
        </p:txBody>
      </p:sp>
      <p:pic>
        <p:nvPicPr>
          <p:cNvPr id="239" name="Picture 221"/>
          <p:cNvPicPr>
            <a:picLocks xmlns:a="http://schemas.openxmlformats.org/drawingml/2006/main" noChangeAspect="1"/>
          </p:cNvPicPr>
          <p:nvPr/>
        </p:nvPicPr>
        <p:blipFill>
          <a:blip xmlns:r="http://schemas.openxmlformats.org/officeDocument/2006/relationships" xmlns:a="http://schemas.openxmlformats.org/drawingml/2006/main" r:embed="R10035e2411ab4dc5"/>
          <a:stretch xmlns:a="http://schemas.openxmlformats.org/drawingml/2006/main"/>
        </p:blipFill>
        <p:spPr>
          <a:xfrm xmlns:a="http://schemas.openxmlformats.org/drawingml/2006/main">
            <a:off x="787567" y="4667250"/>
            <a:ext cx="234616" cy="171450"/>
          </a:xfrm>
          <a:prstGeom xmlns:a="http://schemas.openxmlformats.org/drawingml/2006/main" prst="rect">
            <a:avLst/>
          </a:prstGeom>
        </p:spPr>
      </p:pic>
      <p:sp>
        <p:nvSpPr>
          <p:cNvPr id="71" name="editable-native-shape-row-2">
            <a:extLst xmlns:a="http://schemas.openxmlformats.org/drawingml/2006/main">
              <a:ext uri="{FF2B5EF4-FFF2-40B4-BE49-F238E27FC236}">
                <a16:creationId xmlns:a16="http://schemas.microsoft.com/office/drawing/2014/main" id="{E36ABAB3-D988-412A-9D95-1E1E1F23C15C}"/>
              </a:ext>
            </a:extLst>
          </p:cNvPr>
          <p:cNvSpPr>
            <a:spLocks xmlns:a="http://schemas.openxmlformats.org/drawingml/2006/main" noGrp="1"/>
          </p:cNvSpPr>
          <p:nvPr/>
        </p:nvSpPr>
        <p:spPr>
          <a:xfrm xmlns:a="http://schemas.openxmlformats.org/drawingml/2006/main">
            <a:off x="1200149" y="4610100"/>
            <a:ext cx="1476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810" b="1" i="0">
                <a:solidFill>
                  <a:srgbClr val="111111"/>
                </a:solidFill>
                <a:latin typeface="Arial"/>
                <a:ea typeface="Arial"/>
                <a:cs typeface="Arial"/>
              </a:defRPr>
            </a:pPr>
            <a:r>
              <a:rPr sz="810" b="1" i="0">
                <a:solidFill>
                  <a:srgbClr val="111111"/>
                </a:solidFill>
                <a:latin typeface="Arial"/>
                <a:ea typeface="Arial"/>
                <a:cs typeface="Arial"/>
              </a:rPr>
              <a:t>VM.Standard.E6.Flex</a:t>
            </a:r>
          </a:p>
        </p:txBody>
      </p:sp>
      <p:sp>
        <p:nvSpPr>
          <p:cNvPr id="72" name="editable-native-shape-vms-row-2">
            <a:extLst xmlns:a="http://schemas.openxmlformats.org/drawingml/2006/main">
              <a:ext uri="{FF2B5EF4-FFF2-40B4-BE49-F238E27FC236}">
                <a16:creationId xmlns:a16="http://schemas.microsoft.com/office/drawing/2014/main" id="{D8A4960A-E4DB-4F30-A87D-2C46E22E077B}"/>
              </a:ext>
            </a:extLst>
          </p:cNvPr>
          <p:cNvSpPr>
            <a:spLocks xmlns:a="http://schemas.openxmlformats.org/drawingml/2006/main" noGrp="1"/>
          </p:cNvSpPr>
          <p:nvPr/>
        </p:nvSpPr>
        <p:spPr>
          <a:xfrm xmlns:a="http://schemas.openxmlformats.org/drawingml/2006/main">
            <a:off x="2819400" y="4591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31</a:t>
            </a:r>
          </a:p>
        </p:txBody>
      </p:sp>
      <p:sp>
        <p:nvSpPr>
          <p:cNvPr id="73" name="Rectangle 72">
            <a:extLst xmlns:a="http://schemas.openxmlformats.org/drawingml/2006/main">
              <a:ext uri="{FF2B5EF4-FFF2-40B4-BE49-F238E27FC236}">
                <a16:creationId xmlns:a16="http://schemas.microsoft.com/office/drawing/2014/main" id="{D31167C3-AA04-446E-AB16-C0BFD7E7E145}"/>
              </a:ext>
            </a:extLst>
          </p:cNvPr>
          <p:cNvSpPr>
            <a:spLocks xmlns:a="http://schemas.openxmlformats.org/drawingml/2006/main" noGrp="1"/>
          </p:cNvSpPr>
          <p:nvPr/>
        </p:nvSpPr>
        <p:spPr>
          <a:xfrm xmlns:a="http://schemas.openxmlformats.org/drawingml/2006/main">
            <a:off x="2819400" y="4772025"/>
            <a:ext cx="4286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VMs</a:t>
            </a:r>
          </a:p>
        </p:txBody>
      </p:sp>
      <p:sp>
        <p:nvSpPr>
          <p:cNvPr id="74" name="editable-native-shape-ocpus-row-2">
            <a:extLst xmlns:a="http://schemas.openxmlformats.org/drawingml/2006/main">
              <a:ext uri="{FF2B5EF4-FFF2-40B4-BE49-F238E27FC236}">
                <a16:creationId xmlns:a16="http://schemas.microsoft.com/office/drawing/2014/main" id="{3FAE9FD8-6B2E-458E-ADCE-1565FC1FF558}"/>
              </a:ext>
            </a:extLst>
          </p:cNvPr>
          <p:cNvSpPr>
            <a:spLocks xmlns:a="http://schemas.openxmlformats.org/drawingml/2006/main" noGrp="1"/>
          </p:cNvSpPr>
          <p:nvPr/>
        </p:nvSpPr>
        <p:spPr>
          <a:xfrm xmlns:a="http://schemas.openxmlformats.org/drawingml/2006/main">
            <a:off x="3629025" y="459105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124</a:t>
            </a:r>
          </a:p>
        </p:txBody>
      </p:sp>
      <p:sp>
        <p:nvSpPr>
          <p:cNvPr id="75" name="Rectangle 74">
            <a:extLst xmlns:a="http://schemas.openxmlformats.org/drawingml/2006/main">
              <a:ext uri="{FF2B5EF4-FFF2-40B4-BE49-F238E27FC236}">
                <a16:creationId xmlns:a16="http://schemas.microsoft.com/office/drawing/2014/main" id="{2FF09BC0-A1B6-47FB-91AC-5A06531F290A}"/>
              </a:ext>
            </a:extLst>
          </p:cNvPr>
          <p:cNvSpPr>
            <a:spLocks xmlns:a="http://schemas.openxmlformats.org/drawingml/2006/main" noGrp="1"/>
          </p:cNvSpPr>
          <p:nvPr/>
        </p:nvSpPr>
        <p:spPr>
          <a:xfrm xmlns:a="http://schemas.openxmlformats.org/drawingml/2006/main">
            <a:off x="3629025" y="4772025"/>
            <a:ext cx="552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OCPU</a:t>
            </a:r>
          </a:p>
        </p:txBody>
      </p:sp>
      <p:sp>
        <p:nvSpPr>
          <p:cNvPr id="76" name="editable-native-shape-ram-row-2">
            <a:extLst xmlns:a="http://schemas.openxmlformats.org/drawingml/2006/main">
              <a:ext uri="{FF2B5EF4-FFF2-40B4-BE49-F238E27FC236}">
                <a16:creationId xmlns:a16="http://schemas.microsoft.com/office/drawing/2014/main" id="{C3C14EEB-E95A-4735-B498-777AC08DFE28}"/>
              </a:ext>
            </a:extLst>
          </p:cNvPr>
          <p:cNvSpPr>
            <a:spLocks xmlns:a="http://schemas.openxmlformats.org/drawingml/2006/main" noGrp="1"/>
          </p:cNvSpPr>
          <p:nvPr/>
        </p:nvSpPr>
        <p:spPr>
          <a:xfrm xmlns:a="http://schemas.openxmlformats.org/drawingml/2006/main">
            <a:off x="4457700" y="45910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496 GB</a:t>
            </a:r>
          </a:p>
        </p:txBody>
      </p:sp>
      <p:sp>
        <p:nvSpPr>
          <p:cNvPr id="77" name="Rectangle 76">
            <a:extLst xmlns:a="http://schemas.openxmlformats.org/drawingml/2006/main">
              <a:ext uri="{FF2B5EF4-FFF2-40B4-BE49-F238E27FC236}">
                <a16:creationId xmlns:a16="http://schemas.microsoft.com/office/drawing/2014/main" id="{2B73E0EF-6BBE-4FDC-8927-42A4A9A118BF}"/>
              </a:ext>
            </a:extLst>
          </p:cNvPr>
          <p:cNvSpPr>
            <a:spLocks xmlns:a="http://schemas.openxmlformats.org/drawingml/2006/main" noGrp="1"/>
          </p:cNvSpPr>
          <p:nvPr/>
        </p:nvSpPr>
        <p:spPr>
          <a:xfrm xmlns:a="http://schemas.openxmlformats.org/drawingml/2006/main">
            <a:off x="4533900" y="4772025"/>
            <a:ext cx="52387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GB</a:t>
            </a:r>
          </a:p>
        </p:txBody>
      </p:sp>
      <p:sp>
        <p:nvSpPr>
          <p:cNvPr id="78" name="Straight Connector 77">
            <a:extLst xmlns:a="http://schemas.openxmlformats.org/drawingml/2006/main">
              <a:ext uri="{FF2B5EF4-FFF2-40B4-BE49-F238E27FC236}">
                <a16:creationId xmlns:a16="http://schemas.microsoft.com/office/drawing/2014/main" id="{96314882-AA52-46F5-8616-FE97FF9AF11B}"/>
              </a:ext>
            </a:extLst>
          </p:cNvPr>
          <p:cNvSpPr>
            <a:spLocks xmlns:a="http://schemas.openxmlformats.org/drawingml/2006/main" noGrp="1"/>
          </p:cNvSpPr>
          <p:nvPr/>
        </p:nvSpPr>
        <p:spPr>
          <a:xfrm xmlns:a="http://schemas.openxmlformats.org/drawingml/2006/main">
            <a:off x="676275" y="4953000"/>
            <a:ext cx="4448175" cy="0"/>
          </a:xfrm>
          <a:prstGeom xmlns:a="http://schemas.openxmlformats.org/drawingml/2006/main" prst="line">
            <a:avLst/>
          </a:prstGeom>
          <a:noFill xmlns:a="http://schemas.openxmlformats.org/drawingml/2006/main"/>
          <a:ln xmlns:a="http://schemas.openxmlformats.org/drawingml/2006/main" w="9525">
            <a:solidFill>
              <a:srgbClr val="E6E9E7"/>
            </a:solidFill>
            <a:prstDash val="solid"/>
          </a:ln>
        </p:spPr>
        <p:txBody>
          <a:bodyPr xmlns:a="http://schemas.openxmlformats.org/drawingml/2006/main"/>
          <a:lstStyle xmlns:a="http://schemas.openxmlformats.org/drawingml/2006/main"/>
          <a:p xmlns:a="http://schemas.openxmlformats.org/drawingml/2006/main">
            <a:endParaRPr/>
          </a:p>
        </p:txBody>
      </p:sp>
      <p:pic>
        <p:nvPicPr>
          <p:cNvPr id="248" name="Picture 230"/>
          <p:cNvPicPr>
            <a:picLocks xmlns:a="http://schemas.openxmlformats.org/drawingml/2006/main" noChangeAspect="1"/>
          </p:cNvPicPr>
          <p:nvPr/>
        </p:nvPicPr>
        <p:blipFill>
          <a:blip xmlns:r="http://schemas.openxmlformats.org/officeDocument/2006/relationships" xmlns:a="http://schemas.openxmlformats.org/drawingml/2006/main" r:embed="R10035e2411ab4dc5"/>
          <a:stretch xmlns:a="http://schemas.openxmlformats.org/drawingml/2006/main"/>
        </p:blipFill>
        <p:spPr>
          <a:xfrm xmlns:a="http://schemas.openxmlformats.org/drawingml/2006/main">
            <a:off x="787567" y="5219700"/>
            <a:ext cx="234616" cy="171450"/>
          </a:xfrm>
          <a:prstGeom xmlns:a="http://schemas.openxmlformats.org/drawingml/2006/main" prst="rect">
            <a:avLst/>
          </a:prstGeom>
        </p:spPr>
      </p:pic>
      <p:sp>
        <p:nvSpPr>
          <p:cNvPr id="80" name="editable-native-shape-row-3">
            <a:extLst xmlns:a="http://schemas.openxmlformats.org/drawingml/2006/main">
              <a:ext uri="{FF2B5EF4-FFF2-40B4-BE49-F238E27FC236}">
                <a16:creationId xmlns:a16="http://schemas.microsoft.com/office/drawing/2014/main" id="{EFF80087-E774-46C7-BCF3-DD112D95C409}"/>
              </a:ext>
            </a:extLst>
          </p:cNvPr>
          <p:cNvSpPr>
            <a:spLocks xmlns:a="http://schemas.openxmlformats.org/drawingml/2006/main" noGrp="1"/>
          </p:cNvSpPr>
          <p:nvPr/>
        </p:nvSpPr>
        <p:spPr>
          <a:xfrm xmlns:a="http://schemas.openxmlformats.org/drawingml/2006/main">
            <a:off x="1200148" y="5191125"/>
            <a:ext cx="1476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810" b="1" i="0">
                <a:solidFill>
                  <a:srgbClr val="111111"/>
                </a:solidFill>
                <a:latin typeface="Arial"/>
                <a:ea typeface="Arial"/>
                <a:cs typeface="Arial"/>
              </a:defRPr>
            </a:pPr>
            <a:r>
              <a:rPr sz="810" b="1" i="0">
                <a:solidFill>
                  <a:srgbClr val="111111"/>
                </a:solidFill>
                <a:latin typeface="Arial"/>
                <a:ea typeface="Arial"/>
                <a:cs typeface="Arial"/>
              </a:rPr>
              <a:t>BM.DenseIO.E5</a:t>
            </a:r>
          </a:p>
        </p:txBody>
      </p:sp>
      <p:sp>
        <p:nvSpPr>
          <p:cNvPr id="81" name="editable-native-shape-vms-row-3">
            <a:extLst xmlns:a="http://schemas.openxmlformats.org/drawingml/2006/main">
              <a:ext uri="{FF2B5EF4-FFF2-40B4-BE49-F238E27FC236}">
                <a16:creationId xmlns:a16="http://schemas.microsoft.com/office/drawing/2014/main" id="{CC30234A-7C8A-4DC8-9F9E-538820CB488B}"/>
              </a:ext>
            </a:extLst>
          </p:cNvPr>
          <p:cNvSpPr>
            <a:spLocks xmlns:a="http://schemas.openxmlformats.org/drawingml/2006/main" noGrp="1"/>
          </p:cNvSpPr>
          <p:nvPr/>
        </p:nvSpPr>
        <p:spPr>
          <a:xfrm xmlns:a="http://schemas.openxmlformats.org/drawingml/2006/main">
            <a:off x="2819400" y="514350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17</a:t>
            </a:r>
          </a:p>
        </p:txBody>
      </p:sp>
      <p:sp>
        <p:nvSpPr>
          <p:cNvPr id="82" name="Rectangle 81">
            <a:extLst xmlns:a="http://schemas.openxmlformats.org/drawingml/2006/main">
              <a:ext uri="{FF2B5EF4-FFF2-40B4-BE49-F238E27FC236}">
                <a16:creationId xmlns:a16="http://schemas.microsoft.com/office/drawing/2014/main" id="{B49A8037-1E77-4C84-BB82-D98A6266C8F2}"/>
              </a:ext>
            </a:extLst>
          </p:cNvPr>
          <p:cNvSpPr>
            <a:spLocks xmlns:a="http://schemas.openxmlformats.org/drawingml/2006/main" noGrp="1"/>
          </p:cNvSpPr>
          <p:nvPr/>
        </p:nvSpPr>
        <p:spPr>
          <a:xfrm xmlns:a="http://schemas.openxmlformats.org/drawingml/2006/main">
            <a:off x="2819400" y="5324475"/>
            <a:ext cx="4286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VMs</a:t>
            </a:r>
          </a:p>
        </p:txBody>
      </p:sp>
      <p:sp>
        <p:nvSpPr>
          <p:cNvPr id="83" name="editable-native-shape-ocpus-row-3">
            <a:extLst xmlns:a="http://schemas.openxmlformats.org/drawingml/2006/main">
              <a:ext uri="{FF2B5EF4-FFF2-40B4-BE49-F238E27FC236}">
                <a16:creationId xmlns:a16="http://schemas.microsoft.com/office/drawing/2014/main" id="{D5987254-B875-4497-AB47-0E60374C901A}"/>
              </a:ext>
            </a:extLst>
          </p:cNvPr>
          <p:cNvSpPr>
            <a:spLocks xmlns:a="http://schemas.openxmlformats.org/drawingml/2006/main" noGrp="1"/>
          </p:cNvSpPr>
          <p:nvPr/>
        </p:nvSpPr>
        <p:spPr>
          <a:xfrm xmlns:a="http://schemas.openxmlformats.org/drawingml/2006/main">
            <a:off x="3629025" y="514350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39</a:t>
            </a:r>
          </a:p>
        </p:txBody>
      </p:sp>
      <p:sp>
        <p:nvSpPr>
          <p:cNvPr id="84" name="Rectangle 83">
            <a:extLst xmlns:a="http://schemas.openxmlformats.org/drawingml/2006/main">
              <a:ext uri="{FF2B5EF4-FFF2-40B4-BE49-F238E27FC236}">
                <a16:creationId xmlns:a16="http://schemas.microsoft.com/office/drawing/2014/main" id="{58DC17B7-E284-465C-8C7D-69A095F96B40}"/>
              </a:ext>
            </a:extLst>
          </p:cNvPr>
          <p:cNvSpPr>
            <a:spLocks xmlns:a="http://schemas.openxmlformats.org/drawingml/2006/main" noGrp="1"/>
          </p:cNvSpPr>
          <p:nvPr/>
        </p:nvSpPr>
        <p:spPr>
          <a:xfrm xmlns:a="http://schemas.openxmlformats.org/drawingml/2006/main">
            <a:off x="3629025" y="5324475"/>
            <a:ext cx="552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OCPU</a:t>
            </a:r>
          </a:p>
        </p:txBody>
      </p:sp>
      <p:sp>
        <p:nvSpPr>
          <p:cNvPr id="85" name="editable-native-shape-ram-row-3">
            <a:extLst xmlns:a="http://schemas.openxmlformats.org/drawingml/2006/main">
              <a:ext uri="{FF2B5EF4-FFF2-40B4-BE49-F238E27FC236}">
                <a16:creationId xmlns:a16="http://schemas.microsoft.com/office/drawing/2014/main" id="{7BD55E35-31A2-4F87-BE60-3D500AD6A4B6}"/>
              </a:ext>
            </a:extLst>
          </p:cNvPr>
          <p:cNvSpPr>
            <a:spLocks xmlns:a="http://schemas.openxmlformats.org/drawingml/2006/main" noGrp="1"/>
          </p:cNvSpPr>
          <p:nvPr/>
        </p:nvSpPr>
        <p:spPr>
          <a:xfrm xmlns:a="http://schemas.openxmlformats.org/drawingml/2006/main">
            <a:off x="4457700" y="51435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252 GB</a:t>
            </a:r>
          </a:p>
        </p:txBody>
      </p:sp>
      <p:sp>
        <p:nvSpPr>
          <p:cNvPr id="86" name="Rectangle 85">
            <a:extLst xmlns:a="http://schemas.openxmlformats.org/drawingml/2006/main">
              <a:ext uri="{FF2B5EF4-FFF2-40B4-BE49-F238E27FC236}">
                <a16:creationId xmlns:a16="http://schemas.microsoft.com/office/drawing/2014/main" id="{BE6D8D19-89A6-4D87-B195-2C86BA10DF61}"/>
              </a:ext>
            </a:extLst>
          </p:cNvPr>
          <p:cNvSpPr>
            <a:spLocks xmlns:a="http://schemas.openxmlformats.org/drawingml/2006/main" noGrp="1"/>
          </p:cNvSpPr>
          <p:nvPr/>
        </p:nvSpPr>
        <p:spPr>
          <a:xfrm xmlns:a="http://schemas.openxmlformats.org/drawingml/2006/main">
            <a:off x="4533900" y="5324475"/>
            <a:ext cx="52387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GB</a:t>
            </a:r>
          </a:p>
        </p:txBody>
      </p:sp>
      <p:sp>
        <p:nvSpPr>
          <p:cNvPr id="87" name="Straight Connector 86">
            <a:extLst xmlns:a="http://schemas.openxmlformats.org/drawingml/2006/main">
              <a:ext uri="{FF2B5EF4-FFF2-40B4-BE49-F238E27FC236}">
                <a16:creationId xmlns:a16="http://schemas.microsoft.com/office/drawing/2014/main" id="{15449D5B-5AE6-4578-9AFD-B34D19DF4E16}"/>
              </a:ext>
            </a:extLst>
          </p:cNvPr>
          <p:cNvSpPr>
            <a:spLocks xmlns:a="http://schemas.openxmlformats.org/drawingml/2006/main" noGrp="1"/>
          </p:cNvSpPr>
          <p:nvPr/>
        </p:nvSpPr>
        <p:spPr>
          <a:xfrm xmlns:a="http://schemas.openxmlformats.org/drawingml/2006/main">
            <a:off x="676275" y="5505450"/>
            <a:ext cx="4448175" cy="0"/>
          </a:xfrm>
          <a:prstGeom xmlns:a="http://schemas.openxmlformats.org/drawingml/2006/main" prst="line">
            <a:avLst/>
          </a:prstGeom>
          <a:noFill xmlns:a="http://schemas.openxmlformats.org/drawingml/2006/main"/>
          <a:ln xmlns:a="http://schemas.openxmlformats.org/drawingml/2006/main" w="9525">
            <a:solidFill>
              <a:srgbClr val="E6E9E7"/>
            </a:solidFill>
            <a:prstDash val="solid"/>
          </a:ln>
        </p:spPr>
        <p:txBody>
          <a:bodyPr xmlns:a="http://schemas.openxmlformats.org/drawingml/2006/main"/>
          <a:lstStyle xmlns:a="http://schemas.openxmlformats.org/drawingml/2006/main"/>
          <a:p xmlns:a="http://schemas.openxmlformats.org/drawingml/2006/main">
            <a:endParaRPr/>
          </a:p>
        </p:txBody>
      </p:sp>
      <p:sp>
        <p:nvSpPr>
          <p:cNvPr id="88" name="Rectangle 87">
            <a:extLst xmlns:a="http://schemas.openxmlformats.org/drawingml/2006/main">
              <a:ext uri="{FF2B5EF4-FFF2-40B4-BE49-F238E27FC236}">
                <a16:creationId xmlns:a16="http://schemas.microsoft.com/office/drawing/2014/main" id="{4BA23839-AFBE-48E0-B4EF-024108A33F3B}"/>
              </a:ext>
            </a:extLst>
          </p:cNvPr>
          <p:cNvSpPr>
            <a:spLocks xmlns:a="http://schemas.openxmlformats.org/drawingml/2006/main" noGrp="1"/>
          </p:cNvSpPr>
          <p:nvPr/>
        </p:nvSpPr>
        <p:spPr>
          <a:xfrm xmlns:a="http://schemas.openxmlformats.org/drawingml/2006/main">
            <a:off x="685800" y="5486400"/>
            <a:ext cx="4438650" cy="476250"/>
          </a:xfrm>
          <a:prstGeom xmlns:a="http://schemas.openxmlformats.org/drawingml/2006/main" prst="rect">
            <a:avLst/>
          </a:prstGeom>
          <a:solidFill xmlns:a="http://schemas.openxmlformats.org/drawingml/2006/main">
            <a:srgbClr val="EFF6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9" name="Rectangle 88">
            <a:extLst xmlns:a="http://schemas.openxmlformats.org/drawingml/2006/main">
              <a:ext uri="{FF2B5EF4-FFF2-40B4-BE49-F238E27FC236}">
                <a16:creationId xmlns:a16="http://schemas.microsoft.com/office/drawing/2014/main" id="{B4DC424C-D37F-44FE-BC99-3D7875890C64}"/>
              </a:ext>
            </a:extLst>
          </p:cNvPr>
          <p:cNvSpPr>
            <a:spLocks xmlns:a="http://schemas.openxmlformats.org/drawingml/2006/main" noGrp="1"/>
          </p:cNvSpPr>
          <p:nvPr/>
        </p:nvSpPr>
        <p:spPr>
          <a:xfrm xmlns:a="http://schemas.openxmlformats.org/drawingml/2006/main">
            <a:off x="781050" y="5610225"/>
            <a:ext cx="590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840" b="1" i="0">
                <a:solidFill>
                  <a:srgbClr val="00452C"/>
                </a:solidFill>
                <a:latin typeface="Arial"/>
                <a:ea typeface="Arial"/>
                <a:cs typeface="Arial"/>
              </a:defRPr>
            </a:pPr>
            <a:r>
              <a:rPr sz="840" b="1" i="0">
                <a:solidFill>
                  <a:srgbClr val="00452C"/>
                </a:solidFill>
                <a:latin typeface="Arial"/>
                <a:ea typeface="Arial"/>
                <a:cs typeface="Arial"/>
              </a:rPr>
              <a:t>TOTAL</a:t>
            </a:r>
          </a:p>
        </p:txBody>
      </p:sp>
      <p:sp>
        <p:nvSpPr>
          <p:cNvPr id="90" name="editable-native-total-vms">
            <a:extLst xmlns:a="http://schemas.openxmlformats.org/drawingml/2006/main">
              <a:ext uri="{FF2B5EF4-FFF2-40B4-BE49-F238E27FC236}">
                <a16:creationId xmlns:a16="http://schemas.microsoft.com/office/drawing/2014/main" id="{D45822BA-A045-427C-AE67-0A4A62C226D6}"/>
              </a:ext>
            </a:extLst>
          </p:cNvPr>
          <p:cNvSpPr>
            <a:spLocks xmlns:a="http://schemas.openxmlformats.org/drawingml/2006/main" noGrp="1"/>
          </p:cNvSpPr>
          <p:nvPr/>
        </p:nvSpPr>
        <p:spPr>
          <a:xfrm xmlns:a="http://schemas.openxmlformats.org/drawingml/2006/main">
            <a:off x="2819400" y="557212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40" b="1" i="0">
                <a:solidFill>
                  <a:srgbClr val="00452C"/>
                </a:solidFill>
                <a:latin typeface="Arial"/>
                <a:ea typeface="Arial"/>
                <a:cs typeface="Arial"/>
              </a:defRPr>
            </a:pPr>
            <a:r>
              <a:rPr sz="840" b="1" i="0">
                <a:solidFill>
                  <a:srgbClr val="00452C"/>
                </a:solidFill>
                <a:latin typeface="Arial"/>
                <a:ea typeface="Arial"/>
                <a:cs typeface="Arial"/>
              </a:rPr>
              <a:t>110</a:t>
            </a:r>
          </a:p>
        </p:txBody>
      </p:sp>
      <p:sp>
        <p:nvSpPr>
          <p:cNvPr id="91" name="Rectangle 90">
            <a:extLst xmlns:a="http://schemas.openxmlformats.org/drawingml/2006/main">
              <a:ext uri="{FF2B5EF4-FFF2-40B4-BE49-F238E27FC236}">
                <a16:creationId xmlns:a16="http://schemas.microsoft.com/office/drawing/2014/main" id="{9C48D5A1-26B7-4D13-8978-B48152097957}"/>
              </a:ext>
            </a:extLst>
          </p:cNvPr>
          <p:cNvSpPr>
            <a:spLocks xmlns:a="http://schemas.openxmlformats.org/drawingml/2006/main" noGrp="1"/>
          </p:cNvSpPr>
          <p:nvPr/>
        </p:nvSpPr>
        <p:spPr>
          <a:xfrm xmlns:a="http://schemas.openxmlformats.org/drawingml/2006/main">
            <a:off x="2819400" y="5753100"/>
            <a:ext cx="4286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VMs</a:t>
            </a:r>
          </a:p>
        </p:txBody>
      </p:sp>
      <p:sp>
        <p:nvSpPr>
          <p:cNvPr id="92" name="editable-native-total-ocpus">
            <a:extLst xmlns:a="http://schemas.openxmlformats.org/drawingml/2006/main">
              <a:ext uri="{FF2B5EF4-FFF2-40B4-BE49-F238E27FC236}">
                <a16:creationId xmlns:a16="http://schemas.microsoft.com/office/drawing/2014/main" id="{CEB68A3B-45E3-4739-A8D3-2E6F8EDC66AF}"/>
              </a:ext>
            </a:extLst>
          </p:cNvPr>
          <p:cNvSpPr>
            <a:spLocks xmlns:a="http://schemas.openxmlformats.org/drawingml/2006/main" noGrp="1"/>
          </p:cNvSpPr>
          <p:nvPr/>
        </p:nvSpPr>
        <p:spPr>
          <a:xfrm xmlns:a="http://schemas.openxmlformats.org/drawingml/2006/main">
            <a:off x="3629025" y="5572125"/>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40" b="1" i="0">
                <a:solidFill>
                  <a:srgbClr val="00452C"/>
                </a:solidFill>
                <a:latin typeface="Arial"/>
                <a:ea typeface="Arial"/>
                <a:cs typeface="Arial"/>
              </a:defRPr>
            </a:pPr>
            <a:r>
              <a:rPr sz="840" b="1" i="0">
                <a:solidFill>
                  <a:srgbClr val="00452C"/>
                </a:solidFill>
                <a:latin typeface="Arial"/>
                <a:ea typeface="Arial"/>
                <a:cs typeface="Arial"/>
              </a:rPr>
              <a:t>377</a:t>
            </a:r>
          </a:p>
        </p:txBody>
      </p:sp>
      <p:sp>
        <p:nvSpPr>
          <p:cNvPr id="93" name="Rectangle 92">
            <a:extLst xmlns:a="http://schemas.openxmlformats.org/drawingml/2006/main">
              <a:ext uri="{FF2B5EF4-FFF2-40B4-BE49-F238E27FC236}">
                <a16:creationId xmlns:a16="http://schemas.microsoft.com/office/drawing/2014/main" id="{0053FC22-FC07-47D9-8479-689EF59DE9C7}"/>
              </a:ext>
            </a:extLst>
          </p:cNvPr>
          <p:cNvSpPr>
            <a:spLocks xmlns:a="http://schemas.openxmlformats.org/drawingml/2006/main" noGrp="1"/>
          </p:cNvSpPr>
          <p:nvPr/>
        </p:nvSpPr>
        <p:spPr>
          <a:xfrm xmlns:a="http://schemas.openxmlformats.org/drawingml/2006/main">
            <a:off x="3629025" y="5753100"/>
            <a:ext cx="552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OCPU</a:t>
            </a:r>
          </a:p>
        </p:txBody>
      </p:sp>
      <p:sp>
        <p:nvSpPr>
          <p:cNvPr id="94" name="editable-native-total-vram">
            <a:extLst xmlns:a="http://schemas.openxmlformats.org/drawingml/2006/main">
              <a:ext uri="{FF2B5EF4-FFF2-40B4-BE49-F238E27FC236}">
                <a16:creationId xmlns:a16="http://schemas.microsoft.com/office/drawing/2014/main" id="{1550D006-7F89-48D3-B576-317BA3E5E41F}"/>
              </a:ext>
            </a:extLst>
          </p:cNvPr>
          <p:cNvSpPr>
            <a:spLocks xmlns:a="http://schemas.openxmlformats.org/drawingml/2006/main" noGrp="1"/>
          </p:cNvSpPr>
          <p:nvPr/>
        </p:nvSpPr>
        <p:spPr>
          <a:xfrm xmlns:a="http://schemas.openxmlformats.org/drawingml/2006/main">
            <a:off x="4457700" y="5572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40" b="1" i="0">
                <a:solidFill>
                  <a:srgbClr val="00452C"/>
                </a:solidFill>
                <a:latin typeface="Arial"/>
                <a:ea typeface="Arial"/>
                <a:cs typeface="Arial"/>
              </a:defRPr>
            </a:pPr>
            <a:r>
              <a:rPr sz="840" b="1" i="0">
                <a:solidFill>
                  <a:srgbClr val="00452C"/>
                </a:solidFill>
                <a:latin typeface="Arial"/>
                <a:ea typeface="Arial"/>
                <a:cs typeface="Arial"/>
              </a:rPr>
              <a:t>1.2 TB</a:t>
            </a:r>
          </a:p>
        </p:txBody>
      </p:sp>
      <p:sp>
        <p:nvSpPr>
          <p:cNvPr id="95" name="Rectangle 94">
            <a:extLst xmlns:a="http://schemas.openxmlformats.org/drawingml/2006/main">
              <a:ext uri="{FF2B5EF4-FFF2-40B4-BE49-F238E27FC236}">
                <a16:creationId xmlns:a16="http://schemas.microsoft.com/office/drawing/2014/main" id="{E9690FD8-CC19-4453-A350-88492AA1794E}"/>
              </a:ext>
            </a:extLst>
          </p:cNvPr>
          <p:cNvSpPr>
            <a:spLocks xmlns:a="http://schemas.openxmlformats.org/drawingml/2006/main" noGrp="1"/>
          </p:cNvSpPr>
          <p:nvPr/>
        </p:nvSpPr>
        <p:spPr>
          <a:xfrm xmlns:a="http://schemas.openxmlformats.org/drawingml/2006/main">
            <a:off x="4533900" y="5753100"/>
            <a:ext cx="52387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GB</a:t>
            </a:r>
          </a:p>
        </p:txBody>
      </p:sp>
      <p:sp>
        <p:nvSpPr>
          <p:cNvPr id="96" name="Rounded Rectangle 95">
            <a:extLst xmlns:a="http://schemas.openxmlformats.org/drawingml/2006/main">
              <a:ext uri="{FF2B5EF4-FFF2-40B4-BE49-F238E27FC236}">
                <a16:creationId xmlns:a16="http://schemas.microsoft.com/office/drawing/2014/main" id="{A80BD8E3-19C8-4C5C-8504-D8D4872131DC}"/>
              </a:ext>
            </a:extLst>
          </p:cNvPr>
          <p:cNvSpPr>
            <a:spLocks xmlns:a="http://schemas.openxmlformats.org/drawingml/2006/main" noGrp="1"/>
          </p:cNvSpPr>
          <p:nvPr/>
        </p:nvSpPr>
        <p:spPr>
          <a:xfrm xmlns:a="http://schemas.openxmlformats.org/drawingml/2006/main">
            <a:off x="5429250" y="2847975"/>
            <a:ext cx="6191250" cy="3409950"/>
          </a:xfrm>
          <a:prstGeom xmlns:a="http://schemas.openxmlformats.org/drawingml/2006/main" prst="roundRect">
            <a:avLst>
              <a:gd name="adj" fmla="val 2235"/>
            </a:avLst>
          </a:prstGeom>
          <a:solidFill xmlns:a="http://schemas.openxmlformats.org/drawingml/2006/main">
            <a:srgbClr val="FFFFFF"/>
          </a:solidFill>
          <a:ln xmlns:a="http://schemas.openxmlformats.org/drawingml/2006/main" w="9525">
            <a:solidFill>
              <a:srgbClr val="D7DDD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97" name="Rounded Rectangle 96">
            <a:extLst xmlns:a="http://schemas.openxmlformats.org/drawingml/2006/main">
              <a:ext uri="{FF2B5EF4-FFF2-40B4-BE49-F238E27FC236}">
                <a16:creationId xmlns:a16="http://schemas.microsoft.com/office/drawing/2014/main" id="{EFD72E2D-BB71-4AEB-A62C-106B2CF86469}"/>
              </a:ext>
            </a:extLst>
          </p:cNvPr>
          <p:cNvSpPr>
            <a:spLocks xmlns:a="http://schemas.openxmlformats.org/drawingml/2006/main" noGrp="1"/>
          </p:cNvSpPr>
          <p:nvPr/>
        </p:nvSpPr>
        <p:spPr>
          <a:xfrm xmlns:a="http://schemas.openxmlformats.org/drawingml/2006/main">
            <a:off x="5429250" y="2847975"/>
            <a:ext cx="6191250" cy="276225"/>
          </a:xfrm>
          <a:prstGeom xmlns:a="http://schemas.openxmlformats.org/drawingml/2006/main" prst="roundRect">
            <a:avLst>
              <a:gd name="adj" fmla="val 20690"/>
            </a:avLst>
          </a:prstGeom>
          <a:gradFill xmlns:a="http://schemas.openxmlformats.org/drawingml/2006/main">
            <a:gsLst>
              <a:gs pos="0">
                <a:srgbClr val="7E2700"/>
              </a:gs>
              <a:gs pos="100000">
                <a:srgbClr val="A93400"/>
              </a:gs>
            </a:gsLst>
            <a:lin ang="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8" name="Rectangle 97">
            <a:extLst xmlns:a="http://schemas.openxmlformats.org/drawingml/2006/main">
              <a:ext uri="{FF2B5EF4-FFF2-40B4-BE49-F238E27FC236}">
                <a16:creationId xmlns:a16="http://schemas.microsoft.com/office/drawing/2014/main" id="{D61D5F00-695B-4459-B5D8-C230BEAB9957}"/>
              </a:ext>
            </a:extLst>
          </p:cNvPr>
          <p:cNvSpPr>
            <a:spLocks xmlns:a="http://schemas.openxmlformats.org/drawingml/2006/main" noGrp="1"/>
          </p:cNvSpPr>
          <p:nvPr/>
        </p:nvSpPr>
        <p:spPr>
          <a:xfrm xmlns:a="http://schemas.openxmlformats.org/drawingml/2006/main">
            <a:off x="5429250" y="3067050"/>
            <a:ext cx="6191250" cy="66675"/>
          </a:xfrm>
          <a:prstGeom xmlns:a="http://schemas.openxmlformats.org/drawingml/2006/main" prst="rect">
            <a:avLst/>
          </a:prstGeom>
          <a:gradFill xmlns:a="http://schemas.openxmlformats.org/drawingml/2006/main">
            <a:gsLst>
              <a:gs pos="0">
                <a:srgbClr val="7E2700"/>
              </a:gs>
              <a:gs pos="100000">
                <a:srgbClr val="A93400"/>
              </a:gs>
            </a:gsLst>
            <a:lin ang="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9" name="Oval 98">
            <a:extLst xmlns:a="http://schemas.openxmlformats.org/drawingml/2006/main">
              <a:ext uri="{FF2B5EF4-FFF2-40B4-BE49-F238E27FC236}">
                <a16:creationId xmlns:a16="http://schemas.microsoft.com/office/drawing/2014/main" id="{7D7FF0B6-0EA1-47EC-B5DB-32963EFBD03E}"/>
              </a:ext>
            </a:extLst>
          </p:cNvPr>
          <p:cNvSpPr>
            <a:spLocks xmlns:a="http://schemas.openxmlformats.org/drawingml/2006/main" noGrp="1"/>
          </p:cNvSpPr>
          <p:nvPr/>
        </p:nvSpPr>
        <p:spPr>
          <a:xfrm xmlns:a="http://schemas.openxmlformats.org/drawingml/2006/main">
            <a:off x="5524500" y="2886075"/>
            <a:ext cx="209550" cy="20955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00" name="Rectangle 99">
            <a:extLst xmlns:a="http://schemas.openxmlformats.org/drawingml/2006/main">
              <a:ext uri="{FF2B5EF4-FFF2-40B4-BE49-F238E27FC236}">
                <a16:creationId xmlns:a16="http://schemas.microsoft.com/office/drawing/2014/main" id="{64F89481-045B-4435-BA87-5651EAFE5F9D}"/>
              </a:ext>
            </a:extLst>
          </p:cNvPr>
          <p:cNvSpPr>
            <a:spLocks xmlns:a="http://schemas.openxmlformats.org/drawingml/2006/main" noGrp="1"/>
          </p:cNvSpPr>
          <p:nvPr/>
        </p:nvSpPr>
        <p:spPr>
          <a:xfrm xmlns:a="http://schemas.openxmlformats.org/drawingml/2006/main">
            <a:off x="5572125" y="2914650"/>
            <a:ext cx="1143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75" b="1" i="0">
                <a:solidFill>
                  <a:srgbClr val="9B3000"/>
                </a:solidFill>
                <a:latin typeface="Arial"/>
                <a:ea typeface="Arial"/>
                <a:cs typeface="Arial"/>
              </a:defRPr>
            </a:pPr>
            <a:r>
              <a:rPr sz="975" b="1" i="0">
                <a:solidFill>
                  <a:srgbClr val="9B3000"/>
                </a:solidFill>
                <a:latin typeface="Arial"/>
                <a:ea typeface="Arial"/>
                <a:cs typeface="Arial"/>
              </a:rPr>
              <a:t>3</a:t>
            </a:r>
          </a:p>
        </p:txBody>
      </p:sp>
      <p:sp>
        <p:nvSpPr>
          <p:cNvPr id="101" name="Rectangle 100">
            <a:extLst xmlns:a="http://schemas.openxmlformats.org/drawingml/2006/main">
              <a:ext uri="{FF2B5EF4-FFF2-40B4-BE49-F238E27FC236}">
                <a16:creationId xmlns:a16="http://schemas.microsoft.com/office/drawing/2014/main" id="{5BB16547-F52E-48F9-B7AF-E1BB0D3B7C44}"/>
              </a:ext>
            </a:extLst>
          </p:cNvPr>
          <p:cNvSpPr>
            <a:spLocks xmlns:a="http://schemas.openxmlformats.org/drawingml/2006/main" noGrp="1"/>
          </p:cNvSpPr>
          <p:nvPr/>
        </p:nvSpPr>
        <p:spPr>
          <a:xfrm xmlns:a="http://schemas.openxmlformats.org/drawingml/2006/main">
            <a:off x="5838825" y="2905125"/>
            <a:ext cx="5695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STORAGE MIX (BY VPU)</a:t>
            </a:r>
          </a:p>
        </p:txBody>
      </p:sp>
      <p:pic>
        <p:nvPicPr>
          <p:cNvPr id="271" name="Picture 253"/>
          <p:cNvPicPr>
            <a:picLocks xmlns:a="http://schemas.openxmlformats.org/drawingml/2006/main" noChangeAspect="1"/>
          </p:cNvPicPr>
          <p:nvPr/>
        </p:nvPicPr>
        <p:blipFill>
          <a:blip xmlns:r="http://schemas.openxmlformats.org/officeDocument/2006/relationships" xmlns:a="http://schemas.openxmlformats.org/drawingml/2006/main" r:embed="Rfbd4059b9dc74bca"/>
          <a:stretch xmlns:a="http://schemas.openxmlformats.org/drawingml/2006/main"/>
        </p:blipFill>
        <p:spPr>
          <a:xfrm xmlns:a="http://schemas.openxmlformats.org/drawingml/2006/main">
            <a:off x="5600829" y="3257550"/>
            <a:ext cx="352168" cy="342900"/>
          </a:xfrm>
          <a:prstGeom xmlns:a="http://schemas.openxmlformats.org/drawingml/2006/main" prst="rect">
            <a:avLst/>
          </a:prstGeom>
        </p:spPr>
      </p:pic>
      <p:sp>
        <p:nvSpPr>
          <p:cNvPr id="103" name="Rectangle 102">
            <a:extLst xmlns:a="http://schemas.openxmlformats.org/drawingml/2006/main">
              <a:ext uri="{FF2B5EF4-FFF2-40B4-BE49-F238E27FC236}">
                <a16:creationId xmlns:a16="http://schemas.microsoft.com/office/drawing/2014/main" id="{1B5AC616-8163-49F1-B55A-9839731719F4}"/>
              </a:ext>
            </a:extLst>
          </p:cNvPr>
          <p:cNvSpPr>
            <a:spLocks xmlns:a="http://schemas.openxmlformats.org/drawingml/2006/main" noGrp="1"/>
          </p:cNvSpPr>
          <p:nvPr/>
        </p:nvSpPr>
        <p:spPr>
          <a:xfrm xmlns:a="http://schemas.openxmlformats.org/drawingml/2006/main">
            <a:off x="6029325" y="32766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863" b="0" i="0">
                <a:solidFill>
                  <a:srgbClr val="111111"/>
                </a:solidFill>
                <a:latin typeface="Arial"/>
                <a:ea typeface="Arial"/>
                <a:cs typeface="Arial"/>
              </a:defRPr>
            </a:pPr>
            <a:r>
              <a:rPr sz="863" b="0" i="0">
                <a:solidFill>
                  <a:srgbClr val="111111"/>
                </a:solidFill>
                <a:latin typeface="Arial"/>
                <a:ea typeface="Arial"/>
                <a:cs typeface="Arial"/>
              </a:rPr>
              <a:t>Block Volume storage sized based on VPU requirements</a:t>
            </a:r>
          </a:p>
        </p:txBody>
      </p:sp>
      <p:sp>
        <p:nvSpPr>
          <p:cNvPr id="104" name="Rectangle 103">
            <a:extLst xmlns:a="http://schemas.openxmlformats.org/drawingml/2006/main">
              <a:ext uri="{FF2B5EF4-FFF2-40B4-BE49-F238E27FC236}">
                <a16:creationId xmlns:a16="http://schemas.microsoft.com/office/drawing/2014/main" id="{CDA35A48-C8AD-4AEF-8F72-E018C18885F1}"/>
              </a:ext>
            </a:extLst>
          </p:cNvPr>
          <p:cNvSpPr>
            <a:spLocks xmlns:a="http://schemas.openxmlformats.org/drawingml/2006/main" noGrp="1"/>
          </p:cNvSpPr>
          <p:nvPr/>
        </p:nvSpPr>
        <p:spPr>
          <a:xfrm xmlns:a="http://schemas.openxmlformats.org/drawingml/2006/main">
            <a:off x="6000750" y="3676650"/>
            <a:ext cx="1352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VPU Range (per VM)</a:t>
            </a:r>
          </a:p>
        </p:txBody>
      </p:sp>
      <p:sp>
        <p:nvSpPr>
          <p:cNvPr id="105" name="Rectangle 104">
            <a:extLst xmlns:a="http://schemas.openxmlformats.org/drawingml/2006/main">
              <a:ext uri="{FF2B5EF4-FFF2-40B4-BE49-F238E27FC236}">
                <a16:creationId xmlns:a16="http://schemas.microsoft.com/office/drawing/2014/main" id="{F64AD504-9E26-49DE-BDB1-9800CCF021B3}"/>
              </a:ext>
            </a:extLst>
          </p:cNvPr>
          <p:cNvSpPr>
            <a:spLocks xmlns:a="http://schemas.openxmlformats.org/drawingml/2006/main" noGrp="1"/>
          </p:cNvSpPr>
          <p:nvPr/>
        </p:nvSpPr>
        <p:spPr>
          <a:xfrm xmlns:a="http://schemas.openxmlformats.org/drawingml/2006/main">
            <a:off x="7381875" y="3676650"/>
            <a:ext cx="1285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Performance Tier</a:t>
            </a:r>
          </a:p>
          <a:p xmlns:a="http://schemas.openxmlformats.org/drawingml/2006/main">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(IOPS)</a:t>
            </a:r>
          </a:p>
        </p:txBody>
      </p:sp>
      <p:sp>
        <p:nvSpPr>
          <p:cNvPr id="106" name="Rectangle 105">
            <a:extLst xmlns:a="http://schemas.openxmlformats.org/drawingml/2006/main">
              <a:ext uri="{FF2B5EF4-FFF2-40B4-BE49-F238E27FC236}">
                <a16:creationId xmlns:a16="http://schemas.microsoft.com/office/drawing/2014/main" id="{AE59B15F-FF11-4D50-AC19-31349401C183}"/>
              </a:ext>
            </a:extLst>
          </p:cNvPr>
          <p:cNvSpPr>
            <a:spLocks xmlns:a="http://schemas.openxmlformats.org/drawingml/2006/main" noGrp="1"/>
          </p:cNvSpPr>
          <p:nvPr/>
        </p:nvSpPr>
        <p:spPr>
          <a:xfrm xmlns:a="http://schemas.openxmlformats.org/drawingml/2006/main">
            <a:off x="8524875" y="3676650"/>
            <a:ext cx="100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Typical VPU</a:t>
            </a:r>
          </a:p>
          <a:p xmlns:a="http://schemas.openxmlformats.org/drawingml/2006/main">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per VM</a:t>
            </a:r>
          </a:p>
        </p:txBody>
      </p:sp>
      <p:sp>
        <p:nvSpPr>
          <p:cNvPr id="107" name="Rectangle 106">
            <a:extLst xmlns:a="http://schemas.openxmlformats.org/drawingml/2006/main">
              <a:ext uri="{FF2B5EF4-FFF2-40B4-BE49-F238E27FC236}">
                <a16:creationId xmlns:a16="http://schemas.microsoft.com/office/drawing/2014/main" id="{DAACDA20-B29D-4C87-A84D-B15970D8E3C3}"/>
              </a:ext>
            </a:extLst>
          </p:cNvPr>
          <p:cNvSpPr>
            <a:spLocks xmlns:a="http://schemas.openxmlformats.org/drawingml/2006/main" noGrp="1"/>
          </p:cNvSpPr>
          <p:nvPr/>
        </p:nvSpPr>
        <p:spPr>
          <a:xfrm xmlns:a="http://schemas.openxmlformats.org/drawingml/2006/main">
            <a:off x="9420225" y="36766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Total VMs</a:t>
            </a:r>
          </a:p>
        </p:txBody>
      </p:sp>
      <p:sp>
        <p:nvSpPr>
          <p:cNvPr id="108" name="Rectangle 107">
            <a:extLst xmlns:a="http://schemas.openxmlformats.org/drawingml/2006/main">
              <a:ext uri="{FF2B5EF4-FFF2-40B4-BE49-F238E27FC236}">
                <a16:creationId xmlns:a16="http://schemas.microsoft.com/office/drawing/2014/main" id="{FFFD1D9C-156A-4C22-BECE-2DB7E55FE03E}"/>
              </a:ext>
            </a:extLst>
          </p:cNvPr>
          <p:cNvSpPr>
            <a:spLocks xmlns:a="http://schemas.openxmlformats.org/drawingml/2006/main" noGrp="1"/>
          </p:cNvSpPr>
          <p:nvPr/>
        </p:nvSpPr>
        <p:spPr>
          <a:xfrm xmlns:a="http://schemas.openxmlformats.org/drawingml/2006/main">
            <a:off x="10191750" y="3676650"/>
            <a:ext cx="7334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Total VPU</a:t>
            </a:r>
          </a:p>
        </p:txBody>
      </p:sp>
      <p:sp>
        <p:nvSpPr>
          <p:cNvPr id="109" name="Rectangle 108">
            <a:extLst xmlns:a="http://schemas.openxmlformats.org/drawingml/2006/main">
              <a:ext uri="{FF2B5EF4-FFF2-40B4-BE49-F238E27FC236}">
                <a16:creationId xmlns:a16="http://schemas.microsoft.com/office/drawing/2014/main" id="{AF2BCC5B-1985-42C0-8CF6-9FAAB2850A60}"/>
              </a:ext>
            </a:extLst>
          </p:cNvPr>
          <p:cNvSpPr>
            <a:spLocks xmlns:a="http://schemas.openxmlformats.org/drawingml/2006/main" noGrp="1"/>
          </p:cNvSpPr>
          <p:nvPr/>
        </p:nvSpPr>
        <p:spPr>
          <a:xfrm xmlns:a="http://schemas.openxmlformats.org/drawingml/2006/main">
            <a:off x="10953750" y="3676650"/>
            <a:ext cx="619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Capacity</a:t>
            </a:r>
          </a:p>
        </p:txBody>
      </p:sp>
      <p:sp>
        <p:nvSpPr>
          <p:cNvPr id="110" name="Straight Connector 109">
            <a:extLst xmlns:a="http://schemas.openxmlformats.org/drawingml/2006/main">
              <a:ext uri="{FF2B5EF4-FFF2-40B4-BE49-F238E27FC236}">
                <a16:creationId xmlns:a16="http://schemas.microsoft.com/office/drawing/2014/main" id="{E8FD985B-FF91-4609-8A80-7E84D03AEC3F}"/>
              </a:ext>
            </a:extLst>
          </p:cNvPr>
          <p:cNvSpPr>
            <a:spLocks xmlns:a="http://schemas.openxmlformats.org/drawingml/2006/main" noGrp="1"/>
          </p:cNvSpPr>
          <p:nvPr/>
        </p:nvSpPr>
        <p:spPr>
          <a:xfrm xmlns:a="http://schemas.openxmlformats.org/drawingml/2006/main">
            <a:off x="5524500" y="3933825"/>
            <a:ext cx="5905500" cy="0"/>
          </a:xfrm>
          <a:prstGeom xmlns:a="http://schemas.openxmlformats.org/drawingml/2006/main" prst="line">
            <a:avLst/>
          </a:prstGeom>
          <a:noFill xmlns:a="http://schemas.openxmlformats.org/drawingml/2006/main"/>
          <a:ln xmlns:a="http://schemas.openxmlformats.org/drawingml/2006/main" w="9525">
            <a:solidFill>
              <a:srgbClr val="D7DDDA"/>
            </a:solidFill>
            <a:prstDash val="solid"/>
          </a:ln>
        </p:spPr>
        <p:txBody>
          <a:bodyPr xmlns:a="http://schemas.openxmlformats.org/drawingml/2006/main"/>
          <a:lstStyle xmlns:a="http://schemas.openxmlformats.org/drawingml/2006/main"/>
          <a:p xmlns:a="http://schemas.openxmlformats.org/drawingml/2006/main">
            <a:endParaRPr/>
          </a:p>
        </p:txBody>
      </p:sp>
      <p:pic>
        <p:nvPicPr>
          <p:cNvPr id="280" name="Picture 262"/>
          <p:cNvPicPr>
            <a:picLocks xmlns:a="http://schemas.openxmlformats.org/drawingml/2006/main" noChangeAspect="1"/>
          </p:cNvPicPr>
          <p:nvPr/>
        </p:nvPicPr>
        <p:blipFill>
          <a:blip xmlns:r="http://schemas.openxmlformats.org/officeDocument/2006/relationships" xmlns:a="http://schemas.openxmlformats.org/drawingml/2006/main" r:embed="R3397e67263824892"/>
          <a:stretch xmlns:a="http://schemas.openxmlformats.org/drawingml/2006/main"/>
        </p:blipFill>
        <p:spPr>
          <a:xfrm xmlns:a="http://schemas.openxmlformats.org/drawingml/2006/main">
            <a:off x="5581650" y="4057650"/>
            <a:ext cx="352425" cy="352425"/>
          </a:xfrm>
          <a:prstGeom xmlns:a="http://schemas.openxmlformats.org/drawingml/2006/main" prst="rect">
            <a:avLst/>
          </a:prstGeom>
        </p:spPr>
      </p:pic>
      <p:sp>
        <p:nvSpPr>
          <p:cNvPr id="112" name="editable-native-vpu-label-row-1">
            <a:extLst xmlns:a="http://schemas.openxmlformats.org/drawingml/2006/main">
              <a:ext uri="{FF2B5EF4-FFF2-40B4-BE49-F238E27FC236}">
                <a16:creationId xmlns:a16="http://schemas.microsoft.com/office/drawing/2014/main" id="{FC866F95-894D-4208-A956-71AA20F6C187}"/>
              </a:ext>
            </a:extLst>
          </p:cNvPr>
          <p:cNvSpPr>
            <a:spLocks xmlns:a="http://schemas.openxmlformats.org/drawingml/2006/main" noGrp="1"/>
          </p:cNvSpPr>
          <p:nvPr/>
        </p:nvSpPr>
        <p:spPr>
          <a:xfrm xmlns:a="http://schemas.openxmlformats.org/drawingml/2006/main">
            <a:off x="6019800" y="409575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0 – 20 VPU</a:t>
            </a:r>
          </a:p>
        </p:txBody>
      </p:sp>
      <p:sp>
        <p:nvSpPr>
          <p:cNvPr id="113" name="Rectangle 112">
            <a:extLst xmlns:a="http://schemas.openxmlformats.org/drawingml/2006/main">
              <a:ext uri="{FF2B5EF4-FFF2-40B4-BE49-F238E27FC236}">
                <a16:creationId xmlns:a16="http://schemas.microsoft.com/office/drawing/2014/main" id="{0CAAEB36-7261-489A-9F6F-60D6B38D11A2}"/>
              </a:ext>
            </a:extLst>
          </p:cNvPr>
          <p:cNvSpPr>
            <a:spLocks xmlns:a="http://schemas.openxmlformats.org/drawingml/2006/main" noGrp="1"/>
          </p:cNvSpPr>
          <p:nvPr/>
        </p:nvSpPr>
        <p:spPr>
          <a:xfrm xmlns:a="http://schemas.openxmlformats.org/drawingml/2006/main">
            <a:off x="7381875" y="4067175"/>
            <a:ext cx="123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10000"/>
              </a:lnSpc>
              <a:buNone/>
              <a:defRPr sz="788" b="1" i="0">
                <a:solidFill>
                  <a:srgbClr val="111111"/>
                </a:solidFill>
                <a:latin typeface="Arial"/>
                <a:ea typeface="Arial"/>
                <a:cs typeface="Arial"/>
              </a:defRPr>
            </a:pPr>
            <a:r>
              <a:rPr sz="788" b="1" i="0">
                <a:solidFill>
                  <a:srgbClr val="111111"/>
                </a:solidFill>
                <a:latin typeface="Arial"/>
                <a:ea typeface="Arial"/>
                <a:cs typeface="Arial"/>
              </a:rPr>
              <a:t>Balanced</a:t>
            </a:r>
          </a:p>
          <a:p xmlns:a="http://schemas.openxmlformats.org/drawingml/2006/main">
            <a:pPr algn="ctr">
              <a:lnSpc>
                <a:spcPct val="110000"/>
              </a:lnSpc>
              <a:buNone/>
              <a:defRPr sz="788" b="1" i="0">
                <a:solidFill>
                  <a:srgbClr val="111111"/>
                </a:solidFill>
                <a:latin typeface="Arial"/>
                <a:ea typeface="Arial"/>
                <a:cs typeface="Arial"/>
              </a:defRPr>
            </a:pPr>
            <a:r>
              <a:rPr sz="788" b="1" i="0">
                <a:solidFill>
                  <a:srgbClr val="111111"/>
                </a:solidFill>
                <a:latin typeface="Arial"/>
                <a:ea typeface="Arial"/>
                <a:cs typeface="Arial"/>
              </a:rPr>
              <a:t>(10K IOPS)</a:t>
            </a:r>
          </a:p>
        </p:txBody>
      </p:sp>
      <p:sp>
        <p:nvSpPr>
          <p:cNvPr id="114" name="Rectangle 113">
            <a:extLst xmlns:a="http://schemas.openxmlformats.org/drawingml/2006/main">
              <a:ext uri="{FF2B5EF4-FFF2-40B4-BE49-F238E27FC236}">
                <a16:creationId xmlns:a16="http://schemas.microsoft.com/office/drawing/2014/main" id="{FE7BBDCF-4EAB-4540-B52C-3F34D64208B0}"/>
              </a:ext>
            </a:extLst>
          </p:cNvPr>
          <p:cNvSpPr>
            <a:spLocks xmlns:a="http://schemas.openxmlformats.org/drawingml/2006/main" noGrp="1"/>
          </p:cNvSpPr>
          <p:nvPr/>
        </p:nvSpPr>
        <p:spPr>
          <a:xfrm xmlns:a="http://schemas.openxmlformats.org/drawingml/2006/main">
            <a:off x="8667750" y="41148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55" b="1" i="0">
                <a:solidFill>
                  <a:srgbClr val="111111"/>
                </a:solidFill>
                <a:latin typeface="Arial"/>
                <a:ea typeface="Arial"/>
                <a:cs typeface="Arial"/>
              </a:defRPr>
            </a:pPr>
            <a:r>
              <a:rPr sz="855" b="1" i="0">
                <a:solidFill>
                  <a:srgbClr val="111111"/>
                </a:solidFill>
                <a:latin typeface="Arial"/>
                <a:ea typeface="Arial"/>
                <a:cs typeface="Arial"/>
              </a:rPr>
              <a:t>10</a:t>
            </a:r>
          </a:p>
        </p:txBody>
      </p:sp>
      <p:sp>
        <p:nvSpPr>
          <p:cNvPr id="115" name="editable-native-vpu-vms-row-1">
            <a:extLst xmlns:a="http://schemas.openxmlformats.org/drawingml/2006/main">
              <a:ext uri="{FF2B5EF4-FFF2-40B4-BE49-F238E27FC236}">
                <a16:creationId xmlns:a16="http://schemas.microsoft.com/office/drawing/2014/main" id="{06B88A34-1D67-4E63-8FD0-9BD16F5F5025}"/>
              </a:ext>
            </a:extLst>
          </p:cNvPr>
          <p:cNvSpPr>
            <a:spLocks xmlns:a="http://schemas.openxmlformats.org/drawingml/2006/main" noGrp="1"/>
          </p:cNvSpPr>
          <p:nvPr/>
        </p:nvSpPr>
        <p:spPr>
          <a:xfrm xmlns:a="http://schemas.openxmlformats.org/drawingml/2006/main">
            <a:off x="9401175" y="4048125"/>
            <a:ext cx="523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48</a:t>
            </a:r>
          </a:p>
        </p:txBody>
      </p:sp>
      <p:sp>
        <p:nvSpPr>
          <p:cNvPr id="116" name="Rectangle 115">
            <a:extLst xmlns:a="http://schemas.openxmlformats.org/drawingml/2006/main">
              <a:ext uri="{FF2B5EF4-FFF2-40B4-BE49-F238E27FC236}">
                <a16:creationId xmlns:a16="http://schemas.microsoft.com/office/drawing/2014/main" id="{977E3018-B39D-40EA-B0BB-C297E3CC9E6D}"/>
              </a:ext>
            </a:extLst>
          </p:cNvPr>
          <p:cNvSpPr>
            <a:spLocks xmlns:a="http://schemas.openxmlformats.org/drawingml/2006/main" noGrp="1"/>
          </p:cNvSpPr>
          <p:nvPr/>
        </p:nvSpPr>
        <p:spPr>
          <a:xfrm xmlns:a="http://schemas.openxmlformats.org/drawingml/2006/main">
            <a:off x="9401175" y="4229100"/>
            <a:ext cx="52387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VMs</a:t>
            </a:r>
          </a:p>
        </p:txBody>
      </p:sp>
      <p:sp>
        <p:nvSpPr>
          <p:cNvPr id="117" name="editable-native-vpu-total-row-1">
            <a:extLst xmlns:a="http://schemas.openxmlformats.org/drawingml/2006/main">
              <a:ext uri="{FF2B5EF4-FFF2-40B4-BE49-F238E27FC236}">
                <a16:creationId xmlns:a16="http://schemas.microsoft.com/office/drawing/2014/main" id="{06B3C4DB-4209-4F5E-8B37-BA16F9CA1732}"/>
              </a:ext>
            </a:extLst>
          </p:cNvPr>
          <p:cNvSpPr>
            <a:spLocks xmlns:a="http://schemas.openxmlformats.org/drawingml/2006/main" noGrp="1"/>
          </p:cNvSpPr>
          <p:nvPr/>
        </p:nvSpPr>
        <p:spPr>
          <a:xfrm xmlns:a="http://schemas.openxmlformats.org/drawingml/2006/main">
            <a:off x="10125075" y="4048125"/>
            <a:ext cx="7334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320</a:t>
            </a:r>
          </a:p>
        </p:txBody>
      </p:sp>
      <p:sp>
        <p:nvSpPr>
          <p:cNvPr id="118" name="Rectangle 117">
            <a:extLst xmlns:a="http://schemas.openxmlformats.org/drawingml/2006/main">
              <a:ext uri="{FF2B5EF4-FFF2-40B4-BE49-F238E27FC236}">
                <a16:creationId xmlns:a16="http://schemas.microsoft.com/office/drawing/2014/main" id="{BE73068D-F332-41C8-A305-6B722E97D554}"/>
              </a:ext>
            </a:extLst>
          </p:cNvPr>
          <p:cNvSpPr>
            <a:spLocks xmlns:a="http://schemas.openxmlformats.org/drawingml/2006/main" noGrp="1"/>
          </p:cNvSpPr>
          <p:nvPr/>
        </p:nvSpPr>
        <p:spPr>
          <a:xfrm xmlns:a="http://schemas.openxmlformats.org/drawingml/2006/main">
            <a:off x="10287000" y="4229100"/>
            <a:ext cx="4286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VPU</a:t>
            </a:r>
          </a:p>
        </p:txBody>
      </p:sp>
      <p:sp>
        <p:nvSpPr>
          <p:cNvPr id="119" name="editable-native-vpu-storage-row-1">
            <a:extLst xmlns:a="http://schemas.openxmlformats.org/drawingml/2006/main">
              <a:ext uri="{FF2B5EF4-FFF2-40B4-BE49-F238E27FC236}">
                <a16:creationId xmlns:a16="http://schemas.microsoft.com/office/drawing/2014/main" id="{3E56873F-B4AD-44E2-81FA-61959D80E182}"/>
              </a:ext>
            </a:extLst>
          </p:cNvPr>
          <p:cNvSpPr>
            <a:spLocks xmlns:a="http://schemas.openxmlformats.org/drawingml/2006/main" noGrp="1"/>
          </p:cNvSpPr>
          <p:nvPr/>
        </p:nvSpPr>
        <p:spPr>
          <a:xfrm xmlns:a="http://schemas.openxmlformats.org/drawingml/2006/main">
            <a:off x="10953750" y="4048125"/>
            <a:ext cx="647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9.6 TB</a:t>
            </a:r>
          </a:p>
        </p:txBody>
      </p:sp>
      <p:sp>
        <p:nvSpPr>
          <p:cNvPr id="120" name="Straight Connector 119">
            <a:extLst xmlns:a="http://schemas.openxmlformats.org/drawingml/2006/main">
              <a:ext uri="{FF2B5EF4-FFF2-40B4-BE49-F238E27FC236}">
                <a16:creationId xmlns:a16="http://schemas.microsoft.com/office/drawing/2014/main" id="{377B5392-41B4-4BCB-81AB-FBE36B5271CF}"/>
              </a:ext>
            </a:extLst>
          </p:cNvPr>
          <p:cNvSpPr>
            <a:spLocks xmlns:a="http://schemas.openxmlformats.org/drawingml/2006/main" noGrp="1"/>
          </p:cNvSpPr>
          <p:nvPr/>
        </p:nvSpPr>
        <p:spPr>
          <a:xfrm xmlns:a="http://schemas.openxmlformats.org/drawingml/2006/main">
            <a:off x="5524500" y="4410075"/>
            <a:ext cx="5905500" cy="0"/>
          </a:xfrm>
          <a:prstGeom xmlns:a="http://schemas.openxmlformats.org/drawingml/2006/main" prst="line">
            <a:avLst/>
          </a:prstGeom>
          <a:noFill xmlns:a="http://schemas.openxmlformats.org/drawingml/2006/main"/>
          <a:ln xmlns:a="http://schemas.openxmlformats.org/drawingml/2006/main" w="9525">
            <a:solidFill>
              <a:srgbClr val="E6E9E7"/>
            </a:solidFill>
            <a:prstDash val="solid"/>
          </a:ln>
        </p:spPr>
        <p:txBody>
          <a:bodyPr xmlns:a="http://schemas.openxmlformats.org/drawingml/2006/main"/>
          <a:lstStyle xmlns:a="http://schemas.openxmlformats.org/drawingml/2006/main"/>
          <a:p xmlns:a="http://schemas.openxmlformats.org/drawingml/2006/main">
            <a:endParaRPr/>
          </a:p>
        </p:txBody>
      </p:sp>
      <p:pic>
        <p:nvPicPr>
          <p:cNvPr id="290" name="Picture 272"/>
          <p:cNvPicPr>
            <a:picLocks xmlns:a="http://schemas.openxmlformats.org/drawingml/2006/main" noChangeAspect="1"/>
          </p:cNvPicPr>
          <p:nvPr/>
        </p:nvPicPr>
        <p:blipFill>
          <a:blip xmlns:r="http://schemas.openxmlformats.org/officeDocument/2006/relationships" xmlns:a="http://schemas.openxmlformats.org/drawingml/2006/main" r:embed="Ra424730cc9d64165"/>
          <a:stretch xmlns:a="http://schemas.openxmlformats.org/drawingml/2006/main"/>
        </p:blipFill>
        <p:spPr>
          <a:xfrm xmlns:a="http://schemas.openxmlformats.org/drawingml/2006/main">
            <a:off x="5581650" y="4600575"/>
            <a:ext cx="352425" cy="352425"/>
          </a:xfrm>
          <a:prstGeom xmlns:a="http://schemas.openxmlformats.org/drawingml/2006/main" prst="rect">
            <a:avLst/>
          </a:prstGeom>
        </p:spPr>
      </p:pic>
      <p:sp>
        <p:nvSpPr>
          <p:cNvPr id="122" name="editable-native-vpu-label-row-2">
            <a:extLst xmlns:a="http://schemas.openxmlformats.org/drawingml/2006/main">
              <a:ext uri="{FF2B5EF4-FFF2-40B4-BE49-F238E27FC236}">
                <a16:creationId xmlns:a16="http://schemas.microsoft.com/office/drawing/2014/main" id="{49BA21F8-960A-406A-95EE-B80CD29099DE}"/>
              </a:ext>
            </a:extLst>
          </p:cNvPr>
          <p:cNvSpPr>
            <a:spLocks xmlns:a="http://schemas.openxmlformats.org/drawingml/2006/main" noGrp="1"/>
          </p:cNvSpPr>
          <p:nvPr/>
        </p:nvSpPr>
        <p:spPr>
          <a:xfrm xmlns:a="http://schemas.openxmlformats.org/drawingml/2006/main">
            <a:off x="6019800" y="4638675"/>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21 – 80 VPU</a:t>
            </a:r>
          </a:p>
        </p:txBody>
      </p:sp>
      <p:sp>
        <p:nvSpPr>
          <p:cNvPr id="123" name="Rectangle 122">
            <a:extLst xmlns:a="http://schemas.openxmlformats.org/drawingml/2006/main">
              <a:ext uri="{FF2B5EF4-FFF2-40B4-BE49-F238E27FC236}">
                <a16:creationId xmlns:a16="http://schemas.microsoft.com/office/drawing/2014/main" id="{DF3B4760-868A-419B-BA9C-8FC878623A4B}"/>
              </a:ext>
            </a:extLst>
          </p:cNvPr>
          <p:cNvSpPr>
            <a:spLocks xmlns:a="http://schemas.openxmlformats.org/drawingml/2006/main" noGrp="1"/>
          </p:cNvSpPr>
          <p:nvPr/>
        </p:nvSpPr>
        <p:spPr>
          <a:xfrm xmlns:a="http://schemas.openxmlformats.org/drawingml/2006/main">
            <a:off x="7381875" y="4610100"/>
            <a:ext cx="123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10000"/>
              </a:lnSpc>
              <a:buNone/>
              <a:defRPr sz="788" b="1" i="0">
                <a:solidFill>
                  <a:srgbClr val="111111"/>
                </a:solidFill>
                <a:latin typeface="Arial"/>
                <a:ea typeface="Arial"/>
                <a:cs typeface="Arial"/>
              </a:defRPr>
            </a:pPr>
            <a:r>
              <a:rPr sz="788" b="1" i="0">
                <a:solidFill>
                  <a:srgbClr val="111111"/>
                </a:solidFill>
                <a:latin typeface="Arial"/>
                <a:ea typeface="Arial"/>
                <a:cs typeface="Arial"/>
              </a:rPr>
              <a:t>Balanced</a:t>
            </a:r>
          </a:p>
          <a:p xmlns:a="http://schemas.openxmlformats.org/drawingml/2006/main">
            <a:pPr algn="ctr">
              <a:lnSpc>
                <a:spcPct val="110000"/>
              </a:lnSpc>
              <a:buNone/>
              <a:defRPr sz="788" b="1" i="0">
                <a:solidFill>
                  <a:srgbClr val="111111"/>
                </a:solidFill>
                <a:latin typeface="Arial"/>
                <a:ea typeface="Arial"/>
                <a:cs typeface="Arial"/>
              </a:defRPr>
            </a:pPr>
            <a:r>
              <a:rPr sz="788" b="1" i="0">
                <a:solidFill>
                  <a:srgbClr val="111111"/>
                </a:solidFill>
                <a:latin typeface="Arial"/>
                <a:ea typeface="Arial"/>
                <a:cs typeface="Arial"/>
              </a:rPr>
              <a:t>(20K IOPS)</a:t>
            </a:r>
          </a:p>
        </p:txBody>
      </p:sp>
      <p:sp>
        <p:nvSpPr>
          <p:cNvPr id="124" name="Rectangle 123">
            <a:extLst xmlns:a="http://schemas.openxmlformats.org/drawingml/2006/main">
              <a:ext uri="{FF2B5EF4-FFF2-40B4-BE49-F238E27FC236}">
                <a16:creationId xmlns:a16="http://schemas.microsoft.com/office/drawing/2014/main" id="{3A642C46-0FAA-49A6-AF1A-E7DA0DA79D03}"/>
              </a:ext>
            </a:extLst>
          </p:cNvPr>
          <p:cNvSpPr>
            <a:spLocks xmlns:a="http://schemas.openxmlformats.org/drawingml/2006/main" noGrp="1"/>
          </p:cNvSpPr>
          <p:nvPr/>
        </p:nvSpPr>
        <p:spPr>
          <a:xfrm xmlns:a="http://schemas.openxmlformats.org/drawingml/2006/main">
            <a:off x="8667750" y="465772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55" b="1" i="0">
                <a:solidFill>
                  <a:srgbClr val="111111"/>
                </a:solidFill>
                <a:latin typeface="Arial"/>
                <a:ea typeface="Arial"/>
                <a:cs typeface="Arial"/>
              </a:defRPr>
            </a:pPr>
            <a:r>
              <a:rPr sz="855" b="1" i="0">
                <a:solidFill>
                  <a:srgbClr val="111111"/>
                </a:solidFill>
                <a:latin typeface="Arial"/>
                <a:ea typeface="Arial"/>
                <a:cs typeface="Arial"/>
              </a:rPr>
              <a:t>40</a:t>
            </a:r>
          </a:p>
        </p:txBody>
      </p:sp>
      <p:sp>
        <p:nvSpPr>
          <p:cNvPr id="125" name="editable-native-vpu-vms-row-2">
            <a:extLst xmlns:a="http://schemas.openxmlformats.org/drawingml/2006/main">
              <a:ext uri="{FF2B5EF4-FFF2-40B4-BE49-F238E27FC236}">
                <a16:creationId xmlns:a16="http://schemas.microsoft.com/office/drawing/2014/main" id="{DD7DD402-3418-4498-9F15-ADD839DDDCEA}"/>
              </a:ext>
            </a:extLst>
          </p:cNvPr>
          <p:cNvSpPr>
            <a:spLocks xmlns:a="http://schemas.openxmlformats.org/drawingml/2006/main" noGrp="1"/>
          </p:cNvSpPr>
          <p:nvPr/>
        </p:nvSpPr>
        <p:spPr>
          <a:xfrm xmlns:a="http://schemas.openxmlformats.org/drawingml/2006/main">
            <a:off x="9401175" y="4591050"/>
            <a:ext cx="523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44</a:t>
            </a:r>
          </a:p>
        </p:txBody>
      </p:sp>
      <p:sp>
        <p:nvSpPr>
          <p:cNvPr id="126" name="Rectangle 125">
            <a:extLst xmlns:a="http://schemas.openxmlformats.org/drawingml/2006/main">
              <a:ext uri="{FF2B5EF4-FFF2-40B4-BE49-F238E27FC236}">
                <a16:creationId xmlns:a16="http://schemas.microsoft.com/office/drawing/2014/main" id="{264B7D4F-3B4C-4260-AD9D-040FB36DDFA9}"/>
              </a:ext>
            </a:extLst>
          </p:cNvPr>
          <p:cNvSpPr>
            <a:spLocks xmlns:a="http://schemas.openxmlformats.org/drawingml/2006/main" noGrp="1"/>
          </p:cNvSpPr>
          <p:nvPr/>
        </p:nvSpPr>
        <p:spPr>
          <a:xfrm xmlns:a="http://schemas.openxmlformats.org/drawingml/2006/main">
            <a:off x="9401175" y="4772025"/>
            <a:ext cx="52387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VMs</a:t>
            </a:r>
          </a:p>
        </p:txBody>
      </p:sp>
      <p:sp>
        <p:nvSpPr>
          <p:cNvPr id="127" name="editable-native-vpu-total-row-2">
            <a:extLst xmlns:a="http://schemas.openxmlformats.org/drawingml/2006/main">
              <a:ext uri="{FF2B5EF4-FFF2-40B4-BE49-F238E27FC236}">
                <a16:creationId xmlns:a16="http://schemas.microsoft.com/office/drawing/2014/main" id="{83019A5C-3B4C-4305-8F10-E4477B55E6EE}"/>
              </a:ext>
            </a:extLst>
          </p:cNvPr>
          <p:cNvSpPr>
            <a:spLocks xmlns:a="http://schemas.openxmlformats.org/drawingml/2006/main" noGrp="1"/>
          </p:cNvSpPr>
          <p:nvPr/>
        </p:nvSpPr>
        <p:spPr>
          <a:xfrm xmlns:a="http://schemas.openxmlformats.org/drawingml/2006/main">
            <a:off x="10125075" y="4591050"/>
            <a:ext cx="7334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1,760</a:t>
            </a:r>
          </a:p>
        </p:txBody>
      </p:sp>
      <p:sp>
        <p:nvSpPr>
          <p:cNvPr id="128" name="Rectangle 127">
            <a:extLst xmlns:a="http://schemas.openxmlformats.org/drawingml/2006/main">
              <a:ext uri="{FF2B5EF4-FFF2-40B4-BE49-F238E27FC236}">
                <a16:creationId xmlns:a16="http://schemas.microsoft.com/office/drawing/2014/main" id="{6FB17C8C-05DC-489B-A841-36C98CCC739D}"/>
              </a:ext>
            </a:extLst>
          </p:cNvPr>
          <p:cNvSpPr>
            <a:spLocks xmlns:a="http://schemas.openxmlformats.org/drawingml/2006/main" noGrp="1"/>
          </p:cNvSpPr>
          <p:nvPr/>
        </p:nvSpPr>
        <p:spPr>
          <a:xfrm xmlns:a="http://schemas.openxmlformats.org/drawingml/2006/main">
            <a:off x="10287000" y="4772025"/>
            <a:ext cx="4286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VPU</a:t>
            </a:r>
          </a:p>
        </p:txBody>
      </p:sp>
      <p:sp>
        <p:nvSpPr>
          <p:cNvPr id="129" name="editable-native-vpu-storage-row-2">
            <a:extLst xmlns:a="http://schemas.openxmlformats.org/drawingml/2006/main">
              <a:ext uri="{FF2B5EF4-FFF2-40B4-BE49-F238E27FC236}">
                <a16:creationId xmlns:a16="http://schemas.microsoft.com/office/drawing/2014/main" id="{7E1538A6-5117-4B36-B44D-D22933F18DD6}"/>
              </a:ext>
            </a:extLst>
          </p:cNvPr>
          <p:cNvSpPr>
            <a:spLocks xmlns:a="http://schemas.openxmlformats.org/drawingml/2006/main" noGrp="1"/>
          </p:cNvSpPr>
          <p:nvPr/>
        </p:nvSpPr>
        <p:spPr>
          <a:xfrm xmlns:a="http://schemas.openxmlformats.org/drawingml/2006/main">
            <a:off x="10953750" y="4591050"/>
            <a:ext cx="647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17.8 TB</a:t>
            </a:r>
          </a:p>
        </p:txBody>
      </p:sp>
      <p:sp>
        <p:nvSpPr>
          <p:cNvPr id="130" name="Straight Connector 129">
            <a:extLst xmlns:a="http://schemas.openxmlformats.org/drawingml/2006/main">
              <a:ext uri="{FF2B5EF4-FFF2-40B4-BE49-F238E27FC236}">
                <a16:creationId xmlns:a16="http://schemas.microsoft.com/office/drawing/2014/main" id="{A9DBBE7A-8853-4F8C-B0F0-E1726400F3A1}"/>
              </a:ext>
            </a:extLst>
          </p:cNvPr>
          <p:cNvSpPr>
            <a:spLocks xmlns:a="http://schemas.openxmlformats.org/drawingml/2006/main" noGrp="1"/>
          </p:cNvSpPr>
          <p:nvPr/>
        </p:nvSpPr>
        <p:spPr>
          <a:xfrm xmlns:a="http://schemas.openxmlformats.org/drawingml/2006/main">
            <a:off x="5524500" y="4953000"/>
            <a:ext cx="5905500" cy="0"/>
          </a:xfrm>
          <a:prstGeom xmlns:a="http://schemas.openxmlformats.org/drawingml/2006/main" prst="line">
            <a:avLst/>
          </a:prstGeom>
          <a:noFill xmlns:a="http://schemas.openxmlformats.org/drawingml/2006/main"/>
          <a:ln xmlns:a="http://schemas.openxmlformats.org/drawingml/2006/main" w="9525">
            <a:solidFill>
              <a:srgbClr val="E6E9E7"/>
            </a:solidFill>
            <a:prstDash val="solid"/>
          </a:ln>
        </p:spPr>
        <p:txBody>
          <a:bodyPr xmlns:a="http://schemas.openxmlformats.org/drawingml/2006/main"/>
          <a:lstStyle xmlns:a="http://schemas.openxmlformats.org/drawingml/2006/main"/>
          <a:p xmlns:a="http://schemas.openxmlformats.org/drawingml/2006/main">
            <a:endParaRPr/>
          </a:p>
        </p:txBody>
      </p:sp>
      <p:pic>
        <p:nvPicPr>
          <p:cNvPr id="300" name="Picture 282"/>
          <p:cNvPicPr>
            <a:picLocks xmlns:a="http://schemas.openxmlformats.org/drawingml/2006/main" noChangeAspect="1"/>
          </p:cNvPicPr>
          <p:nvPr/>
        </p:nvPicPr>
        <p:blipFill>
          <a:blip xmlns:r="http://schemas.openxmlformats.org/officeDocument/2006/relationships" xmlns:a="http://schemas.openxmlformats.org/drawingml/2006/main" r:embed="Rf411810eb6444dea"/>
          <a:stretch xmlns:a="http://schemas.openxmlformats.org/drawingml/2006/main"/>
        </p:blipFill>
        <p:spPr>
          <a:xfrm xmlns:a="http://schemas.openxmlformats.org/drawingml/2006/main">
            <a:off x="5581650" y="5114925"/>
            <a:ext cx="352425" cy="352425"/>
          </a:xfrm>
          <a:prstGeom xmlns:a="http://schemas.openxmlformats.org/drawingml/2006/main" prst="rect">
            <a:avLst/>
          </a:prstGeom>
        </p:spPr>
      </p:pic>
      <p:sp>
        <p:nvSpPr>
          <p:cNvPr id="132" name="editable-native-vpu-label-row-3">
            <a:extLst xmlns:a="http://schemas.openxmlformats.org/drawingml/2006/main">
              <a:ext uri="{FF2B5EF4-FFF2-40B4-BE49-F238E27FC236}">
                <a16:creationId xmlns:a16="http://schemas.microsoft.com/office/drawing/2014/main" id="{54FC1FD1-5B86-4124-8CF6-E329BD7B7322}"/>
              </a:ext>
            </a:extLst>
          </p:cNvPr>
          <p:cNvSpPr>
            <a:spLocks xmlns:a="http://schemas.openxmlformats.org/drawingml/2006/main" noGrp="1"/>
          </p:cNvSpPr>
          <p:nvPr/>
        </p:nvSpPr>
        <p:spPr>
          <a:xfrm xmlns:a="http://schemas.openxmlformats.org/drawingml/2006/main">
            <a:off x="6019800" y="5153025"/>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81 – 1200 VPU</a:t>
            </a:r>
          </a:p>
        </p:txBody>
      </p:sp>
      <p:sp>
        <p:nvSpPr>
          <p:cNvPr id="133" name="Rectangle 132">
            <a:extLst xmlns:a="http://schemas.openxmlformats.org/drawingml/2006/main">
              <a:ext uri="{FF2B5EF4-FFF2-40B4-BE49-F238E27FC236}">
                <a16:creationId xmlns:a16="http://schemas.microsoft.com/office/drawing/2014/main" id="{09C7A465-73C0-4EC8-BB34-C47A64C8DB3D}"/>
              </a:ext>
            </a:extLst>
          </p:cNvPr>
          <p:cNvSpPr>
            <a:spLocks xmlns:a="http://schemas.openxmlformats.org/drawingml/2006/main" noGrp="1"/>
          </p:cNvSpPr>
          <p:nvPr/>
        </p:nvSpPr>
        <p:spPr>
          <a:xfrm xmlns:a="http://schemas.openxmlformats.org/drawingml/2006/main">
            <a:off x="7381875" y="5124450"/>
            <a:ext cx="123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10000"/>
              </a:lnSpc>
              <a:buNone/>
              <a:defRPr sz="788" b="1" i="0">
                <a:solidFill>
                  <a:srgbClr val="111111"/>
                </a:solidFill>
                <a:latin typeface="Arial"/>
                <a:ea typeface="Arial"/>
                <a:cs typeface="Arial"/>
              </a:defRPr>
            </a:pPr>
            <a:r>
              <a:rPr sz="788" b="1" i="0">
                <a:solidFill>
                  <a:srgbClr val="111111"/>
                </a:solidFill>
                <a:latin typeface="Arial"/>
                <a:ea typeface="Arial"/>
                <a:cs typeface="Arial"/>
              </a:rPr>
              <a:t>High Performance</a:t>
            </a:r>
          </a:p>
          <a:p xmlns:a="http://schemas.openxmlformats.org/drawingml/2006/main">
            <a:pPr algn="ctr">
              <a:lnSpc>
                <a:spcPct val="110000"/>
              </a:lnSpc>
              <a:buNone/>
              <a:defRPr sz="788" b="1" i="0">
                <a:solidFill>
                  <a:srgbClr val="111111"/>
                </a:solidFill>
                <a:latin typeface="Arial"/>
                <a:ea typeface="Arial"/>
                <a:cs typeface="Arial"/>
              </a:defRPr>
            </a:pPr>
            <a:r>
              <a:rPr sz="788" b="1" i="0">
                <a:solidFill>
                  <a:srgbClr val="111111"/>
                </a:solidFill>
                <a:latin typeface="Arial"/>
                <a:ea typeface="Arial"/>
                <a:cs typeface="Arial"/>
              </a:rPr>
              <a:t>(60K IOPS)</a:t>
            </a:r>
          </a:p>
        </p:txBody>
      </p:sp>
      <p:sp>
        <p:nvSpPr>
          <p:cNvPr id="134" name="Rectangle 133">
            <a:extLst xmlns:a="http://schemas.openxmlformats.org/drawingml/2006/main">
              <a:ext uri="{FF2B5EF4-FFF2-40B4-BE49-F238E27FC236}">
                <a16:creationId xmlns:a16="http://schemas.microsoft.com/office/drawing/2014/main" id="{13B0E788-939A-4812-8809-0B966E18F09F}"/>
              </a:ext>
            </a:extLst>
          </p:cNvPr>
          <p:cNvSpPr>
            <a:spLocks xmlns:a="http://schemas.openxmlformats.org/drawingml/2006/main" noGrp="1"/>
          </p:cNvSpPr>
          <p:nvPr/>
        </p:nvSpPr>
        <p:spPr>
          <a:xfrm xmlns:a="http://schemas.openxmlformats.org/drawingml/2006/main">
            <a:off x="8667750" y="517207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55" b="1" i="0">
                <a:solidFill>
                  <a:srgbClr val="111111"/>
                </a:solidFill>
                <a:latin typeface="Arial"/>
                <a:ea typeface="Arial"/>
                <a:cs typeface="Arial"/>
              </a:defRPr>
            </a:pPr>
            <a:r>
              <a:rPr sz="855" b="1" i="0">
                <a:solidFill>
                  <a:srgbClr val="111111"/>
                </a:solidFill>
                <a:latin typeface="Arial"/>
                <a:ea typeface="Arial"/>
                <a:cs typeface="Arial"/>
              </a:rPr>
              <a:t>100</a:t>
            </a:r>
          </a:p>
        </p:txBody>
      </p:sp>
      <p:sp>
        <p:nvSpPr>
          <p:cNvPr id="135" name="editable-native-vpu-vms-row-3">
            <a:extLst xmlns:a="http://schemas.openxmlformats.org/drawingml/2006/main">
              <a:ext uri="{FF2B5EF4-FFF2-40B4-BE49-F238E27FC236}">
                <a16:creationId xmlns:a16="http://schemas.microsoft.com/office/drawing/2014/main" id="{8361790C-EAFA-492D-8DB6-E33A450894AE}"/>
              </a:ext>
            </a:extLst>
          </p:cNvPr>
          <p:cNvSpPr>
            <a:spLocks xmlns:a="http://schemas.openxmlformats.org/drawingml/2006/main" noGrp="1"/>
          </p:cNvSpPr>
          <p:nvPr/>
        </p:nvSpPr>
        <p:spPr>
          <a:xfrm xmlns:a="http://schemas.openxmlformats.org/drawingml/2006/main">
            <a:off x="9401175" y="5105400"/>
            <a:ext cx="523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18</a:t>
            </a:r>
          </a:p>
        </p:txBody>
      </p:sp>
      <p:sp>
        <p:nvSpPr>
          <p:cNvPr id="136" name="Rectangle 135">
            <a:extLst xmlns:a="http://schemas.openxmlformats.org/drawingml/2006/main">
              <a:ext uri="{FF2B5EF4-FFF2-40B4-BE49-F238E27FC236}">
                <a16:creationId xmlns:a16="http://schemas.microsoft.com/office/drawing/2014/main" id="{AFD42BBD-D03F-4F9E-AB49-1FB7750FDB8E}"/>
              </a:ext>
            </a:extLst>
          </p:cNvPr>
          <p:cNvSpPr>
            <a:spLocks xmlns:a="http://schemas.openxmlformats.org/drawingml/2006/main" noGrp="1"/>
          </p:cNvSpPr>
          <p:nvPr/>
        </p:nvSpPr>
        <p:spPr>
          <a:xfrm xmlns:a="http://schemas.openxmlformats.org/drawingml/2006/main">
            <a:off x="9401175" y="5286375"/>
            <a:ext cx="52387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VMs</a:t>
            </a:r>
          </a:p>
        </p:txBody>
      </p:sp>
      <p:sp>
        <p:nvSpPr>
          <p:cNvPr id="137" name="editable-native-vpu-total-row-3">
            <a:extLst xmlns:a="http://schemas.openxmlformats.org/drawingml/2006/main">
              <a:ext uri="{FF2B5EF4-FFF2-40B4-BE49-F238E27FC236}">
                <a16:creationId xmlns:a16="http://schemas.microsoft.com/office/drawing/2014/main" id="{12B70780-92E4-4567-A60E-2E7A8F41D4C1}"/>
              </a:ext>
            </a:extLst>
          </p:cNvPr>
          <p:cNvSpPr>
            <a:spLocks xmlns:a="http://schemas.openxmlformats.org/drawingml/2006/main" noGrp="1"/>
          </p:cNvSpPr>
          <p:nvPr/>
        </p:nvSpPr>
        <p:spPr>
          <a:xfrm xmlns:a="http://schemas.openxmlformats.org/drawingml/2006/main">
            <a:off x="10125075" y="5105400"/>
            <a:ext cx="7334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1,720</a:t>
            </a:r>
          </a:p>
        </p:txBody>
      </p:sp>
      <p:sp>
        <p:nvSpPr>
          <p:cNvPr id="138" name="Rectangle 137">
            <a:extLst xmlns:a="http://schemas.openxmlformats.org/drawingml/2006/main">
              <a:ext uri="{FF2B5EF4-FFF2-40B4-BE49-F238E27FC236}">
                <a16:creationId xmlns:a16="http://schemas.microsoft.com/office/drawing/2014/main" id="{D184A9C0-0430-4323-9031-341113403D2A}"/>
              </a:ext>
            </a:extLst>
          </p:cNvPr>
          <p:cNvSpPr>
            <a:spLocks xmlns:a="http://schemas.openxmlformats.org/drawingml/2006/main" noGrp="1"/>
          </p:cNvSpPr>
          <p:nvPr/>
        </p:nvSpPr>
        <p:spPr>
          <a:xfrm xmlns:a="http://schemas.openxmlformats.org/drawingml/2006/main">
            <a:off x="10287000" y="5286375"/>
            <a:ext cx="4286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VPU</a:t>
            </a:r>
          </a:p>
        </p:txBody>
      </p:sp>
      <p:sp>
        <p:nvSpPr>
          <p:cNvPr id="139" name="editable-native-vpu-storage-row-3">
            <a:extLst xmlns:a="http://schemas.openxmlformats.org/drawingml/2006/main">
              <a:ext uri="{FF2B5EF4-FFF2-40B4-BE49-F238E27FC236}">
                <a16:creationId xmlns:a16="http://schemas.microsoft.com/office/drawing/2014/main" id="{E7722D75-4A48-4FD3-9443-F24FB8C3E035}"/>
              </a:ext>
            </a:extLst>
          </p:cNvPr>
          <p:cNvSpPr>
            <a:spLocks xmlns:a="http://schemas.openxmlformats.org/drawingml/2006/main" noGrp="1"/>
          </p:cNvSpPr>
          <p:nvPr/>
        </p:nvSpPr>
        <p:spPr>
          <a:xfrm xmlns:a="http://schemas.openxmlformats.org/drawingml/2006/main">
            <a:off x="10953750" y="5105400"/>
            <a:ext cx="647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7.6 TB</a:t>
            </a:r>
          </a:p>
        </p:txBody>
      </p:sp>
      <p:sp>
        <p:nvSpPr>
          <p:cNvPr id="140" name="Straight Connector 139">
            <a:extLst xmlns:a="http://schemas.openxmlformats.org/drawingml/2006/main">
              <a:ext uri="{FF2B5EF4-FFF2-40B4-BE49-F238E27FC236}">
                <a16:creationId xmlns:a16="http://schemas.microsoft.com/office/drawing/2014/main" id="{9CBF0F34-6462-40CE-B26E-C9E4D4EDD49B}"/>
              </a:ext>
            </a:extLst>
          </p:cNvPr>
          <p:cNvSpPr>
            <a:spLocks xmlns:a="http://schemas.openxmlformats.org/drawingml/2006/main" noGrp="1"/>
          </p:cNvSpPr>
          <p:nvPr/>
        </p:nvSpPr>
        <p:spPr>
          <a:xfrm xmlns:a="http://schemas.openxmlformats.org/drawingml/2006/main">
            <a:off x="5524500" y="5467350"/>
            <a:ext cx="5905500" cy="0"/>
          </a:xfrm>
          <a:prstGeom xmlns:a="http://schemas.openxmlformats.org/drawingml/2006/main" prst="line">
            <a:avLst/>
          </a:prstGeom>
          <a:noFill xmlns:a="http://schemas.openxmlformats.org/drawingml/2006/main"/>
          <a:ln xmlns:a="http://schemas.openxmlformats.org/drawingml/2006/main" w="9525">
            <a:solidFill>
              <a:srgbClr val="E6E9E7"/>
            </a:solidFill>
            <a:prstDash val="solid"/>
          </a:ln>
        </p:spPr>
        <p:txBody>
          <a:bodyPr xmlns:a="http://schemas.openxmlformats.org/drawingml/2006/main"/>
          <a:lstStyle xmlns:a="http://schemas.openxmlformats.org/drawingml/2006/main"/>
          <a:p xmlns:a="http://schemas.openxmlformats.org/drawingml/2006/main">
            <a:endParaRPr/>
          </a:p>
        </p:txBody>
      </p:sp>
      <p:sp>
        <p:nvSpPr>
          <p:cNvPr id="141" name="Rectangle 140">
            <a:extLst xmlns:a="http://schemas.openxmlformats.org/drawingml/2006/main">
              <a:ext uri="{FF2B5EF4-FFF2-40B4-BE49-F238E27FC236}">
                <a16:creationId xmlns:a16="http://schemas.microsoft.com/office/drawing/2014/main" id="{8D6F74AF-F67E-42E3-8BC7-C586E27F2B25}"/>
              </a:ext>
            </a:extLst>
          </p:cNvPr>
          <p:cNvSpPr>
            <a:spLocks xmlns:a="http://schemas.openxmlformats.org/drawingml/2006/main" noGrp="1"/>
          </p:cNvSpPr>
          <p:nvPr/>
        </p:nvSpPr>
        <p:spPr>
          <a:xfrm xmlns:a="http://schemas.openxmlformats.org/drawingml/2006/main">
            <a:off x="5524500" y="5486400"/>
            <a:ext cx="5905500" cy="476250"/>
          </a:xfrm>
          <a:prstGeom xmlns:a="http://schemas.openxmlformats.org/drawingml/2006/main" prst="rect">
            <a:avLst/>
          </a:prstGeom>
          <a:solidFill xmlns:a="http://schemas.openxmlformats.org/drawingml/2006/main">
            <a:srgbClr val="FEF1E9"/>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42" name="Rectangle 141">
            <a:extLst xmlns:a="http://schemas.openxmlformats.org/drawingml/2006/main">
              <a:ext uri="{FF2B5EF4-FFF2-40B4-BE49-F238E27FC236}">
                <a16:creationId xmlns:a16="http://schemas.microsoft.com/office/drawing/2014/main" id="{1AF52623-19CE-444E-BD92-12CBF9410090}"/>
              </a:ext>
            </a:extLst>
          </p:cNvPr>
          <p:cNvSpPr>
            <a:spLocks xmlns:a="http://schemas.openxmlformats.org/drawingml/2006/main" noGrp="1"/>
          </p:cNvSpPr>
          <p:nvPr/>
        </p:nvSpPr>
        <p:spPr>
          <a:xfrm xmlns:a="http://schemas.openxmlformats.org/drawingml/2006/main">
            <a:off x="5591175" y="5610225"/>
            <a:ext cx="5524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840" b="1" i="0">
                <a:solidFill>
                  <a:srgbClr val="E43D00"/>
                </a:solidFill>
                <a:latin typeface="Arial"/>
                <a:ea typeface="Arial"/>
                <a:cs typeface="Arial"/>
              </a:defRPr>
            </a:pPr>
            <a:r>
              <a:rPr sz="840" b="1" i="0">
                <a:solidFill>
                  <a:srgbClr val="E43D00"/>
                </a:solidFill>
                <a:latin typeface="Arial"/>
                <a:ea typeface="Arial"/>
                <a:cs typeface="Arial"/>
              </a:rPr>
              <a:t>TOTAL</a:t>
            </a:r>
          </a:p>
        </p:txBody>
      </p:sp>
      <p:sp>
        <p:nvSpPr>
          <p:cNvPr id="143" name="editable-native-storage-vm-count">
            <a:extLst xmlns:a="http://schemas.openxmlformats.org/drawingml/2006/main">
              <a:ext uri="{FF2B5EF4-FFF2-40B4-BE49-F238E27FC236}">
                <a16:creationId xmlns:a16="http://schemas.microsoft.com/office/drawing/2014/main" id="{C22E556B-0115-4786-8B15-10CAD3F38817}"/>
              </a:ext>
            </a:extLst>
          </p:cNvPr>
          <p:cNvSpPr>
            <a:spLocks xmlns:a="http://schemas.openxmlformats.org/drawingml/2006/main" noGrp="1"/>
          </p:cNvSpPr>
          <p:nvPr/>
        </p:nvSpPr>
        <p:spPr>
          <a:xfrm xmlns:a="http://schemas.openxmlformats.org/drawingml/2006/main">
            <a:off x="9401175" y="5572125"/>
            <a:ext cx="523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40" b="1" i="0">
                <a:solidFill>
                  <a:srgbClr val="E43D00"/>
                </a:solidFill>
                <a:latin typeface="Arial"/>
                <a:ea typeface="Arial"/>
                <a:cs typeface="Arial"/>
              </a:defRPr>
            </a:pPr>
            <a:r>
              <a:rPr sz="840" b="1" i="0">
                <a:solidFill>
                  <a:srgbClr val="E43D00"/>
                </a:solidFill>
                <a:latin typeface="Arial"/>
                <a:ea typeface="Arial"/>
                <a:cs typeface="Arial"/>
              </a:rPr>
              <a:t>110</a:t>
            </a:r>
          </a:p>
        </p:txBody>
      </p:sp>
      <p:sp>
        <p:nvSpPr>
          <p:cNvPr id="144" name="Rectangle 143">
            <a:extLst xmlns:a="http://schemas.openxmlformats.org/drawingml/2006/main">
              <a:ext uri="{FF2B5EF4-FFF2-40B4-BE49-F238E27FC236}">
                <a16:creationId xmlns:a16="http://schemas.microsoft.com/office/drawing/2014/main" id="{1902B1ED-A6FE-4F60-BC01-E5AD15B54DE1}"/>
              </a:ext>
            </a:extLst>
          </p:cNvPr>
          <p:cNvSpPr>
            <a:spLocks xmlns:a="http://schemas.openxmlformats.org/drawingml/2006/main" noGrp="1"/>
          </p:cNvSpPr>
          <p:nvPr/>
        </p:nvSpPr>
        <p:spPr>
          <a:xfrm xmlns:a="http://schemas.openxmlformats.org/drawingml/2006/main">
            <a:off x="9401175" y="5753100"/>
            <a:ext cx="52387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VMs</a:t>
            </a:r>
          </a:p>
        </p:txBody>
      </p:sp>
      <p:sp>
        <p:nvSpPr>
          <p:cNvPr id="145" name="editable-native-total-vpus">
            <a:extLst xmlns:a="http://schemas.openxmlformats.org/drawingml/2006/main">
              <a:ext uri="{FF2B5EF4-FFF2-40B4-BE49-F238E27FC236}">
                <a16:creationId xmlns:a16="http://schemas.microsoft.com/office/drawing/2014/main" id="{95B5EAD6-D0A6-4CC4-9FBA-ED35B44232F7}"/>
              </a:ext>
            </a:extLst>
          </p:cNvPr>
          <p:cNvSpPr>
            <a:spLocks xmlns:a="http://schemas.openxmlformats.org/drawingml/2006/main" noGrp="1"/>
          </p:cNvSpPr>
          <p:nvPr/>
        </p:nvSpPr>
        <p:spPr>
          <a:xfrm xmlns:a="http://schemas.openxmlformats.org/drawingml/2006/main">
            <a:off x="10125075" y="5572125"/>
            <a:ext cx="7334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40" b="1" i="0">
                <a:solidFill>
                  <a:srgbClr val="E43D00"/>
                </a:solidFill>
                <a:latin typeface="Arial"/>
                <a:ea typeface="Arial"/>
                <a:cs typeface="Arial"/>
              </a:defRPr>
            </a:pPr>
            <a:r>
              <a:rPr sz="840" b="1" i="0">
                <a:solidFill>
                  <a:srgbClr val="E43D00"/>
                </a:solidFill>
                <a:latin typeface="Arial"/>
                <a:ea typeface="Arial"/>
                <a:cs typeface="Arial"/>
              </a:rPr>
              <a:t>3,800</a:t>
            </a:r>
          </a:p>
        </p:txBody>
      </p:sp>
      <p:sp>
        <p:nvSpPr>
          <p:cNvPr id="146" name="Rectangle 145">
            <a:extLst xmlns:a="http://schemas.openxmlformats.org/drawingml/2006/main">
              <a:ext uri="{FF2B5EF4-FFF2-40B4-BE49-F238E27FC236}">
                <a16:creationId xmlns:a16="http://schemas.microsoft.com/office/drawing/2014/main" id="{FA239A5B-0F6A-4343-9B70-8575AD6729B3}"/>
              </a:ext>
            </a:extLst>
          </p:cNvPr>
          <p:cNvSpPr>
            <a:spLocks xmlns:a="http://schemas.openxmlformats.org/drawingml/2006/main" noGrp="1"/>
          </p:cNvSpPr>
          <p:nvPr/>
        </p:nvSpPr>
        <p:spPr>
          <a:xfrm xmlns:a="http://schemas.openxmlformats.org/drawingml/2006/main">
            <a:off x="10287000" y="5753100"/>
            <a:ext cx="4286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VPU</a:t>
            </a:r>
          </a:p>
        </p:txBody>
      </p:sp>
      <p:sp>
        <p:nvSpPr>
          <p:cNvPr id="147" name="editable-native-total-storage">
            <a:extLst xmlns:a="http://schemas.openxmlformats.org/drawingml/2006/main">
              <a:ext uri="{FF2B5EF4-FFF2-40B4-BE49-F238E27FC236}">
                <a16:creationId xmlns:a16="http://schemas.microsoft.com/office/drawing/2014/main" id="{4D7F5A8C-CBFB-4B49-9A64-94D371C1198A}"/>
              </a:ext>
            </a:extLst>
          </p:cNvPr>
          <p:cNvSpPr>
            <a:spLocks xmlns:a="http://schemas.openxmlformats.org/drawingml/2006/main" noGrp="1"/>
          </p:cNvSpPr>
          <p:nvPr/>
        </p:nvSpPr>
        <p:spPr>
          <a:xfrm xmlns:a="http://schemas.openxmlformats.org/drawingml/2006/main">
            <a:off x="10953750" y="5572125"/>
            <a:ext cx="647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40" b="1" i="0">
                <a:solidFill>
                  <a:srgbClr val="E43D00"/>
                </a:solidFill>
                <a:latin typeface="Arial"/>
                <a:ea typeface="Arial"/>
                <a:cs typeface="Arial"/>
              </a:defRPr>
            </a:pPr>
            <a:r>
              <a:rPr sz="840" b="1" i="0">
                <a:solidFill>
                  <a:srgbClr val="E43D00"/>
                </a:solidFill>
                <a:latin typeface="Arial"/>
                <a:ea typeface="Arial"/>
                <a:cs typeface="Arial"/>
              </a:rPr>
              <a:t>35 TB</a:t>
            </a:r>
          </a:p>
        </p:txBody>
      </p:sp>
      <p:pic>
        <p:nvPicPr>
          <p:cNvPr id="317" name="Picture 299"/>
          <p:cNvPicPr>
            <a:picLocks xmlns:a="http://schemas.openxmlformats.org/drawingml/2006/main" noChangeAspect="1"/>
          </p:cNvPicPr>
          <p:nvPr/>
        </p:nvPicPr>
        <p:blipFill>
          <a:blip xmlns:r="http://schemas.openxmlformats.org/officeDocument/2006/relationships" xmlns:a="http://schemas.openxmlformats.org/drawingml/2006/main" r:embed="R5160ff3335eb4b2d"/>
          <a:stretch xmlns:a="http://schemas.openxmlformats.org/drawingml/2006/main"/>
        </p:blipFill>
        <p:spPr>
          <a:xfrm xmlns:a="http://schemas.openxmlformats.org/drawingml/2006/main">
            <a:off x="5548313" y="6029325"/>
            <a:ext cx="161925" cy="171450"/>
          </a:xfrm>
          <a:prstGeom xmlns:a="http://schemas.openxmlformats.org/drawingml/2006/main" prst="rect">
            <a:avLst/>
          </a:prstGeom>
        </p:spPr>
      </p:pic>
      <p:sp>
        <p:nvSpPr>
          <p:cNvPr id="149" name="Rectangle 148">
            <a:extLst xmlns:a="http://schemas.openxmlformats.org/drawingml/2006/main">
              <a:ext uri="{FF2B5EF4-FFF2-40B4-BE49-F238E27FC236}">
                <a16:creationId xmlns:a16="http://schemas.microsoft.com/office/drawing/2014/main" id="{193EDF39-22F4-4FB8-846D-6A5292785FDF}"/>
              </a:ext>
            </a:extLst>
          </p:cNvPr>
          <p:cNvSpPr>
            <a:spLocks xmlns:a="http://schemas.openxmlformats.org/drawingml/2006/main" noGrp="1"/>
          </p:cNvSpPr>
          <p:nvPr/>
        </p:nvSpPr>
        <p:spPr>
          <a:xfrm xmlns:a="http://schemas.openxmlformats.org/drawingml/2006/main">
            <a:off x="5791200" y="6057900"/>
            <a:ext cx="23812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713" b="0" i="0">
                <a:solidFill>
                  <a:srgbClr val="111111"/>
                </a:solidFill>
                <a:latin typeface="Arial"/>
                <a:ea typeface="Arial"/>
                <a:cs typeface="Arial"/>
              </a:defRPr>
            </a:pPr>
            <a:r>
              <a:rPr sz="713" b="0" i="0">
                <a:solidFill>
                  <a:srgbClr val="111111"/>
                </a:solidFill>
                <a:latin typeface="Arial"/>
                <a:ea typeface="Arial"/>
                <a:cs typeface="Arial"/>
              </a:rPr>
              <a:t>VPU ranges and performance tiers per</a:t>
            </a:r>
          </a:p>
        </p:txBody>
      </p:sp>
      <p:sp>
        <p:nvSpPr>
          <p:cNvPr id="150" name="Rectangle 149">
            <a:extLst xmlns:a="http://schemas.openxmlformats.org/drawingml/2006/main">
              <a:ext uri="{FF2B5EF4-FFF2-40B4-BE49-F238E27FC236}">
                <a16:creationId xmlns:a16="http://schemas.microsoft.com/office/drawing/2014/main" id="{A2A1937D-D277-47DA-8441-EEAF3835B927}"/>
              </a:ext>
            </a:extLst>
          </p:cNvPr>
          <p:cNvSpPr>
            <a:spLocks xmlns:a="http://schemas.openxmlformats.org/drawingml/2006/main" noGrp="1"/>
          </p:cNvSpPr>
          <p:nvPr/>
        </p:nvSpPr>
        <p:spPr>
          <a:xfrm xmlns:a="http://schemas.openxmlformats.org/drawingml/2006/main">
            <a:off x="7524750" y="6057900"/>
            <a:ext cx="2095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713" b="0" i="0">
                <a:solidFill>
                  <a:srgbClr val="1A5DFF"/>
                </a:solidFill>
                <a:latin typeface="Arial"/>
                <a:ea typeface="Arial"/>
                <a:cs typeface="Arial"/>
              </a:defRPr>
            </a:pPr>
            <a:r>
              <a:rPr sz="713" b="0" i="0">
                <a:solidFill>
                  <a:srgbClr val="1A5DFF"/>
                </a:solidFill>
                <a:latin typeface="Arial"/>
                <a:ea typeface="Arial"/>
                <a:cs typeface="Arial"/>
              </a:rPr>
              <a:t>Oracle Block Volume documentation.</a:t>
            </a:r>
          </a:p>
        </p:txBody>
      </p:sp>
      <p:sp>
        <p:nvSpPr>
          <p:cNvPr id="151" name="Rectangle 150">
            <a:extLst xmlns:a="http://schemas.openxmlformats.org/drawingml/2006/main">
              <a:ext uri="{FF2B5EF4-FFF2-40B4-BE49-F238E27FC236}">
                <a16:creationId xmlns:a16="http://schemas.microsoft.com/office/drawing/2014/main" id="{E38CA9A0-8AD1-4085-A343-AA19469C75EF}"/>
              </a:ext>
            </a:extLst>
          </p:cNvPr>
          <p:cNvSpPr>
            <a:spLocks xmlns:a="http://schemas.openxmlformats.org/drawingml/2006/main" noGrp="1"/>
          </p:cNvSpPr>
          <p:nvPr/>
        </p:nvSpPr>
        <p:spPr>
          <a:xfrm xmlns:a="http://schemas.openxmlformats.org/drawingml/2006/main">
            <a:off x="342900" y="6534150"/>
            <a:ext cx="685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713" b="0" i="0">
                <a:solidFill>
                  <a:srgbClr val="555555"/>
                </a:solidFill>
                <a:latin typeface="Arial"/>
                <a:ea typeface="Arial"/>
                <a:cs typeface="Arial"/>
              </a:defRPr>
            </a:pPr>
            <a:r>
              <a:rPr sz="713" b="0" i="0">
                <a:solidFill>
                  <a:srgbClr val="555555"/>
                </a:solidFill>
                <a:latin typeface="Arial"/>
                <a:ea typeface="Arial"/>
                <a:cs typeface="Arial"/>
              </a:rPr>
              <a:t>Copyright © 2026, Oracle and/or its affiliates  |  Confidential: Internal/Restricted/Highly Restricted</a:t>
            </a:r>
          </a:p>
        </p:txBody>
      </p:sp>
      <p:pic>
        <p:nvPicPr>
          <p:cNvPr id="321" name="Picture 303"/>
          <p:cNvPicPr>
            <a:picLocks xmlns:a="http://schemas.openxmlformats.org/drawingml/2006/main" noChangeAspect="1"/>
          </p:cNvPicPr>
          <p:nvPr/>
        </p:nvPicPr>
        <p:blipFill>
          <a:blip xmlns:r="http://schemas.openxmlformats.org/officeDocument/2006/relationships" xmlns:a="http://schemas.openxmlformats.org/drawingml/2006/main" r:embed="R512d5a5c7a0a4dbe"/>
          <a:stretch xmlns:a="http://schemas.openxmlformats.org/drawingml/2006/main"/>
        </p:blipFill>
        <p:spPr>
          <a:xfrm xmlns:a="http://schemas.openxmlformats.org/drawingml/2006/main">
            <a:off x="11458864" y="6496050"/>
            <a:ext cx="285173" cy="361950"/>
          </a:xfrm>
          <a:prstGeom xmlns:a="http://schemas.openxmlformats.org/drawingml/2006/main" prst="rect">
            <a:avLst/>
          </a:prstGeom>
        </p:spPr>
      </p:pic>
    </p:spTree>
    <p:extLst>
      <p:ext uri="{BB962C8B-B14F-4D97-AF65-F5344CB8AC3E}">
        <p14:creationId xmlns:p14="http://schemas.microsoft.com/office/powerpoint/2010/main" val="1701118006"/>
      </p:ext>
    </p:extLst>
  </p:cSld>
</p:sld>
</file>

<file path=ppt/slides/slide6.xml><?xml version="1.0" encoding="utf-8"?>
<p:sld xmlns:p="http://schemas.openxmlformats.org/presentationml/2006/main">
  <p:cSld>
    <p:bg>
      <p:bgPr>
        <a:solidFill xmlns:a="http://schemas.openxmlformats.org/drawingml/2006/main">
          <a:srgbClr val="E9E9E9"/>
        </a:solidFill>
      </p:bgPr>
    </p:bg>
    <p:spTree>
      <p:nvGrpSpPr>
        <p:cNvPr id="1" name=""/>
        <p:cNvGrpSpPr/>
        <p:nvPr/>
      </p:nvGrpSpPr>
      <p:grpSpPr>
        <a:xfrm xmlns:a="http://schemas.openxmlformats.org/drawingml/2006/main"/>
      </p:grpSpPr>
      <p:sp>
        <p:nvSpPr>
          <p:cNvPr id="4" name="Rectangle 3">
            <a:extLst xmlns:a="http://schemas.openxmlformats.org/drawingml/2006/main">
              <a:ext uri="{FF2B5EF4-FFF2-40B4-BE49-F238E27FC236}">
                <a16:creationId xmlns:a16="http://schemas.microsoft.com/office/drawing/2014/main" id="{6E3E53A5-E3BC-4534-ACFE-4693EDB11BE2}"/>
              </a:ext>
            </a:extLst>
          </p:cNvPr>
          <p:cNvSpPr>
            <a:spLocks xmlns:a="http://schemas.openxmlformats.org/drawingml/2006/main" noGrp="1"/>
          </p:cNvSpPr>
          <p:nvPr/>
        </p:nvSpPr>
        <p:spPr>
          <a:xfrm xmlns:a="http://schemas.openxmlformats.org/drawingml/2006/main">
            <a:off x="66675" y="8572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5000"/>
              </a:lnSpc>
              <a:buNone/>
              <a:defRPr sz="900" b="0" i="0">
                <a:solidFill>
                  <a:srgbClr val="777777"/>
                </a:solidFill>
                <a:latin typeface="Arial"/>
                <a:ea typeface="Arial"/>
                <a:cs typeface="Arial"/>
              </a:defRPr>
            </a:pPr>
            <a:r>
              <a:rPr sz="900" b="0" i="0">
                <a:solidFill>
                  <a:srgbClr val="777777"/>
                </a:solidFill>
                <a:latin typeface="Arial"/>
                <a:ea typeface="Arial"/>
                <a:cs typeface="Arial"/>
              </a:rPr>
              <a:t>Confidential - Oracle Restricted \Employees</a:t>
            </a:r>
          </a:p>
          <a:p xmlns:a="http://schemas.openxmlformats.org/drawingml/2006/main">
            <a:pPr algn="l">
              <a:lnSpc>
                <a:spcPct val="115000"/>
              </a:lnSpc>
              <a:buNone/>
              <a:defRPr sz="900" b="0" i="0">
                <a:solidFill>
                  <a:srgbClr val="777777"/>
                </a:solidFill>
                <a:latin typeface="Arial"/>
                <a:ea typeface="Arial"/>
                <a:cs typeface="Arial"/>
              </a:defRPr>
            </a:pPr>
            <a:r>
              <a:rPr sz="900" b="0" i="0">
                <a:solidFill>
                  <a:srgbClr val="777777"/>
                </a:solidFill>
                <a:latin typeface="Arial"/>
                <a:ea typeface="Arial"/>
                <a:cs typeface="Arial"/>
              </a:rPr>
              <a:t>Only</a:t>
            </a:r>
          </a:p>
        </p:txBody>
      </p:sp>
      <p:pic>
        <p:nvPicPr>
          <p:cNvPr id="7" name="Picture 4"/>
          <p:cNvPicPr>
            <a:picLocks xmlns:a="http://schemas.openxmlformats.org/drawingml/2006/main" noChangeAspect="1"/>
          </p:cNvPicPr>
          <p:nvPr/>
        </p:nvPicPr>
        <p:blipFill>
          <a:blip xmlns:r="http://schemas.openxmlformats.org/officeDocument/2006/relationships" xmlns:a="http://schemas.openxmlformats.org/drawingml/2006/main" r:embed="R1ba212eb53704785"/>
          <a:stretch xmlns:a="http://schemas.openxmlformats.org/drawingml/2006/main"/>
        </p:blipFill>
        <p:spPr>
          <a:xfrm xmlns:a="http://schemas.openxmlformats.org/drawingml/2006/main">
            <a:off x="4171950" y="3095625"/>
            <a:ext cx="3848100" cy="609600"/>
          </a:xfrm>
          <a:prstGeom xmlns:a="http://schemas.openxmlformats.org/drawingml/2006/main" prst="rect">
            <a:avLst/>
          </a:prstGeom>
        </p:spPr>
      </p:pic>
      <p:sp>
        <p:nvSpPr>
          <p:cNvPr id="3" name="Rectangle 2">
            <a:extLst xmlns:a="http://schemas.openxmlformats.org/drawingml/2006/main">
              <a:ext uri="{FF2B5EF4-FFF2-40B4-BE49-F238E27FC236}">
                <a16:creationId xmlns:a16="http://schemas.microsoft.com/office/drawing/2014/main" id="{9D65AD44-E8D2-4785-A563-E45C5806CEB9}"/>
              </a:ext>
            </a:extLst>
          </p:cNvPr>
          <p:cNvSpPr>
            <a:spLocks xmlns:a="http://schemas.openxmlformats.org/drawingml/2006/main" noGrp="1"/>
          </p:cNvSpPr>
          <p:nvPr/>
        </p:nvSpPr>
        <p:spPr>
          <a:xfrm xmlns:a="http://schemas.openxmlformats.org/drawingml/2006/main">
            <a:off x="66675" y="66484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5000"/>
              </a:lnSpc>
              <a:buNone/>
              <a:defRPr sz="900" b="0" i="0">
                <a:solidFill>
                  <a:srgbClr val="777777"/>
                </a:solidFill>
                <a:latin typeface="Arial"/>
                <a:ea typeface="Arial"/>
                <a:cs typeface="Arial"/>
              </a:defRPr>
            </a:pPr>
            <a:r>
              <a:rPr sz="900" b="0" i="0">
                <a:solidFill>
                  <a:srgbClr val="777777"/>
                </a:solidFill>
                <a:latin typeface="Arial"/>
                <a:ea typeface="Arial"/>
                <a:cs typeface="Arial"/>
              </a:rPr>
              <a:t>Confidential - Oracle Restricted \Employees</a:t>
            </a:r>
          </a:p>
          <a:p xmlns:a="http://schemas.openxmlformats.org/drawingml/2006/main">
            <a:pPr algn="l">
              <a:lnSpc>
                <a:spcPct val="115000"/>
              </a:lnSpc>
              <a:buNone/>
              <a:defRPr sz="900" b="0" i="0">
                <a:solidFill>
                  <a:srgbClr val="777777"/>
                </a:solidFill>
                <a:latin typeface="Arial"/>
                <a:ea typeface="Arial"/>
                <a:cs typeface="Arial"/>
              </a:defRPr>
            </a:pPr>
            <a:r>
              <a:rPr sz="900" b="0" i="0">
                <a:solidFill>
                  <a:srgbClr val="777777"/>
                </a:solidFill>
                <a:latin typeface="Arial"/>
                <a:ea typeface="Arial"/>
                <a:cs typeface="Arial"/>
              </a:rPr>
              <a:t>Only</a:t>
            </a:r>
          </a:p>
        </p:txBody>
      </p:sp>
    </p:spTree>
    <p:extLst>
      <p:ext uri="{BB962C8B-B14F-4D97-AF65-F5344CB8AC3E}">
        <p14:creationId xmlns:p14="http://schemas.microsoft.com/office/powerpoint/2010/main" val="15454136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2026-08-18T10:20:41.9790000Z</dcterms:created>
  <dcterms:modified xsi:type="dcterms:W3CDTF">2026-08-18T10:20:41.9790000Z</dcterms:modified>
</coreProperties>
</file>