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5820f866ac44e5" /><Relationship Type="http://schemas.openxmlformats.org/officeDocument/2006/relationships/extended-properties" Target="/docProps/app.xml" Id="R1efa36dd630b43b6" /><Relationship Type="http://schemas.openxmlformats.org/officeDocument/2006/relationships/officeDocument" Target="/ppt/presentation.xml" Id="Raff87f8d2f454804" /></Relationships>
</file>

<file path=ppt/presentation.xml><?xml version="1.0" encoding="utf-8"?>
<p:presentation xmlns:p="http://schemas.openxmlformats.org/presentationml/2006/main">
  <p:sldMasterIdLst>
    <p:sldMasterId xmlns:r="http://schemas.openxmlformats.org/officeDocument/2006/relationships" id="2147483648" r:id="Rda8ac66ec4d44a87"/>
  </p:sldMasterIdLst>
  <p:notesMasterIdLst>
    <p:notesMasterId xmlns:r="http://schemas.openxmlformats.org/officeDocument/2006/relationships" r:id="Rb0f3774c1a694431"/>
  </p:notesMasterIdLst>
  <p:sldIdLst>
    <p:sldId xmlns:r="http://schemas.openxmlformats.org/officeDocument/2006/relationships" id="256" r:id="Rf6cd4ac1a3474c43"/>
    <p:sldId xmlns:r="http://schemas.openxmlformats.org/officeDocument/2006/relationships" id="257" r:id="R51de31d7de6a4c22"/>
    <p:sldId xmlns:r="http://schemas.openxmlformats.org/officeDocument/2006/relationships" id="258" r:id="Rf8be4704d2674a71"/>
    <p:sldId xmlns:r="http://schemas.openxmlformats.org/officeDocument/2006/relationships" id="259" r:id="R543e7fb7a64d4907"/>
    <p:sldId xmlns:r="http://schemas.openxmlformats.org/officeDocument/2006/relationships" id="260" r:id="Rf8fdd40ce5ca4478"/>
    <p:sldId xmlns:r="http://schemas.openxmlformats.org/officeDocument/2006/relationships" id="261" r:id="Ra34d12afb01648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fc8bb8ee78ae42cb" /><Relationship Type="http://schemas.openxmlformats.org/officeDocument/2006/relationships/slideMaster" Target="/ppt/slideMasters/slideMaster1.xml" Id="Rda8ac66ec4d44a87" /><Relationship Type="http://schemas.openxmlformats.org/officeDocument/2006/relationships/notesMaster" Target="/ppt/notesMasters/notesMaster1.xml" Id="Rb0f3774c1a694431" /><Relationship Type="http://schemas.openxmlformats.org/officeDocument/2006/relationships/presProps" Target="/ppt/presProps.xml" Id="R2fdb9f90f42948c9" /><Relationship Type="http://schemas.openxmlformats.org/officeDocument/2006/relationships/viewProps" Target="/ppt/viewProps.xml" Id="R89cc03b3460f4497" /><Relationship Type="http://schemas.openxmlformats.org/officeDocument/2006/relationships/tableStyles" Target="/ppt/tableStyles.xml" Id="R9680509235264f1a" /><Relationship Type="http://schemas.openxmlformats.org/officeDocument/2006/relationships/slide" Target="/ppt/slides/slide1.xml" Id="Rf6cd4ac1a3474c43" /><Relationship Type="http://schemas.openxmlformats.org/officeDocument/2006/relationships/slide" Target="/ppt/slides/slide2.xml" Id="R51de31d7de6a4c22" /><Relationship Type="http://schemas.openxmlformats.org/officeDocument/2006/relationships/slide" Target="/ppt/slides/slide3.xml" Id="Rf8be4704d2674a71" /><Relationship Type="http://schemas.openxmlformats.org/officeDocument/2006/relationships/slide" Target="/ppt/slides/slide4.xml" Id="R543e7fb7a64d4907" /><Relationship Type="http://schemas.openxmlformats.org/officeDocument/2006/relationships/slide" Target="/ppt/slides/slide5.xml" Id="Rf8fdd40ce5ca4478" /><Relationship Type="http://schemas.openxmlformats.org/officeDocument/2006/relationships/slide" Target="/ppt/slides/slide6.xml" Id="Ra34d12afb01648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5ec019ee144d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81ea40c600491c" /><Relationship Type="http://schemas.openxmlformats.org/officeDocument/2006/relationships/notesMaster" Target="/ppt/notesMasters/notesMaster1.xml" Id="R0a3296a2997541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03e19cdb0941aa" /><Relationship Type="http://schemas.openxmlformats.org/officeDocument/2006/relationships/notesMaster" Target="/ppt/notesMasters/notesMaster1.xml" Id="R47e01bb7aa8a4e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3dc3a7353c4e94" /><Relationship Type="http://schemas.openxmlformats.org/officeDocument/2006/relationships/notesMaster" Target="/ppt/notesMasters/notesMaster1.xml" Id="R45b2f134c5714b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cf55c1801841ac" /><Relationship Type="http://schemas.openxmlformats.org/officeDocument/2006/relationships/notesMaster" Target="/ppt/notesMasters/notesMaster1.xml" Id="Rc207ca71d64148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084ead9cb845cf" /><Relationship Type="http://schemas.openxmlformats.org/officeDocument/2006/relationships/notesMaster" Target="/ppt/notesMasters/notesMaster1.xml" Id="R4e255ae25c0944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431433aa824f6c" /><Relationship Type="http://schemas.openxmlformats.org/officeDocument/2006/relationships/notesMaster" Target="/ppt/notesMasters/notesMaster1.xml" Id="R3c494f08261a40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image: user-provided screenshot "Hybrid Scenario". Logo, customer/date/prepared-by icons, Oracle mark, and the right-side hybrid infrastructure illustration are embedded as cropped image assets from that screenshot; visible title, subtitle, sizing label, customer/date/prepared-by labels and values are editable PowerPoint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image: user-provided screenshot "Current Environment". Oracle logo, Oracle mark, datacenter icon, metric icons, total-environment icon, and information icon are embedded as cropped image assets from that screenshot. The visible title, subtitle, panel headers, labels, metric values, notes, footer, cards, separators, and decorative background elements are recreated as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image: user-provided screenshot "Infrastructure Sizing Summary". Oracle logo, Oracle mark, OCVS icons, production icons, OCI compute/storage icons, and the hybrid callout pictogram are embedded as cropped image assets from that screenshot. The slide title, section labels, cards, tables, metrics, totals, separators, callout text, and footer are recreated as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526681be3f40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0e1d2621ab4567" /><Relationship Type="http://schemas.openxmlformats.org/officeDocument/2006/relationships/image" Target="/ppt/media/image.png" Id="Raab3b3ba70e24d36" /><Relationship Type="http://schemas.openxmlformats.org/officeDocument/2006/relationships/image" Target="/ppt/media/image.svg" Id="R468c09c662a941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Light - Closing Slide">
    <p:bg>
      <p:bgRef idx="1001">
        <a:schemeClr xmlns:a="http://schemas.openxmlformats.org/drawingml/2006/main" val="bg2"/>
      </p:bgRef>
    </p:bg>
    <p:spTree>
      <p:nvGrpSpPr>
        <p:cNvPr id="1" name=""/>
        <p:cNvGrpSpPr/>
        <p:nvPr/>
      </p:nvGrpSpPr>
      <p:grpSpPr>
        <a:xfrm xmlns:a="http://schemas.openxmlformats.org/drawingml/2006/main"/>
      </p:grpSpPr>
      <p:pic>
        <p:nvPicPr>
          <p:cNvPr id="2" name="Oracle Logo"/>
          <p:cNvPicPr>
            <a:picLocks xmlns:a="http://schemas.openxmlformats.org/drawingml/2006/main" noChangeAspect="1"/>
          </p:cNvPicPr>
          <p:nvPr/>
        </p:nvPicPr>
        <p:blipFill>
          <a:blip xmlns:r="http://schemas.openxmlformats.org/officeDocument/2006/relationships" xmlns:a="http://schemas.openxmlformats.org/drawingml/2006/main" r:embed="Raab3b3ba70e24d36">
            <a:extLst>
              <a:ext uri="{96DAC541-7B7A-43D3-8B79-37D633B846F1}">
                <asvg:svgBlip xmlns:asvg="http://schemas.microsoft.com/office/drawing/2016/SVG/main" r:embed="R468c09c662a941dc"/>
              </a:ext>
            </a:extLst>
          </a:blip>
          <a:srcRect xmlns:a="http://schemas.openxmlformats.org/drawingml/2006/main" l="0" t="0" r="0" b="0"/>
          <a:stretch xmlns:a="http://schemas.openxmlformats.org/drawingml/2006/main"/>
        </p:blipFill>
        <p:spPr>
          <a:xfrm xmlns:a="http://schemas.openxmlformats.org/drawingml/2006/main">
            <a:off x="4043835" y="2998299"/>
            <a:ext cx="4104330" cy="861403"/>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cfe9b40a1d4086" /><Relationship Type="http://schemas.openxmlformats.org/officeDocument/2006/relationships/slideLayout" Target="/ppt/slideLayouts/slideLayout1.xml" Id="R5d63bd49814a4a8f" /><Relationship Type="http://schemas.openxmlformats.org/officeDocument/2006/relationships/slideLayout" Target="/ppt/slideLayouts/slideLayout2.xml" Id="Raa880fb5c7b94c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29A73578-F2E2-50B2-8FE9-85E22613E905}"/>
              </a:ext>
            </a:extLst>
          </p:cNvPr>
          <p:cNvSpPr>
            <a:spLocks xmlns:a="http://schemas.openxmlformats.org/drawingml/2006/main" noGrp="1"/>
          </p:cNvSpPr>
          <p:nvPr/>
        </p:nvSpPr>
        <p:spPr>
          <a:xfrm xmlns:a="http://schemas.openxmlformats.org/drawingml/2006/main">
            <a:off x="63500" y="63500"/>
            <a:ext cx="2709863" cy="152400"/>
          </a:xfrm>
          <a:prstGeom xmlns:a="http://schemas.openxmlformats.org/drawingml/2006/main" prst="rect">
            <a:avLst/>
          </a:prstGeom>
        </p:spPr>
        <p:txBody>
          <a:bodyPr xmlns:a="http://schemas.openxmlformats.org/drawingml/2006/main" lIns="0" tIns="0" rIns="0" bIns="0">
            <a:spAutoFit/>
          </a:bodyPr>
          <a:lstStyle xmlns:a="http://schemas.openxmlformats.org/drawingml/2006/main"/>
          <a:p xmlns:a="http://schemas.openxmlformats.org/drawingml/2006/main">
            <a:pPr algn="l">
              <a:buNone/>
            </a:pPr>
            <a:r>
              <a:rPr sz="1000">
                <a:solidFill>
                  <a:srgbClr val="000000">
                    <a:alpha val="50000"/>
                  </a:srgbClr>
                </a:solidFill>
                <a:latin typeface="Aptos"/>
                <a:ea typeface="Aptos"/>
                <a:cs typeface="Aptos"/>
              </a:rPr>
              <a:t>Confidential - Oracle Restricted \Employees Only</a:t>
            </a:r>
          </a:p>
        </p:txBody>
      </p:sp>
      <p:sp>
        <p:nvSpPr>
          <p:cNvPr id="5" name="TextBox 4">
            <a:extLst xmlns:a="http://schemas.openxmlformats.org/drawingml/2006/main">
              <a:ext uri="{FF2B5EF4-FFF2-40B4-BE49-F238E27FC236}">
                <a16:creationId xmlns:a16="http://schemas.microsoft.com/office/drawing/2014/main" id="{F911EAA2-F719-906A-0A6F-808E3643A69F}"/>
              </a:ext>
            </a:extLst>
          </p:cNvPr>
          <p:cNvSpPr>
            <a:spLocks xmlns:a="http://schemas.openxmlformats.org/drawingml/2006/main" noGrp="1"/>
          </p:cNvSpPr>
          <p:nvPr/>
        </p:nvSpPr>
        <p:spPr>
          <a:xfrm xmlns:a="http://schemas.openxmlformats.org/drawingml/2006/main">
            <a:off x="63500" y="6642100"/>
            <a:ext cx="2709863" cy="152400"/>
          </a:xfrm>
          <a:prstGeom xmlns:a="http://schemas.openxmlformats.org/drawingml/2006/main" prst="rect">
            <a:avLst/>
          </a:prstGeom>
        </p:spPr>
        <p:txBody>
          <a:bodyPr xmlns:a="http://schemas.openxmlformats.org/drawingml/2006/main" lIns="0" tIns="0" rIns="0" bIns="0">
            <a:spAutoFit/>
          </a:bodyPr>
          <a:lstStyle xmlns:a="http://schemas.openxmlformats.org/drawingml/2006/main"/>
          <a:p xmlns:a="http://schemas.openxmlformats.org/drawingml/2006/main">
            <a:pPr algn="l">
              <a:buNone/>
            </a:pPr>
            <a:r>
              <a:rPr sz="1000">
                <a:solidFill>
                  <a:srgbClr val="000000">
                    <a:alpha val="50000"/>
                  </a:srgbClr>
                </a:solidFill>
                <a:latin typeface="Aptos"/>
                <a:ea typeface="Aptos"/>
                <a:cs typeface="Aptos"/>
              </a:rPr>
              <a:t>Confidential - Oracle Restricted \Employees Only</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63bd49814a4a8f"/>
    <p:sldLayoutId xmlns:r="http://schemas.openxmlformats.org/officeDocument/2006/relationships" id="2147483650" r:id="Raa880fb5c7b94c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5448b08fa14299" /><Relationship Type="http://schemas.openxmlformats.org/officeDocument/2006/relationships/image" Target="/ppt/media/image2.png" Id="R0b77cc1629ae4619" /><Relationship Type="http://schemas.openxmlformats.org/officeDocument/2006/relationships/image" Target="/ppt/media/image3.png" Id="Rcdd985cff1564c62" /><Relationship Type="http://schemas.openxmlformats.org/officeDocument/2006/relationships/image" Target="/ppt/media/image4.png" Id="R7b344d196c9c489f" /><Relationship Type="http://schemas.openxmlformats.org/officeDocument/2006/relationships/image" Target="/ppt/media/image5.png" Id="R9d0387d1193445fc" /><Relationship Type="http://schemas.openxmlformats.org/officeDocument/2006/relationships/image" Target="/ppt/media/image6.png" Id="Re21b5e8ec7f04e65" /><Relationship Type="http://schemas.openxmlformats.org/officeDocument/2006/relationships/image" Target="/ppt/media/image7.png" Id="R874dd63de86c475a" /><Relationship Type="http://schemas.openxmlformats.org/officeDocument/2006/relationships/notesSlide" Target="/ppt/notesSlides/notesSlide1.xml" Id="R9e13ef15e12e4b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2f548ba9a1e4982" /><Relationship Type="http://schemas.openxmlformats.org/officeDocument/2006/relationships/image" Target="/ppt/media/image8.png" Id="Rf46414fa9fba44cf" /><Relationship Type="http://schemas.openxmlformats.org/officeDocument/2006/relationships/image" Target="/ppt/media/image9.png" Id="R1acd9ec13af74a9c" /><Relationship Type="http://schemas.openxmlformats.org/officeDocument/2006/relationships/image" Target="/ppt/media/image10.png" Id="R8435a248a6814d9d" /><Relationship Type="http://schemas.openxmlformats.org/officeDocument/2006/relationships/image" Target="/ppt/media/image11.png" Id="Rc21d33ceec5f4b08" /><Relationship Type="http://schemas.openxmlformats.org/officeDocument/2006/relationships/image" Target="/ppt/media/image12.png" Id="R7c64ce9aace5446f" /><Relationship Type="http://schemas.openxmlformats.org/officeDocument/2006/relationships/image" Target="/ppt/media/image13.png" Id="R2ead978df27d410e" /><Relationship Type="http://schemas.openxmlformats.org/officeDocument/2006/relationships/image" Target="/ppt/media/image14.png" Id="R8cc9d9c347854920" /><Relationship Type="http://schemas.openxmlformats.org/officeDocument/2006/relationships/image" Target="/ppt/media/image15.png" Id="R9a8d7e814bc641a1" /><Relationship Type="http://schemas.openxmlformats.org/officeDocument/2006/relationships/image" Target="/ppt/media/image16.png" Id="R40a2a57f042940e0" /><Relationship Type="http://schemas.openxmlformats.org/officeDocument/2006/relationships/image" Target="/ppt/media/image17.png" Id="R02cd676a818343ec" /><Relationship Type="http://schemas.openxmlformats.org/officeDocument/2006/relationships/image" Target="/ppt/media/image18.png" Id="R593c561efb84404a" /><Relationship Type="http://schemas.openxmlformats.org/officeDocument/2006/relationships/image" Target="/ppt/media/image19.png" Id="R129219e601794c31" /><Relationship Type="http://schemas.openxmlformats.org/officeDocument/2006/relationships/image" Target="/ppt/media/image20.png" Id="Refa62c55fb604b53" /><Relationship Type="http://schemas.openxmlformats.org/officeDocument/2006/relationships/image" Target="/ppt/media/image21.png" Id="R23b65a833f5f450a" /><Relationship Type="http://schemas.openxmlformats.org/officeDocument/2006/relationships/image" Target="/ppt/media/image22.png" Id="Rc34730cf0ae94348" /><Relationship Type="http://schemas.openxmlformats.org/officeDocument/2006/relationships/image" Target="/ppt/media/image23.png" Id="R253024b1b511428a" /><Relationship Type="http://schemas.openxmlformats.org/officeDocument/2006/relationships/image" Target="/ppt/media/image24.png" Id="R1ffc4308a59f4ce7" /><Relationship Type="http://schemas.openxmlformats.org/officeDocument/2006/relationships/image" Target="/ppt/media/image25.png" Id="R0c9ff6ef4e87485b" /><Relationship Type="http://schemas.openxmlformats.org/officeDocument/2006/relationships/image" Target="/ppt/media/image26.png" Id="Rdbca962321b0404c" /><Relationship Type="http://schemas.openxmlformats.org/officeDocument/2006/relationships/image" Target="/ppt/media/image27.png" Id="R318adbfd9c384c43" /><Relationship Type="http://schemas.openxmlformats.org/officeDocument/2006/relationships/image" Target="/ppt/media/image28.png" Id="R9e55de2aaa5f4c43" /><Relationship Type="http://schemas.openxmlformats.org/officeDocument/2006/relationships/image" Target="/ppt/media/image29.png" Id="Ree908d941c644c87" /><Relationship Type="http://schemas.openxmlformats.org/officeDocument/2006/relationships/image" Target="/ppt/media/image30.png" Id="R4767abac325f42d4" /><Relationship Type="http://schemas.openxmlformats.org/officeDocument/2006/relationships/image" Target="/ppt/media/image31.png" Id="Rd1d0a4e89e5f4fb3" /><Relationship Type="http://schemas.openxmlformats.org/officeDocument/2006/relationships/image" Target="/ppt/media/image32.png" Id="Rdd5efe2b656a473e" /><Relationship Type="http://schemas.openxmlformats.org/officeDocument/2006/relationships/image" Target="/ppt/media/image33.png" Id="R26b8b7c6d14d4272" /><Relationship Type="http://schemas.openxmlformats.org/officeDocument/2006/relationships/image" Target="/ppt/media/image34.png" Id="R0927ee13ccc54209" /><Relationship Type="http://schemas.openxmlformats.org/officeDocument/2006/relationships/image" Target="/ppt/media/image35.png" Id="Ra6b11bc807434d8c" /><Relationship Type="http://schemas.openxmlformats.org/officeDocument/2006/relationships/image" Target="/ppt/media/image36.png" Id="Rc68c2bb2721842b5" /><Relationship Type="http://schemas.openxmlformats.org/officeDocument/2006/relationships/notesSlide" Target="/ppt/notesSlides/notesSlide2.xml" Id="R3165550b150a49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9843919f3144d0" /><Relationship Type="http://schemas.openxmlformats.org/officeDocument/2006/relationships/image" Target="/ppt/media/image37.png" Id="R0c40629c093f4cee" /><Relationship Type="http://schemas.openxmlformats.org/officeDocument/2006/relationships/image" Target="/ppt/media/image38.png" Id="Rf8ce399f17984d5a" /><Relationship Type="http://schemas.openxmlformats.org/officeDocument/2006/relationships/image" Target="/ppt/media/image39.png" Id="Rc7e112c85195461c" /><Relationship Type="http://schemas.openxmlformats.org/officeDocument/2006/relationships/image" Target="/ppt/media/image40.png" Id="R62de8fd0d7d340c9" /><Relationship Type="http://schemas.openxmlformats.org/officeDocument/2006/relationships/image" Target="/ppt/media/image41.png" Id="R822986c7e7f0435d" /><Relationship Type="http://schemas.openxmlformats.org/officeDocument/2006/relationships/image" Target="/ppt/media/image42.png" Id="R106cebac349f4c23" /><Relationship Type="http://schemas.openxmlformats.org/officeDocument/2006/relationships/image" Target="/ppt/media/image43.png" Id="R2f2bf18269c44fe1" /><Relationship Type="http://schemas.openxmlformats.org/officeDocument/2006/relationships/image" Target="/ppt/media/image44.png" Id="Rb9b1ae724d0b480e" /><Relationship Type="http://schemas.openxmlformats.org/officeDocument/2006/relationships/image" Target="/ppt/media/image45.png" Id="R26829f5851414a2b" /><Relationship Type="http://schemas.openxmlformats.org/officeDocument/2006/relationships/notesSlide" Target="/ppt/notesSlides/notesSlide3.xml" Id="Rbbe8b5dd6dce4b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0b59f1d57664f84" /><Relationship Type="http://schemas.openxmlformats.org/officeDocument/2006/relationships/image" Target="/ppt/media/image46.png" Id="R75555876684f4f93" /><Relationship Type="http://schemas.openxmlformats.org/officeDocument/2006/relationships/image" Target="/ppt/media/image47.png" Id="Rc0007911ff2142eb" /><Relationship Type="http://schemas.openxmlformats.org/officeDocument/2006/relationships/image" Target="/ppt/media/image48.png" Id="R8c9477d3628a429b" /><Relationship Type="http://schemas.openxmlformats.org/officeDocument/2006/relationships/image" Target="/ppt/media/image49.png" Id="Re3d799ce716f4c41" /><Relationship Type="http://schemas.openxmlformats.org/officeDocument/2006/relationships/image" Target="/ppt/media/image50.png" Id="R9564296e9f7a47d4" /><Relationship Type="http://schemas.openxmlformats.org/officeDocument/2006/relationships/image" Target="/ppt/media/image51.png" Id="R3c44441077d541a2" /><Relationship Type="http://schemas.openxmlformats.org/officeDocument/2006/relationships/image" Target="/ppt/media/image52.png" Id="Rb31d3acf167b4e84" /><Relationship Type="http://schemas.openxmlformats.org/officeDocument/2006/relationships/image" Target="/ppt/media/image53.png" Id="R47b863582fab4ad6" /><Relationship Type="http://schemas.openxmlformats.org/officeDocument/2006/relationships/image" Target="/ppt/media/image54.png" Id="Rf9e1a5908b7848fd" /><Relationship Type="http://schemas.openxmlformats.org/officeDocument/2006/relationships/image" Target="/ppt/media/image55.png" Id="R9731e012ba1c4012" /><Relationship Type="http://schemas.openxmlformats.org/officeDocument/2006/relationships/image" Target="/ppt/media/image56.png" Id="R86ec83feff81494d" /><Relationship Type="http://schemas.openxmlformats.org/officeDocument/2006/relationships/image" Target="/ppt/media/image57.png" Id="R04bbde16f92d48a5" /><Relationship Type="http://schemas.openxmlformats.org/officeDocument/2006/relationships/image" Target="/ppt/media/image58.png" Id="R3bafde2e92724ce3" /><Relationship Type="http://schemas.openxmlformats.org/officeDocument/2006/relationships/notesSlide" Target="/ppt/notesSlides/notesSlide4.xml" Id="Rc674cfeacc1948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36fb6d0c39f4d11" /><Relationship Type="http://schemas.openxmlformats.org/officeDocument/2006/relationships/image" Target="/ppt/media/image59.png" Id="Re725cc715e914039" /><Relationship Type="http://schemas.openxmlformats.org/officeDocument/2006/relationships/image" Target="/ppt/media/image60.png" Id="R406e174dbd964d8b" /><Relationship Type="http://schemas.openxmlformats.org/officeDocument/2006/relationships/image" Target="/ppt/media/image61.png" Id="Rd434e6025911429e" /><Relationship Type="http://schemas.openxmlformats.org/officeDocument/2006/relationships/image" Target="/ppt/media/image62.png" Id="R7e36f9deba6745d7" /><Relationship Type="http://schemas.openxmlformats.org/officeDocument/2006/relationships/image" Target="/ppt/media/image63.png" Id="Rb1a0db9b14aa4e92" /><Relationship Type="http://schemas.openxmlformats.org/officeDocument/2006/relationships/image" Target="/ppt/media/image64.png" Id="Rb076077c916a4c24" /><Relationship Type="http://schemas.openxmlformats.org/officeDocument/2006/relationships/image" Target="/ppt/media/image65.png" Id="R121bbcf8b5154676" /><Relationship Type="http://schemas.openxmlformats.org/officeDocument/2006/relationships/image" Target="/ppt/media/image66.png" Id="Rc18c872d48e6410d" /><Relationship Type="http://schemas.openxmlformats.org/officeDocument/2006/relationships/image" Target="/ppt/media/image67.png" Id="R947eaa0bbb7e4eb1" /><Relationship Type="http://schemas.openxmlformats.org/officeDocument/2006/relationships/image" Target="/ppt/media/image68.png" Id="Ra27052b520964a61" /><Relationship Type="http://schemas.openxmlformats.org/officeDocument/2006/relationships/image" Target="/ppt/media/image69.png" Id="Rfd69537d22274de4" /><Relationship Type="http://schemas.openxmlformats.org/officeDocument/2006/relationships/image" Target="/ppt/media/image70.png" Id="R2af69f407ac24fba" /><Relationship Type="http://schemas.openxmlformats.org/officeDocument/2006/relationships/image" Target="/ppt/media/image71.png" Id="R82bc89e0fa5e4370" /><Relationship Type="http://schemas.openxmlformats.org/officeDocument/2006/relationships/image" Target="/ppt/media/image72.png" Id="R45dac6d3b5e34125" /><Relationship Type="http://schemas.openxmlformats.org/officeDocument/2006/relationships/notesSlide" Target="/ppt/notesSlides/notesSlide5.xml" Id="R99d964b16a5946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907d0c2e51448ca" /><Relationship Type="http://schemas.openxmlformats.org/officeDocument/2006/relationships/notesSlide" Target="/ppt/notesSlides/notesSlide6.xml" Id="R269bb44d2cec4e33" /></Relationships>
</file>

<file path=ppt/slides/slide1.xml><?xml version="1.0" encoding="utf-8"?>
<p:sld xmlns:p="http://schemas.openxmlformats.org/presentationml/2006/main">
  <p:cSld>
    <p:bg>
      <p:bgPr>
        <a:solidFill xmlns:a="http://schemas.openxmlformats.org/drawingml/2006/main">
          <a:srgbClr val="F7F5F3"/>
        </a:solidFill>
      </p:bgPr>
    </p:bg>
    <p:spTree>
      <p:nvGrpSpPr>
        <p:cNvPr id="1" name=""/>
        <p:cNvGrpSpPr/>
        <p:nvPr/>
      </p:nvGrpSpPr>
      <p:grpSpPr>
        <a:xfrm xmlns:a="http://schemas.openxmlformats.org/drawingml/2006/main"/>
      </p:grpSpPr>
      <p:sp>
        <p:nvSpPr>
          <p:cNvPr id="28" name="Oval 27">
            <a:extLst xmlns:a="http://schemas.openxmlformats.org/drawingml/2006/main">
              <a:ext uri="{FF2B5EF4-FFF2-40B4-BE49-F238E27FC236}">
                <a16:creationId xmlns:a16="http://schemas.microsoft.com/office/drawing/2014/main" id="{49E835AC-E406-4A42-B827-3940795A8C78}"/>
              </a:ext>
            </a:extLst>
          </p:cNvPr>
          <p:cNvSpPr>
            <a:spLocks xmlns:a="http://schemas.openxmlformats.org/drawingml/2006/main" noGrp="1"/>
          </p:cNvSpPr>
          <p:nvPr/>
        </p:nvSpPr>
        <p:spPr>
          <a:xfrm xmlns:a="http://schemas.openxmlformats.org/drawingml/2006/main">
            <a:off x="1695450" y="1562100"/>
            <a:ext cx="38100" cy="38100"/>
          </a:xfrm>
          <a:prstGeom xmlns:a="http://schemas.openxmlformats.org/drawingml/2006/main" prst="ellipse">
            <a:avLst/>
          </a:prstGeom>
          <a:solidFill xmlns:a="http://schemas.openxmlformats.org/drawingml/2006/main">
            <a:srgbClr val="E7EA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8BE297F6-E786-48FE-8038-AEA80C84CDEC}"/>
              </a:ext>
            </a:extLst>
          </p:cNvPr>
          <p:cNvSpPr>
            <a:spLocks xmlns:a="http://schemas.openxmlformats.org/drawingml/2006/main" noGrp="1"/>
          </p:cNvSpPr>
          <p:nvPr/>
        </p:nvSpPr>
        <p:spPr>
          <a:xfrm xmlns:a="http://schemas.openxmlformats.org/drawingml/2006/main">
            <a:off x="4476750" y="933450"/>
            <a:ext cx="47625" cy="47625"/>
          </a:xfrm>
          <a:prstGeom xmlns:a="http://schemas.openxmlformats.org/drawingml/2006/main" prst="ellipse">
            <a:avLst/>
          </a:prstGeom>
          <a:solidFill xmlns:a="http://schemas.openxmlformats.org/drawingml/2006/main">
            <a:srgbClr val="E7EA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55099051-9731-4E14-9516-2FFFBEC3AB1D}"/>
              </a:ext>
            </a:extLst>
          </p:cNvPr>
          <p:cNvSpPr>
            <a:spLocks xmlns:a="http://schemas.openxmlformats.org/drawingml/2006/main" noGrp="1"/>
          </p:cNvSpPr>
          <p:nvPr/>
        </p:nvSpPr>
        <p:spPr>
          <a:xfrm xmlns:a="http://schemas.openxmlformats.org/drawingml/2006/main">
            <a:off x="4876800" y="723900"/>
            <a:ext cx="28575" cy="28575"/>
          </a:xfrm>
          <a:prstGeom xmlns:a="http://schemas.openxmlformats.org/drawingml/2006/main" prst="ellipse">
            <a:avLst/>
          </a:prstGeom>
          <a:solidFill xmlns:a="http://schemas.openxmlformats.org/drawingml/2006/main">
            <a:srgbClr val="E7EA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33DDB224-6E1B-49AB-9820-2DAA224CF01B}"/>
              </a:ext>
            </a:extLst>
          </p:cNvPr>
          <p:cNvSpPr>
            <a:spLocks xmlns:a="http://schemas.openxmlformats.org/drawingml/2006/main" noGrp="1"/>
          </p:cNvSpPr>
          <p:nvPr/>
        </p:nvSpPr>
        <p:spPr>
          <a:xfrm xmlns:a="http://schemas.openxmlformats.org/drawingml/2006/main">
            <a:off x="5581650" y="3819525"/>
            <a:ext cx="47625" cy="47625"/>
          </a:xfrm>
          <a:prstGeom xmlns:a="http://schemas.openxmlformats.org/drawingml/2006/main" prst="ellipse">
            <a:avLst/>
          </a:prstGeom>
          <a:solidFill xmlns:a="http://schemas.openxmlformats.org/drawingml/2006/main">
            <a:srgbClr val="E7EA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657043B8-6AFA-4B00-AA6F-A393240D0327}"/>
              </a:ext>
            </a:extLst>
          </p:cNvPr>
          <p:cNvSpPr>
            <a:spLocks xmlns:a="http://schemas.openxmlformats.org/drawingml/2006/main" noGrp="1"/>
          </p:cNvSpPr>
          <p:nvPr/>
        </p:nvSpPr>
        <p:spPr>
          <a:xfrm xmlns:a="http://schemas.openxmlformats.org/drawingml/2006/main">
            <a:off x="6191250" y="4953000"/>
            <a:ext cx="38100" cy="38100"/>
          </a:xfrm>
          <a:prstGeom xmlns:a="http://schemas.openxmlformats.org/drawingml/2006/main" prst="ellipse">
            <a:avLst/>
          </a:prstGeom>
          <a:solidFill xmlns:a="http://schemas.openxmlformats.org/drawingml/2006/main">
            <a:srgbClr val="E7EA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FBA2D8AD-7606-4DDD-853D-0C1DDA55FD37}"/>
              </a:ext>
            </a:extLst>
          </p:cNvPr>
          <p:cNvSpPr>
            <a:spLocks xmlns:a="http://schemas.openxmlformats.org/drawingml/2006/main" noGrp="1"/>
          </p:cNvSpPr>
          <p:nvPr/>
        </p:nvSpPr>
        <p:spPr>
          <a:xfrm xmlns:a="http://schemas.openxmlformats.org/drawingml/2006/main">
            <a:off x="6924675" y="3829050"/>
            <a:ext cx="38100" cy="38100"/>
          </a:xfrm>
          <a:prstGeom xmlns:a="http://schemas.openxmlformats.org/drawingml/2006/main" prst="ellipse">
            <a:avLst/>
          </a:prstGeom>
          <a:solidFill xmlns:a="http://schemas.openxmlformats.org/drawingml/2006/main">
            <a:srgbClr val="E7EA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143C4CD0-3596-49CC-B55D-DDD11F7A07E3}"/>
              </a:ext>
            </a:extLst>
          </p:cNvPr>
          <p:cNvSpPr>
            <a:spLocks xmlns:a="http://schemas.openxmlformats.org/drawingml/2006/main" noGrp="1"/>
          </p:cNvSpPr>
          <p:nvPr/>
        </p:nvSpPr>
        <p:spPr>
          <a:xfrm xmlns:a="http://schemas.openxmlformats.org/drawingml/2006/main">
            <a:off x="11239500" y="1323975"/>
            <a:ext cx="28575" cy="28575"/>
          </a:xfrm>
          <a:prstGeom xmlns:a="http://schemas.openxmlformats.org/drawingml/2006/main" prst="ellipse">
            <a:avLst/>
          </a:prstGeom>
          <a:solidFill xmlns:a="http://schemas.openxmlformats.org/drawingml/2006/main">
            <a:srgbClr val="E7EAE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42" name="Picture 35"/>
          <p:cNvPicPr>
            <a:picLocks xmlns:a="http://schemas.openxmlformats.org/drawingml/2006/main" noChangeAspect="1"/>
          </p:cNvPicPr>
          <p:nvPr/>
        </p:nvPicPr>
        <p:blipFill>
          <a:blip xmlns:r="http://schemas.openxmlformats.org/officeDocument/2006/relationships" xmlns:a="http://schemas.openxmlformats.org/drawingml/2006/main" r:embed="R0b77cc1629ae4619"/>
          <a:stretch xmlns:a="http://schemas.openxmlformats.org/drawingml/2006/main"/>
        </p:blipFill>
        <p:spPr>
          <a:xfrm xmlns:a="http://schemas.openxmlformats.org/drawingml/2006/main">
            <a:off x="352425" y="432350"/>
            <a:ext cx="1952625" cy="592625"/>
          </a:xfrm>
          <a:prstGeom xmlns:a="http://schemas.openxmlformats.org/drawingml/2006/main" prst="rect">
            <a:avLst/>
          </a:prstGeom>
        </p:spPr>
      </p:pic>
      <p:pic>
        <p:nvPicPr>
          <p:cNvPr id="43" name="Picture 36"/>
          <p:cNvPicPr>
            <a:picLocks xmlns:a="http://schemas.openxmlformats.org/drawingml/2006/main" noChangeAspect="1"/>
          </p:cNvPicPr>
          <p:nvPr/>
        </p:nvPicPr>
        <p:blipFill>
          <a:blip xmlns:r="http://schemas.openxmlformats.org/officeDocument/2006/relationships" xmlns:a="http://schemas.openxmlformats.org/drawingml/2006/main" r:embed="Rcdd985cff1564c62"/>
          <a:stretch xmlns:a="http://schemas.openxmlformats.org/drawingml/2006/main"/>
        </p:blipFill>
        <p:spPr>
          <a:xfrm xmlns:a="http://schemas.openxmlformats.org/drawingml/2006/main">
            <a:off x="5612278" y="571500"/>
            <a:ext cx="6015694" cy="5581650"/>
          </a:xfrm>
          <a:prstGeom xmlns:a="http://schemas.openxmlformats.org/drawingml/2006/main" prst="rect">
            <a:avLst/>
          </a:prstGeom>
        </p:spPr>
      </p:pic>
      <p:sp>
        <p:nvSpPr>
          <p:cNvPr id="11" name="Rectangle 10">
            <a:extLst xmlns:a="http://schemas.openxmlformats.org/drawingml/2006/main">
              <a:ext uri="{FF2B5EF4-FFF2-40B4-BE49-F238E27FC236}">
                <a16:creationId xmlns:a16="http://schemas.microsoft.com/office/drawing/2014/main" id="{A60B91FC-8CD8-4E65-96AD-19939266738A}"/>
              </a:ext>
            </a:extLst>
          </p:cNvPr>
          <p:cNvSpPr>
            <a:spLocks xmlns:a="http://schemas.openxmlformats.org/drawingml/2006/main" noGrp="1"/>
          </p:cNvSpPr>
          <p:nvPr/>
        </p:nvSpPr>
        <p:spPr>
          <a:xfrm xmlns:a="http://schemas.openxmlformats.org/drawingml/2006/main">
            <a:off x="390525" y="2114550"/>
            <a:ext cx="533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4350" b="1" i="0">
                <a:solidFill>
                  <a:srgbClr val="003B25"/>
                </a:solidFill>
                <a:latin typeface="Arial"/>
                <a:ea typeface="Arial"/>
                <a:cs typeface="Arial"/>
              </a:defRPr>
            </a:pPr>
            <a:r>
              <a:rPr sz="4350" b="1" i="0">
                <a:solidFill>
                  <a:srgbClr val="003B25"/>
                </a:solidFill>
                <a:latin typeface="Arial"/>
                <a:ea typeface="Arial"/>
                <a:cs typeface="Arial"/>
              </a:rPr>
              <a:t>Hybrid Scenario</a:t>
            </a:r>
          </a:p>
        </p:txBody>
      </p:sp>
      <p:sp>
        <p:nvSpPr>
          <p:cNvPr id="12" name="Rectangle 11">
            <a:extLst xmlns:a="http://schemas.openxmlformats.org/drawingml/2006/main">
              <a:ext uri="{FF2B5EF4-FFF2-40B4-BE49-F238E27FC236}">
                <a16:creationId xmlns:a16="http://schemas.microsoft.com/office/drawing/2014/main" id="{571B59EF-9810-4355-81FB-7D23F93566EB}"/>
              </a:ext>
            </a:extLst>
          </p:cNvPr>
          <p:cNvSpPr>
            <a:spLocks xmlns:a="http://schemas.openxmlformats.org/drawingml/2006/main" noGrp="1"/>
          </p:cNvSpPr>
          <p:nvPr/>
        </p:nvSpPr>
        <p:spPr>
          <a:xfrm xmlns:a="http://schemas.openxmlformats.org/drawingml/2006/main">
            <a:off x="390525" y="289560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250" b="0" i="0">
                <a:solidFill>
                  <a:srgbClr val="111111"/>
                </a:solidFill>
                <a:latin typeface="Arial"/>
                <a:ea typeface="Arial"/>
                <a:cs typeface="Arial"/>
              </a:defRPr>
            </a:pPr>
            <a:r>
              <a:rPr sz="2250" b="0" i="0">
                <a:solidFill>
                  <a:srgbClr val="111111"/>
                </a:solidFill>
                <a:latin typeface="Arial"/>
                <a:ea typeface="Arial"/>
                <a:cs typeface="Arial"/>
              </a:rPr>
              <a:t>OCVS + OCI Compute</a:t>
            </a:r>
          </a:p>
        </p:txBody>
      </p:sp>
      <p:sp>
        <p:nvSpPr>
          <p:cNvPr id="13" name="Rectangle 12">
            <a:extLst xmlns:a="http://schemas.openxmlformats.org/drawingml/2006/main">
              <a:ext uri="{FF2B5EF4-FFF2-40B4-BE49-F238E27FC236}">
                <a16:creationId xmlns:a16="http://schemas.microsoft.com/office/drawing/2014/main" id="{1ADABF78-E7AC-4FA0-A74C-56A5348DC0BA}"/>
              </a:ext>
            </a:extLst>
          </p:cNvPr>
          <p:cNvSpPr>
            <a:spLocks xmlns:a="http://schemas.openxmlformats.org/drawingml/2006/main" noGrp="1"/>
          </p:cNvSpPr>
          <p:nvPr/>
        </p:nvSpPr>
        <p:spPr>
          <a:xfrm xmlns:a="http://schemas.openxmlformats.org/drawingml/2006/main">
            <a:off x="390525" y="3409950"/>
            <a:ext cx="504825"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758E955F-1E6B-4155-9ABE-62306BCCCDFB}"/>
              </a:ext>
            </a:extLst>
          </p:cNvPr>
          <p:cNvSpPr>
            <a:spLocks xmlns:a="http://schemas.openxmlformats.org/drawingml/2006/main" noGrp="1"/>
          </p:cNvSpPr>
          <p:nvPr/>
        </p:nvSpPr>
        <p:spPr>
          <a:xfrm xmlns:a="http://schemas.openxmlformats.org/drawingml/2006/main">
            <a:off x="390525" y="36766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175" b="0" i="0">
                <a:solidFill>
                  <a:srgbClr val="111111"/>
                </a:solidFill>
                <a:latin typeface="Arial"/>
                <a:ea typeface="Arial"/>
                <a:cs typeface="Arial"/>
              </a:defRPr>
            </a:pPr>
            <a:r>
              <a:rPr sz="2175" b="0" i="0">
                <a:solidFill>
                  <a:srgbClr val="111111"/>
                </a:solidFill>
                <a:latin typeface="Arial"/>
                <a:ea typeface="Arial"/>
                <a:cs typeface="Arial"/>
              </a:rPr>
              <a:t>Proposed Sizing</a:t>
            </a:r>
          </a:p>
        </p:txBody>
      </p:sp>
      <p:pic>
        <p:nvPicPr>
          <p:cNvPr id="48" name="Picture 41"/>
          <p:cNvPicPr>
            <a:picLocks xmlns:a="http://schemas.openxmlformats.org/drawingml/2006/main" noChangeAspect="1"/>
          </p:cNvPicPr>
          <p:nvPr/>
        </p:nvPicPr>
        <p:blipFill>
          <a:blip xmlns:r="http://schemas.openxmlformats.org/officeDocument/2006/relationships" xmlns:a="http://schemas.openxmlformats.org/drawingml/2006/main" r:embed="R7b344d196c9c489f"/>
          <a:stretch xmlns:a="http://schemas.openxmlformats.org/drawingml/2006/main"/>
        </p:blipFill>
        <p:spPr>
          <a:xfrm xmlns:a="http://schemas.openxmlformats.org/drawingml/2006/main">
            <a:off x="393982" y="4324350"/>
            <a:ext cx="421712" cy="428625"/>
          </a:xfrm>
          <a:prstGeom xmlns:a="http://schemas.openxmlformats.org/drawingml/2006/main" prst="rect">
            <a:avLst/>
          </a:prstGeom>
        </p:spPr>
      </p:pic>
      <p:sp>
        <p:nvSpPr>
          <p:cNvPr id="16" name="Straight Connector 15">
            <a:extLst xmlns:a="http://schemas.openxmlformats.org/drawingml/2006/main">
              <a:ext uri="{FF2B5EF4-FFF2-40B4-BE49-F238E27FC236}">
                <a16:creationId xmlns:a16="http://schemas.microsoft.com/office/drawing/2014/main" id="{E759DF85-0D2B-4D4D-AE69-1E06A1ACC36C}"/>
              </a:ext>
            </a:extLst>
          </p:cNvPr>
          <p:cNvSpPr>
            <a:spLocks xmlns:a="http://schemas.openxmlformats.org/drawingml/2006/main" noGrp="1"/>
          </p:cNvSpPr>
          <p:nvPr/>
        </p:nvSpPr>
        <p:spPr>
          <a:xfrm xmlns:a="http://schemas.openxmlformats.org/drawingml/2006/main">
            <a:off x="962025" y="4362450"/>
            <a:ext cx="0" cy="409575"/>
          </a:xfrm>
          <a:prstGeom xmlns:a="http://schemas.openxmlformats.org/drawingml/2006/main" prst="line">
            <a:avLst/>
          </a:prstGeom>
          <a:noFill xmlns:a="http://schemas.openxmlformats.org/drawingml/2006/main"/>
          <a:ln xmlns:a="http://schemas.openxmlformats.org/drawingml/2006/main" w="9525">
            <a:solidFill>
              <a:srgbClr val="7D8682"/>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0443DB73-AC2E-40D2-9DC7-AC7350722250}"/>
              </a:ext>
            </a:extLst>
          </p:cNvPr>
          <p:cNvSpPr>
            <a:spLocks xmlns:a="http://schemas.openxmlformats.org/drawingml/2006/main" noGrp="1"/>
          </p:cNvSpPr>
          <p:nvPr/>
        </p:nvSpPr>
        <p:spPr>
          <a:xfrm xmlns:a="http://schemas.openxmlformats.org/drawingml/2006/main">
            <a:off x="1114425" y="438150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Customer</a:t>
            </a:r>
          </a:p>
        </p:txBody>
      </p:sp>
      <p:sp>
        <p:nvSpPr>
          <p:cNvPr id="18" name="editable-customer-value">
            <a:extLst xmlns:a="http://schemas.openxmlformats.org/drawingml/2006/main">
              <a:ext uri="{FF2B5EF4-FFF2-40B4-BE49-F238E27FC236}">
                <a16:creationId xmlns:a16="http://schemas.microsoft.com/office/drawing/2014/main" id="{4AD28CCF-BA72-4191-93C3-93A18C2C1F13}"/>
              </a:ext>
            </a:extLst>
          </p:cNvPr>
          <p:cNvSpPr>
            <a:spLocks xmlns:a="http://schemas.openxmlformats.org/drawingml/2006/main" noGrp="1"/>
          </p:cNvSpPr>
          <p:nvPr/>
        </p:nvSpPr>
        <p:spPr>
          <a:xfrm xmlns:a="http://schemas.openxmlformats.org/drawingml/2006/main">
            <a:off x="1114425" y="46291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CLIENT</a:t>
            </a:r>
          </a:p>
        </p:txBody>
      </p:sp>
      <p:pic>
        <p:nvPicPr>
          <p:cNvPr id="52" name="Picture 45"/>
          <p:cNvPicPr>
            <a:picLocks xmlns:a="http://schemas.openxmlformats.org/drawingml/2006/main" noChangeAspect="1"/>
          </p:cNvPicPr>
          <p:nvPr/>
        </p:nvPicPr>
        <p:blipFill>
          <a:blip xmlns:r="http://schemas.openxmlformats.org/officeDocument/2006/relationships" xmlns:a="http://schemas.openxmlformats.org/drawingml/2006/main" r:embed="R9d0387d1193445fc"/>
          <a:stretch xmlns:a="http://schemas.openxmlformats.org/drawingml/2006/main"/>
        </p:blipFill>
        <p:spPr>
          <a:xfrm xmlns:a="http://schemas.openxmlformats.org/drawingml/2006/main">
            <a:off x="390525" y="4914900"/>
            <a:ext cx="428625" cy="428625"/>
          </a:xfrm>
          <a:prstGeom xmlns:a="http://schemas.openxmlformats.org/drawingml/2006/main" prst="rect">
            <a:avLst/>
          </a:prstGeom>
        </p:spPr>
      </p:pic>
      <p:sp>
        <p:nvSpPr>
          <p:cNvPr id="20" name="Straight Connector 19">
            <a:extLst xmlns:a="http://schemas.openxmlformats.org/drawingml/2006/main">
              <a:ext uri="{FF2B5EF4-FFF2-40B4-BE49-F238E27FC236}">
                <a16:creationId xmlns:a16="http://schemas.microsoft.com/office/drawing/2014/main" id="{96AB5EE4-7044-4726-B18C-20AA2A233344}"/>
              </a:ext>
            </a:extLst>
          </p:cNvPr>
          <p:cNvSpPr>
            <a:spLocks xmlns:a="http://schemas.openxmlformats.org/drawingml/2006/main" noGrp="1"/>
          </p:cNvSpPr>
          <p:nvPr/>
        </p:nvSpPr>
        <p:spPr>
          <a:xfrm xmlns:a="http://schemas.openxmlformats.org/drawingml/2006/main">
            <a:off x="962025" y="4953000"/>
            <a:ext cx="0" cy="409575"/>
          </a:xfrm>
          <a:prstGeom xmlns:a="http://schemas.openxmlformats.org/drawingml/2006/main" prst="line">
            <a:avLst/>
          </a:prstGeom>
          <a:noFill xmlns:a="http://schemas.openxmlformats.org/drawingml/2006/main"/>
          <a:ln xmlns:a="http://schemas.openxmlformats.org/drawingml/2006/main" w="9525">
            <a:solidFill>
              <a:srgbClr val="7D8682"/>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35177196-B61F-4C81-AAC6-28D79C3FDF5B}"/>
              </a:ext>
            </a:extLst>
          </p:cNvPr>
          <p:cNvSpPr>
            <a:spLocks xmlns:a="http://schemas.openxmlformats.org/drawingml/2006/main" noGrp="1"/>
          </p:cNvSpPr>
          <p:nvPr/>
        </p:nvSpPr>
        <p:spPr>
          <a:xfrm xmlns:a="http://schemas.openxmlformats.org/drawingml/2006/main">
            <a:off x="1114425" y="49720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Date</a:t>
            </a:r>
          </a:p>
        </p:txBody>
      </p:sp>
      <p:sp>
        <p:nvSpPr>
          <p:cNvPr id="22" name="editable-date-value">
            <a:extLst xmlns:a="http://schemas.openxmlformats.org/drawingml/2006/main">
              <a:ext uri="{FF2B5EF4-FFF2-40B4-BE49-F238E27FC236}">
                <a16:creationId xmlns:a16="http://schemas.microsoft.com/office/drawing/2014/main" id="{6714AA64-5295-4F4D-AF20-EA1670033FAC}"/>
              </a:ext>
            </a:extLst>
          </p:cNvPr>
          <p:cNvSpPr>
            <a:spLocks xmlns:a="http://schemas.openxmlformats.org/drawingml/2006/main" noGrp="1"/>
          </p:cNvSpPr>
          <p:nvPr/>
        </p:nvSpPr>
        <p:spPr>
          <a:xfrm xmlns:a="http://schemas.openxmlformats.org/drawingml/2006/main">
            <a:off x="1114425" y="52197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May 2025</a:t>
            </a:r>
          </a:p>
        </p:txBody>
      </p:sp>
      <p:pic>
        <p:nvPicPr>
          <p:cNvPr id="56" name="Picture 49"/>
          <p:cNvPicPr>
            <a:picLocks xmlns:a="http://schemas.openxmlformats.org/drawingml/2006/main" noChangeAspect="1"/>
          </p:cNvPicPr>
          <p:nvPr/>
        </p:nvPicPr>
        <p:blipFill>
          <a:blip xmlns:r="http://schemas.openxmlformats.org/officeDocument/2006/relationships" xmlns:a="http://schemas.openxmlformats.org/drawingml/2006/main" r:embed="Re21b5e8ec7f04e65"/>
          <a:stretch xmlns:a="http://schemas.openxmlformats.org/drawingml/2006/main"/>
        </p:blipFill>
        <p:spPr>
          <a:xfrm xmlns:a="http://schemas.openxmlformats.org/drawingml/2006/main">
            <a:off x="393982" y="5505450"/>
            <a:ext cx="421712" cy="428625"/>
          </a:xfrm>
          <a:prstGeom xmlns:a="http://schemas.openxmlformats.org/drawingml/2006/main" prst="rect">
            <a:avLst/>
          </a:prstGeom>
        </p:spPr>
      </p:pic>
      <p:sp>
        <p:nvSpPr>
          <p:cNvPr id="24" name="Straight Connector 23">
            <a:extLst xmlns:a="http://schemas.openxmlformats.org/drawingml/2006/main">
              <a:ext uri="{FF2B5EF4-FFF2-40B4-BE49-F238E27FC236}">
                <a16:creationId xmlns:a16="http://schemas.microsoft.com/office/drawing/2014/main" id="{7747E0ED-F6E3-4A6E-805F-BF461B458BC3}"/>
              </a:ext>
            </a:extLst>
          </p:cNvPr>
          <p:cNvSpPr>
            <a:spLocks xmlns:a="http://schemas.openxmlformats.org/drawingml/2006/main" noGrp="1"/>
          </p:cNvSpPr>
          <p:nvPr/>
        </p:nvSpPr>
        <p:spPr>
          <a:xfrm xmlns:a="http://schemas.openxmlformats.org/drawingml/2006/main">
            <a:off x="962025" y="5543550"/>
            <a:ext cx="0" cy="409575"/>
          </a:xfrm>
          <a:prstGeom xmlns:a="http://schemas.openxmlformats.org/drawingml/2006/main" prst="line">
            <a:avLst/>
          </a:prstGeom>
          <a:noFill xmlns:a="http://schemas.openxmlformats.org/drawingml/2006/main"/>
          <a:ln xmlns:a="http://schemas.openxmlformats.org/drawingml/2006/main" w="9525">
            <a:solidFill>
              <a:srgbClr val="7D8682"/>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D85059C6-86C5-407F-AAA0-5DDE6E430DC4}"/>
              </a:ext>
            </a:extLst>
          </p:cNvPr>
          <p:cNvSpPr>
            <a:spLocks xmlns:a="http://schemas.openxmlformats.org/drawingml/2006/main" noGrp="1"/>
          </p:cNvSpPr>
          <p:nvPr/>
        </p:nvSpPr>
        <p:spPr>
          <a:xfrm xmlns:a="http://schemas.openxmlformats.org/drawingml/2006/main">
            <a:off x="1114425" y="556260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Prepared By</a:t>
            </a:r>
          </a:p>
        </p:txBody>
      </p:sp>
      <p:sp>
        <p:nvSpPr>
          <p:cNvPr id="26" name="Rectangle 25">
            <a:extLst xmlns:a="http://schemas.openxmlformats.org/drawingml/2006/main">
              <a:ext uri="{FF2B5EF4-FFF2-40B4-BE49-F238E27FC236}">
                <a16:creationId xmlns:a16="http://schemas.microsoft.com/office/drawing/2014/main" id="{B355C64F-574D-445D-A577-666CBAF16A88}"/>
              </a:ext>
            </a:extLst>
          </p:cNvPr>
          <p:cNvSpPr>
            <a:spLocks xmlns:a="http://schemas.openxmlformats.org/drawingml/2006/main" noGrp="1"/>
          </p:cNvSpPr>
          <p:nvPr/>
        </p:nvSpPr>
        <p:spPr>
          <a:xfrm xmlns:a="http://schemas.openxmlformats.org/drawingml/2006/main">
            <a:off x="1114425" y="58102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Oracle Cloud VMware Specialist</a:t>
            </a:r>
          </a:p>
        </p:txBody>
      </p:sp>
      <p:pic>
        <p:nvPicPr>
          <p:cNvPr id="60" name="Picture 53"/>
          <p:cNvPicPr>
            <a:picLocks xmlns:a="http://schemas.openxmlformats.org/drawingml/2006/main" noChangeAspect="1"/>
          </p:cNvPicPr>
          <p:nvPr/>
        </p:nvPicPr>
        <p:blipFill>
          <a:blip xmlns:r="http://schemas.openxmlformats.org/officeDocument/2006/relationships" xmlns:a="http://schemas.openxmlformats.org/drawingml/2006/main" r:embed="R874dd63de86c475a"/>
          <a:stretch xmlns:a="http://schemas.openxmlformats.org/drawingml/2006/main"/>
        </p:blipFill>
        <p:spPr>
          <a:xfrm xmlns:a="http://schemas.openxmlformats.org/drawingml/2006/main">
            <a:off x="11449050" y="6353855"/>
            <a:ext cx="476250" cy="408214"/>
          </a:xfrm>
          <a:prstGeom xmlns:a="http://schemas.openxmlformats.org/drawingml/2006/main" prst="rect">
            <a:avLst/>
          </a:prstGeom>
        </p:spPr>
      </p:pic>
    </p:spTree>
    <p:extLst>
      <p:ext uri="{BB962C8B-B14F-4D97-AF65-F5344CB8AC3E}">
        <p14:creationId xmlns:p14="http://schemas.microsoft.com/office/powerpoint/2010/main" val="56292568"/>
      </p:ext>
    </p:extLst>
  </p:cSld>
</p:sld>
</file>

<file path=ppt/slides/slide2.xml><?xml version="1.0" encoding="utf-8"?>
<p:sld xmlns:p="http://schemas.openxmlformats.org/presentationml/2006/main">
  <p:cSld>
    <p:bg>
      <p:bgPr>
        <a:solidFill xmlns:a="http://schemas.openxmlformats.org/drawingml/2006/main">
          <a:srgbClr val="FCFBFA"/>
        </a:solidFill>
      </p:bgPr>
    </p:bg>
    <p:spTree>
      <p:nvGrpSpPr>
        <p:cNvPr id="1" name=""/>
        <p:cNvGrpSpPr/>
        <p:nvPr/>
      </p:nvGrpSpPr>
      <p:grpSpPr>
        <a:xfrm xmlns:a="http://schemas.openxmlformats.org/drawingml/2006/main"/>
      </p:grpSpPr>
      <p:sp>
        <p:nvSpPr>
          <p:cNvPr id="113" name="Oval 112">
            <a:extLst xmlns:a="http://schemas.openxmlformats.org/drawingml/2006/main">
              <a:ext uri="{FF2B5EF4-FFF2-40B4-BE49-F238E27FC236}">
                <a16:creationId xmlns:a16="http://schemas.microsoft.com/office/drawing/2014/main" id="{38D78533-4767-495E-B984-481F67FEE230}"/>
              </a:ext>
            </a:extLst>
          </p:cNvPr>
          <p:cNvSpPr>
            <a:spLocks xmlns:a="http://schemas.openxmlformats.org/drawingml/2006/main" noGrp="1"/>
          </p:cNvSpPr>
          <p:nvPr/>
        </p:nvSpPr>
        <p:spPr>
          <a:xfrm xmlns:a="http://schemas.openxmlformats.org/drawingml/2006/main">
            <a:off x="5067300" y="781050"/>
            <a:ext cx="38100" cy="38100"/>
          </a:xfrm>
          <a:prstGeom xmlns:a="http://schemas.openxmlformats.org/drawingml/2006/main" prst="ellipse">
            <a:avLst/>
          </a:prstGeom>
          <a:solidFill xmlns:a="http://schemas.openxmlformats.org/drawingml/2006/main">
            <a:srgbClr val="E9EC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C452F863-3813-49A4-941D-E7CCF7474F61}"/>
              </a:ext>
            </a:extLst>
          </p:cNvPr>
          <p:cNvSpPr>
            <a:spLocks xmlns:a="http://schemas.openxmlformats.org/drawingml/2006/main" noGrp="1"/>
          </p:cNvSpPr>
          <p:nvPr/>
        </p:nvSpPr>
        <p:spPr>
          <a:xfrm xmlns:a="http://schemas.openxmlformats.org/drawingml/2006/main">
            <a:off x="6829425" y="552450"/>
            <a:ext cx="57150" cy="57150"/>
          </a:xfrm>
          <a:prstGeom xmlns:a="http://schemas.openxmlformats.org/drawingml/2006/main" prst="ellipse">
            <a:avLst/>
          </a:prstGeom>
          <a:solidFill xmlns:a="http://schemas.openxmlformats.org/drawingml/2006/main">
            <a:srgbClr val="E9EC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63297081-6916-4391-B144-5CD441D83232}"/>
              </a:ext>
            </a:extLst>
          </p:cNvPr>
          <p:cNvSpPr>
            <a:spLocks xmlns:a="http://schemas.openxmlformats.org/drawingml/2006/main" noGrp="1"/>
          </p:cNvSpPr>
          <p:nvPr/>
        </p:nvSpPr>
        <p:spPr>
          <a:xfrm xmlns:a="http://schemas.openxmlformats.org/drawingml/2006/main">
            <a:off x="8810625" y="809625"/>
            <a:ext cx="28575" cy="28575"/>
          </a:xfrm>
          <a:prstGeom xmlns:a="http://schemas.openxmlformats.org/drawingml/2006/main" prst="ellipse">
            <a:avLst/>
          </a:prstGeom>
          <a:solidFill xmlns:a="http://schemas.openxmlformats.org/drawingml/2006/main">
            <a:srgbClr val="E9EC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C5CA7685-C3C1-427E-BF02-F43569942E85}"/>
              </a:ext>
            </a:extLst>
          </p:cNvPr>
          <p:cNvSpPr>
            <a:spLocks xmlns:a="http://schemas.openxmlformats.org/drawingml/2006/main" noGrp="1"/>
          </p:cNvSpPr>
          <p:nvPr/>
        </p:nvSpPr>
        <p:spPr>
          <a:xfrm xmlns:a="http://schemas.openxmlformats.org/drawingml/2006/main">
            <a:off x="11601450" y="923925"/>
            <a:ext cx="38100" cy="38100"/>
          </a:xfrm>
          <a:prstGeom xmlns:a="http://schemas.openxmlformats.org/drawingml/2006/main" prst="ellipse">
            <a:avLst/>
          </a:prstGeom>
          <a:solidFill xmlns:a="http://schemas.openxmlformats.org/drawingml/2006/main">
            <a:srgbClr val="E9EC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92C38F39-EBED-4F93-B013-B02B0F5ADCC9}"/>
              </a:ext>
            </a:extLst>
          </p:cNvPr>
          <p:cNvSpPr>
            <a:spLocks xmlns:a="http://schemas.openxmlformats.org/drawingml/2006/main" noGrp="1"/>
          </p:cNvSpPr>
          <p:nvPr/>
        </p:nvSpPr>
        <p:spPr>
          <a:xfrm xmlns:a="http://schemas.openxmlformats.org/drawingml/2006/main">
            <a:off x="9572625" y="1200150"/>
            <a:ext cx="19050" cy="19050"/>
          </a:xfrm>
          <a:prstGeom xmlns:a="http://schemas.openxmlformats.org/drawingml/2006/main" prst="ellipse">
            <a:avLst/>
          </a:prstGeom>
          <a:solidFill xmlns:a="http://schemas.openxmlformats.org/drawingml/2006/main">
            <a:srgbClr val="E9EC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48F9C96D-0CC2-40A2-9A43-7BD816F7273E}"/>
              </a:ext>
            </a:extLst>
          </p:cNvPr>
          <p:cNvSpPr>
            <a:spLocks xmlns:a="http://schemas.openxmlformats.org/drawingml/2006/main" noGrp="1"/>
          </p:cNvSpPr>
          <p:nvPr/>
        </p:nvSpPr>
        <p:spPr>
          <a:xfrm xmlns:a="http://schemas.openxmlformats.org/drawingml/2006/main">
            <a:off x="0" y="4686300"/>
            <a:ext cx="1333500" cy="2000250"/>
          </a:xfrm>
          <a:prstGeom xmlns:a="http://schemas.openxmlformats.org/drawingml/2006/main" prst="ellipse">
            <a:avLst/>
          </a:prstGeom>
          <a:solidFill xmlns:a="http://schemas.openxmlformats.org/drawingml/2006/main">
            <a:srgbClr val="F4F7F5"/>
          </a:solidFill>
          <a:ln xmlns:a="http://schemas.openxmlformats.org/drawingml/2006/main" w="9525">
            <a:solidFill>
              <a:srgbClr val="E5EAE7"/>
            </a:solidFill>
            <a:prstDash val="dot"/>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7A8B7D74-5D02-4DE2-B27B-5A0D87AF4699}"/>
              </a:ext>
            </a:extLst>
          </p:cNvPr>
          <p:cNvSpPr>
            <a:spLocks xmlns:a="http://schemas.openxmlformats.org/drawingml/2006/main" noGrp="1"/>
          </p:cNvSpPr>
          <p:nvPr/>
        </p:nvSpPr>
        <p:spPr>
          <a:xfrm xmlns:a="http://schemas.openxmlformats.org/drawingml/2006/main">
            <a:off x="10744200" y="5791200"/>
            <a:ext cx="1428750" cy="1066800"/>
          </a:xfrm>
          <a:prstGeom xmlns:a="http://schemas.openxmlformats.org/drawingml/2006/main" prst="ellipse">
            <a:avLst/>
          </a:prstGeom>
          <a:solidFill xmlns:a="http://schemas.openxmlformats.org/drawingml/2006/main">
            <a:srgbClr val="F7F8F7"/>
          </a:solidFill>
          <a:ln xmlns:a="http://schemas.openxmlformats.org/drawingml/2006/main" w="9525">
            <a:solidFill>
              <a:srgbClr val="E3E8E4"/>
            </a:solidFill>
            <a:prstDash val="dot"/>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55A46560-09CB-410A-B1A9-CFFC0A24F6C8}"/>
              </a:ext>
            </a:extLst>
          </p:cNvPr>
          <p:cNvSpPr>
            <a:spLocks xmlns:a="http://schemas.openxmlformats.org/drawingml/2006/main" noGrp="1"/>
          </p:cNvSpPr>
          <p:nvPr/>
        </p:nvSpPr>
        <p:spPr>
          <a:xfrm xmlns:a="http://schemas.openxmlformats.org/drawingml/2006/main">
            <a:off x="304800" y="304800"/>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700" b="1" i="0">
                <a:solidFill>
                  <a:srgbClr val="003B25"/>
                </a:solidFill>
                <a:latin typeface="Arial"/>
                <a:ea typeface="Arial"/>
                <a:cs typeface="Arial"/>
              </a:defRPr>
            </a:pPr>
            <a:r>
              <a:rPr sz="2700" b="1" i="0">
                <a:solidFill>
                  <a:srgbClr val="003B25"/>
                </a:solidFill>
                <a:latin typeface="Arial"/>
                <a:ea typeface="Arial"/>
                <a:cs typeface="Arial"/>
              </a:rPr>
              <a:t>Hybrid Migration with Oracle Cloud</a:t>
            </a:r>
          </a:p>
        </p:txBody>
      </p:sp>
      <p:sp>
        <p:nvSpPr>
          <p:cNvPr id="9" name="Rectangle 8">
            <a:extLst xmlns:a="http://schemas.openxmlformats.org/drawingml/2006/main">
              <a:ext uri="{FF2B5EF4-FFF2-40B4-BE49-F238E27FC236}">
                <a16:creationId xmlns:a16="http://schemas.microsoft.com/office/drawing/2014/main" id="{2E1C88A0-D8A6-4F14-AF3F-729BBCA2117B}"/>
              </a:ext>
            </a:extLst>
          </p:cNvPr>
          <p:cNvSpPr>
            <a:spLocks xmlns:a="http://schemas.openxmlformats.org/drawingml/2006/main" noGrp="1"/>
          </p:cNvSpPr>
          <p:nvPr/>
        </p:nvSpPr>
        <p:spPr>
          <a:xfrm xmlns:a="http://schemas.openxmlformats.org/drawingml/2006/main">
            <a:off x="304800" y="857250"/>
            <a:ext cx="876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75" b="0" i="0">
                <a:solidFill>
                  <a:srgbClr val="565656"/>
                </a:solidFill>
                <a:latin typeface="Arial"/>
                <a:ea typeface="Arial"/>
                <a:cs typeface="Arial"/>
              </a:defRPr>
            </a:pPr>
            <a:r>
              <a:rPr sz="1275" b="0" i="0">
                <a:solidFill>
                  <a:srgbClr val="565656"/>
                </a:solidFill>
                <a:latin typeface="Arial"/>
                <a:ea typeface="Arial"/>
                <a:cs typeface="Arial"/>
              </a:rPr>
              <a:t>Combine Oracle Cloud VMware Solution (OCVS) and OCI Compute to modernize workloads at your own pace.</a:t>
            </a:r>
          </a:p>
        </p:txBody>
      </p:sp>
      <p:sp>
        <p:nvSpPr>
          <p:cNvPr id="10" name="Rectangle 9">
            <a:extLst xmlns:a="http://schemas.openxmlformats.org/drawingml/2006/main">
              <a:ext uri="{FF2B5EF4-FFF2-40B4-BE49-F238E27FC236}">
                <a16:creationId xmlns:a16="http://schemas.microsoft.com/office/drawing/2014/main" id="{436C4A35-ADA8-45E3-8D41-05CE15F5DF0A}"/>
              </a:ext>
            </a:extLst>
          </p:cNvPr>
          <p:cNvSpPr>
            <a:spLocks xmlns:a="http://schemas.openxmlformats.org/drawingml/2006/main" noGrp="1"/>
          </p:cNvSpPr>
          <p:nvPr/>
        </p:nvSpPr>
        <p:spPr>
          <a:xfrm xmlns:a="http://schemas.openxmlformats.org/drawingml/2006/main">
            <a:off x="314325" y="1143000"/>
            <a:ext cx="361950" cy="38100"/>
          </a:xfrm>
          <a:prstGeom xmlns:a="http://schemas.openxmlformats.org/drawingml/2006/main" prst="rect">
            <a:avLst/>
          </a:prstGeom>
          <a:solidFill xmlns:a="http://schemas.openxmlformats.org/drawingml/2006/main">
            <a:srgbClr val="E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54" name="Picture 122"/>
          <p:cNvPicPr>
            <a:picLocks xmlns:a="http://schemas.openxmlformats.org/drawingml/2006/main" noChangeAspect="1"/>
          </p:cNvPicPr>
          <p:nvPr/>
        </p:nvPicPr>
        <p:blipFill>
          <a:blip xmlns:r="http://schemas.openxmlformats.org/officeDocument/2006/relationships" xmlns:a="http://schemas.openxmlformats.org/drawingml/2006/main" r:embed="Rf46414fa9fba44cf"/>
          <a:stretch xmlns:a="http://schemas.openxmlformats.org/drawingml/2006/main"/>
        </p:blipFill>
        <p:spPr>
          <a:xfrm xmlns:a="http://schemas.openxmlformats.org/drawingml/2006/main">
            <a:off x="9582150" y="340338"/>
            <a:ext cx="2324100" cy="271825"/>
          </a:xfrm>
          <a:prstGeom xmlns:a="http://schemas.openxmlformats.org/drawingml/2006/main" prst="rect">
            <a:avLst/>
          </a:prstGeom>
        </p:spPr>
      </p:pic>
      <p:sp>
        <p:nvSpPr>
          <p:cNvPr id="12" name="Rounded Rectangle 11">
            <a:extLst xmlns:a="http://schemas.openxmlformats.org/drawingml/2006/main">
              <a:ext uri="{FF2B5EF4-FFF2-40B4-BE49-F238E27FC236}">
                <a16:creationId xmlns:a16="http://schemas.microsoft.com/office/drawing/2014/main" id="{C58D98EE-C112-4B62-B525-BDFC5C0106F7}"/>
              </a:ext>
            </a:extLst>
          </p:cNvPr>
          <p:cNvSpPr>
            <a:spLocks xmlns:a="http://schemas.openxmlformats.org/drawingml/2006/main" noGrp="1"/>
          </p:cNvSpPr>
          <p:nvPr/>
        </p:nvSpPr>
        <p:spPr>
          <a:xfrm xmlns:a="http://schemas.openxmlformats.org/drawingml/2006/main">
            <a:off x="304800" y="1295400"/>
            <a:ext cx="946785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C9D1CD"/>
            </a:solidFill>
            <a:prstDash val="solid"/>
          </a:ln>
        </p:spPr>
        <p:txBody>
          <a:bodyPr xmlns:a="http://schemas.openxmlformats.org/drawingml/2006/main"/>
          <a:lstStyle xmlns:a="http://schemas.openxmlformats.org/drawingml/2006/main"/>
          <a:p xmlns:a="http://schemas.openxmlformats.org/drawingml/2006/main">
            <a:endParaRPr/>
          </a:p>
        </p:txBody>
      </p:sp>
      <p:pic>
        <p:nvPicPr>
          <p:cNvPr id="156" name="Picture 124"/>
          <p:cNvPicPr>
            <a:picLocks xmlns:a="http://schemas.openxmlformats.org/drawingml/2006/main" noChangeAspect="1"/>
          </p:cNvPicPr>
          <p:nvPr/>
        </p:nvPicPr>
        <p:blipFill>
          <a:blip xmlns:r="http://schemas.openxmlformats.org/officeDocument/2006/relationships" xmlns:a="http://schemas.openxmlformats.org/drawingml/2006/main" r:embed="R1acd9ec13af74a9c"/>
          <a:stretch xmlns:a="http://schemas.openxmlformats.org/drawingml/2006/main"/>
        </p:blipFill>
        <p:spPr>
          <a:xfrm xmlns:a="http://schemas.openxmlformats.org/drawingml/2006/main">
            <a:off x="447675" y="1413646"/>
            <a:ext cx="552450" cy="544558"/>
          </a:xfrm>
          <a:prstGeom xmlns:a="http://schemas.openxmlformats.org/drawingml/2006/main" prst="rect">
            <a:avLst/>
          </a:prstGeom>
        </p:spPr>
      </p:pic>
      <p:sp>
        <p:nvSpPr>
          <p:cNvPr id="14" name="Rectangle 13">
            <a:extLst xmlns:a="http://schemas.openxmlformats.org/drawingml/2006/main">
              <a:ext uri="{FF2B5EF4-FFF2-40B4-BE49-F238E27FC236}">
                <a16:creationId xmlns:a16="http://schemas.microsoft.com/office/drawing/2014/main" id="{17EC2ACB-D075-4DA6-A1EA-83FAD6799511}"/>
              </a:ext>
            </a:extLst>
          </p:cNvPr>
          <p:cNvSpPr>
            <a:spLocks xmlns:a="http://schemas.openxmlformats.org/drawingml/2006/main" noGrp="1"/>
          </p:cNvSpPr>
          <p:nvPr/>
        </p:nvSpPr>
        <p:spPr>
          <a:xfrm xmlns:a="http://schemas.openxmlformats.org/drawingml/2006/main">
            <a:off x="1095375" y="15240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3000"/>
              </a:lnSpc>
              <a:buNone/>
              <a:defRPr sz="975" b="1" i="0">
                <a:solidFill>
                  <a:srgbClr val="111111"/>
                </a:solidFill>
                <a:latin typeface="Arial"/>
                <a:ea typeface="Arial"/>
                <a:cs typeface="Arial"/>
              </a:defRPr>
            </a:pPr>
            <a:r>
              <a:rPr sz="975" b="1" i="0">
                <a:solidFill>
                  <a:srgbClr val="111111"/>
                </a:solidFill>
                <a:latin typeface="Arial"/>
                <a:ea typeface="Arial"/>
                <a:cs typeface="Arial"/>
              </a:rPr>
              <a:t>Flexibility to run and</a:t>
            </a:r>
          </a:p>
          <a:p xmlns:a="http://schemas.openxmlformats.org/drawingml/2006/main">
            <a:pPr algn="l">
              <a:lnSpc>
                <a:spcPct val="113000"/>
              </a:lnSpc>
              <a:buNone/>
              <a:defRPr sz="975" b="1" i="0">
                <a:solidFill>
                  <a:srgbClr val="111111"/>
                </a:solidFill>
                <a:latin typeface="Arial"/>
                <a:ea typeface="Arial"/>
                <a:cs typeface="Arial"/>
              </a:defRPr>
            </a:pPr>
            <a:r>
              <a:rPr sz="975" b="1" i="0">
                <a:solidFill>
                  <a:srgbClr val="111111"/>
                </a:solidFill>
                <a:latin typeface="Arial"/>
                <a:ea typeface="Arial"/>
                <a:cs typeface="Arial"/>
              </a:rPr>
              <a:t>modernize at your pace</a:t>
            </a:r>
          </a:p>
        </p:txBody>
      </p:sp>
      <p:sp>
        <p:nvSpPr>
          <p:cNvPr id="15" name="Straight Connector 14">
            <a:extLst xmlns:a="http://schemas.openxmlformats.org/drawingml/2006/main">
              <a:ext uri="{FF2B5EF4-FFF2-40B4-BE49-F238E27FC236}">
                <a16:creationId xmlns:a16="http://schemas.microsoft.com/office/drawing/2014/main" id="{2C8EA5B6-3BD4-485A-88DC-D34148B0C32B}"/>
              </a:ext>
            </a:extLst>
          </p:cNvPr>
          <p:cNvSpPr>
            <a:spLocks xmlns:a="http://schemas.openxmlformats.org/drawingml/2006/main" noGrp="1"/>
          </p:cNvSpPr>
          <p:nvPr/>
        </p:nvSpPr>
        <p:spPr>
          <a:xfrm xmlns:a="http://schemas.openxmlformats.org/drawingml/2006/main">
            <a:off x="2790825" y="1466850"/>
            <a:ext cx="0" cy="41910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59" name="Picture 127"/>
          <p:cNvPicPr>
            <a:picLocks xmlns:a="http://schemas.openxmlformats.org/drawingml/2006/main" noChangeAspect="1"/>
          </p:cNvPicPr>
          <p:nvPr/>
        </p:nvPicPr>
        <p:blipFill>
          <a:blip xmlns:r="http://schemas.openxmlformats.org/officeDocument/2006/relationships" xmlns:a="http://schemas.openxmlformats.org/drawingml/2006/main" r:embed="R8435a248a6814d9d"/>
          <a:stretch xmlns:a="http://schemas.openxmlformats.org/drawingml/2006/main"/>
        </p:blipFill>
        <p:spPr>
          <a:xfrm xmlns:a="http://schemas.openxmlformats.org/drawingml/2006/main">
            <a:off x="3067050" y="1409700"/>
            <a:ext cx="552450" cy="552450"/>
          </a:xfrm>
          <a:prstGeom xmlns:a="http://schemas.openxmlformats.org/drawingml/2006/main" prst="rect">
            <a:avLst/>
          </a:prstGeom>
        </p:spPr>
      </p:pic>
      <p:sp>
        <p:nvSpPr>
          <p:cNvPr id="17" name="Rectangle 16">
            <a:extLst xmlns:a="http://schemas.openxmlformats.org/drawingml/2006/main">
              <a:ext uri="{FF2B5EF4-FFF2-40B4-BE49-F238E27FC236}">
                <a16:creationId xmlns:a16="http://schemas.microsoft.com/office/drawing/2014/main" id="{85F547F3-CBE3-4037-B51A-B086086DF3D0}"/>
              </a:ext>
            </a:extLst>
          </p:cNvPr>
          <p:cNvSpPr>
            <a:spLocks xmlns:a="http://schemas.openxmlformats.org/drawingml/2006/main" noGrp="1"/>
          </p:cNvSpPr>
          <p:nvPr/>
        </p:nvSpPr>
        <p:spPr>
          <a:xfrm xmlns:a="http://schemas.openxmlformats.org/drawingml/2006/main">
            <a:off x="3676650" y="15240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3000"/>
              </a:lnSpc>
              <a:buNone/>
              <a:defRPr sz="975" b="1" i="0">
                <a:solidFill>
                  <a:srgbClr val="111111"/>
                </a:solidFill>
                <a:latin typeface="Arial"/>
                <a:ea typeface="Arial"/>
                <a:cs typeface="Arial"/>
              </a:defRPr>
            </a:pPr>
            <a:r>
              <a:rPr sz="975" b="1" i="0">
                <a:solidFill>
                  <a:srgbClr val="111111"/>
                </a:solidFill>
                <a:latin typeface="Arial"/>
                <a:ea typeface="Arial"/>
                <a:cs typeface="Arial"/>
              </a:rPr>
              <a:t>Optimize costs and</a:t>
            </a:r>
          </a:p>
          <a:p xmlns:a="http://schemas.openxmlformats.org/drawingml/2006/main">
            <a:pPr algn="l">
              <a:lnSpc>
                <a:spcPct val="113000"/>
              </a:lnSpc>
              <a:buNone/>
              <a:defRPr sz="975" b="1" i="0">
                <a:solidFill>
                  <a:srgbClr val="111111"/>
                </a:solidFill>
                <a:latin typeface="Arial"/>
                <a:ea typeface="Arial"/>
                <a:cs typeface="Arial"/>
              </a:defRPr>
            </a:pPr>
            <a:r>
              <a:rPr sz="975" b="1" i="0">
                <a:solidFill>
                  <a:srgbClr val="111111"/>
                </a:solidFill>
                <a:latin typeface="Arial"/>
                <a:ea typeface="Arial"/>
                <a:cs typeface="Arial"/>
              </a:rPr>
              <a:t>improve efficiency</a:t>
            </a:r>
          </a:p>
        </p:txBody>
      </p:sp>
      <p:sp>
        <p:nvSpPr>
          <p:cNvPr id="18" name="Straight Connector 17">
            <a:extLst xmlns:a="http://schemas.openxmlformats.org/drawingml/2006/main">
              <a:ext uri="{FF2B5EF4-FFF2-40B4-BE49-F238E27FC236}">
                <a16:creationId xmlns:a16="http://schemas.microsoft.com/office/drawing/2014/main" id="{0AE10538-CCD2-41E0-BB4D-1CC0924C1D59}"/>
              </a:ext>
            </a:extLst>
          </p:cNvPr>
          <p:cNvSpPr>
            <a:spLocks xmlns:a="http://schemas.openxmlformats.org/drawingml/2006/main" noGrp="1"/>
          </p:cNvSpPr>
          <p:nvPr/>
        </p:nvSpPr>
        <p:spPr>
          <a:xfrm xmlns:a="http://schemas.openxmlformats.org/drawingml/2006/main">
            <a:off x="5067300" y="1466850"/>
            <a:ext cx="0" cy="41910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62" name="Picture 130"/>
          <p:cNvPicPr>
            <a:picLocks xmlns:a="http://schemas.openxmlformats.org/drawingml/2006/main" noChangeAspect="1"/>
          </p:cNvPicPr>
          <p:nvPr/>
        </p:nvPicPr>
        <p:blipFill>
          <a:blip xmlns:r="http://schemas.openxmlformats.org/officeDocument/2006/relationships" xmlns:a="http://schemas.openxmlformats.org/drawingml/2006/main" r:embed="Rc21d33ceec5f4b08"/>
          <a:stretch xmlns:a="http://schemas.openxmlformats.org/drawingml/2006/main"/>
        </p:blipFill>
        <p:spPr>
          <a:xfrm xmlns:a="http://schemas.openxmlformats.org/drawingml/2006/main">
            <a:off x="5334000" y="1413646"/>
            <a:ext cx="552450" cy="544558"/>
          </a:xfrm>
          <a:prstGeom xmlns:a="http://schemas.openxmlformats.org/drawingml/2006/main" prst="rect">
            <a:avLst/>
          </a:prstGeom>
        </p:spPr>
      </p:pic>
      <p:sp>
        <p:nvSpPr>
          <p:cNvPr id="20" name="Rectangle 19">
            <a:extLst xmlns:a="http://schemas.openxmlformats.org/drawingml/2006/main">
              <a:ext uri="{FF2B5EF4-FFF2-40B4-BE49-F238E27FC236}">
                <a16:creationId xmlns:a16="http://schemas.microsoft.com/office/drawing/2014/main" id="{BA3A0681-5F20-4CAD-ACBF-98ABFCB202F8}"/>
              </a:ext>
            </a:extLst>
          </p:cNvPr>
          <p:cNvSpPr>
            <a:spLocks xmlns:a="http://schemas.openxmlformats.org/drawingml/2006/main" noGrp="1"/>
          </p:cNvSpPr>
          <p:nvPr/>
        </p:nvSpPr>
        <p:spPr>
          <a:xfrm xmlns:a="http://schemas.openxmlformats.org/drawingml/2006/main">
            <a:off x="5943600" y="15240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3000"/>
              </a:lnSpc>
              <a:buNone/>
              <a:defRPr sz="975" b="1" i="0">
                <a:solidFill>
                  <a:srgbClr val="111111"/>
                </a:solidFill>
                <a:latin typeface="Arial"/>
                <a:ea typeface="Arial"/>
                <a:cs typeface="Arial"/>
              </a:defRPr>
            </a:pPr>
            <a:r>
              <a:rPr sz="975" b="1" i="0">
                <a:solidFill>
                  <a:srgbClr val="111111"/>
                </a:solidFill>
                <a:latin typeface="Arial"/>
                <a:ea typeface="Arial"/>
                <a:cs typeface="Arial"/>
              </a:rPr>
              <a:t>Leverage best-in-class</a:t>
            </a:r>
          </a:p>
          <a:p xmlns:a="http://schemas.openxmlformats.org/drawingml/2006/main">
            <a:pPr algn="l">
              <a:lnSpc>
                <a:spcPct val="113000"/>
              </a:lnSpc>
              <a:buNone/>
              <a:defRPr sz="975" b="1" i="0">
                <a:solidFill>
                  <a:srgbClr val="111111"/>
                </a:solidFill>
                <a:latin typeface="Arial"/>
                <a:ea typeface="Arial"/>
                <a:cs typeface="Arial"/>
              </a:defRPr>
            </a:pPr>
            <a:r>
              <a:rPr sz="975" b="1" i="0">
                <a:solidFill>
                  <a:srgbClr val="111111"/>
                </a:solidFill>
                <a:latin typeface="Arial"/>
                <a:ea typeface="Arial"/>
                <a:cs typeface="Arial"/>
              </a:rPr>
              <a:t>security and reliability</a:t>
            </a:r>
          </a:p>
        </p:txBody>
      </p:sp>
      <p:sp>
        <p:nvSpPr>
          <p:cNvPr id="21" name="Straight Connector 20">
            <a:extLst xmlns:a="http://schemas.openxmlformats.org/drawingml/2006/main">
              <a:ext uri="{FF2B5EF4-FFF2-40B4-BE49-F238E27FC236}">
                <a16:creationId xmlns:a16="http://schemas.microsoft.com/office/drawing/2014/main" id="{6D5E2A3A-CAF1-4908-B594-7181EB69BA06}"/>
              </a:ext>
            </a:extLst>
          </p:cNvPr>
          <p:cNvSpPr>
            <a:spLocks xmlns:a="http://schemas.openxmlformats.org/drawingml/2006/main" noGrp="1"/>
          </p:cNvSpPr>
          <p:nvPr/>
        </p:nvSpPr>
        <p:spPr>
          <a:xfrm xmlns:a="http://schemas.openxmlformats.org/drawingml/2006/main">
            <a:off x="7448550" y="1466850"/>
            <a:ext cx="0" cy="41910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65" name="Picture 133"/>
          <p:cNvPicPr>
            <a:picLocks xmlns:a="http://schemas.openxmlformats.org/drawingml/2006/main" noChangeAspect="1"/>
          </p:cNvPicPr>
          <p:nvPr/>
        </p:nvPicPr>
        <p:blipFill>
          <a:blip xmlns:r="http://schemas.openxmlformats.org/officeDocument/2006/relationships" xmlns:a="http://schemas.openxmlformats.org/drawingml/2006/main" r:embed="R7c64ce9aace5446f"/>
          <a:stretch xmlns:a="http://schemas.openxmlformats.org/drawingml/2006/main"/>
        </p:blipFill>
        <p:spPr>
          <a:xfrm xmlns:a="http://schemas.openxmlformats.org/drawingml/2006/main">
            <a:off x="7667625" y="1413646"/>
            <a:ext cx="552450" cy="544558"/>
          </a:xfrm>
          <a:prstGeom xmlns:a="http://schemas.openxmlformats.org/drawingml/2006/main" prst="rect">
            <a:avLst/>
          </a:prstGeom>
        </p:spPr>
      </p:pic>
      <p:sp>
        <p:nvSpPr>
          <p:cNvPr id="23" name="Rectangle 22">
            <a:extLst xmlns:a="http://schemas.openxmlformats.org/drawingml/2006/main">
              <a:ext uri="{FF2B5EF4-FFF2-40B4-BE49-F238E27FC236}">
                <a16:creationId xmlns:a16="http://schemas.microsoft.com/office/drawing/2014/main" id="{7A9DB70C-24A3-45C5-9296-E22053610F4B}"/>
              </a:ext>
            </a:extLst>
          </p:cNvPr>
          <p:cNvSpPr>
            <a:spLocks xmlns:a="http://schemas.openxmlformats.org/drawingml/2006/main" noGrp="1"/>
          </p:cNvSpPr>
          <p:nvPr/>
        </p:nvSpPr>
        <p:spPr>
          <a:xfrm xmlns:a="http://schemas.openxmlformats.org/drawingml/2006/main">
            <a:off x="8258175" y="15240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3000"/>
              </a:lnSpc>
              <a:buNone/>
              <a:defRPr sz="975" b="1" i="0">
                <a:solidFill>
                  <a:srgbClr val="111111"/>
                </a:solidFill>
                <a:latin typeface="Arial"/>
                <a:ea typeface="Arial"/>
                <a:cs typeface="Arial"/>
              </a:defRPr>
            </a:pPr>
            <a:r>
              <a:rPr sz="975" b="1" i="0">
                <a:solidFill>
                  <a:srgbClr val="111111"/>
                </a:solidFill>
                <a:latin typeface="Arial"/>
                <a:ea typeface="Arial"/>
                <a:cs typeface="Arial"/>
              </a:rPr>
              <a:t>Accelerate innovation</a:t>
            </a:r>
          </a:p>
          <a:p xmlns:a="http://schemas.openxmlformats.org/drawingml/2006/main">
            <a:pPr algn="l">
              <a:lnSpc>
                <a:spcPct val="113000"/>
              </a:lnSpc>
              <a:buNone/>
              <a:defRPr sz="975" b="1" i="0">
                <a:solidFill>
                  <a:srgbClr val="111111"/>
                </a:solidFill>
                <a:latin typeface="Arial"/>
                <a:ea typeface="Arial"/>
                <a:cs typeface="Arial"/>
              </a:defRPr>
            </a:pPr>
            <a:r>
              <a:rPr sz="975" b="1" i="0">
                <a:solidFill>
                  <a:srgbClr val="111111"/>
                </a:solidFill>
                <a:latin typeface="Arial"/>
                <a:ea typeface="Arial"/>
                <a:cs typeface="Arial"/>
              </a:rPr>
              <a:t>with cloud-native services</a:t>
            </a:r>
          </a:p>
        </p:txBody>
      </p:sp>
      <p:sp>
        <p:nvSpPr>
          <p:cNvPr id="24" name="Rounded Rectangle 23">
            <a:extLst xmlns:a="http://schemas.openxmlformats.org/drawingml/2006/main">
              <a:ext uri="{FF2B5EF4-FFF2-40B4-BE49-F238E27FC236}">
                <a16:creationId xmlns:a16="http://schemas.microsoft.com/office/drawing/2014/main" id="{D438146C-B236-47BF-8E2F-E45185AC60C5}"/>
              </a:ext>
            </a:extLst>
          </p:cNvPr>
          <p:cNvSpPr>
            <a:spLocks xmlns:a="http://schemas.openxmlformats.org/drawingml/2006/main" noGrp="1"/>
          </p:cNvSpPr>
          <p:nvPr/>
        </p:nvSpPr>
        <p:spPr>
          <a:xfrm xmlns:a="http://schemas.openxmlformats.org/drawingml/2006/main">
            <a:off x="304800" y="2181225"/>
            <a:ext cx="2714625" cy="3390900"/>
          </a:xfrm>
          <a:prstGeom xmlns:a="http://schemas.openxmlformats.org/drawingml/2006/main" prst="roundRect">
            <a:avLst>
              <a:gd name="adj" fmla="val 2807"/>
            </a:avLst>
          </a:prstGeom>
          <a:solidFill xmlns:a="http://schemas.openxmlformats.org/drawingml/2006/main">
            <a:srgbClr val="FFFFFF"/>
          </a:solidFill>
          <a:ln xmlns:a="http://schemas.openxmlformats.org/drawingml/2006/main" w="9525">
            <a:solidFill>
              <a:srgbClr val="1C6745"/>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Rounded Rectangle 24">
            <a:extLst xmlns:a="http://schemas.openxmlformats.org/drawingml/2006/main">
              <a:ext uri="{FF2B5EF4-FFF2-40B4-BE49-F238E27FC236}">
                <a16:creationId xmlns:a16="http://schemas.microsoft.com/office/drawing/2014/main" id="{66906A73-A24F-41E4-A587-F7D596B65281}"/>
              </a:ext>
            </a:extLst>
          </p:cNvPr>
          <p:cNvSpPr>
            <a:spLocks xmlns:a="http://schemas.openxmlformats.org/drawingml/2006/main" noGrp="1"/>
          </p:cNvSpPr>
          <p:nvPr/>
        </p:nvSpPr>
        <p:spPr>
          <a:xfrm xmlns:a="http://schemas.openxmlformats.org/drawingml/2006/main">
            <a:off x="304800" y="2181225"/>
            <a:ext cx="2714625" cy="371475"/>
          </a:xfrm>
          <a:prstGeom xmlns:a="http://schemas.openxmlformats.org/drawingml/2006/main" prst="roundRect">
            <a:avLst>
              <a:gd name="adj" fmla="val 17949"/>
            </a:avLst>
          </a:prstGeom>
          <a:gradFill xmlns:a="http://schemas.openxmlformats.org/drawingml/2006/main">
            <a:gsLst>
              <a:gs pos="0">
                <a:srgbClr val="003B25"/>
              </a:gs>
              <a:gs pos="100000">
                <a:srgbClr val="00462B"/>
              </a:gs>
            </a:gsLst>
            <a:lin ang="0"/>
          </a:gradFill>
          <a:ln xmlns:a="http://schemas.openxmlformats.org/drawingml/2006/main" w="0">
            <a:solidFill>
              <a:srgbClr val="003B25"/>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1F1FBE9D-1BDC-4A0D-BD1E-39A44071583C}"/>
              </a:ext>
            </a:extLst>
          </p:cNvPr>
          <p:cNvSpPr>
            <a:spLocks xmlns:a="http://schemas.openxmlformats.org/drawingml/2006/main" noGrp="1"/>
          </p:cNvSpPr>
          <p:nvPr/>
        </p:nvSpPr>
        <p:spPr>
          <a:xfrm xmlns:a="http://schemas.openxmlformats.org/drawingml/2006/main">
            <a:off x="304800" y="2286000"/>
            <a:ext cx="2714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FFFFFF"/>
                </a:solidFill>
                <a:latin typeface="Arial"/>
                <a:ea typeface="Arial"/>
                <a:cs typeface="Arial"/>
              </a:defRPr>
            </a:pPr>
            <a:r>
              <a:rPr sz="1050" b="1" i="0">
                <a:solidFill>
                  <a:srgbClr val="FFFFFF"/>
                </a:solidFill>
                <a:latin typeface="Arial"/>
                <a:ea typeface="Arial"/>
                <a:cs typeface="Arial"/>
              </a:rPr>
              <a:t>YOUR CURRENT ENVIRONMENT</a:t>
            </a:r>
          </a:p>
        </p:txBody>
      </p:sp>
      <p:pic>
        <p:nvPicPr>
          <p:cNvPr id="170" name="Picture 138"/>
          <p:cNvPicPr>
            <a:picLocks xmlns:a="http://schemas.openxmlformats.org/drawingml/2006/main" noChangeAspect="1"/>
          </p:cNvPicPr>
          <p:nvPr/>
        </p:nvPicPr>
        <p:blipFill>
          <a:blip xmlns:r="http://schemas.openxmlformats.org/officeDocument/2006/relationships" xmlns:a="http://schemas.openxmlformats.org/drawingml/2006/main" r:embed="R2ead978df27d410e"/>
          <a:stretch xmlns:a="http://schemas.openxmlformats.org/drawingml/2006/main"/>
        </p:blipFill>
        <p:spPr>
          <a:xfrm xmlns:a="http://schemas.openxmlformats.org/drawingml/2006/main">
            <a:off x="459074" y="2771775"/>
            <a:ext cx="320102" cy="476250"/>
          </a:xfrm>
          <a:prstGeom xmlns:a="http://schemas.openxmlformats.org/drawingml/2006/main" prst="rect">
            <a:avLst/>
          </a:prstGeom>
        </p:spPr>
      </p:pic>
      <p:sp>
        <p:nvSpPr>
          <p:cNvPr id="28" name="Rounded Rectangle 27">
            <a:extLst xmlns:a="http://schemas.openxmlformats.org/drawingml/2006/main">
              <a:ext uri="{FF2B5EF4-FFF2-40B4-BE49-F238E27FC236}">
                <a16:creationId xmlns:a16="http://schemas.microsoft.com/office/drawing/2014/main" id="{1FE31EB4-64A5-4E2E-AC5B-8BB5E726D7D3}"/>
              </a:ext>
            </a:extLst>
          </p:cNvPr>
          <p:cNvSpPr>
            <a:spLocks xmlns:a="http://schemas.openxmlformats.org/drawingml/2006/main" noGrp="1"/>
          </p:cNvSpPr>
          <p:nvPr/>
        </p:nvSpPr>
        <p:spPr>
          <a:xfrm xmlns:a="http://schemas.openxmlformats.org/drawingml/2006/main">
            <a:off x="876300" y="2838450"/>
            <a:ext cx="285750" cy="2857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C9D1CD"/>
            </a:solidFill>
            <a:prstDash val="solid"/>
          </a:ln>
        </p:spPr>
        <p:txBody>
          <a:bodyPr xmlns:a="http://schemas.openxmlformats.org/drawingml/2006/main" wrap="none" lIns="0" tIns="0" rIns="0" bIns="0" anchor="ctr"/>
          <a:lstStyle xmlns:a="http://schemas.openxmlformats.org/drawingml/2006/main"/>
          <a:p xmlns:a="http://schemas.openxmlformats.org/drawingml/2006/main">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VM</a:t>
            </a:r>
          </a:p>
        </p:txBody>
      </p:sp>
      <p:sp>
        <p:nvSpPr>
          <p:cNvPr id="29" name="Rounded Rectangle 28">
            <a:extLst xmlns:a="http://schemas.openxmlformats.org/drawingml/2006/main">
              <a:ext uri="{FF2B5EF4-FFF2-40B4-BE49-F238E27FC236}">
                <a16:creationId xmlns:a16="http://schemas.microsoft.com/office/drawing/2014/main" id="{F400ABEF-C375-4542-A692-619EC8665EF7}"/>
              </a:ext>
            </a:extLst>
          </p:cNvPr>
          <p:cNvSpPr>
            <a:spLocks xmlns:a="http://schemas.openxmlformats.org/drawingml/2006/main" noGrp="1"/>
          </p:cNvSpPr>
          <p:nvPr/>
        </p:nvSpPr>
        <p:spPr>
          <a:xfrm xmlns:a="http://schemas.openxmlformats.org/drawingml/2006/main">
            <a:off x="1276350" y="2838450"/>
            <a:ext cx="285750" cy="2857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C9D1CD"/>
            </a:solidFill>
            <a:prstDash val="solid"/>
          </a:ln>
        </p:spPr>
        <p:txBody>
          <a:bodyPr xmlns:a="http://schemas.openxmlformats.org/drawingml/2006/main" wrap="none" lIns="0" tIns="0" rIns="0" bIns="0" anchor="ctr"/>
          <a:lstStyle xmlns:a="http://schemas.openxmlformats.org/drawingml/2006/main"/>
          <a:p xmlns:a="http://schemas.openxmlformats.org/drawingml/2006/main">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VM</a:t>
            </a:r>
          </a:p>
        </p:txBody>
      </p:sp>
      <p:sp>
        <p:nvSpPr>
          <p:cNvPr id="30" name="Rounded Rectangle 29">
            <a:extLst xmlns:a="http://schemas.openxmlformats.org/drawingml/2006/main">
              <a:ext uri="{FF2B5EF4-FFF2-40B4-BE49-F238E27FC236}">
                <a16:creationId xmlns:a16="http://schemas.microsoft.com/office/drawing/2014/main" id="{F4C04305-7170-4011-91F9-43BBD730CCA5}"/>
              </a:ext>
            </a:extLst>
          </p:cNvPr>
          <p:cNvSpPr>
            <a:spLocks xmlns:a="http://schemas.openxmlformats.org/drawingml/2006/main" noGrp="1"/>
          </p:cNvSpPr>
          <p:nvPr/>
        </p:nvSpPr>
        <p:spPr>
          <a:xfrm xmlns:a="http://schemas.openxmlformats.org/drawingml/2006/main">
            <a:off x="1657350" y="2838450"/>
            <a:ext cx="285750" cy="2857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C9D1CD"/>
            </a:solidFill>
            <a:prstDash val="solid"/>
          </a:ln>
        </p:spPr>
        <p:txBody>
          <a:bodyPr xmlns:a="http://schemas.openxmlformats.org/drawingml/2006/main" wrap="none" lIns="0" tIns="0" rIns="0" bIns="0" anchor="ctr"/>
          <a:lstStyle xmlns:a="http://schemas.openxmlformats.org/drawingml/2006/main"/>
          <a:p xmlns:a="http://schemas.openxmlformats.org/drawingml/2006/main">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VM</a:t>
            </a:r>
          </a:p>
        </p:txBody>
      </p:sp>
      <p:sp>
        <p:nvSpPr>
          <p:cNvPr id="31" name="Rounded Rectangle 30">
            <a:extLst xmlns:a="http://schemas.openxmlformats.org/drawingml/2006/main">
              <a:ext uri="{FF2B5EF4-FFF2-40B4-BE49-F238E27FC236}">
                <a16:creationId xmlns:a16="http://schemas.microsoft.com/office/drawing/2014/main" id="{19F62289-DB44-403F-A207-259A542B11AE}"/>
              </a:ext>
            </a:extLst>
          </p:cNvPr>
          <p:cNvSpPr>
            <a:spLocks xmlns:a="http://schemas.openxmlformats.org/drawingml/2006/main" noGrp="1"/>
          </p:cNvSpPr>
          <p:nvPr/>
        </p:nvSpPr>
        <p:spPr>
          <a:xfrm xmlns:a="http://schemas.openxmlformats.org/drawingml/2006/main">
            <a:off x="2247900" y="2838450"/>
            <a:ext cx="285750" cy="2857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C9D1CD"/>
            </a:solidFill>
            <a:prstDash val="solid"/>
          </a:ln>
        </p:spPr>
        <p:txBody>
          <a:bodyPr xmlns:a="http://schemas.openxmlformats.org/drawingml/2006/main" wrap="none" lIns="0" tIns="0" rIns="0" bIns="0" anchor="ctr"/>
          <a:lstStyle xmlns:a="http://schemas.openxmlformats.org/drawingml/2006/main"/>
          <a:p xmlns:a="http://schemas.openxmlformats.org/drawingml/2006/main">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VM</a:t>
            </a:r>
          </a:p>
        </p:txBody>
      </p:sp>
      <p:sp>
        <p:nvSpPr>
          <p:cNvPr id="32" name="Rectangle 31">
            <a:extLst xmlns:a="http://schemas.openxmlformats.org/drawingml/2006/main">
              <a:ext uri="{FF2B5EF4-FFF2-40B4-BE49-F238E27FC236}">
                <a16:creationId xmlns:a16="http://schemas.microsoft.com/office/drawing/2014/main" id="{E0B1EDB4-4DAF-4B07-9CD1-E26D90D74E5B}"/>
              </a:ext>
            </a:extLst>
          </p:cNvPr>
          <p:cNvSpPr>
            <a:spLocks xmlns:a="http://schemas.openxmlformats.org/drawingml/2006/main" noGrp="1"/>
          </p:cNvSpPr>
          <p:nvPr/>
        </p:nvSpPr>
        <p:spPr>
          <a:xfrm xmlns:a="http://schemas.openxmlformats.org/drawingml/2006/main">
            <a:off x="2047875" y="2895600"/>
            <a:ext cx="228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75" b="1" i="0">
                <a:solidFill>
                  <a:srgbClr val="111111"/>
                </a:solidFill>
                <a:latin typeface="Arial"/>
                <a:ea typeface="Arial"/>
                <a:cs typeface="Arial"/>
              </a:defRPr>
            </a:pPr>
            <a:r>
              <a:rPr sz="975" b="1" i="0">
                <a:solidFill>
                  <a:srgbClr val="111111"/>
                </a:solidFill>
                <a:latin typeface="Arial"/>
                <a:ea typeface="Arial"/>
                <a:cs typeface="Arial"/>
              </a:rPr>
              <a:t>...</a:t>
            </a:r>
          </a:p>
        </p:txBody>
      </p:sp>
      <p:pic>
        <p:nvPicPr>
          <p:cNvPr id="176" name="Picture 144"/>
          <p:cNvPicPr>
            <a:picLocks xmlns:a="http://schemas.openxmlformats.org/drawingml/2006/main" noChangeAspect="1"/>
          </p:cNvPicPr>
          <p:nvPr/>
        </p:nvPicPr>
        <p:blipFill>
          <a:blip xmlns:r="http://schemas.openxmlformats.org/officeDocument/2006/relationships" xmlns:a="http://schemas.openxmlformats.org/drawingml/2006/main" r:embed="R8cc9d9c347854920"/>
          <a:stretch xmlns:a="http://schemas.openxmlformats.org/drawingml/2006/main"/>
        </p:blipFill>
        <p:spPr>
          <a:xfrm xmlns:a="http://schemas.openxmlformats.org/drawingml/2006/main">
            <a:off x="2674997" y="2828925"/>
            <a:ext cx="279280" cy="400050"/>
          </a:xfrm>
          <a:prstGeom xmlns:a="http://schemas.openxmlformats.org/drawingml/2006/main" prst="rect">
            <a:avLst/>
          </a:prstGeom>
        </p:spPr>
      </p:pic>
      <p:sp>
        <p:nvSpPr>
          <p:cNvPr id="34" name="Rectangle 33">
            <a:extLst xmlns:a="http://schemas.openxmlformats.org/drawingml/2006/main">
              <a:ext uri="{FF2B5EF4-FFF2-40B4-BE49-F238E27FC236}">
                <a16:creationId xmlns:a16="http://schemas.microsoft.com/office/drawing/2014/main" id="{D10C66AA-24A1-4432-ABE1-A12BC6755626}"/>
              </a:ext>
            </a:extLst>
          </p:cNvPr>
          <p:cNvSpPr>
            <a:spLocks xmlns:a="http://schemas.openxmlformats.org/drawingml/2006/main" noGrp="1"/>
          </p:cNvSpPr>
          <p:nvPr/>
        </p:nvSpPr>
        <p:spPr>
          <a:xfrm xmlns:a="http://schemas.openxmlformats.org/drawingml/2006/main">
            <a:off x="752475" y="337185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On-Premises VMware Environment</a:t>
            </a:r>
          </a:p>
        </p:txBody>
      </p:sp>
      <p:sp>
        <p:nvSpPr>
          <p:cNvPr id="35" name="Straight Connector 34">
            <a:extLst xmlns:a="http://schemas.openxmlformats.org/drawingml/2006/main">
              <a:ext uri="{FF2B5EF4-FFF2-40B4-BE49-F238E27FC236}">
                <a16:creationId xmlns:a16="http://schemas.microsoft.com/office/drawing/2014/main" id="{95713809-B3FA-4953-B403-C5CFFD92D37C}"/>
              </a:ext>
            </a:extLst>
          </p:cNvPr>
          <p:cNvSpPr>
            <a:spLocks xmlns:a="http://schemas.openxmlformats.org/drawingml/2006/main" noGrp="1"/>
          </p:cNvSpPr>
          <p:nvPr/>
        </p:nvSpPr>
        <p:spPr>
          <a:xfrm xmlns:a="http://schemas.openxmlformats.org/drawingml/2006/main">
            <a:off x="495300" y="3676650"/>
            <a:ext cx="2362200"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79" name="Picture 147"/>
          <p:cNvPicPr>
            <a:picLocks xmlns:a="http://schemas.openxmlformats.org/drawingml/2006/main" noChangeAspect="1"/>
          </p:cNvPicPr>
          <p:nvPr/>
        </p:nvPicPr>
        <p:blipFill>
          <a:blip xmlns:r="http://schemas.openxmlformats.org/officeDocument/2006/relationships" xmlns:a="http://schemas.openxmlformats.org/drawingml/2006/main" r:embed="R9a8d7e814bc641a1"/>
          <a:stretch xmlns:a="http://schemas.openxmlformats.org/drawingml/2006/main"/>
        </p:blipFill>
        <p:spPr>
          <a:xfrm xmlns:a="http://schemas.openxmlformats.org/drawingml/2006/main">
            <a:off x="495300" y="3926541"/>
            <a:ext cx="247650" cy="262218"/>
          </a:xfrm>
          <a:prstGeom xmlns:a="http://schemas.openxmlformats.org/drawingml/2006/main" prst="rect">
            <a:avLst/>
          </a:prstGeom>
        </p:spPr>
      </p:pic>
      <p:sp>
        <p:nvSpPr>
          <p:cNvPr id="37" name="Rectangle 36">
            <a:extLst xmlns:a="http://schemas.openxmlformats.org/drawingml/2006/main">
              <a:ext uri="{FF2B5EF4-FFF2-40B4-BE49-F238E27FC236}">
                <a16:creationId xmlns:a16="http://schemas.microsoft.com/office/drawing/2014/main" id="{FA6E09A6-4E67-4667-809B-BEB93C7A35BD}"/>
              </a:ext>
            </a:extLst>
          </p:cNvPr>
          <p:cNvSpPr>
            <a:spLocks xmlns:a="http://schemas.openxmlformats.org/drawingml/2006/main" noGrp="1"/>
          </p:cNvSpPr>
          <p:nvPr/>
        </p:nvSpPr>
        <p:spPr>
          <a:xfrm xmlns:a="http://schemas.openxmlformats.org/drawingml/2006/main">
            <a:off x="876300" y="3952875"/>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8000"/>
              </a:lnSpc>
              <a:buNone/>
              <a:defRPr sz="975" b="0" i="0">
                <a:solidFill>
                  <a:srgbClr val="111111"/>
                </a:solidFill>
                <a:latin typeface="Arial"/>
                <a:ea typeface="Arial"/>
                <a:cs typeface="Arial"/>
              </a:defRPr>
            </a:pPr>
            <a:r>
              <a:rPr sz="975" b="0" i="0">
                <a:solidFill>
                  <a:srgbClr val="111111"/>
                </a:solidFill>
                <a:latin typeface="Arial"/>
                <a:ea typeface="Arial"/>
                <a:cs typeface="Arial"/>
              </a:rPr>
              <a:t>Production workloads</a:t>
            </a:r>
          </a:p>
        </p:txBody>
      </p:sp>
      <p:pic>
        <p:nvPicPr>
          <p:cNvPr id="181" name="Picture 149"/>
          <p:cNvPicPr>
            <a:picLocks xmlns:a="http://schemas.openxmlformats.org/drawingml/2006/main" noChangeAspect="1"/>
          </p:cNvPicPr>
          <p:nvPr/>
        </p:nvPicPr>
        <p:blipFill>
          <a:blip xmlns:r="http://schemas.openxmlformats.org/officeDocument/2006/relationships" xmlns:a="http://schemas.openxmlformats.org/drawingml/2006/main" r:embed="R40a2a57f042940e0"/>
          <a:stretch xmlns:a="http://schemas.openxmlformats.org/drawingml/2006/main"/>
        </p:blipFill>
        <p:spPr>
          <a:xfrm xmlns:a="http://schemas.openxmlformats.org/drawingml/2006/main">
            <a:off x="495300" y="4347882"/>
            <a:ext cx="247650" cy="276785"/>
          </a:xfrm>
          <a:prstGeom xmlns:a="http://schemas.openxmlformats.org/drawingml/2006/main" prst="rect">
            <a:avLst/>
          </a:prstGeom>
        </p:spPr>
      </p:pic>
      <p:sp>
        <p:nvSpPr>
          <p:cNvPr id="39" name="Rectangle 38">
            <a:extLst xmlns:a="http://schemas.openxmlformats.org/drawingml/2006/main">
              <a:ext uri="{FF2B5EF4-FFF2-40B4-BE49-F238E27FC236}">
                <a16:creationId xmlns:a16="http://schemas.microsoft.com/office/drawing/2014/main" id="{B34266A7-A485-42E7-866C-05E0C0E69AE2}"/>
              </a:ext>
            </a:extLst>
          </p:cNvPr>
          <p:cNvSpPr>
            <a:spLocks xmlns:a="http://schemas.openxmlformats.org/drawingml/2006/main" noGrp="1"/>
          </p:cNvSpPr>
          <p:nvPr/>
        </p:nvSpPr>
        <p:spPr>
          <a:xfrm xmlns:a="http://schemas.openxmlformats.org/drawingml/2006/main">
            <a:off x="876300" y="4381500"/>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8000"/>
              </a:lnSpc>
              <a:buNone/>
              <a:defRPr sz="975" b="0" i="0">
                <a:solidFill>
                  <a:srgbClr val="111111"/>
                </a:solidFill>
                <a:latin typeface="Arial"/>
                <a:ea typeface="Arial"/>
                <a:cs typeface="Arial"/>
              </a:defRPr>
            </a:pPr>
            <a:r>
              <a:rPr sz="975" b="0" i="0">
                <a:solidFill>
                  <a:srgbClr val="111111"/>
                </a:solidFill>
                <a:latin typeface="Arial"/>
                <a:ea typeface="Arial"/>
                <a:cs typeface="Arial"/>
              </a:rPr>
              <a:t>Business critical applications</a:t>
            </a:r>
          </a:p>
        </p:txBody>
      </p:sp>
      <p:pic>
        <p:nvPicPr>
          <p:cNvPr id="183" name="Picture 151"/>
          <p:cNvPicPr>
            <a:picLocks xmlns:a="http://schemas.openxmlformats.org/drawingml/2006/main" noChangeAspect="1"/>
          </p:cNvPicPr>
          <p:nvPr/>
        </p:nvPicPr>
        <p:blipFill>
          <a:blip xmlns:r="http://schemas.openxmlformats.org/officeDocument/2006/relationships" xmlns:a="http://schemas.openxmlformats.org/drawingml/2006/main" r:embed="R02cd676a818343ec"/>
          <a:stretch xmlns:a="http://schemas.openxmlformats.org/drawingml/2006/main"/>
        </p:blipFill>
        <p:spPr>
          <a:xfrm xmlns:a="http://schemas.openxmlformats.org/drawingml/2006/main">
            <a:off x="495300" y="4760051"/>
            <a:ext cx="247650" cy="233499"/>
          </a:xfrm>
          <a:prstGeom xmlns:a="http://schemas.openxmlformats.org/drawingml/2006/main" prst="rect">
            <a:avLst/>
          </a:prstGeom>
        </p:spPr>
      </p:pic>
      <p:sp>
        <p:nvSpPr>
          <p:cNvPr id="41" name="Rectangle 40">
            <a:extLst xmlns:a="http://schemas.openxmlformats.org/drawingml/2006/main">
              <a:ext uri="{FF2B5EF4-FFF2-40B4-BE49-F238E27FC236}">
                <a16:creationId xmlns:a16="http://schemas.microsoft.com/office/drawing/2014/main" id="{834F0159-0058-48B1-9AE4-BF9F62D8AD86}"/>
              </a:ext>
            </a:extLst>
          </p:cNvPr>
          <p:cNvSpPr>
            <a:spLocks xmlns:a="http://schemas.openxmlformats.org/drawingml/2006/main" noGrp="1"/>
          </p:cNvSpPr>
          <p:nvPr/>
        </p:nvSpPr>
        <p:spPr>
          <a:xfrm xmlns:a="http://schemas.openxmlformats.org/drawingml/2006/main">
            <a:off x="876300" y="4772025"/>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8000"/>
              </a:lnSpc>
              <a:buNone/>
              <a:defRPr sz="975" b="0" i="0">
                <a:solidFill>
                  <a:srgbClr val="111111"/>
                </a:solidFill>
                <a:latin typeface="Arial"/>
                <a:ea typeface="Arial"/>
                <a:cs typeface="Arial"/>
              </a:defRPr>
            </a:pPr>
            <a:r>
              <a:rPr sz="975" b="0" i="0">
                <a:solidFill>
                  <a:srgbClr val="111111"/>
                </a:solidFill>
                <a:latin typeface="Arial"/>
                <a:ea typeface="Arial"/>
                <a:cs typeface="Arial"/>
              </a:rPr>
              <a:t>Users &amp; business operations</a:t>
            </a:r>
          </a:p>
        </p:txBody>
      </p:sp>
      <p:pic>
        <p:nvPicPr>
          <p:cNvPr id="185" name="Picture 153"/>
          <p:cNvPicPr>
            <a:picLocks xmlns:a="http://schemas.openxmlformats.org/drawingml/2006/main" noChangeAspect="1"/>
          </p:cNvPicPr>
          <p:nvPr/>
        </p:nvPicPr>
        <p:blipFill>
          <a:blip xmlns:r="http://schemas.openxmlformats.org/officeDocument/2006/relationships" xmlns:a="http://schemas.openxmlformats.org/drawingml/2006/main" r:embed="R593c561efb84404a"/>
          <a:stretch xmlns:a="http://schemas.openxmlformats.org/drawingml/2006/main"/>
        </p:blipFill>
        <p:spPr>
          <a:xfrm xmlns:a="http://schemas.openxmlformats.org/drawingml/2006/main">
            <a:off x="495300" y="5103668"/>
            <a:ext cx="247650" cy="270164"/>
          </a:xfrm>
          <a:prstGeom xmlns:a="http://schemas.openxmlformats.org/drawingml/2006/main" prst="rect">
            <a:avLst/>
          </a:prstGeom>
        </p:spPr>
      </p:pic>
      <p:sp>
        <p:nvSpPr>
          <p:cNvPr id="43" name="Rectangle 42">
            <a:extLst xmlns:a="http://schemas.openxmlformats.org/drawingml/2006/main">
              <a:ext uri="{FF2B5EF4-FFF2-40B4-BE49-F238E27FC236}">
                <a16:creationId xmlns:a16="http://schemas.microsoft.com/office/drawing/2014/main" id="{DC8A0C27-3F09-48A6-A16E-45984E0DAD4A}"/>
              </a:ext>
            </a:extLst>
          </p:cNvPr>
          <p:cNvSpPr>
            <a:spLocks xmlns:a="http://schemas.openxmlformats.org/drawingml/2006/main" noGrp="1"/>
          </p:cNvSpPr>
          <p:nvPr/>
        </p:nvSpPr>
        <p:spPr>
          <a:xfrm xmlns:a="http://schemas.openxmlformats.org/drawingml/2006/main">
            <a:off x="876300" y="5133975"/>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8000"/>
              </a:lnSpc>
              <a:buNone/>
              <a:defRPr sz="975" b="0" i="0">
                <a:solidFill>
                  <a:srgbClr val="111111"/>
                </a:solidFill>
                <a:latin typeface="Arial"/>
                <a:ea typeface="Arial"/>
                <a:cs typeface="Arial"/>
              </a:defRPr>
            </a:pPr>
            <a:r>
              <a:rPr sz="975" b="0" i="0">
                <a:solidFill>
                  <a:srgbClr val="111111"/>
                </a:solidFill>
                <a:latin typeface="Arial"/>
                <a:ea typeface="Arial"/>
                <a:cs typeface="Arial"/>
              </a:rPr>
              <a:t>At risk from cost, complexity</a:t>
            </a:r>
          </a:p>
          <a:p xmlns:a="http://schemas.openxmlformats.org/drawingml/2006/main">
            <a:pPr algn="l">
              <a:lnSpc>
                <a:spcPct val="108000"/>
              </a:lnSpc>
              <a:buNone/>
              <a:defRPr sz="975" b="0" i="0">
                <a:solidFill>
                  <a:srgbClr val="111111"/>
                </a:solidFill>
                <a:latin typeface="Arial"/>
                <a:ea typeface="Arial"/>
                <a:cs typeface="Arial"/>
              </a:defRPr>
            </a:pPr>
            <a:r>
              <a:rPr sz="975" b="0" i="0">
                <a:solidFill>
                  <a:srgbClr val="111111"/>
                </a:solidFill>
                <a:latin typeface="Arial"/>
                <a:ea typeface="Arial"/>
                <a:cs typeface="Arial"/>
              </a:rPr>
              <a:t>and technical debt</a:t>
            </a:r>
          </a:p>
        </p:txBody>
      </p:sp>
      <p:sp>
        <p:nvSpPr>
          <p:cNvPr id="44" name="Rounded Rectangle 43">
            <a:extLst xmlns:a="http://schemas.openxmlformats.org/drawingml/2006/main">
              <a:ext uri="{FF2B5EF4-FFF2-40B4-BE49-F238E27FC236}">
                <a16:creationId xmlns:a16="http://schemas.microsoft.com/office/drawing/2014/main" id="{F3F842EB-9BA9-4F93-A5FD-1BD48FADCE58}"/>
              </a:ext>
            </a:extLst>
          </p:cNvPr>
          <p:cNvSpPr>
            <a:spLocks xmlns:a="http://schemas.openxmlformats.org/drawingml/2006/main" noGrp="1"/>
          </p:cNvSpPr>
          <p:nvPr/>
        </p:nvSpPr>
        <p:spPr>
          <a:xfrm xmlns:a="http://schemas.openxmlformats.org/drawingml/2006/main">
            <a:off x="3295650" y="2181225"/>
            <a:ext cx="3048000" cy="33909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1C6745"/>
            </a:solidFill>
            <a:prstDash val="solid"/>
          </a:ln>
        </p:spPr>
        <p:txBody>
          <a:bodyPr xmlns:a="http://schemas.openxmlformats.org/drawingml/2006/main"/>
          <a:lstStyle xmlns:a="http://schemas.openxmlformats.org/drawingml/2006/main"/>
          <a:p xmlns:a="http://schemas.openxmlformats.org/drawingml/2006/main">
            <a:endParaRPr/>
          </a:p>
        </p:txBody>
      </p:sp>
      <p:sp>
        <p:nvSpPr>
          <p:cNvPr id="45" name="Rounded Rectangle 44">
            <a:extLst xmlns:a="http://schemas.openxmlformats.org/drawingml/2006/main">
              <a:ext uri="{FF2B5EF4-FFF2-40B4-BE49-F238E27FC236}">
                <a16:creationId xmlns:a16="http://schemas.microsoft.com/office/drawing/2014/main" id="{241CC426-C86D-4F78-8B3B-E50103086676}"/>
              </a:ext>
            </a:extLst>
          </p:cNvPr>
          <p:cNvSpPr>
            <a:spLocks xmlns:a="http://schemas.openxmlformats.org/drawingml/2006/main" noGrp="1"/>
          </p:cNvSpPr>
          <p:nvPr/>
        </p:nvSpPr>
        <p:spPr>
          <a:xfrm xmlns:a="http://schemas.openxmlformats.org/drawingml/2006/main">
            <a:off x="3295650" y="2181225"/>
            <a:ext cx="3048000" cy="371475"/>
          </a:xfrm>
          <a:prstGeom xmlns:a="http://schemas.openxmlformats.org/drawingml/2006/main" prst="roundRect">
            <a:avLst>
              <a:gd name="adj" fmla="val 17949"/>
            </a:avLst>
          </a:prstGeom>
          <a:gradFill xmlns:a="http://schemas.openxmlformats.org/drawingml/2006/main">
            <a:gsLst>
              <a:gs pos="0">
                <a:srgbClr val="003B25"/>
              </a:gs>
              <a:gs pos="100000">
                <a:srgbClr val="00462B"/>
              </a:gs>
            </a:gsLst>
            <a:lin ang="0"/>
          </a:gradFill>
          <a:ln xmlns:a="http://schemas.openxmlformats.org/drawingml/2006/main" w="0">
            <a:solidFill>
              <a:srgbClr val="003B25"/>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Rectangle 45">
            <a:extLst xmlns:a="http://schemas.openxmlformats.org/drawingml/2006/main">
              <a:ext uri="{FF2B5EF4-FFF2-40B4-BE49-F238E27FC236}">
                <a16:creationId xmlns:a16="http://schemas.microsoft.com/office/drawing/2014/main" id="{EE4407C3-ABA2-47F5-9A74-38ACEB17CEC7}"/>
              </a:ext>
            </a:extLst>
          </p:cNvPr>
          <p:cNvSpPr>
            <a:spLocks xmlns:a="http://schemas.openxmlformats.org/drawingml/2006/main" noGrp="1"/>
          </p:cNvSpPr>
          <p:nvPr/>
        </p:nvSpPr>
        <p:spPr>
          <a:xfrm xmlns:a="http://schemas.openxmlformats.org/drawingml/2006/main">
            <a:off x="3295650" y="228600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FFFFFF"/>
                </a:solidFill>
                <a:latin typeface="Arial"/>
                <a:ea typeface="Arial"/>
                <a:cs typeface="Arial"/>
              </a:defRPr>
            </a:pPr>
            <a:r>
              <a:rPr sz="1050" b="1" i="0">
                <a:solidFill>
                  <a:srgbClr val="FFFFFF"/>
                </a:solidFill>
                <a:latin typeface="Arial"/>
                <a:ea typeface="Arial"/>
                <a:cs typeface="Arial"/>
              </a:rPr>
              <a:t>MIGRATION &amp; WORKLOAD MOBILITY</a:t>
            </a:r>
          </a:p>
        </p:txBody>
      </p:sp>
      <p:pic>
        <p:nvPicPr>
          <p:cNvPr id="190" name="Picture 158"/>
          <p:cNvPicPr>
            <a:picLocks xmlns:a="http://schemas.openxmlformats.org/drawingml/2006/main" noChangeAspect="1"/>
          </p:cNvPicPr>
          <p:nvPr/>
        </p:nvPicPr>
        <p:blipFill>
          <a:blip xmlns:r="http://schemas.openxmlformats.org/officeDocument/2006/relationships" xmlns:a="http://schemas.openxmlformats.org/drawingml/2006/main" r:embed="R129219e601794c31"/>
          <a:stretch xmlns:a="http://schemas.openxmlformats.org/drawingml/2006/main"/>
        </p:blipFill>
        <p:spPr>
          <a:xfrm xmlns:a="http://schemas.openxmlformats.org/drawingml/2006/main">
            <a:off x="3781425" y="2700572"/>
            <a:ext cx="609600" cy="599607"/>
          </a:xfrm>
          <a:prstGeom xmlns:a="http://schemas.openxmlformats.org/drawingml/2006/main" prst="rect">
            <a:avLst/>
          </a:prstGeom>
        </p:spPr>
      </p:pic>
      <p:sp>
        <p:nvSpPr>
          <p:cNvPr id="48" name="Straight Connector 47">
            <a:extLst xmlns:a="http://schemas.openxmlformats.org/drawingml/2006/main">
              <a:ext uri="{FF2B5EF4-FFF2-40B4-BE49-F238E27FC236}">
                <a16:creationId xmlns:a16="http://schemas.microsoft.com/office/drawing/2014/main" id="{72A8FE7C-A401-4E9F-89F1-245A2A11B90B}"/>
              </a:ext>
            </a:extLst>
          </p:cNvPr>
          <p:cNvSpPr>
            <a:spLocks xmlns:a="http://schemas.openxmlformats.org/drawingml/2006/main" noGrp="1"/>
          </p:cNvSpPr>
          <p:nvPr/>
        </p:nvSpPr>
        <p:spPr>
          <a:xfrm xmlns:a="http://schemas.openxmlformats.org/drawingml/2006/main">
            <a:off x="4800600" y="2667000"/>
            <a:ext cx="0" cy="177165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92" name="Picture 160"/>
          <p:cNvPicPr>
            <a:picLocks xmlns:a="http://schemas.openxmlformats.org/drawingml/2006/main" noChangeAspect="1"/>
          </p:cNvPicPr>
          <p:nvPr/>
        </p:nvPicPr>
        <p:blipFill>
          <a:blip xmlns:r="http://schemas.openxmlformats.org/officeDocument/2006/relationships" xmlns:a="http://schemas.openxmlformats.org/drawingml/2006/main" r:embed="Refa62c55fb604b53"/>
          <a:stretch xmlns:a="http://schemas.openxmlformats.org/drawingml/2006/main"/>
        </p:blipFill>
        <p:spPr>
          <a:xfrm xmlns:a="http://schemas.openxmlformats.org/drawingml/2006/main">
            <a:off x="5235831" y="2738438"/>
            <a:ext cx="539238" cy="514350"/>
          </a:xfrm>
          <a:prstGeom xmlns:a="http://schemas.openxmlformats.org/drawingml/2006/main" prst="rect">
            <a:avLst/>
          </a:prstGeom>
        </p:spPr>
      </p:pic>
      <p:sp>
        <p:nvSpPr>
          <p:cNvPr id="50" name="Rectangle 49">
            <a:extLst xmlns:a="http://schemas.openxmlformats.org/drawingml/2006/main">
              <a:ext uri="{FF2B5EF4-FFF2-40B4-BE49-F238E27FC236}">
                <a16:creationId xmlns:a16="http://schemas.microsoft.com/office/drawing/2014/main" id="{82B10384-22FE-46ED-82B2-83D2A0EA0F9B}"/>
              </a:ext>
            </a:extLst>
          </p:cNvPr>
          <p:cNvSpPr>
            <a:spLocks xmlns:a="http://schemas.openxmlformats.org/drawingml/2006/main" noGrp="1"/>
          </p:cNvSpPr>
          <p:nvPr/>
        </p:nvSpPr>
        <p:spPr>
          <a:xfrm xmlns:a="http://schemas.openxmlformats.org/drawingml/2006/main">
            <a:off x="3473312" y="3267075"/>
            <a:ext cx="1219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975" b="1" i="0">
                <a:solidFill>
                  <a:srgbClr val="003B25"/>
                </a:solidFill>
                <a:latin typeface="Arial"/>
                <a:ea typeface="Arial"/>
                <a:cs typeface="Arial"/>
              </a:defRPr>
            </a:pPr>
            <a:r>
              <a:rPr sz="1000" b="1" i="0">
                <a:solidFill>
                  <a:srgbClr val="003B25"/>
                </a:solidFill>
                <a:latin typeface="Arial"/>
                <a:ea typeface="Arial"/>
                <a:cs typeface="Arial"/>
              </a:rPr>
              <a:t>VMware Workload</a:t>
            </a:r>
            <a:r>
              <a:rPr sz="1000" b="1" i="0">
                <a:solidFill>
                  <a:srgbClr val="003B25"/>
                </a:solidFill>
                <a:latin typeface="Arial"/>
                <a:ea typeface="Arial"/>
                <a:cs typeface="Arial"/>
              </a:rPr>
              <a:t>s</a:t>
            </a:r>
            <a:endParaRPr sz="1000" b="1" i="0">
              <a:solidFill>
                <a:srgbClr val="003B25"/>
              </a:solidFill>
              <a:latin typeface="Arial"/>
              <a:ea typeface="Arial"/>
              <a:cs typeface="Arial"/>
            </a:endParaRPr>
          </a:p>
          <a:p xmlns:a="http://schemas.openxmlformats.org/drawingml/2006/main">
            <a:pPr algn="ctr">
              <a:lnSpc>
                <a:spcPct val="105000"/>
              </a:lnSpc>
              <a:buNone/>
              <a:defRPr sz="975" b="1" i="0">
                <a:solidFill>
                  <a:srgbClr val="003B25"/>
                </a:solidFill>
                <a:latin typeface="Arial"/>
                <a:ea typeface="Arial"/>
                <a:cs typeface="Arial"/>
              </a:defRPr>
            </a:pPr>
            <a:r>
              <a:rPr sz="1000" b="1" i="0">
                <a:solidFill>
                  <a:srgbClr val="003B25"/>
                </a:solidFill>
                <a:latin typeface="Arial"/>
                <a:ea typeface="Arial"/>
                <a:cs typeface="Arial"/>
              </a:rPr>
              <a:t>to OCVS</a:t>
            </a:r>
          </a:p>
        </p:txBody>
      </p:sp>
      <p:sp>
        <p:nvSpPr>
          <p:cNvPr id="51" name="Rectangle 50">
            <a:extLst xmlns:a="http://schemas.openxmlformats.org/drawingml/2006/main">
              <a:ext uri="{FF2B5EF4-FFF2-40B4-BE49-F238E27FC236}">
                <a16:creationId xmlns:a16="http://schemas.microsoft.com/office/drawing/2014/main" id="{4A36C29F-74B2-47D7-A04D-EF44BD13A97A}"/>
              </a:ext>
            </a:extLst>
          </p:cNvPr>
          <p:cNvSpPr>
            <a:spLocks xmlns:a="http://schemas.openxmlformats.org/drawingml/2006/main" noGrp="1"/>
          </p:cNvSpPr>
          <p:nvPr/>
        </p:nvSpPr>
        <p:spPr>
          <a:xfrm xmlns:a="http://schemas.openxmlformats.org/drawingml/2006/main">
            <a:off x="5057775" y="3267075"/>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975" b="1" i="0">
                <a:solidFill>
                  <a:srgbClr val="003B25"/>
                </a:solidFill>
                <a:latin typeface="Arial"/>
                <a:ea typeface="Arial"/>
                <a:cs typeface="Arial"/>
              </a:defRPr>
            </a:pPr>
            <a:r>
              <a:rPr sz="975" b="1" i="0">
                <a:solidFill>
                  <a:srgbClr val="003B25"/>
                </a:solidFill>
                <a:latin typeface="Arial"/>
                <a:ea typeface="Arial"/>
                <a:cs typeface="Arial"/>
              </a:rPr>
              <a:t>Workloads to</a:t>
            </a:r>
          </a:p>
          <a:p xmlns:a="http://schemas.openxmlformats.org/drawingml/2006/main">
            <a:pPr algn="ctr">
              <a:lnSpc>
                <a:spcPct val="105000"/>
              </a:lnSpc>
              <a:buNone/>
              <a:defRPr sz="975" b="1" i="0">
                <a:solidFill>
                  <a:srgbClr val="003B25"/>
                </a:solidFill>
                <a:latin typeface="Arial"/>
                <a:ea typeface="Arial"/>
                <a:cs typeface="Arial"/>
              </a:defRPr>
            </a:pPr>
            <a:r>
              <a:rPr sz="975" b="1" i="0">
                <a:solidFill>
                  <a:srgbClr val="003B25"/>
                </a:solidFill>
                <a:latin typeface="Arial"/>
                <a:ea typeface="Arial"/>
                <a:cs typeface="Arial"/>
              </a:rPr>
              <a:t>OCI Compute</a:t>
            </a:r>
          </a:p>
        </p:txBody>
      </p:sp>
      <p:sp>
        <p:nvSpPr>
          <p:cNvPr id="52" name="Rectangle 51">
            <a:extLst xmlns:a="http://schemas.openxmlformats.org/drawingml/2006/main">
              <a:ext uri="{FF2B5EF4-FFF2-40B4-BE49-F238E27FC236}">
                <a16:creationId xmlns:a16="http://schemas.microsoft.com/office/drawing/2014/main" id="{57150A86-63D8-458F-8A12-2E89BBF0E1CC}"/>
              </a:ext>
            </a:extLst>
          </p:cNvPr>
          <p:cNvSpPr>
            <a:spLocks xmlns:a="http://schemas.openxmlformats.org/drawingml/2006/main" noGrp="1"/>
          </p:cNvSpPr>
          <p:nvPr/>
        </p:nvSpPr>
        <p:spPr>
          <a:xfrm xmlns:a="http://schemas.openxmlformats.org/drawingml/2006/main">
            <a:off x="3686175" y="3678017"/>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75" b="1" i="0">
                <a:solidFill>
                  <a:srgbClr val="111111"/>
                </a:solidFill>
                <a:latin typeface="Arial"/>
                <a:ea typeface="Arial"/>
                <a:cs typeface="Arial"/>
              </a:defRPr>
            </a:pPr>
            <a:r>
              <a:rPr sz="975" b="1" i="0">
                <a:solidFill>
                  <a:srgbClr val="111111"/>
                </a:solidFill>
                <a:latin typeface="Arial"/>
                <a:ea typeface="Arial"/>
                <a:cs typeface="Arial"/>
              </a:rPr>
              <a:t>HCX Mobility</a:t>
            </a:r>
          </a:p>
        </p:txBody>
      </p:sp>
      <p:sp>
        <p:nvSpPr>
          <p:cNvPr id="53" name="Rectangle 52">
            <a:extLst xmlns:a="http://schemas.openxmlformats.org/drawingml/2006/main">
              <a:ext uri="{FF2B5EF4-FFF2-40B4-BE49-F238E27FC236}">
                <a16:creationId xmlns:a16="http://schemas.microsoft.com/office/drawing/2014/main" id="{3D221785-1CC5-4AE8-BFE8-BD5F01F89452}"/>
              </a:ext>
            </a:extLst>
          </p:cNvPr>
          <p:cNvSpPr>
            <a:spLocks xmlns:a="http://schemas.openxmlformats.org/drawingml/2006/main" noGrp="1"/>
          </p:cNvSpPr>
          <p:nvPr/>
        </p:nvSpPr>
        <p:spPr>
          <a:xfrm xmlns:a="http://schemas.openxmlformats.org/drawingml/2006/main">
            <a:off x="3476211" y="4010025"/>
            <a:ext cx="1219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0000"/>
              </a:lnSpc>
              <a:buNone/>
              <a:defRPr sz="765" b="0" i="0">
                <a:solidFill>
                  <a:srgbClr val="111111"/>
                </a:solidFill>
                <a:latin typeface="Arial"/>
                <a:ea typeface="Arial"/>
                <a:cs typeface="Arial"/>
              </a:defRPr>
            </a:pPr>
            <a:r>
              <a:rPr sz="765" b="0" i="0">
                <a:solidFill>
                  <a:srgbClr val="111111"/>
                </a:solidFill>
                <a:latin typeface="Arial"/>
                <a:ea typeface="Arial"/>
                <a:cs typeface="Arial"/>
              </a:rPr>
              <a:t>Secure, seamless migration</a:t>
            </a:r>
          </a:p>
          <a:p xmlns:a="http://schemas.openxmlformats.org/drawingml/2006/main">
            <a:pPr algn="ctr">
              <a:lnSpc>
                <a:spcPct val="110000"/>
              </a:lnSpc>
              <a:buNone/>
              <a:defRPr sz="765" b="0" i="0">
                <a:solidFill>
                  <a:srgbClr val="111111"/>
                </a:solidFill>
                <a:latin typeface="Arial"/>
                <a:ea typeface="Arial"/>
                <a:cs typeface="Arial"/>
              </a:defRPr>
            </a:pPr>
            <a:r>
              <a:rPr sz="765" b="0" i="0">
                <a:solidFill>
                  <a:srgbClr val="111111"/>
                </a:solidFill>
                <a:latin typeface="Arial"/>
                <a:ea typeface="Arial"/>
                <a:cs typeface="Arial"/>
              </a:rPr>
              <a:t>of VMware workloads</a:t>
            </a:r>
          </a:p>
          <a:p xmlns:a="http://schemas.openxmlformats.org/drawingml/2006/main">
            <a:pPr algn="ctr">
              <a:lnSpc>
                <a:spcPct val="110000"/>
              </a:lnSpc>
              <a:buNone/>
              <a:defRPr sz="765" b="0" i="0">
                <a:solidFill>
                  <a:srgbClr val="111111"/>
                </a:solidFill>
                <a:latin typeface="Arial"/>
                <a:ea typeface="Arial"/>
                <a:cs typeface="Arial"/>
              </a:defRPr>
            </a:pPr>
            <a:r>
              <a:rPr sz="765" b="0" i="0">
                <a:solidFill>
                  <a:srgbClr val="111111"/>
                </a:solidFill>
                <a:latin typeface="Arial"/>
                <a:ea typeface="Arial"/>
                <a:cs typeface="Arial"/>
              </a:rPr>
              <a:t>to Oracle Cloud VMware</a:t>
            </a:r>
          </a:p>
          <a:p xmlns:a="http://schemas.openxmlformats.org/drawingml/2006/main">
            <a:pPr algn="ctr">
              <a:lnSpc>
                <a:spcPct val="110000"/>
              </a:lnSpc>
              <a:buNone/>
              <a:defRPr sz="765" b="0" i="0">
                <a:solidFill>
                  <a:srgbClr val="111111"/>
                </a:solidFill>
                <a:latin typeface="Arial"/>
                <a:ea typeface="Arial"/>
                <a:cs typeface="Arial"/>
              </a:defRPr>
            </a:pPr>
            <a:r>
              <a:rPr sz="765" b="0" i="0">
                <a:solidFill>
                  <a:srgbClr val="111111"/>
                </a:solidFill>
                <a:latin typeface="Arial"/>
                <a:ea typeface="Arial"/>
                <a:cs typeface="Arial"/>
              </a:rPr>
              <a:t>Solution.</a:t>
            </a:r>
          </a:p>
        </p:txBody>
      </p:sp>
      <p:sp>
        <p:nvSpPr>
          <p:cNvPr id="54" name="Rectangle 53">
            <a:extLst xmlns:a="http://schemas.openxmlformats.org/drawingml/2006/main">
              <a:ext uri="{FF2B5EF4-FFF2-40B4-BE49-F238E27FC236}">
                <a16:creationId xmlns:a16="http://schemas.microsoft.com/office/drawing/2014/main" id="{B893AB08-702D-4B5C-8044-182DDA4C60C6}"/>
              </a:ext>
            </a:extLst>
          </p:cNvPr>
          <p:cNvSpPr>
            <a:spLocks xmlns:a="http://schemas.openxmlformats.org/drawingml/2006/main" noGrp="1"/>
          </p:cNvSpPr>
          <p:nvPr/>
        </p:nvSpPr>
        <p:spPr>
          <a:xfrm xmlns:a="http://schemas.openxmlformats.org/drawingml/2006/main">
            <a:off x="4981575" y="3609975"/>
            <a:ext cx="1314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975" b="1" i="0">
                <a:solidFill>
                  <a:srgbClr val="111111"/>
                </a:solidFill>
                <a:latin typeface="Arial"/>
                <a:ea typeface="Arial"/>
                <a:cs typeface="Arial"/>
              </a:defRPr>
            </a:pPr>
            <a:r>
              <a:rPr sz="975" b="1" i="0">
                <a:solidFill>
                  <a:srgbClr val="111111"/>
                </a:solidFill>
                <a:latin typeface="Arial"/>
                <a:ea typeface="Arial"/>
                <a:cs typeface="Arial"/>
              </a:rPr>
              <a:t>OCI Migrations (OCM)</a:t>
            </a:r>
          </a:p>
          <a:p xmlns:a="http://schemas.openxmlformats.org/drawingml/2006/main">
            <a:pPr algn="ctr">
              <a:lnSpc>
                <a:spcPct val="105000"/>
              </a:lnSpc>
              <a:buNone/>
              <a:defRPr sz="975" b="1" i="0">
                <a:solidFill>
                  <a:srgbClr val="111111"/>
                </a:solidFill>
                <a:latin typeface="Arial"/>
                <a:ea typeface="Arial"/>
                <a:cs typeface="Arial"/>
              </a:defRPr>
            </a:pPr>
            <a:r>
              <a:rPr sz="975" b="1" i="0">
                <a:solidFill>
                  <a:srgbClr val="111111"/>
                </a:solidFill>
                <a:latin typeface="Arial"/>
                <a:ea typeface="Arial"/>
                <a:cs typeface="Arial"/>
              </a:rPr>
              <a:t>or Third-Party Tools</a:t>
            </a:r>
          </a:p>
        </p:txBody>
      </p:sp>
      <p:sp>
        <p:nvSpPr>
          <p:cNvPr id="55" name="Rectangle 54">
            <a:extLst xmlns:a="http://schemas.openxmlformats.org/drawingml/2006/main">
              <a:ext uri="{FF2B5EF4-FFF2-40B4-BE49-F238E27FC236}">
                <a16:creationId xmlns:a16="http://schemas.microsoft.com/office/drawing/2014/main" id="{E516E089-9B63-4074-8D26-1125AA1F604F}"/>
              </a:ext>
            </a:extLst>
          </p:cNvPr>
          <p:cNvSpPr>
            <a:spLocks xmlns:a="http://schemas.openxmlformats.org/drawingml/2006/main" noGrp="1"/>
          </p:cNvSpPr>
          <p:nvPr/>
        </p:nvSpPr>
        <p:spPr>
          <a:xfrm xmlns:a="http://schemas.openxmlformats.org/drawingml/2006/main">
            <a:off x="4991100" y="401955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0000"/>
              </a:lnSpc>
              <a:buNone/>
              <a:defRPr sz="765" b="0" i="0">
                <a:solidFill>
                  <a:srgbClr val="111111"/>
                </a:solidFill>
                <a:latin typeface="Arial"/>
                <a:ea typeface="Arial"/>
                <a:cs typeface="Arial"/>
              </a:defRPr>
            </a:pPr>
            <a:r>
              <a:rPr sz="765" b="0" i="0">
                <a:solidFill>
                  <a:srgbClr val="111111"/>
                </a:solidFill>
                <a:latin typeface="Arial"/>
                <a:ea typeface="Arial"/>
                <a:cs typeface="Arial"/>
              </a:rPr>
              <a:t>Migrate and modernize</a:t>
            </a:r>
          </a:p>
          <a:p xmlns:a="http://schemas.openxmlformats.org/drawingml/2006/main">
            <a:pPr algn="ctr">
              <a:lnSpc>
                <a:spcPct val="110000"/>
              </a:lnSpc>
              <a:buNone/>
              <a:defRPr sz="765" b="0" i="0">
                <a:solidFill>
                  <a:srgbClr val="111111"/>
                </a:solidFill>
                <a:latin typeface="Arial"/>
                <a:ea typeface="Arial"/>
                <a:cs typeface="Arial"/>
              </a:defRPr>
            </a:pPr>
            <a:r>
              <a:rPr sz="765" b="0" i="0">
                <a:solidFill>
                  <a:srgbClr val="111111"/>
                </a:solidFill>
                <a:latin typeface="Arial"/>
                <a:ea typeface="Arial"/>
                <a:cs typeface="Arial"/>
              </a:rPr>
              <a:t>workloads to OCI Compute</a:t>
            </a:r>
          </a:p>
          <a:p xmlns:a="http://schemas.openxmlformats.org/drawingml/2006/main">
            <a:pPr algn="ctr">
              <a:lnSpc>
                <a:spcPct val="110000"/>
              </a:lnSpc>
              <a:buNone/>
              <a:defRPr sz="765" b="0" i="0">
                <a:solidFill>
                  <a:srgbClr val="111111"/>
                </a:solidFill>
                <a:latin typeface="Arial"/>
                <a:ea typeface="Arial"/>
                <a:cs typeface="Arial"/>
              </a:defRPr>
            </a:pPr>
            <a:r>
              <a:rPr sz="765" b="0" i="0">
                <a:solidFill>
                  <a:srgbClr val="111111"/>
                </a:solidFill>
                <a:latin typeface="Arial"/>
                <a:ea typeface="Arial"/>
                <a:cs typeface="Arial"/>
              </a:rPr>
              <a:t>using OCM or partner tools.</a:t>
            </a:r>
          </a:p>
        </p:txBody>
      </p:sp>
      <p:sp>
        <p:nvSpPr>
          <p:cNvPr id="56" name="Straight Connector 55">
            <a:extLst xmlns:a="http://schemas.openxmlformats.org/drawingml/2006/main">
              <a:ext uri="{FF2B5EF4-FFF2-40B4-BE49-F238E27FC236}">
                <a16:creationId xmlns:a16="http://schemas.microsoft.com/office/drawing/2014/main" id="{8EC0654B-43C1-4352-8F8B-364C399EB733}"/>
              </a:ext>
            </a:extLst>
          </p:cNvPr>
          <p:cNvSpPr>
            <a:spLocks xmlns:a="http://schemas.openxmlformats.org/drawingml/2006/main" noGrp="1"/>
          </p:cNvSpPr>
          <p:nvPr/>
        </p:nvSpPr>
        <p:spPr>
          <a:xfrm xmlns:a="http://schemas.openxmlformats.org/drawingml/2006/main">
            <a:off x="3448050" y="4591050"/>
            <a:ext cx="2743200" cy="0"/>
          </a:xfrm>
          <a:prstGeom xmlns:a="http://schemas.openxmlformats.org/drawingml/2006/main" prst="line">
            <a:avLst/>
          </a:prstGeom>
          <a:noFill xmlns:a="http://schemas.openxmlformats.org/drawingml/2006/main"/>
          <a:ln xmlns:a="http://schemas.openxmlformats.org/drawingml/2006/main" w="9525">
            <a:solidFill>
              <a:srgbClr val="E2E2E2"/>
            </a:solidFill>
            <a:prstDash val="solid"/>
          </a:ln>
        </p:spPr>
        <p:txBody>
          <a:bodyPr xmlns:a="http://schemas.openxmlformats.org/drawingml/2006/main"/>
          <a:lstStyle xmlns:a="http://schemas.openxmlformats.org/drawingml/2006/main"/>
          <a:p xmlns:a="http://schemas.openxmlformats.org/drawingml/2006/main">
            <a:endParaRPr/>
          </a:p>
        </p:txBody>
      </p:sp>
      <p:sp>
        <p:nvSpPr>
          <p:cNvPr id="57" name="Rectangle 56">
            <a:extLst xmlns:a="http://schemas.openxmlformats.org/drawingml/2006/main">
              <a:ext uri="{FF2B5EF4-FFF2-40B4-BE49-F238E27FC236}">
                <a16:creationId xmlns:a16="http://schemas.microsoft.com/office/drawing/2014/main" id="{7206710C-15F3-4542-8BB0-F7A500382937}"/>
              </a:ext>
            </a:extLst>
          </p:cNvPr>
          <p:cNvSpPr>
            <a:spLocks xmlns:a="http://schemas.openxmlformats.org/drawingml/2006/main" noGrp="1"/>
          </p:cNvSpPr>
          <p:nvPr/>
        </p:nvSpPr>
        <p:spPr>
          <a:xfrm xmlns:a="http://schemas.openxmlformats.org/drawingml/2006/main">
            <a:off x="4191000" y="4686300"/>
            <a:ext cx="125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CONNECTIVITY OPTIONS</a:t>
            </a:r>
          </a:p>
        </p:txBody>
      </p:sp>
      <p:pic>
        <p:nvPicPr>
          <p:cNvPr id="201" name="Picture 169"/>
          <p:cNvPicPr>
            <a:picLocks xmlns:a="http://schemas.openxmlformats.org/drawingml/2006/main" noChangeAspect="1"/>
          </p:cNvPicPr>
          <p:nvPr/>
        </p:nvPicPr>
        <p:blipFill>
          <a:blip xmlns:r="http://schemas.openxmlformats.org/officeDocument/2006/relationships" xmlns:a="http://schemas.openxmlformats.org/drawingml/2006/main" r:embed="R23b65a833f5f450a"/>
          <a:stretch xmlns:a="http://schemas.openxmlformats.org/drawingml/2006/main"/>
        </p:blipFill>
        <p:spPr>
          <a:xfrm xmlns:a="http://schemas.openxmlformats.org/drawingml/2006/main">
            <a:off x="3609975" y="4820189"/>
            <a:ext cx="447675" cy="456122"/>
          </a:xfrm>
          <a:prstGeom xmlns:a="http://schemas.openxmlformats.org/drawingml/2006/main" prst="rect">
            <a:avLst/>
          </a:prstGeom>
        </p:spPr>
      </p:pic>
      <p:pic>
        <p:nvPicPr>
          <p:cNvPr id="202" name="Picture 170"/>
          <p:cNvPicPr>
            <a:picLocks xmlns:a="http://schemas.openxmlformats.org/drawingml/2006/main" noChangeAspect="1"/>
          </p:cNvPicPr>
          <p:nvPr/>
        </p:nvPicPr>
        <p:blipFill>
          <a:blip xmlns:r="http://schemas.openxmlformats.org/officeDocument/2006/relationships" xmlns:a="http://schemas.openxmlformats.org/drawingml/2006/main" r:embed="Rc34730cf0ae94348"/>
          <a:stretch xmlns:a="http://schemas.openxmlformats.org/drawingml/2006/main"/>
        </p:blipFill>
        <p:spPr>
          <a:xfrm xmlns:a="http://schemas.openxmlformats.org/drawingml/2006/main">
            <a:off x="4585229" y="4819650"/>
            <a:ext cx="440267" cy="457200"/>
          </a:xfrm>
          <a:prstGeom xmlns:a="http://schemas.openxmlformats.org/drawingml/2006/main" prst="rect">
            <a:avLst/>
          </a:prstGeom>
        </p:spPr>
      </p:pic>
      <p:pic>
        <p:nvPicPr>
          <p:cNvPr id="203" name="Picture 171"/>
          <p:cNvPicPr>
            <a:picLocks xmlns:a="http://schemas.openxmlformats.org/drawingml/2006/main" noChangeAspect="1"/>
          </p:cNvPicPr>
          <p:nvPr/>
        </p:nvPicPr>
        <p:blipFill>
          <a:blip xmlns:r="http://schemas.openxmlformats.org/officeDocument/2006/relationships" xmlns:a="http://schemas.openxmlformats.org/drawingml/2006/main" r:embed="R253024b1b511428a"/>
          <a:stretch xmlns:a="http://schemas.openxmlformats.org/drawingml/2006/main"/>
        </p:blipFill>
        <p:spPr>
          <a:xfrm xmlns:a="http://schemas.openxmlformats.org/drawingml/2006/main">
            <a:off x="5581650" y="4824413"/>
            <a:ext cx="447675" cy="447675"/>
          </a:xfrm>
          <a:prstGeom xmlns:a="http://schemas.openxmlformats.org/drawingml/2006/main" prst="rect">
            <a:avLst/>
          </a:prstGeom>
        </p:spPr>
      </p:pic>
      <p:sp>
        <p:nvSpPr>
          <p:cNvPr id="61" name="Rectangle 60">
            <a:extLst xmlns:a="http://schemas.openxmlformats.org/drawingml/2006/main">
              <a:ext uri="{FF2B5EF4-FFF2-40B4-BE49-F238E27FC236}">
                <a16:creationId xmlns:a16="http://schemas.microsoft.com/office/drawing/2014/main" id="{E7DDA9FE-84AB-4353-B64B-C782B277BEF2}"/>
              </a:ext>
            </a:extLst>
          </p:cNvPr>
          <p:cNvSpPr>
            <a:spLocks xmlns:a="http://schemas.openxmlformats.org/drawingml/2006/main" noGrp="1"/>
          </p:cNvSpPr>
          <p:nvPr/>
        </p:nvSpPr>
        <p:spPr>
          <a:xfrm xmlns:a="http://schemas.openxmlformats.org/drawingml/2006/main">
            <a:off x="3562350" y="5314950"/>
            <a:ext cx="5238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Internet</a:t>
            </a:r>
          </a:p>
        </p:txBody>
      </p:sp>
      <p:sp>
        <p:nvSpPr>
          <p:cNvPr id="62" name="Rectangle 61">
            <a:extLst xmlns:a="http://schemas.openxmlformats.org/drawingml/2006/main">
              <a:ext uri="{FF2B5EF4-FFF2-40B4-BE49-F238E27FC236}">
                <a16:creationId xmlns:a16="http://schemas.microsoft.com/office/drawing/2014/main" id="{F3576EBD-A5F0-4873-BD74-57057295ACA6}"/>
              </a:ext>
            </a:extLst>
          </p:cNvPr>
          <p:cNvSpPr>
            <a:spLocks xmlns:a="http://schemas.openxmlformats.org/drawingml/2006/main" noGrp="1"/>
          </p:cNvSpPr>
          <p:nvPr/>
        </p:nvSpPr>
        <p:spPr>
          <a:xfrm xmlns:a="http://schemas.openxmlformats.org/drawingml/2006/main">
            <a:off x="4610100" y="5314950"/>
            <a:ext cx="400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VPN</a:t>
            </a:r>
          </a:p>
        </p:txBody>
      </p:sp>
      <p:sp>
        <p:nvSpPr>
          <p:cNvPr id="63" name="Rectangle 62">
            <a:extLst xmlns:a="http://schemas.openxmlformats.org/drawingml/2006/main">
              <a:ext uri="{FF2B5EF4-FFF2-40B4-BE49-F238E27FC236}">
                <a16:creationId xmlns:a16="http://schemas.microsoft.com/office/drawing/2014/main" id="{BD722160-7687-4E22-BDF8-639413E3EF4A}"/>
              </a:ext>
            </a:extLst>
          </p:cNvPr>
          <p:cNvSpPr>
            <a:spLocks xmlns:a="http://schemas.openxmlformats.org/drawingml/2006/main" noGrp="1"/>
          </p:cNvSpPr>
          <p:nvPr/>
        </p:nvSpPr>
        <p:spPr>
          <a:xfrm xmlns:a="http://schemas.openxmlformats.org/drawingml/2006/main">
            <a:off x="5505450" y="53149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FastConnect</a:t>
            </a:r>
          </a:p>
        </p:txBody>
      </p:sp>
      <p:pic>
        <p:nvPicPr>
          <p:cNvPr id="207" name="Picture 175"/>
          <p:cNvPicPr>
            <a:picLocks xmlns:a="http://schemas.openxmlformats.org/drawingml/2006/main" noChangeAspect="1"/>
          </p:cNvPicPr>
          <p:nvPr/>
        </p:nvPicPr>
        <p:blipFill>
          <a:blip xmlns:r="http://schemas.openxmlformats.org/officeDocument/2006/relationships" xmlns:a="http://schemas.openxmlformats.org/drawingml/2006/main" r:embed="R1ffc4308a59f4ce7"/>
          <a:stretch xmlns:a="http://schemas.openxmlformats.org/drawingml/2006/main"/>
        </p:blipFill>
        <p:spPr>
          <a:xfrm xmlns:a="http://schemas.openxmlformats.org/drawingml/2006/main">
            <a:off x="3028950" y="3539637"/>
            <a:ext cx="285750" cy="293077"/>
          </a:xfrm>
          <a:prstGeom xmlns:a="http://schemas.openxmlformats.org/drawingml/2006/main" prst="rect">
            <a:avLst/>
          </a:prstGeom>
        </p:spPr>
      </p:pic>
      <p:pic>
        <p:nvPicPr>
          <p:cNvPr id="208" name="Picture 176"/>
          <p:cNvPicPr>
            <a:picLocks xmlns:a="http://schemas.openxmlformats.org/drawingml/2006/main" noChangeAspect="1"/>
          </p:cNvPicPr>
          <p:nvPr/>
        </p:nvPicPr>
        <p:blipFill>
          <a:blip xmlns:r="http://schemas.openxmlformats.org/officeDocument/2006/relationships" xmlns:a="http://schemas.openxmlformats.org/drawingml/2006/main" r:embed="R0c9ff6ef4e87485b"/>
          <a:stretch xmlns:a="http://schemas.openxmlformats.org/drawingml/2006/main"/>
        </p:blipFill>
        <p:spPr>
          <a:xfrm xmlns:a="http://schemas.openxmlformats.org/drawingml/2006/main">
            <a:off x="6347460" y="3533775"/>
            <a:ext cx="297180" cy="304800"/>
          </a:xfrm>
          <a:prstGeom xmlns:a="http://schemas.openxmlformats.org/drawingml/2006/main" prst="rect">
            <a:avLst/>
          </a:prstGeom>
        </p:spPr>
      </p:pic>
      <p:sp>
        <p:nvSpPr>
          <p:cNvPr id="66" name="Rounded Rectangle 65">
            <a:extLst xmlns:a="http://schemas.openxmlformats.org/drawingml/2006/main">
              <a:ext uri="{FF2B5EF4-FFF2-40B4-BE49-F238E27FC236}">
                <a16:creationId xmlns:a16="http://schemas.microsoft.com/office/drawing/2014/main" id="{26FE7CC9-719C-41DA-AD71-CEE8E0359FAE}"/>
              </a:ext>
            </a:extLst>
          </p:cNvPr>
          <p:cNvSpPr>
            <a:spLocks xmlns:a="http://schemas.openxmlformats.org/drawingml/2006/main" noGrp="1"/>
          </p:cNvSpPr>
          <p:nvPr/>
        </p:nvSpPr>
        <p:spPr>
          <a:xfrm xmlns:a="http://schemas.openxmlformats.org/drawingml/2006/main">
            <a:off x="6629400" y="2181225"/>
            <a:ext cx="3143250" cy="339090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E00000"/>
            </a:solidFill>
            <a:prstDash val="solid"/>
          </a:ln>
        </p:spPr>
        <p:txBody>
          <a:bodyPr xmlns:a="http://schemas.openxmlformats.org/drawingml/2006/main"/>
          <a:lstStyle xmlns:a="http://schemas.openxmlformats.org/drawingml/2006/main"/>
          <a:p xmlns:a="http://schemas.openxmlformats.org/drawingml/2006/main">
            <a:endParaRPr/>
          </a:p>
        </p:txBody>
      </p:sp>
      <p:sp>
        <p:nvSpPr>
          <p:cNvPr id="67" name="Rounded Rectangle 66">
            <a:extLst xmlns:a="http://schemas.openxmlformats.org/drawingml/2006/main">
              <a:ext uri="{FF2B5EF4-FFF2-40B4-BE49-F238E27FC236}">
                <a16:creationId xmlns:a16="http://schemas.microsoft.com/office/drawing/2014/main" id="{8BA34303-23B5-42A6-B759-F773D5E1C7C2}"/>
              </a:ext>
            </a:extLst>
          </p:cNvPr>
          <p:cNvSpPr>
            <a:spLocks xmlns:a="http://schemas.openxmlformats.org/drawingml/2006/main" noGrp="1"/>
          </p:cNvSpPr>
          <p:nvPr/>
        </p:nvSpPr>
        <p:spPr>
          <a:xfrm xmlns:a="http://schemas.openxmlformats.org/drawingml/2006/main">
            <a:off x="6629400" y="2181225"/>
            <a:ext cx="3143250" cy="371475"/>
          </a:xfrm>
          <a:prstGeom xmlns:a="http://schemas.openxmlformats.org/drawingml/2006/main" prst="roundRect">
            <a:avLst>
              <a:gd name="adj" fmla="val 17949"/>
            </a:avLst>
          </a:prstGeom>
          <a:solidFill xmlns:a="http://schemas.openxmlformats.org/drawingml/2006/main">
            <a:srgbClr val="E00000"/>
          </a:solidFill>
          <a:ln xmlns:a="http://schemas.openxmlformats.org/drawingml/2006/main" w="0">
            <a:solidFill>
              <a:srgbClr val="E00000"/>
            </a:solidFill>
            <a:prstDash val="solid"/>
          </a:ln>
        </p:spPr>
        <p:txBody>
          <a:bodyPr xmlns:a="http://schemas.openxmlformats.org/drawingml/2006/main"/>
          <a:lstStyle xmlns:a="http://schemas.openxmlformats.org/drawingml/2006/main"/>
          <a:p xmlns:a="http://schemas.openxmlformats.org/drawingml/2006/main">
            <a:endParaRPr/>
          </a:p>
        </p:txBody>
      </p:sp>
      <p:sp>
        <p:nvSpPr>
          <p:cNvPr id="68" name="Rectangle 67">
            <a:extLst xmlns:a="http://schemas.openxmlformats.org/drawingml/2006/main">
              <a:ext uri="{FF2B5EF4-FFF2-40B4-BE49-F238E27FC236}">
                <a16:creationId xmlns:a16="http://schemas.microsoft.com/office/drawing/2014/main" id="{83AD87F9-C7A8-4DD9-BE49-4967D9DDA67F}"/>
              </a:ext>
            </a:extLst>
          </p:cNvPr>
          <p:cNvSpPr>
            <a:spLocks xmlns:a="http://schemas.openxmlformats.org/drawingml/2006/main" noGrp="1"/>
          </p:cNvSpPr>
          <p:nvPr/>
        </p:nvSpPr>
        <p:spPr>
          <a:xfrm xmlns:a="http://schemas.openxmlformats.org/drawingml/2006/main">
            <a:off x="6629400" y="228600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FFFFFF"/>
                </a:solidFill>
                <a:latin typeface="Arial"/>
                <a:ea typeface="Arial"/>
                <a:cs typeface="Arial"/>
              </a:defRPr>
            </a:pPr>
            <a:r>
              <a:rPr sz="1050" b="1" i="0">
                <a:solidFill>
                  <a:srgbClr val="FFFFFF"/>
                </a:solidFill>
                <a:latin typeface="Arial"/>
                <a:ea typeface="Arial"/>
                <a:cs typeface="Arial"/>
              </a:rPr>
              <a:t>TARGET ENVIRONMENT (HYBRID)</a:t>
            </a:r>
          </a:p>
        </p:txBody>
      </p:sp>
      <p:sp>
        <p:nvSpPr>
          <p:cNvPr id="69" name="Cloud 68">
            <a:extLst xmlns:a="http://schemas.openxmlformats.org/drawingml/2006/main">
              <a:ext uri="{FF2B5EF4-FFF2-40B4-BE49-F238E27FC236}">
                <a16:creationId xmlns:a16="http://schemas.microsoft.com/office/drawing/2014/main" id="{80341006-C9F7-4FD9-B8DD-386B3B84CA98}"/>
              </a:ext>
            </a:extLst>
          </p:cNvPr>
          <p:cNvSpPr>
            <a:spLocks xmlns:a="http://schemas.openxmlformats.org/drawingml/2006/main" noGrp="1"/>
          </p:cNvSpPr>
          <p:nvPr/>
        </p:nvSpPr>
        <p:spPr>
          <a:xfrm xmlns:a="http://schemas.openxmlformats.org/drawingml/2006/main">
            <a:off x="6660340" y="2752725"/>
            <a:ext cx="3069970" cy="1809750"/>
          </a:xfrm>
          <a:prstGeom xmlns:a="http://schemas.openxmlformats.org/drawingml/2006/main" prst="cloud">
            <a:avLst/>
          </a:prstGeom>
          <a:solidFill xmlns:a="http://schemas.openxmlformats.org/drawingml/2006/main">
            <a:srgbClr val="FFFFFF"/>
          </a:solidFill>
          <a:ln xmlns:a="http://schemas.openxmlformats.org/drawingml/2006/main" w="12383">
            <a:solidFill>
              <a:srgbClr val="1C6745"/>
            </a:solidFill>
            <a:prstDash val="solid"/>
          </a:ln>
        </p:spPr>
        <p:txBody>
          <a:bodyPr xmlns:a="http://schemas.openxmlformats.org/drawingml/2006/main"/>
          <a:lstStyle xmlns:a="http://schemas.openxmlformats.org/drawingml/2006/main"/>
          <a:p xmlns:a="http://schemas.openxmlformats.org/drawingml/2006/main">
            <a:endParaRPr/>
          </a:p>
        </p:txBody>
      </p:sp>
      <p:sp>
        <p:nvSpPr>
          <p:cNvPr id="70" name="Arc 69">
            <a:extLst xmlns:a="http://schemas.openxmlformats.org/drawingml/2006/main">
              <a:ext uri="{FF2B5EF4-FFF2-40B4-BE49-F238E27FC236}">
                <a16:creationId xmlns:a16="http://schemas.microsoft.com/office/drawing/2014/main" id="{FA2ACF4C-E1A9-47F5-9C3E-B8B6F4BE267F}"/>
              </a:ext>
            </a:extLst>
          </p:cNvPr>
          <p:cNvSpPr>
            <a:spLocks xmlns:a="http://schemas.openxmlformats.org/drawingml/2006/main" noGrp="1"/>
          </p:cNvSpPr>
          <p:nvPr/>
        </p:nvSpPr>
        <p:spPr>
          <a:xfrm xmlns:a="http://schemas.openxmlformats.org/drawingml/2006/main">
            <a:off x="7648575" y="3019425"/>
            <a:ext cx="1219200" cy="1114425"/>
          </a:xfrm>
          <a:prstGeom xmlns:a="http://schemas.openxmlformats.org/drawingml/2006/main" prst="arc">
            <a:avLst/>
          </a:prstGeom>
          <a:noFill xmlns:a="http://schemas.openxmlformats.org/drawingml/2006/main"/>
          <a:ln xmlns:a="http://schemas.openxmlformats.org/drawingml/2006/main" w="11430">
            <a:solidFill>
              <a:srgbClr val="1C6745"/>
            </a:solidFill>
            <a:prstDash val="dash"/>
          </a:ln>
        </p:spPr>
        <p:txBody>
          <a:bodyPr xmlns:a="http://schemas.openxmlformats.org/drawingml/2006/main"/>
          <a:lstStyle xmlns:a="http://schemas.openxmlformats.org/drawingml/2006/main"/>
          <a:p xmlns:a="http://schemas.openxmlformats.org/drawingml/2006/main">
            <a:endParaRPr/>
          </a:p>
        </p:txBody>
      </p:sp>
      <p:sp>
        <p:nvSpPr>
          <p:cNvPr id="71" name="Straight Connector 70">
            <a:extLst xmlns:a="http://schemas.openxmlformats.org/drawingml/2006/main">
              <a:ext uri="{FF2B5EF4-FFF2-40B4-BE49-F238E27FC236}">
                <a16:creationId xmlns:a16="http://schemas.microsoft.com/office/drawing/2014/main" id="{8861F202-03A5-452A-8795-594C86944C69}"/>
              </a:ext>
            </a:extLst>
          </p:cNvPr>
          <p:cNvSpPr>
            <a:spLocks xmlns:a="http://schemas.openxmlformats.org/drawingml/2006/main" noGrp="1"/>
          </p:cNvSpPr>
          <p:nvPr/>
        </p:nvSpPr>
        <p:spPr>
          <a:xfrm xmlns:a="http://schemas.openxmlformats.org/drawingml/2006/main" flipV="1">
            <a:off x="7648575" y="3533774"/>
            <a:ext cx="1093500" cy="9525"/>
          </a:xfrm>
          <a:prstGeom xmlns:a="http://schemas.openxmlformats.org/drawingml/2006/main" prst="line">
            <a:avLst/>
          </a:prstGeom>
          <a:ln xmlns:a="http://schemas.openxmlformats.org/drawingml/2006/main" w="9525" cmpd="sng">
            <a:solidFill>
              <a:schemeClr val="dk1"/>
            </a:solidFill>
            <a:prstDash val="dash"/>
            <a:headEnd type="stealth" w="med" len="med"/>
            <a:tailEnd type="stealth"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ln w="9525">
                <a:solidFill>
                  <a:schemeClr val="tx1"/>
                </a:solidFill>
              </a:ln>
            </a:endParaRPr>
          </a:p>
        </p:txBody>
      </p:sp>
      <p:pic>
        <p:nvPicPr>
          <p:cNvPr id="215" name="Picture 183"/>
          <p:cNvPicPr>
            <a:picLocks xmlns:a="http://schemas.openxmlformats.org/drawingml/2006/main" noChangeAspect="1"/>
          </p:cNvPicPr>
          <p:nvPr/>
        </p:nvPicPr>
        <p:blipFill>
          <a:blip xmlns:r="http://schemas.openxmlformats.org/officeDocument/2006/relationships" xmlns:a="http://schemas.openxmlformats.org/drawingml/2006/main" r:embed="Rdbca962321b0404c"/>
          <a:stretch xmlns:a="http://schemas.openxmlformats.org/drawingml/2006/main"/>
        </p:blipFill>
        <p:spPr>
          <a:xfrm xmlns:a="http://schemas.openxmlformats.org/drawingml/2006/main">
            <a:off x="8070594" y="2809875"/>
            <a:ext cx="222762" cy="276225"/>
          </a:xfrm>
          <a:prstGeom xmlns:a="http://schemas.openxmlformats.org/drawingml/2006/main" prst="rect">
            <a:avLst/>
          </a:prstGeom>
        </p:spPr>
      </p:pic>
      <p:pic>
        <p:nvPicPr>
          <p:cNvPr id="216" name="Picture 184"/>
          <p:cNvPicPr>
            <a:picLocks xmlns:a="http://schemas.openxmlformats.org/drawingml/2006/main" noChangeAspect="1"/>
          </p:cNvPicPr>
          <p:nvPr/>
        </p:nvPicPr>
        <p:blipFill>
          <a:blip xmlns:r="http://schemas.openxmlformats.org/officeDocument/2006/relationships" xmlns:a="http://schemas.openxmlformats.org/drawingml/2006/main" r:embed="R318adbfd9c384c43"/>
          <a:stretch xmlns:a="http://schemas.openxmlformats.org/drawingml/2006/main"/>
        </p:blipFill>
        <p:spPr>
          <a:xfrm xmlns:a="http://schemas.openxmlformats.org/drawingml/2006/main">
            <a:off x="8042230" y="3990975"/>
            <a:ext cx="260441" cy="276225"/>
          </a:xfrm>
          <a:prstGeom xmlns:a="http://schemas.openxmlformats.org/drawingml/2006/main" prst="rect">
            <a:avLst/>
          </a:prstGeom>
        </p:spPr>
      </p:pic>
      <p:pic>
        <p:nvPicPr>
          <p:cNvPr id="217" name="Picture 186"/>
          <p:cNvPicPr>
            <a:picLocks xmlns:a="http://schemas.openxmlformats.org/drawingml/2006/main" noChangeAspect="1"/>
          </p:cNvPicPr>
          <p:nvPr/>
        </p:nvPicPr>
        <p:blipFill>
          <a:blip xmlns:r="http://schemas.openxmlformats.org/officeDocument/2006/relationships" xmlns:a="http://schemas.openxmlformats.org/drawingml/2006/main" r:embed="R9e55de2aaa5f4c43"/>
          <a:stretch xmlns:a="http://schemas.openxmlformats.org/drawingml/2006/main"/>
        </p:blipFill>
        <p:spPr>
          <a:xfrm xmlns:a="http://schemas.openxmlformats.org/drawingml/2006/main">
            <a:off x="8785578" y="3333750"/>
            <a:ext cx="431094" cy="447675"/>
          </a:xfrm>
          <a:prstGeom xmlns:a="http://schemas.openxmlformats.org/drawingml/2006/main" prst="rect">
            <a:avLst/>
          </a:prstGeom>
        </p:spPr>
      </p:pic>
      <p:sp>
        <p:nvSpPr>
          <p:cNvPr id="76" name="Rectangle 75">
            <a:extLst xmlns:a="http://schemas.openxmlformats.org/drawingml/2006/main">
              <a:ext uri="{FF2B5EF4-FFF2-40B4-BE49-F238E27FC236}">
                <a16:creationId xmlns:a16="http://schemas.microsoft.com/office/drawing/2014/main" id="{A6C2599F-DEC5-4F80-B6AC-32A609E0FFF7}"/>
              </a:ext>
            </a:extLst>
          </p:cNvPr>
          <p:cNvSpPr>
            <a:spLocks xmlns:a="http://schemas.openxmlformats.org/drawingml/2006/main" noGrp="1"/>
          </p:cNvSpPr>
          <p:nvPr/>
        </p:nvSpPr>
        <p:spPr>
          <a:xfrm xmlns:a="http://schemas.openxmlformats.org/drawingml/2006/main">
            <a:off x="7134225" y="38481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111111"/>
                </a:solidFill>
                <a:latin typeface="Arial"/>
                <a:ea typeface="Arial"/>
                <a:cs typeface="Arial"/>
              </a:defRPr>
            </a:pPr>
            <a:r>
              <a:rPr sz="900" b="1" i="0">
                <a:solidFill>
                  <a:srgbClr val="111111"/>
                </a:solidFill>
                <a:latin typeface="Arial"/>
                <a:ea typeface="Arial"/>
                <a:cs typeface="Arial"/>
              </a:rPr>
              <a:t>OCVS</a:t>
            </a:r>
          </a:p>
        </p:txBody>
      </p:sp>
      <p:sp>
        <p:nvSpPr>
          <p:cNvPr id="77" name="Rectangle 76">
            <a:extLst xmlns:a="http://schemas.openxmlformats.org/drawingml/2006/main">
              <a:ext uri="{FF2B5EF4-FFF2-40B4-BE49-F238E27FC236}">
                <a16:creationId xmlns:a16="http://schemas.microsoft.com/office/drawing/2014/main" id="{181A4EBB-8073-4D8B-8BEA-F3C659B16090}"/>
              </a:ext>
            </a:extLst>
          </p:cNvPr>
          <p:cNvSpPr>
            <a:spLocks xmlns:a="http://schemas.openxmlformats.org/drawingml/2006/main" noGrp="1"/>
          </p:cNvSpPr>
          <p:nvPr/>
        </p:nvSpPr>
        <p:spPr>
          <a:xfrm xmlns:a="http://schemas.openxmlformats.org/drawingml/2006/main">
            <a:off x="6964341" y="3988284"/>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Run VMware</a:t>
            </a:r>
          </a:p>
        </p:txBody>
      </p:sp>
      <p:sp>
        <p:nvSpPr>
          <p:cNvPr id="78" name="Rectangle 77">
            <a:extLst xmlns:a="http://schemas.openxmlformats.org/drawingml/2006/main">
              <a:ext uri="{FF2B5EF4-FFF2-40B4-BE49-F238E27FC236}">
                <a16:creationId xmlns:a16="http://schemas.microsoft.com/office/drawing/2014/main" id="{D07A2387-B2DC-46D9-B019-42F37CE6AD09}"/>
              </a:ext>
            </a:extLst>
          </p:cNvPr>
          <p:cNvSpPr>
            <a:spLocks xmlns:a="http://schemas.openxmlformats.org/drawingml/2006/main" noGrp="1"/>
          </p:cNvSpPr>
          <p:nvPr/>
        </p:nvSpPr>
        <p:spPr>
          <a:xfrm xmlns:a="http://schemas.openxmlformats.org/drawingml/2006/main">
            <a:off x="8677275" y="38481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111111"/>
                </a:solidFill>
                <a:latin typeface="Arial"/>
                <a:ea typeface="Arial"/>
                <a:cs typeface="Arial"/>
              </a:defRPr>
            </a:pPr>
            <a:r>
              <a:rPr sz="900" b="1" i="0">
                <a:solidFill>
                  <a:srgbClr val="111111"/>
                </a:solidFill>
                <a:latin typeface="Arial"/>
                <a:ea typeface="Arial"/>
                <a:cs typeface="Arial"/>
              </a:rPr>
              <a:t>OCI Compute</a:t>
            </a:r>
          </a:p>
        </p:txBody>
      </p:sp>
      <p:sp>
        <p:nvSpPr>
          <p:cNvPr id="79" name="Rectangle 78">
            <a:extLst xmlns:a="http://schemas.openxmlformats.org/drawingml/2006/main">
              <a:ext uri="{FF2B5EF4-FFF2-40B4-BE49-F238E27FC236}">
                <a16:creationId xmlns:a16="http://schemas.microsoft.com/office/drawing/2014/main" id="{EA2F3E31-55EA-4AD2-8583-312A2718BD4D}"/>
              </a:ext>
            </a:extLst>
          </p:cNvPr>
          <p:cNvSpPr>
            <a:spLocks xmlns:a="http://schemas.openxmlformats.org/drawingml/2006/main" noGrp="1"/>
          </p:cNvSpPr>
          <p:nvPr/>
        </p:nvSpPr>
        <p:spPr>
          <a:xfrm xmlns:a="http://schemas.openxmlformats.org/drawingml/2006/main">
            <a:off x="8686800" y="4010025"/>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Modernize</a:t>
            </a:r>
          </a:p>
        </p:txBody>
      </p:sp>
      <p:sp>
        <p:nvSpPr>
          <p:cNvPr id="80" name="Rounded Rectangle 79">
            <a:extLst xmlns:a="http://schemas.openxmlformats.org/drawingml/2006/main">
              <a:ext uri="{FF2B5EF4-FFF2-40B4-BE49-F238E27FC236}">
                <a16:creationId xmlns:a16="http://schemas.microsoft.com/office/drawing/2014/main" id="{3D427039-41E7-473E-9076-FB853F489E6F}"/>
              </a:ext>
            </a:extLst>
          </p:cNvPr>
          <p:cNvSpPr>
            <a:spLocks xmlns:a="http://schemas.openxmlformats.org/drawingml/2006/main" noGrp="1"/>
          </p:cNvSpPr>
          <p:nvPr/>
        </p:nvSpPr>
        <p:spPr>
          <a:xfrm xmlns:a="http://schemas.openxmlformats.org/drawingml/2006/main">
            <a:off x="6734175" y="4629150"/>
            <a:ext cx="2876550" cy="838200"/>
          </a:xfrm>
          <a:prstGeom xmlns:a="http://schemas.openxmlformats.org/drawingml/2006/main" prst="roundRect">
            <a:avLst>
              <a:gd name="adj" fmla="val 9091"/>
            </a:avLst>
          </a:prstGeom>
          <a:solidFill xmlns:a="http://schemas.openxmlformats.org/drawingml/2006/main">
            <a:srgbClr val="FFF0EE"/>
          </a:solidFill>
          <a:ln xmlns:a="http://schemas.openxmlformats.org/drawingml/2006/main" w="0">
            <a:solidFill>
              <a:srgbClr val="FFF0EE"/>
            </a:solidFill>
            <a:prstDash val="solid"/>
          </a:ln>
        </p:spPr>
        <p:txBody>
          <a:bodyPr xmlns:a="http://schemas.openxmlformats.org/drawingml/2006/main"/>
          <a:lstStyle xmlns:a="http://schemas.openxmlformats.org/drawingml/2006/main"/>
          <a:p xmlns:a="http://schemas.openxmlformats.org/drawingml/2006/main">
            <a:endParaRPr/>
          </a:p>
        </p:txBody>
      </p:sp>
      <p:pic>
        <p:nvPicPr>
          <p:cNvPr id="223" name="Picture 192"/>
          <p:cNvPicPr>
            <a:picLocks xmlns:a="http://schemas.openxmlformats.org/drawingml/2006/main" noChangeAspect="1"/>
          </p:cNvPicPr>
          <p:nvPr/>
        </p:nvPicPr>
        <p:blipFill>
          <a:blip xmlns:r="http://schemas.openxmlformats.org/officeDocument/2006/relationships" xmlns:a="http://schemas.openxmlformats.org/drawingml/2006/main" r:embed="Ree908d941c644c87"/>
          <a:stretch xmlns:a="http://schemas.openxmlformats.org/drawingml/2006/main"/>
        </p:blipFill>
        <p:spPr>
          <a:xfrm xmlns:a="http://schemas.openxmlformats.org/drawingml/2006/main">
            <a:off x="6886575" y="4760051"/>
            <a:ext cx="398656" cy="419100"/>
          </a:xfrm>
          <a:prstGeom xmlns:a="http://schemas.openxmlformats.org/drawingml/2006/main" prst="rect">
            <a:avLst/>
          </a:prstGeom>
        </p:spPr>
      </p:pic>
      <p:sp>
        <p:nvSpPr>
          <p:cNvPr id="82" name="Rectangle 81">
            <a:extLst xmlns:a="http://schemas.openxmlformats.org/drawingml/2006/main">
              <a:ext uri="{FF2B5EF4-FFF2-40B4-BE49-F238E27FC236}">
                <a16:creationId xmlns:a16="http://schemas.microsoft.com/office/drawing/2014/main" id="{7AF957E3-5766-431A-9B71-8BB2D80C35BF}"/>
              </a:ext>
            </a:extLst>
          </p:cNvPr>
          <p:cNvSpPr>
            <a:spLocks xmlns:a="http://schemas.openxmlformats.org/drawingml/2006/main" noGrp="1"/>
          </p:cNvSpPr>
          <p:nvPr/>
        </p:nvSpPr>
        <p:spPr>
          <a:xfrm xmlns:a="http://schemas.openxmlformats.org/drawingml/2006/main">
            <a:off x="7324725" y="4762500"/>
            <a:ext cx="2028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1" i="0">
                <a:solidFill>
                  <a:srgbClr val="111111"/>
                </a:solidFill>
                <a:latin typeface="Arial"/>
                <a:ea typeface="Arial"/>
                <a:cs typeface="Arial"/>
              </a:defRPr>
            </a:pPr>
            <a:r>
              <a:rPr sz="975" b="1" i="0">
                <a:solidFill>
                  <a:srgbClr val="111111"/>
                </a:solidFill>
                <a:latin typeface="Arial"/>
                <a:ea typeface="Arial"/>
                <a:cs typeface="Arial"/>
              </a:rPr>
              <a:t>Unified Management &amp; Security</a:t>
            </a:r>
          </a:p>
        </p:txBody>
      </p:sp>
      <p:sp>
        <p:nvSpPr>
          <p:cNvPr id="83" name="Rectangle 82">
            <a:extLst xmlns:a="http://schemas.openxmlformats.org/drawingml/2006/main">
              <a:ext uri="{FF2B5EF4-FFF2-40B4-BE49-F238E27FC236}">
                <a16:creationId xmlns:a16="http://schemas.microsoft.com/office/drawing/2014/main" id="{7820D916-9422-47B1-BEE1-E7EAAA54E6BF}"/>
              </a:ext>
            </a:extLst>
          </p:cNvPr>
          <p:cNvSpPr>
            <a:spLocks xmlns:a="http://schemas.openxmlformats.org/drawingml/2006/main" noGrp="1"/>
          </p:cNvSpPr>
          <p:nvPr/>
        </p:nvSpPr>
        <p:spPr>
          <a:xfrm xmlns:a="http://schemas.openxmlformats.org/drawingml/2006/main">
            <a:off x="7324725" y="4972050"/>
            <a:ext cx="2047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7000"/>
              </a:lnSpc>
              <a:buNone/>
              <a:defRPr sz="863" b="0" i="0">
                <a:solidFill>
                  <a:srgbClr val="111111"/>
                </a:solidFill>
                <a:latin typeface="Arial"/>
                <a:ea typeface="Arial"/>
                <a:cs typeface="Arial"/>
              </a:defRPr>
            </a:pPr>
            <a:r>
              <a:rPr sz="863" b="0" i="0">
                <a:solidFill>
                  <a:srgbClr val="111111"/>
                </a:solidFill>
                <a:latin typeface="Arial"/>
                <a:ea typeface="Arial"/>
                <a:cs typeface="Arial"/>
              </a:rPr>
              <a:t>Consistent security, governance and</a:t>
            </a:r>
          </a:p>
          <a:p xmlns:a="http://schemas.openxmlformats.org/drawingml/2006/main">
            <a:pPr algn="l">
              <a:lnSpc>
                <a:spcPct val="107000"/>
              </a:lnSpc>
              <a:buNone/>
              <a:defRPr sz="863" b="0" i="0">
                <a:solidFill>
                  <a:srgbClr val="111111"/>
                </a:solidFill>
                <a:latin typeface="Arial"/>
                <a:ea typeface="Arial"/>
                <a:cs typeface="Arial"/>
              </a:defRPr>
            </a:pPr>
            <a:r>
              <a:rPr sz="863" b="0" i="0">
                <a:solidFill>
                  <a:srgbClr val="111111"/>
                </a:solidFill>
                <a:latin typeface="Arial"/>
                <a:ea typeface="Arial"/>
                <a:cs typeface="Arial"/>
              </a:rPr>
              <a:t>management across all environments.</a:t>
            </a:r>
          </a:p>
        </p:txBody>
      </p:sp>
      <p:sp>
        <p:nvSpPr>
          <p:cNvPr id="84" name="Straight Connector 83">
            <a:extLst xmlns:a="http://schemas.openxmlformats.org/drawingml/2006/main">
              <a:ext uri="{FF2B5EF4-FFF2-40B4-BE49-F238E27FC236}">
                <a16:creationId xmlns:a16="http://schemas.microsoft.com/office/drawing/2014/main" id="{B06C777C-FA3D-40E6-910F-C4D668A59718}"/>
              </a:ext>
            </a:extLst>
          </p:cNvPr>
          <p:cNvSpPr>
            <a:spLocks xmlns:a="http://schemas.openxmlformats.org/drawingml/2006/main" noGrp="1"/>
          </p:cNvSpPr>
          <p:nvPr/>
        </p:nvSpPr>
        <p:spPr>
          <a:xfrm xmlns:a="http://schemas.openxmlformats.org/drawingml/2006/main">
            <a:off x="9963150" y="1304925"/>
            <a:ext cx="0" cy="4257675"/>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sp>
        <p:nvSpPr>
          <p:cNvPr id="85" name="Rectangle 84">
            <a:extLst xmlns:a="http://schemas.openxmlformats.org/drawingml/2006/main">
              <a:ext uri="{FF2B5EF4-FFF2-40B4-BE49-F238E27FC236}">
                <a16:creationId xmlns:a16="http://schemas.microsoft.com/office/drawing/2014/main" id="{194C3829-C7E3-467C-876A-5C163BD70A80}"/>
              </a:ext>
            </a:extLst>
          </p:cNvPr>
          <p:cNvSpPr>
            <a:spLocks xmlns:a="http://schemas.openxmlformats.org/drawingml/2006/main" noGrp="1"/>
          </p:cNvSpPr>
          <p:nvPr/>
        </p:nvSpPr>
        <p:spPr>
          <a:xfrm xmlns:a="http://schemas.openxmlformats.org/drawingml/2006/main">
            <a:off x="10115550" y="13525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1" i="0">
                <a:solidFill>
                  <a:srgbClr val="003B25"/>
                </a:solidFill>
                <a:latin typeface="Arial"/>
                <a:ea typeface="Arial"/>
                <a:cs typeface="Arial"/>
              </a:defRPr>
            </a:pPr>
            <a:r>
              <a:rPr sz="975" b="1" i="0">
                <a:solidFill>
                  <a:srgbClr val="003B25"/>
                </a:solidFill>
                <a:latin typeface="Arial"/>
                <a:ea typeface="Arial"/>
                <a:cs typeface="Arial"/>
              </a:rPr>
              <a:t>BUSINESS OUTCOMES</a:t>
            </a:r>
          </a:p>
        </p:txBody>
      </p:sp>
      <p:sp>
        <p:nvSpPr>
          <p:cNvPr id="86" name="Straight Connector 85">
            <a:extLst xmlns:a="http://schemas.openxmlformats.org/drawingml/2006/main">
              <a:ext uri="{FF2B5EF4-FFF2-40B4-BE49-F238E27FC236}">
                <a16:creationId xmlns:a16="http://schemas.microsoft.com/office/drawing/2014/main" id="{1FDB18D3-84F9-49EB-99F8-B87FDD626B79}"/>
              </a:ext>
            </a:extLst>
          </p:cNvPr>
          <p:cNvSpPr>
            <a:spLocks xmlns:a="http://schemas.openxmlformats.org/drawingml/2006/main" noGrp="1"/>
          </p:cNvSpPr>
          <p:nvPr/>
        </p:nvSpPr>
        <p:spPr>
          <a:xfrm xmlns:a="http://schemas.openxmlformats.org/drawingml/2006/main">
            <a:off x="10115550" y="1581150"/>
            <a:ext cx="1809750" cy="0"/>
          </a:xfrm>
          <a:prstGeom xmlns:a="http://schemas.openxmlformats.org/drawingml/2006/main" prst="line">
            <a:avLst/>
          </a:prstGeom>
          <a:noFill xmlns:a="http://schemas.openxmlformats.org/drawingml/2006/main"/>
          <a:ln xmlns:a="http://schemas.openxmlformats.org/drawingml/2006/main" w="9525">
            <a:solidFill>
              <a:srgbClr val="1C6745"/>
            </a:solidFill>
            <a:prstDash val="solid"/>
          </a:ln>
        </p:spPr>
        <p:txBody>
          <a:bodyPr xmlns:a="http://schemas.openxmlformats.org/drawingml/2006/main"/>
          <a:lstStyle xmlns:a="http://schemas.openxmlformats.org/drawingml/2006/main"/>
          <a:p xmlns:a="http://schemas.openxmlformats.org/drawingml/2006/main">
            <a:endParaRPr/>
          </a:p>
        </p:txBody>
      </p:sp>
      <p:pic>
        <p:nvPicPr>
          <p:cNvPr id="229" name="Picture 198"/>
          <p:cNvPicPr>
            <a:picLocks xmlns:a="http://schemas.openxmlformats.org/drawingml/2006/main" noChangeAspect="1"/>
          </p:cNvPicPr>
          <p:nvPr/>
        </p:nvPicPr>
        <p:blipFill>
          <a:blip xmlns:r="http://schemas.openxmlformats.org/officeDocument/2006/relationships" xmlns:a="http://schemas.openxmlformats.org/drawingml/2006/main" r:embed="R4767abac325f42d4"/>
          <a:stretch xmlns:a="http://schemas.openxmlformats.org/drawingml/2006/main"/>
        </p:blipFill>
        <p:spPr>
          <a:xfrm xmlns:a="http://schemas.openxmlformats.org/drawingml/2006/main">
            <a:off x="10067925" y="1771650"/>
            <a:ext cx="504825" cy="504825"/>
          </a:xfrm>
          <a:prstGeom xmlns:a="http://schemas.openxmlformats.org/drawingml/2006/main" prst="rect">
            <a:avLst/>
          </a:prstGeom>
        </p:spPr>
      </p:pic>
      <p:sp>
        <p:nvSpPr>
          <p:cNvPr id="88" name="Rectangle 87">
            <a:extLst xmlns:a="http://schemas.openxmlformats.org/drawingml/2006/main">
              <a:ext uri="{FF2B5EF4-FFF2-40B4-BE49-F238E27FC236}">
                <a16:creationId xmlns:a16="http://schemas.microsoft.com/office/drawing/2014/main" id="{2C929F64-F04F-462F-8208-5F16B54FD01C}"/>
              </a:ext>
            </a:extLst>
          </p:cNvPr>
          <p:cNvSpPr>
            <a:spLocks xmlns:a="http://schemas.openxmlformats.org/drawingml/2006/main" noGrp="1"/>
          </p:cNvSpPr>
          <p:nvPr/>
        </p:nvSpPr>
        <p:spPr>
          <a:xfrm xmlns:a="http://schemas.openxmlformats.org/drawingml/2006/main">
            <a:off x="10610850" y="1790700"/>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Lower Costs</a:t>
            </a:r>
          </a:p>
        </p:txBody>
      </p:sp>
      <p:sp>
        <p:nvSpPr>
          <p:cNvPr id="89" name="Rectangle 88">
            <a:extLst xmlns:a="http://schemas.openxmlformats.org/drawingml/2006/main">
              <a:ext uri="{FF2B5EF4-FFF2-40B4-BE49-F238E27FC236}">
                <a16:creationId xmlns:a16="http://schemas.microsoft.com/office/drawing/2014/main" id="{0396E649-791C-4318-B7DD-37414FAB36DE}"/>
              </a:ext>
            </a:extLst>
          </p:cNvPr>
          <p:cNvSpPr>
            <a:spLocks xmlns:a="http://schemas.openxmlformats.org/drawingml/2006/main" noGrp="1"/>
          </p:cNvSpPr>
          <p:nvPr/>
        </p:nvSpPr>
        <p:spPr>
          <a:xfrm xmlns:a="http://schemas.openxmlformats.org/drawingml/2006/main">
            <a:off x="10610850" y="2009775"/>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8000"/>
              </a:lnSpc>
              <a:buNone/>
              <a:defRPr sz="788" b="0" i="0">
                <a:solidFill>
                  <a:srgbClr val="111111"/>
                </a:solidFill>
                <a:latin typeface="Arial"/>
                <a:ea typeface="Arial"/>
                <a:cs typeface="Arial"/>
              </a:defRPr>
            </a:pPr>
            <a:r>
              <a:rPr sz="788" b="0" i="0">
                <a:solidFill>
                  <a:srgbClr val="111111"/>
                </a:solidFill>
                <a:latin typeface="Arial"/>
                <a:ea typeface="Arial"/>
                <a:cs typeface="Arial"/>
              </a:rPr>
              <a:t>Optimize infrastructure and</a:t>
            </a:r>
          </a:p>
          <a:p xmlns:a="http://schemas.openxmlformats.org/drawingml/2006/main">
            <a:pPr algn="l">
              <a:lnSpc>
                <a:spcPct val="108000"/>
              </a:lnSpc>
              <a:buNone/>
              <a:defRPr sz="788" b="0" i="0">
                <a:solidFill>
                  <a:srgbClr val="111111"/>
                </a:solidFill>
                <a:latin typeface="Arial"/>
                <a:ea typeface="Arial"/>
                <a:cs typeface="Arial"/>
              </a:defRPr>
            </a:pPr>
            <a:r>
              <a:rPr sz="788" b="0" i="0">
                <a:solidFill>
                  <a:srgbClr val="111111"/>
                </a:solidFill>
                <a:latin typeface="Arial"/>
                <a:ea typeface="Arial"/>
                <a:cs typeface="Arial"/>
              </a:rPr>
              <a:t>reduce operational costs.</a:t>
            </a:r>
          </a:p>
        </p:txBody>
      </p:sp>
      <p:sp>
        <p:nvSpPr>
          <p:cNvPr id="90" name="Straight Connector 89">
            <a:extLst xmlns:a="http://schemas.openxmlformats.org/drawingml/2006/main">
              <a:ext uri="{FF2B5EF4-FFF2-40B4-BE49-F238E27FC236}">
                <a16:creationId xmlns:a16="http://schemas.microsoft.com/office/drawing/2014/main" id="{19E87919-1E32-46A9-AD3A-79EF5553DC78}"/>
              </a:ext>
            </a:extLst>
          </p:cNvPr>
          <p:cNvSpPr>
            <a:spLocks xmlns:a="http://schemas.openxmlformats.org/drawingml/2006/main" noGrp="1"/>
          </p:cNvSpPr>
          <p:nvPr/>
        </p:nvSpPr>
        <p:spPr>
          <a:xfrm xmlns:a="http://schemas.openxmlformats.org/drawingml/2006/main">
            <a:off x="10115550" y="2390775"/>
            <a:ext cx="1809750"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233" name="Picture 202"/>
          <p:cNvPicPr>
            <a:picLocks xmlns:a="http://schemas.openxmlformats.org/drawingml/2006/main" noChangeAspect="1"/>
          </p:cNvPicPr>
          <p:nvPr/>
        </p:nvPicPr>
        <p:blipFill>
          <a:blip xmlns:r="http://schemas.openxmlformats.org/officeDocument/2006/relationships" xmlns:a="http://schemas.openxmlformats.org/drawingml/2006/main" r:embed="Rd1d0a4e89e5f4fb3"/>
          <a:stretch xmlns:a="http://schemas.openxmlformats.org/drawingml/2006/main"/>
        </p:blipFill>
        <p:spPr>
          <a:xfrm xmlns:a="http://schemas.openxmlformats.org/drawingml/2006/main">
            <a:off x="10067925" y="2552700"/>
            <a:ext cx="504825" cy="504825"/>
          </a:xfrm>
          <a:prstGeom xmlns:a="http://schemas.openxmlformats.org/drawingml/2006/main" prst="rect">
            <a:avLst/>
          </a:prstGeom>
        </p:spPr>
      </p:pic>
      <p:sp>
        <p:nvSpPr>
          <p:cNvPr id="92" name="Rectangle 91">
            <a:extLst xmlns:a="http://schemas.openxmlformats.org/drawingml/2006/main">
              <a:ext uri="{FF2B5EF4-FFF2-40B4-BE49-F238E27FC236}">
                <a16:creationId xmlns:a16="http://schemas.microsoft.com/office/drawing/2014/main" id="{4A084D24-6799-4630-AE61-54B7E4821755}"/>
              </a:ext>
            </a:extLst>
          </p:cNvPr>
          <p:cNvSpPr>
            <a:spLocks xmlns:a="http://schemas.openxmlformats.org/drawingml/2006/main" noGrp="1"/>
          </p:cNvSpPr>
          <p:nvPr/>
        </p:nvSpPr>
        <p:spPr>
          <a:xfrm xmlns:a="http://schemas.openxmlformats.org/drawingml/2006/main">
            <a:off x="10610850" y="2571750"/>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Modernize &amp; Innovate</a:t>
            </a:r>
          </a:p>
        </p:txBody>
      </p:sp>
      <p:sp>
        <p:nvSpPr>
          <p:cNvPr id="93" name="Rectangle 92">
            <a:extLst xmlns:a="http://schemas.openxmlformats.org/drawingml/2006/main">
              <a:ext uri="{FF2B5EF4-FFF2-40B4-BE49-F238E27FC236}">
                <a16:creationId xmlns:a16="http://schemas.microsoft.com/office/drawing/2014/main" id="{B0325264-8DF1-4AE3-9A35-9AD70A5EEAE7}"/>
              </a:ext>
            </a:extLst>
          </p:cNvPr>
          <p:cNvSpPr>
            <a:spLocks xmlns:a="http://schemas.openxmlformats.org/drawingml/2006/main" noGrp="1"/>
          </p:cNvSpPr>
          <p:nvPr/>
        </p:nvSpPr>
        <p:spPr>
          <a:xfrm xmlns:a="http://schemas.openxmlformats.org/drawingml/2006/main">
            <a:off x="10610850" y="2790825"/>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8000"/>
              </a:lnSpc>
              <a:buNone/>
              <a:defRPr sz="788" b="0" i="0">
                <a:solidFill>
                  <a:srgbClr val="111111"/>
                </a:solidFill>
                <a:latin typeface="Arial"/>
                <a:ea typeface="Arial"/>
                <a:cs typeface="Arial"/>
              </a:defRPr>
            </a:pPr>
            <a:r>
              <a:rPr sz="788" b="0" i="0">
                <a:solidFill>
                  <a:srgbClr val="111111"/>
                </a:solidFill>
                <a:latin typeface="Arial"/>
                <a:ea typeface="Arial"/>
                <a:cs typeface="Arial"/>
              </a:rPr>
              <a:t>Use OCI native services to</a:t>
            </a:r>
          </a:p>
          <a:p xmlns:a="http://schemas.openxmlformats.org/drawingml/2006/main">
            <a:pPr algn="l">
              <a:lnSpc>
                <a:spcPct val="108000"/>
              </a:lnSpc>
              <a:buNone/>
              <a:defRPr sz="788" b="0" i="0">
                <a:solidFill>
                  <a:srgbClr val="111111"/>
                </a:solidFill>
                <a:latin typeface="Arial"/>
                <a:ea typeface="Arial"/>
                <a:cs typeface="Arial"/>
              </a:defRPr>
            </a:pPr>
            <a:r>
              <a:rPr sz="788" b="0" i="0">
                <a:solidFill>
                  <a:srgbClr val="111111"/>
                </a:solidFill>
                <a:latin typeface="Arial"/>
                <a:ea typeface="Arial"/>
                <a:cs typeface="Arial"/>
              </a:rPr>
              <a:t>accelerate innovation.</a:t>
            </a:r>
          </a:p>
        </p:txBody>
      </p:sp>
      <p:sp>
        <p:nvSpPr>
          <p:cNvPr id="94" name="Straight Connector 93">
            <a:extLst xmlns:a="http://schemas.openxmlformats.org/drawingml/2006/main">
              <a:ext uri="{FF2B5EF4-FFF2-40B4-BE49-F238E27FC236}">
                <a16:creationId xmlns:a16="http://schemas.microsoft.com/office/drawing/2014/main" id="{0A601E8A-EF62-4E0D-8330-2157018DCF5A}"/>
              </a:ext>
            </a:extLst>
          </p:cNvPr>
          <p:cNvSpPr>
            <a:spLocks xmlns:a="http://schemas.openxmlformats.org/drawingml/2006/main" noGrp="1"/>
          </p:cNvSpPr>
          <p:nvPr/>
        </p:nvSpPr>
        <p:spPr>
          <a:xfrm xmlns:a="http://schemas.openxmlformats.org/drawingml/2006/main">
            <a:off x="10115550" y="3171825"/>
            <a:ext cx="1809750"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237" name="Picture 206"/>
          <p:cNvPicPr>
            <a:picLocks xmlns:a="http://schemas.openxmlformats.org/drawingml/2006/main" noChangeAspect="1"/>
          </p:cNvPicPr>
          <p:nvPr/>
        </p:nvPicPr>
        <p:blipFill>
          <a:blip xmlns:r="http://schemas.openxmlformats.org/officeDocument/2006/relationships" xmlns:a="http://schemas.openxmlformats.org/drawingml/2006/main" r:embed="Rdd5efe2b656a473e"/>
          <a:stretch xmlns:a="http://schemas.openxmlformats.org/drawingml/2006/main"/>
        </p:blipFill>
        <p:spPr>
          <a:xfrm xmlns:a="http://schemas.openxmlformats.org/drawingml/2006/main">
            <a:off x="10067925" y="3333750"/>
            <a:ext cx="504825" cy="504825"/>
          </a:xfrm>
          <a:prstGeom xmlns:a="http://schemas.openxmlformats.org/drawingml/2006/main" prst="rect">
            <a:avLst/>
          </a:prstGeom>
        </p:spPr>
      </p:pic>
      <p:sp>
        <p:nvSpPr>
          <p:cNvPr id="96" name="Rectangle 95">
            <a:extLst xmlns:a="http://schemas.openxmlformats.org/drawingml/2006/main">
              <a:ext uri="{FF2B5EF4-FFF2-40B4-BE49-F238E27FC236}">
                <a16:creationId xmlns:a16="http://schemas.microsoft.com/office/drawing/2014/main" id="{94C75A87-ECBE-4C7E-8540-49E7ABA3886E}"/>
              </a:ext>
            </a:extLst>
          </p:cNvPr>
          <p:cNvSpPr>
            <a:spLocks xmlns:a="http://schemas.openxmlformats.org/drawingml/2006/main" noGrp="1"/>
          </p:cNvSpPr>
          <p:nvPr/>
        </p:nvSpPr>
        <p:spPr>
          <a:xfrm xmlns:a="http://schemas.openxmlformats.org/drawingml/2006/main">
            <a:off x="10610850" y="3352800"/>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Flexible &amp; Scalable</a:t>
            </a:r>
          </a:p>
        </p:txBody>
      </p:sp>
      <p:sp>
        <p:nvSpPr>
          <p:cNvPr id="97" name="Rectangle 96">
            <a:extLst xmlns:a="http://schemas.openxmlformats.org/drawingml/2006/main">
              <a:ext uri="{FF2B5EF4-FFF2-40B4-BE49-F238E27FC236}">
                <a16:creationId xmlns:a16="http://schemas.microsoft.com/office/drawing/2014/main" id="{3AD2D020-558F-43A9-984B-09BD3845A10D}"/>
              </a:ext>
            </a:extLst>
          </p:cNvPr>
          <p:cNvSpPr>
            <a:spLocks xmlns:a="http://schemas.openxmlformats.org/drawingml/2006/main" noGrp="1"/>
          </p:cNvSpPr>
          <p:nvPr/>
        </p:nvSpPr>
        <p:spPr>
          <a:xfrm xmlns:a="http://schemas.openxmlformats.org/drawingml/2006/main">
            <a:off x="10610850" y="3571875"/>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8000"/>
              </a:lnSpc>
              <a:buNone/>
              <a:defRPr sz="788" b="0" i="0">
                <a:solidFill>
                  <a:srgbClr val="111111"/>
                </a:solidFill>
                <a:latin typeface="Arial"/>
                <a:ea typeface="Arial"/>
                <a:cs typeface="Arial"/>
              </a:defRPr>
            </a:pPr>
            <a:r>
              <a:rPr sz="788" b="0" i="0">
                <a:solidFill>
                  <a:srgbClr val="111111"/>
                </a:solidFill>
                <a:latin typeface="Arial"/>
                <a:ea typeface="Arial"/>
                <a:cs typeface="Arial"/>
              </a:rPr>
              <a:t>Scale on demand across</a:t>
            </a:r>
          </a:p>
          <a:p xmlns:a="http://schemas.openxmlformats.org/drawingml/2006/main">
            <a:pPr algn="l">
              <a:lnSpc>
                <a:spcPct val="108000"/>
              </a:lnSpc>
              <a:buNone/>
              <a:defRPr sz="788" b="0" i="0">
                <a:solidFill>
                  <a:srgbClr val="111111"/>
                </a:solidFill>
                <a:latin typeface="Arial"/>
                <a:ea typeface="Arial"/>
                <a:cs typeface="Arial"/>
              </a:defRPr>
            </a:pPr>
            <a:r>
              <a:rPr sz="788" b="0" i="0">
                <a:solidFill>
                  <a:srgbClr val="111111"/>
                </a:solidFill>
                <a:latin typeface="Arial"/>
                <a:ea typeface="Arial"/>
                <a:cs typeface="Arial"/>
              </a:rPr>
              <a:t>OCVS and OCI.</a:t>
            </a:r>
          </a:p>
        </p:txBody>
      </p:sp>
      <p:sp>
        <p:nvSpPr>
          <p:cNvPr id="98" name="Straight Connector 97">
            <a:extLst xmlns:a="http://schemas.openxmlformats.org/drawingml/2006/main">
              <a:ext uri="{FF2B5EF4-FFF2-40B4-BE49-F238E27FC236}">
                <a16:creationId xmlns:a16="http://schemas.microsoft.com/office/drawing/2014/main" id="{52D4440A-6C25-4149-B1CF-99D53DE476D9}"/>
              </a:ext>
            </a:extLst>
          </p:cNvPr>
          <p:cNvSpPr>
            <a:spLocks xmlns:a="http://schemas.openxmlformats.org/drawingml/2006/main" noGrp="1"/>
          </p:cNvSpPr>
          <p:nvPr/>
        </p:nvSpPr>
        <p:spPr>
          <a:xfrm xmlns:a="http://schemas.openxmlformats.org/drawingml/2006/main">
            <a:off x="10115550" y="3952875"/>
            <a:ext cx="1809750"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241" name="Picture 210"/>
          <p:cNvPicPr>
            <a:picLocks xmlns:a="http://schemas.openxmlformats.org/drawingml/2006/main" noChangeAspect="1"/>
          </p:cNvPicPr>
          <p:nvPr/>
        </p:nvPicPr>
        <p:blipFill>
          <a:blip xmlns:r="http://schemas.openxmlformats.org/officeDocument/2006/relationships" xmlns:a="http://schemas.openxmlformats.org/drawingml/2006/main" r:embed="R26b8b7c6d14d4272"/>
          <a:stretch xmlns:a="http://schemas.openxmlformats.org/drawingml/2006/main"/>
        </p:blipFill>
        <p:spPr>
          <a:xfrm xmlns:a="http://schemas.openxmlformats.org/drawingml/2006/main">
            <a:off x="10067925" y="4114800"/>
            <a:ext cx="504825" cy="504825"/>
          </a:xfrm>
          <a:prstGeom xmlns:a="http://schemas.openxmlformats.org/drawingml/2006/main" prst="rect">
            <a:avLst/>
          </a:prstGeom>
        </p:spPr>
      </p:pic>
      <p:sp>
        <p:nvSpPr>
          <p:cNvPr id="100" name="Rectangle 99">
            <a:extLst xmlns:a="http://schemas.openxmlformats.org/drawingml/2006/main">
              <a:ext uri="{FF2B5EF4-FFF2-40B4-BE49-F238E27FC236}">
                <a16:creationId xmlns:a16="http://schemas.microsoft.com/office/drawing/2014/main" id="{C4C5FD16-4E9F-4B23-B71E-4F994881E4AA}"/>
              </a:ext>
            </a:extLst>
          </p:cNvPr>
          <p:cNvSpPr>
            <a:spLocks xmlns:a="http://schemas.openxmlformats.org/drawingml/2006/main" noGrp="1"/>
          </p:cNvSpPr>
          <p:nvPr/>
        </p:nvSpPr>
        <p:spPr>
          <a:xfrm xmlns:a="http://schemas.openxmlformats.org/drawingml/2006/main">
            <a:off x="10610850" y="4133850"/>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Secure &amp; Reliable</a:t>
            </a:r>
          </a:p>
        </p:txBody>
      </p:sp>
      <p:sp>
        <p:nvSpPr>
          <p:cNvPr id="101" name="Rectangle 100">
            <a:extLst xmlns:a="http://schemas.openxmlformats.org/drawingml/2006/main">
              <a:ext uri="{FF2B5EF4-FFF2-40B4-BE49-F238E27FC236}">
                <a16:creationId xmlns:a16="http://schemas.microsoft.com/office/drawing/2014/main" id="{A5722576-E67C-41A6-848F-F42130789151}"/>
              </a:ext>
            </a:extLst>
          </p:cNvPr>
          <p:cNvSpPr>
            <a:spLocks xmlns:a="http://schemas.openxmlformats.org/drawingml/2006/main" noGrp="1"/>
          </p:cNvSpPr>
          <p:nvPr/>
        </p:nvSpPr>
        <p:spPr>
          <a:xfrm xmlns:a="http://schemas.openxmlformats.org/drawingml/2006/main">
            <a:off x="10610850" y="4352925"/>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8000"/>
              </a:lnSpc>
              <a:buNone/>
              <a:defRPr sz="788" b="0" i="0">
                <a:solidFill>
                  <a:srgbClr val="111111"/>
                </a:solidFill>
                <a:latin typeface="Arial"/>
                <a:ea typeface="Arial"/>
                <a:cs typeface="Arial"/>
              </a:defRPr>
            </a:pPr>
            <a:r>
              <a:rPr sz="788" b="0" i="0">
                <a:solidFill>
                  <a:srgbClr val="111111"/>
                </a:solidFill>
                <a:latin typeface="Arial"/>
                <a:ea typeface="Arial"/>
                <a:cs typeface="Arial"/>
              </a:rPr>
              <a:t>Enterprise-grade security</a:t>
            </a:r>
          </a:p>
          <a:p xmlns:a="http://schemas.openxmlformats.org/drawingml/2006/main">
            <a:pPr algn="l">
              <a:lnSpc>
                <a:spcPct val="108000"/>
              </a:lnSpc>
              <a:buNone/>
              <a:defRPr sz="788" b="0" i="0">
                <a:solidFill>
                  <a:srgbClr val="111111"/>
                </a:solidFill>
                <a:latin typeface="Arial"/>
                <a:ea typeface="Arial"/>
                <a:cs typeface="Arial"/>
              </a:defRPr>
            </a:pPr>
            <a:r>
              <a:rPr sz="788" b="0" i="0">
                <a:solidFill>
                  <a:srgbClr val="111111"/>
                </a:solidFill>
                <a:latin typeface="Arial"/>
                <a:ea typeface="Arial"/>
                <a:cs typeface="Arial"/>
              </a:rPr>
              <a:t>and high availability.</a:t>
            </a:r>
          </a:p>
        </p:txBody>
      </p:sp>
      <p:sp>
        <p:nvSpPr>
          <p:cNvPr id="102" name="Straight Connector 101">
            <a:extLst xmlns:a="http://schemas.openxmlformats.org/drawingml/2006/main">
              <a:ext uri="{FF2B5EF4-FFF2-40B4-BE49-F238E27FC236}">
                <a16:creationId xmlns:a16="http://schemas.microsoft.com/office/drawing/2014/main" id="{7E275AB9-6E12-46AB-AF7C-E0AECB32B900}"/>
              </a:ext>
            </a:extLst>
          </p:cNvPr>
          <p:cNvSpPr>
            <a:spLocks xmlns:a="http://schemas.openxmlformats.org/drawingml/2006/main" noGrp="1"/>
          </p:cNvSpPr>
          <p:nvPr/>
        </p:nvSpPr>
        <p:spPr>
          <a:xfrm xmlns:a="http://schemas.openxmlformats.org/drawingml/2006/main">
            <a:off x="10115550" y="4733925"/>
            <a:ext cx="1809750"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245" name="Picture 214"/>
          <p:cNvPicPr>
            <a:picLocks xmlns:a="http://schemas.openxmlformats.org/drawingml/2006/main" noChangeAspect="1"/>
          </p:cNvPicPr>
          <p:nvPr/>
        </p:nvPicPr>
        <p:blipFill>
          <a:blip xmlns:r="http://schemas.openxmlformats.org/officeDocument/2006/relationships" xmlns:a="http://schemas.openxmlformats.org/drawingml/2006/main" r:embed="R0927ee13ccc54209"/>
          <a:stretch xmlns:a="http://schemas.openxmlformats.org/drawingml/2006/main"/>
        </p:blipFill>
        <p:spPr>
          <a:xfrm xmlns:a="http://schemas.openxmlformats.org/drawingml/2006/main">
            <a:off x="10067925" y="4895850"/>
            <a:ext cx="504825" cy="504825"/>
          </a:xfrm>
          <a:prstGeom xmlns:a="http://schemas.openxmlformats.org/drawingml/2006/main" prst="rect">
            <a:avLst/>
          </a:prstGeom>
        </p:spPr>
      </p:pic>
      <p:sp>
        <p:nvSpPr>
          <p:cNvPr id="104" name="Rectangle 103">
            <a:extLst xmlns:a="http://schemas.openxmlformats.org/drawingml/2006/main">
              <a:ext uri="{FF2B5EF4-FFF2-40B4-BE49-F238E27FC236}">
                <a16:creationId xmlns:a16="http://schemas.microsoft.com/office/drawing/2014/main" id="{B3ACEA2B-3278-461D-B2A6-DD55507C16F7}"/>
              </a:ext>
            </a:extLst>
          </p:cNvPr>
          <p:cNvSpPr>
            <a:spLocks xmlns:a="http://schemas.openxmlformats.org/drawingml/2006/main" noGrp="1"/>
          </p:cNvSpPr>
          <p:nvPr/>
        </p:nvSpPr>
        <p:spPr>
          <a:xfrm xmlns:a="http://schemas.openxmlformats.org/drawingml/2006/main">
            <a:off x="10610850" y="4914900"/>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Future Ready</a:t>
            </a:r>
          </a:p>
        </p:txBody>
      </p:sp>
      <p:sp>
        <p:nvSpPr>
          <p:cNvPr id="105" name="Rectangle 104">
            <a:extLst xmlns:a="http://schemas.openxmlformats.org/drawingml/2006/main">
              <a:ext uri="{FF2B5EF4-FFF2-40B4-BE49-F238E27FC236}">
                <a16:creationId xmlns:a16="http://schemas.microsoft.com/office/drawing/2014/main" id="{60EC2853-4AC1-4472-852F-AB67D021DF1C}"/>
              </a:ext>
            </a:extLst>
          </p:cNvPr>
          <p:cNvSpPr>
            <a:spLocks xmlns:a="http://schemas.openxmlformats.org/drawingml/2006/main" noGrp="1"/>
          </p:cNvSpPr>
          <p:nvPr/>
        </p:nvSpPr>
        <p:spPr>
          <a:xfrm xmlns:a="http://schemas.openxmlformats.org/drawingml/2006/main">
            <a:off x="10610850" y="5133975"/>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8000"/>
              </a:lnSpc>
              <a:buNone/>
              <a:defRPr sz="788" b="0" i="0">
                <a:solidFill>
                  <a:srgbClr val="111111"/>
                </a:solidFill>
                <a:latin typeface="Arial"/>
                <a:ea typeface="Arial"/>
                <a:cs typeface="Arial"/>
              </a:defRPr>
            </a:pPr>
            <a:r>
              <a:rPr sz="788" b="0" i="0">
                <a:solidFill>
                  <a:srgbClr val="111111"/>
                </a:solidFill>
                <a:latin typeface="Arial"/>
                <a:ea typeface="Arial"/>
                <a:cs typeface="Arial"/>
              </a:rPr>
              <a:t>Build a modern, agile</a:t>
            </a:r>
          </a:p>
          <a:p xmlns:a="http://schemas.openxmlformats.org/drawingml/2006/main">
            <a:pPr algn="l">
              <a:lnSpc>
                <a:spcPct val="108000"/>
              </a:lnSpc>
              <a:buNone/>
              <a:defRPr sz="788" b="0" i="0">
                <a:solidFill>
                  <a:srgbClr val="111111"/>
                </a:solidFill>
                <a:latin typeface="Arial"/>
                <a:ea typeface="Arial"/>
                <a:cs typeface="Arial"/>
              </a:defRPr>
            </a:pPr>
            <a:r>
              <a:rPr sz="788" b="0" i="0">
                <a:solidFill>
                  <a:srgbClr val="111111"/>
                </a:solidFill>
                <a:latin typeface="Arial"/>
                <a:ea typeface="Arial"/>
                <a:cs typeface="Arial"/>
              </a:rPr>
              <a:t>foundation for the future.</a:t>
            </a:r>
          </a:p>
        </p:txBody>
      </p:sp>
      <p:sp>
        <p:nvSpPr>
          <p:cNvPr id="106" name="Rounded Rectangle 105">
            <a:extLst xmlns:a="http://schemas.openxmlformats.org/drawingml/2006/main">
              <a:ext uri="{FF2B5EF4-FFF2-40B4-BE49-F238E27FC236}">
                <a16:creationId xmlns:a16="http://schemas.microsoft.com/office/drawing/2014/main" id="{BE999163-D28A-4C4E-A8DA-0F644015818E}"/>
              </a:ext>
            </a:extLst>
          </p:cNvPr>
          <p:cNvSpPr>
            <a:spLocks xmlns:a="http://schemas.openxmlformats.org/drawingml/2006/main" noGrp="1"/>
          </p:cNvSpPr>
          <p:nvPr/>
        </p:nvSpPr>
        <p:spPr>
          <a:xfrm xmlns:a="http://schemas.openxmlformats.org/drawingml/2006/main">
            <a:off x="295275" y="5705475"/>
            <a:ext cx="9467850" cy="714375"/>
          </a:xfrm>
          <a:prstGeom xmlns:a="http://schemas.openxmlformats.org/drawingml/2006/main" prst="roundRect">
            <a:avLst>
              <a:gd name="adj" fmla="val 10667"/>
            </a:avLst>
          </a:prstGeom>
          <a:gradFill xmlns:a="http://schemas.openxmlformats.org/drawingml/2006/main">
            <a:gsLst>
              <a:gs pos="0">
                <a:srgbClr val="00351F"/>
              </a:gs>
              <a:gs pos="100000">
                <a:srgbClr val="00643E"/>
              </a:gs>
            </a:gsLst>
            <a:lin ang="0"/>
          </a:gradFill>
          <a:ln xmlns:a="http://schemas.openxmlformats.org/drawingml/2006/main" w="9525">
            <a:solidFill>
              <a:srgbClr val="003B2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pic>
        <p:nvPicPr>
          <p:cNvPr id="249" name="Picture 218"/>
          <p:cNvPicPr>
            <a:picLocks xmlns:a="http://schemas.openxmlformats.org/drawingml/2006/main" noChangeAspect="1"/>
          </p:cNvPicPr>
          <p:nvPr/>
        </p:nvPicPr>
        <p:blipFill>
          <a:blip xmlns:r="http://schemas.openxmlformats.org/officeDocument/2006/relationships" xmlns:a="http://schemas.openxmlformats.org/drawingml/2006/main" r:embed="Ra6b11bc807434d8c"/>
          <a:stretch xmlns:a="http://schemas.openxmlformats.org/drawingml/2006/main"/>
        </p:blipFill>
        <p:spPr>
          <a:xfrm xmlns:a="http://schemas.openxmlformats.org/drawingml/2006/main">
            <a:off x="432515" y="5810250"/>
            <a:ext cx="544669" cy="552450"/>
          </a:xfrm>
          <a:prstGeom xmlns:a="http://schemas.openxmlformats.org/drawingml/2006/main" prst="rect">
            <a:avLst/>
          </a:prstGeom>
        </p:spPr>
      </p:pic>
      <p:sp>
        <p:nvSpPr>
          <p:cNvPr id="108" name="Rectangle 107">
            <a:extLst xmlns:a="http://schemas.openxmlformats.org/drawingml/2006/main">
              <a:ext uri="{FF2B5EF4-FFF2-40B4-BE49-F238E27FC236}">
                <a16:creationId xmlns:a16="http://schemas.microsoft.com/office/drawing/2014/main" id="{1805E65A-5F4F-41A1-999B-F92AF9419098}"/>
              </a:ext>
            </a:extLst>
          </p:cNvPr>
          <p:cNvSpPr>
            <a:spLocks xmlns:a="http://schemas.openxmlformats.org/drawingml/2006/main" noGrp="1"/>
          </p:cNvSpPr>
          <p:nvPr/>
        </p:nvSpPr>
        <p:spPr>
          <a:xfrm xmlns:a="http://schemas.openxmlformats.org/drawingml/2006/main">
            <a:off x="1123950" y="5829300"/>
            <a:ext cx="8172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1650" b="1" i="0">
                <a:solidFill>
                  <a:srgbClr val="FFFFFF"/>
                </a:solidFill>
                <a:latin typeface="Arial"/>
                <a:ea typeface="Arial"/>
                <a:cs typeface="Arial"/>
              </a:defRPr>
            </a:pPr>
            <a:r>
              <a:rPr sz="1650" b="1" i="0">
                <a:solidFill>
                  <a:srgbClr val="FFFFFF"/>
                </a:solidFill>
                <a:latin typeface="Arial"/>
                <a:ea typeface="Arial"/>
                <a:cs typeface="Arial"/>
              </a:rPr>
              <a:t>Modernize at your own pace by combining Oracle Cloud VMware Solution</a:t>
            </a:r>
          </a:p>
          <a:p xmlns:a="http://schemas.openxmlformats.org/drawingml/2006/main">
            <a:pPr algn="l">
              <a:lnSpc>
                <a:spcPct val="105000"/>
              </a:lnSpc>
              <a:buNone/>
              <a:defRPr sz="1650" b="1" i="0">
                <a:solidFill>
                  <a:srgbClr val="FFFFFF"/>
                </a:solidFill>
                <a:latin typeface="Arial"/>
                <a:ea typeface="Arial"/>
                <a:cs typeface="Arial"/>
              </a:defRPr>
            </a:pPr>
            <a:r>
              <a:rPr sz="1650" b="1" i="0">
                <a:solidFill>
                  <a:srgbClr val="FFFFFF"/>
                </a:solidFill>
                <a:latin typeface="Arial"/>
                <a:ea typeface="Arial"/>
                <a:cs typeface="Arial"/>
              </a:rPr>
              <a:t>and OCI Compute in a unified cloud architecture.</a:t>
            </a:r>
          </a:p>
        </p:txBody>
      </p:sp>
      <p:sp>
        <p:nvSpPr>
          <p:cNvPr id="109" name="Rectangle 108">
            <a:extLst xmlns:a="http://schemas.openxmlformats.org/drawingml/2006/main">
              <a:ext uri="{FF2B5EF4-FFF2-40B4-BE49-F238E27FC236}">
                <a16:creationId xmlns:a16="http://schemas.microsoft.com/office/drawing/2014/main" id="{5D1E25F5-163B-4090-8006-47F817447BAD}"/>
              </a:ext>
            </a:extLst>
          </p:cNvPr>
          <p:cNvSpPr>
            <a:spLocks xmlns:a="http://schemas.openxmlformats.org/drawingml/2006/main" noGrp="1"/>
          </p:cNvSpPr>
          <p:nvPr/>
        </p:nvSpPr>
        <p:spPr>
          <a:xfrm xmlns:a="http://schemas.openxmlformats.org/drawingml/2006/main">
            <a:off x="304800" y="65722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444444"/>
                </a:solidFill>
                <a:latin typeface="Arial"/>
                <a:ea typeface="Arial"/>
                <a:cs typeface="Arial"/>
              </a:defRPr>
            </a:pPr>
            <a:r>
              <a:rPr sz="675" b="0" i="0">
                <a:solidFill>
                  <a:srgbClr val="444444"/>
                </a:solidFill>
                <a:latin typeface="Arial"/>
                <a:ea typeface="Arial"/>
                <a:cs typeface="Arial"/>
              </a:rPr>
              <a:t>Copyright © 2026, Oracle and/or its affiliates</a:t>
            </a:r>
          </a:p>
        </p:txBody>
      </p:sp>
      <p:sp>
        <p:nvSpPr>
          <p:cNvPr id="110" name="Straight Connector 109">
            <a:extLst xmlns:a="http://schemas.openxmlformats.org/drawingml/2006/main">
              <a:ext uri="{FF2B5EF4-FFF2-40B4-BE49-F238E27FC236}">
                <a16:creationId xmlns:a16="http://schemas.microsoft.com/office/drawing/2014/main" id="{80AD5F84-CDD6-48EA-8EE4-74BE40C65B86}"/>
              </a:ext>
            </a:extLst>
          </p:cNvPr>
          <p:cNvSpPr>
            <a:spLocks xmlns:a="http://schemas.openxmlformats.org/drawingml/2006/main" noGrp="1"/>
          </p:cNvSpPr>
          <p:nvPr/>
        </p:nvSpPr>
        <p:spPr>
          <a:xfrm xmlns:a="http://schemas.openxmlformats.org/drawingml/2006/main">
            <a:off x="2552700" y="6572250"/>
            <a:ext cx="0" cy="142875"/>
          </a:xfrm>
          <a:prstGeom xmlns:a="http://schemas.openxmlformats.org/drawingml/2006/main" prst="line">
            <a:avLst/>
          </a:prstGeom>
          <a:noFill xmlns:a="http://schemas.openxmlformats.org/drawingml/2006/main"/>
          <a:ln xmlns:a="http://schemas.openxmlformats.org/drawingml/2006/main" w="9525">
            <a:solidFill>
              <a:srgbClr val="8B8B8B"/>
            </a:solidFill>
            <a:prstDash val="solid"/>
          </a:ln>
        </p:spPr>
        <p:txBody>
          <a:bodyPr xmlns:a="http://schemas.openxmlformats.org/drawingml/2006/main"/>
          <a:lstStyle xmlns:a="http://schemas.openxmlformats.org/drawingml/2006/main"/>
          <a:p xmlns:a="http://schemas.openxmlformats.org/drawingml/2006/main">
            <a:endParaRPr/>
          </a:p>
        </p:txBody>
      </p:sp>
      <p:sp>
        <p:nvSpPr>
          <p:cNvPr id="111" name="Rectangle 110">
            <a:extLst xmlns:a="http://schemas.openxmlformats.org/drawingml/2006/main">
              <a:ext uri="{FF2B5EF4-FFF2-40B4-BE49-F238E27FC236}">
                <a16:creationId xmlns:a16="http://schemas.microsoft.com/office/drawing/2014/main" id="{44546D48-808B-4322-A863-EB4D84823AA8}"/>
              </a:ext>
            </a:extLst>
          </p:cNvPr>
          <p:cNvSpPr>
            <a:spLocks xmlns:a="http://schemas.openxmlformats.org/drawingml/2006/main" noGrp="1"/>
          </p:cNvSpPr>
          <p:nvPr/>
        </p:nvSpPr>
        <p:spPr>
          <a:xfrm xmlns:a="http://schemas.openxmlformats.org/drawingml/2006/main">
            <a:off x="2705100" y="65722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E00000"/>
                </a:solidFill>
                <a:latin typeface="Arial"/>
                <a:ea typeface="Arial"/>
                <a:cs typeface="Arial"/>
              </a:defRPr>
            </a:pPr>
            <a:r>
              <a:rPr sz="675" b="0" i="0">
                <a:solidFill>
                  <a:srgbClr val="E00000"/>
                </a:solidFill>
                <a:latin typeface="Arial"/>
                <a:ea typeface="Arial"/>
                <a:cs typeface="Arial"/>
              </a:rPr>
              <a:t>Confidential: Internal/Restricted/Highly Restricted</a:t>
            </a:r>
          </a:p>
        </p:txBody>
      </p:sp>
      <p:pic>
        <p:nvPicPr>
          <p:cNvPr id="254" name="Picture 223"/>
          <p:cNvPicPr>
            <a:picLocks xmlns:a="http://schemas.openxmlformats.org/drawingml/2006/main" noChangeAspect="1"/>
          </p:cNvPicPr>
          <p:nvPr/>
        </p:nvPicPr>
        <p:blipFill>
          <a:blip xmlns:r="http://schemas.openxmlformats.org/officeDocument/2006/relationships" xmlns:a="http://schemas.openxmlformats.org/drawingml/2006/main" r:embed="Rc68c2bb2721842b5"/>
          <a:stretch xmlns:a="http://schemas.openxmlformats.org/drawingml/2006/main"/>
        </p:blipFill>
        <p:spPr>
          <a:xfrm xmlns:a="http://schemas.openxmlformats.org/drawingml/2006/main">
            <a:off x="11430840" y="6219825"/>
            <a:ext cx="484094" cy="514350"/>
          </a:xfrm>
          <a:prstGeom xmlns:a="http://schemas.openxmlformats.org/drawingml/2006/main" prst="rect">
            <a:avLst/>
          </a:prstGeom>
        </p:spPr>
      </p:pic>
      <p:pic>
        <p:nvPicPr>
          <p:cNvPr id="255" name="Picture 10"/>
          <p:cNvPicPr>
            <a:picLocks xmlns:a="http://schemas.openxmlformats.org/drawingml/2006/main" noChangeAspect="1"/>
          </p:cNvPicPr>
          <p:nvPr/>
        </p:nvPicPr>
        <p:blipFill>
          <a:blip xmlns:r="http://schemas.openxmlformats.org/officeDocument/2006/relationships" xmlns:a="http://schemas.openxmlformats.org/drawingml/2006/main" r:embed="R129219e601794c31"/>
          <a:stretch xmlns:a="http://schemas.openxmlformats.org/drawingml/2006/main"/>
        </p:blipFill>
        <p:spPr>
          <a:xfrm xmlns:a="http://schemas.openxmlformats.org/drawingml/2006/main">
            <a:off x="7106875" y="3302644"/>
            <a:ext cx="553914" cy="544834"/>
          </a:xfrm>
          <a:prstGeom xmlns:a="http://schemas.openxmlformats.org/drawingml/2006/main" prst="rect">
            <a:avLst/>
          </a:prstGeom>
        </p:spPr>
      </p:pic>
    </p:spTree>
    <p:extLst>
      <p:ext uri="{BB962C8B-B14F-4D97-AF65-F5344CB8AC3E}">
        <p14:creationId xmlns:p14="http://schemas.microsoft.com/office/powerpoint/2010/main" val="1576463952"/>
      </p:ext>
    </p:extLst>
  </p:cSld>
</p:sld>
</file>

<file path=ppt/slides/slide3.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sp>
        <p:nvSpPr>
          <p:cNvPr id="51" name="Oval 50">
            <a:extLst xmlns:a="http://schemas.openxmlformats.org/drawingml/2006/main">
              <a:ext uri="{FF2B5EF4-FFF2-40B4-BE49-F238E27FC236}">
                <a16:creationId xmlns:a16="http://schemas.microsoft.com/office/drawing/2014/main" id="{73A5942D-D23C-45E6-ACE1-2F77352B9317}"/>
              </a:ext>
            </a:extLst>
          </p:cNvPr>
          <p:cNvSpPr>
            <a:spLocks xmlns:a="http://schemas.openxmlformats.org/drawingml/2006/main" noGrp="1"/>
          </p:cNvSpPr>
          <p:nvPr/>
        </p:nvSpPr>
        <p:spPr>
          <a:xfrm xmlns:a="http://schemas.openxmlformats.org/drawingml/2006/main">
            <a:off x="5133975" y="657225"/>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73088BEA-17DF-442D-9BC7-02155DD5C445}"/>
              </a:ext>
            </a:extLst>
          </p:cNvPr>
          <p:cNvSpPr>
            <a:spLocks xmlns:a="http://schemas.openxmlformats.org/drawingml/2006/main" noGrp="1"/>
          </p:cNvSpPr>
          <p:nvPr/>
        </p:nvSpPr>
        <p:spPr>
          <a:xfrm xmlns:a="http://schemas.openxmlformats.org/drawingml/2006/main">
            <a:off x="6181725" y="685800"/>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FF40793F-68B7-4A09-857E-9B1E1E9D9BCF}"/>
              </a:ext>
            </a:extLst>
          </p:cNvPr>
          <p:cNvSpPr>
            <a:spLocks xmlns:a="http://schemas.openxmlformats.org/drawingml/2006/main" noGrp="1"/>
          </p:cNvSpPr>
          <p:nvPr/>
        </p:nvSpPr>
        <p:spPr>
          <a:xfrm xmlns:a="http://schemas.openxmlformats.org/drawingml/2006/main">
            <a:off x="7239000" y="504825"/>
            <a:ext cx="57150" cy="5715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674B1F8E-B96D-4B16-B046-787E8702A629}"/>
              </a:ext>
            </a:extLst>
          </p:cNvPr>
          <p:cNvSpPr>
            <a:spLocks xmlns:a="http://schemas.openxmlformats.org/drawingml/2006/main" noGrp="1"/>
          </p:cNvSpPr>
          <p:nvPr/>
        </p:nvSpPr>
        <p:spPr>
          <a:xfrm xmlns:a="http://schemas.openxmlformats.org/drawingml/2006/main">
            <a:off x="11010900" y="1123950"/>
            <a:ext cx="19050" cy="1905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ECE320BA-C63B-4BBF-94C5-92BE5192DC61}"/>
              </a:ext>
            </a:extLst>
          </p:cNvPr>
          <p:cNvSpPr>
            <a:spLocks xmlns:a="http://schemas.openxmlformats.org/drawingml/2006/main" noGrp="1"/>
          </p:cNvSpPr>
          <p:nvPr/>
        </p:nvSpPr>
        <p:spPr>
          <a:xfrm xmlns:a="http://schemas.openxmlformats.org/drawingml/2006/main">
            <a:off x="9220200" y="1581150"/>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AF232F3B-1324-4364-BD60-137FAF1990F8}"/>
              </a:ext>
            </a:extLst>
          </p:cNvPr>
          <p:cNvSpPr>
            <a:spLocks xmlns:a="http://schemas.openxmlformats.org/drawingml/2006/main" noGrp="1"/>
          </p:cNvSpPr>
          <p:nvPr/>
        </p:nvSpPr>
        <p:spPr>
          <a:xfrm xmlns:a="http://schemas.openxmlformats.org/drawingml/2006/main">
            <a:off x="11410950" y="1647825"/>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12DA0ADF-18D5-4143-BAFB-C1D4E0322D43}"/>
              </a:ext>
            </a:extLst>
          </p:cNvPr>
          <p:cNvSpPr>
            <a:spLocks xmlns:a="http://schemas.openxmlformats.org/drawingml/2006/main" noGrp="1"/>
          </p:cNvSpPr>
          <p:nvPr/>
        </p:nvSpPr>
        <p:spPr>
          <a:xfrm xmlns:a="http://schemas.openxmlformats.org/drawingml/2006/main">
            <a:off x="9982200" y="3000375"/>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8EF1F3FD-6495-4F9F-8163-4CEB685C76C1}"/>
              </a:ext>
            </a:extLst>
          </p:cNvPr>
          <p:cNvSpPr>
            <a:spLocks xmlns:a="http://schemas.openxmlformats.org/drawingml/2006/main" noGrp="1"/>
          </p:cNvSpPr>
          <p:nvPr/>
        </p:nvSpPr>
        <p:spPr>
          <a:xfrm xmlns:a="http://schemas.openxmlformats.org/drawingml/2006/main">
            <a:off x="9344025" y="4781550"/>
            <a:ext cx="47625" cy="4762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B3A8DECC-6222-4521-82D5-B349CA05389D}"/>
              </a:ext>
            </a:extLst>
          </p:cNvPr>
          <p:cNvSpPr>
            <a:spLocks xmlns:a="http://schemas.openxmlformats.org/drawingml/2006/main" noGrp="1"/>
          </p:cNvSpPr>
          <p:nvPr/>
        </p:nvSpPr>
        <p:spPr>
          <a:xfrm xmlns:a="http://schemas.openxmlformats.org/drawingml/2006/main">
            <a:off x="11658600" y="5848350"/>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70" name="Picture 60"/>
          <p:cNvPicPr>
            <a:picLocks xmlns:a="http://schemas.openxmlformats.org/drawingml/2006/main" noChangeAspect="1"/>
          </p:cNvPicPr>
          <p:nvPr/>
        </p:nvPicPr>
        <p:blipFill>
          <a:blip xmlns:r="http://schemas.openxmlformats.org/officeDocument/2006/relationships" xmlns:a="http://schemas.openxmlformats.org/drawingml/2006/main" r:embed="R0c40629c093f4cee"/>
          <a:stretch xmlns:a="http://schemas.openxmlformats.org/drawingml/2006/main"/>
        </p:blipFill>
        <p:spPr>
          <a:xfrm xmlns:a="http://schemas.openxmlformats.org/drawingml/2006/main">
            <a:off x="361950" y="357187"/>
            <a:ext cx="1927741" cy="600075"/>
          </a:xfrm>
          <a:prstGeom xmlns:a="http://schemas.openxmlformats.org/drawingml/2006/main" prst="rect">
            <a:avLst/>
          </a:prstGeom>
        </p:spPr>
      </p:pic>
      <p:sp>
        <p:nvSpPr>
          <p:cNvPr id="12" name="Rectangle 11">
            <a:extLst xmlns:a="http://schemas.openxmlformats.org/drawingml/2006/main">
              <a:ext uri="{FF2B5EF4-FFF2-40B4-BE49-F238E27FC236}">
                <a16:creationId xmlns:a16="http://schemas.microsoft.com/office/drawing/2014/main" id="{181FA5E6-65B3-42DA-A23A-AE93E6720CB2}"/>
              </a:ext>
            </a:extLst>
          </p:cNvPr>
          <p:cNvSpPr>
            <a:spLocks xmlns:a="http://schemas.openxmlformats.org/drawingml/2006/main" noGrp="1"/>
          </p:cNvSpPr>
          <p:nvPr/>
        </p:nvSpPr>
        <p:spPr>
          <a:xfrm xmlns:a="http://schemas.openxmlformats.org/drawingml/2006/main">
            <a:off x="361950" y="1133475"/>
            <a:ext cx="628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3150" b="1" i="0">
                <a:solidFill>
                  <a:srgbClr val="003B25"/>
                </a:solidFill>
                <a:latin typeface="Arial"/>
                <a:ea typeface="Arial"/>
                <a:cs typeface="Arial"/>
              </a:defRPr>
            </a:pPr>
            <a:r>
              <a:rPr sz="3150" b="1" i="0">
                <a:solidFill>
                  <a:srgbClr val="003B25"/>
                </a:solidFill>
                <a:latin typeface="Arial"/>
                <a:ea typeface="Arial"/>
                <a:cs typeface="Arial"/>
              </a:rPr>
              <a:t>Assumptions &amp; Methodology</a:t>
            </a:r>
          </a:p>
        </p:txBody>
      </p:sp>
      <p:sp>
        <p:nvSpPr>
          <p:cNvPr id="13" name="Rectangle 12">
            <a:extLst xmlns:a="http://schemas.openxmlformats.org/drawingml/2006/main">
              <a:ext uri="{FF2B5EF4-FFF2-40B4-BE49-F238E27FC236}">
                <a16:creationId xmlns:a16="http://schemas.microsoft.com/office/drawing/2014/main" id="{B629860D-8183-4AA2-8F53-EEB151589651}"/>
              </a:ext>
            </a:extLst>
          </p:cNvPr>
          <p:cNvSpPr>
            <a:spLocks xmlns:a="http://schemas.openxmlformats.org/drawingml/2006/main" noGrp="1"/>
          </p:cNvSpPr>
          <p:nvPr/>
        </p:nvSpPr>
        <p:spPr>
          <a:xfrm xmlns:a="http://schemas.openxmlformats.org/drawingml/2006/main">
            <a:off x="371475" y="1676400"/>
            <a:ext cx="381000"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3E173982-393B-42AC-A28E-FA0B0948FCC0}"/>
              </a:ext>
            </a:extLst>
          </p:cNvPr>
          <p:cNvSpPr>
            <a:spLocks xmlns:a="http://schemas.openxmlformats.org/drawingml/2006/main" noGrp="1"/>
          </p:cNvSpPr>
          <p:nvPr/>
        </p:nvSpPr>
        <p:spPr>
          <a:xfrm xmlns:a="http://schemas.openxmlformats.org/drawingml/2006/main">
            <a:off x="390525" y="1838325"/>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The proposed sizing is based on the information provided by the customer</a:t>
            </a:r>
          </a:p>
          <a:p xmlns:a="http://schemas.openxmlformats.org/drawingml/2006/main">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and the following assumptions and methodology.</a:t>
            </a:r>
          </a:p>
        </p:txBody>
      </p:sp>
      <p:sp>
        <p:nvSpPr>
          <p:cNvPr id="15" name="Rounded Rectangle 14">
            <a:extLst xmlns:a="http://schemas.openxmlformats.org/drawingml/2006/main">
              <a:ext uri="{FF2B5EF4-FFF2-40B4-BE49-F238E27FC236}">
                <a16:creationId xmlns:a16="http://schemas.microsoft.com/office/drawing/2014/main" id="{D05FD567-6830-4B7C-A6B4-1C17F3F5C538}"/>
              </a:ext>
            </a:extLst>
          </p:cNvPr>
          <p:cNvSpPr>
            <a:spLocks xmlns:a="http://schemas.openxmlformats.org/drawingml/2006/main" noGrp="1"/>
          </p:cNvSpPr>
          <p:nvPr/>
        </p:nvSpPr>
        <p:spPr>
          <a:xfrm xmlns:a="http://schemas.openxmlformats.org/drawingml/2006/main">
            <a:off x="381000" y="2343150"/>
            <a:ext cx="7391400" cy="3676650"/>
          </a:xfrm>
          <a:prstGeom xmlns:a="http://schemas.openxmlformats.org/drawingml/2006/main" prst="roundRect">
            <a:avLst>
              <a:gd name="adj" fmla="val 1813"/>
            </a:avLst>
          </a:prstGeom>
          <a:solidFill xmlns:a="http://schemas.openxmlformats.org/drawingml/2006/main">
            <a:srgbClr val="FFFFFF"/>
          </a:solidFill>
          <a:ln xmlns:a="http://schemas.openxmlformats.org/drawingml/2006/main" w="9525">
            <a:solidFill>
              <a:srgbClr val="CED6D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6" name="Rounded Rectangle 15">
            <a:extLst xmlns:a="http://schemas.openxmlformats.org/drawingml/2006/main">
              <a:ext uri="{FF2B5EF4-FFF2-40B4-BE49-F238E27FC236}">
                <a16:creationId xmlns:a16="http://schemas.microsoft.com/office/drawing/2014/main" id="{7E7120EA-B371-422A-9F44-F023B4B89BD2}"/>
              </a:ext>
            </a:extLst>
          </p:cNvPr>
          <p:cNvSpPr>
            <a:spLocks xmlns:a="http://schemas.openxmlformats.org/drawingml/2006/main" noGrp="1"/>
          </p:cNvSpPr>
          <p:nvPr/>
        </p:nvSpPr>
        <p:spPr>
          <a:xfrm xmlns:a="http://schemas.openxmlformats.org/drawingml/2006/main">
            <a:off x="381000" y="2343150"/>
            <a:ext cx="7391400" cy="361950"/>
          </a:xfrm>
          <a:prstGeom xmlns:a="http://schemas.openxmlformats.org/drawingml/2006/main" prst="roundRect">
            <a:avLst>
              <a:gd name="adj" fmla="val 18421"/>
            </a:avLst>
          </a:prstGeom>
          <a:gradFill xmlns:a="http://schemas.openxmlformats.org/drawingml/2006/main">
            <a:gsLst>
              <a:gs pos="0">
                <a:srgbClr val="00351F"/>
              </a:gs>
              <a:gs pos="100000">
                <a:srgbClr val="075431"/>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76" name="Picture 66"/>
          <p:cNvPicPr>
            <a:picLocks xmlns:a="http://schemas.openxmlformats.org/drawingml/2006/main" noChangeAspect="1"/>
          </p:cNvPicPr>
          <p:nvPr/>
        </p:nvPicPr>
        <p:blipFill>
          <a:blip xmlns:r="http://schemas.openxmlformats.org/officeDocument/2006/relationships" xmlns:a="http://schemas.openxmlformats.org/drawingml/2006/main" r:embed="Rf8ce399f17984d5a"/>
          <a:stretch xmlns:a="http://schemas.openxmlformats.org/drawingml/2006/main"/>
        </p:blipFill>
        <p:spPr>
          <a:xfrm xmlns:a="http://schemas.openxmlformats.org/drawingml/2006/main">
            <a:off x="617492" y="2390775"/>
            <a:ext cx="260441" cy="276225"/>
          </a:xfrm>
          <a:prstGeom xmlns:a="http://schemas.openxmlformats.org/drawingml/2006/main" prst="rect">
            <a:avLst/>
          </a:prstGeom>
        </p:spPr>
      </p:pic>
      <p:sp>
        <p:nvSpPr>
          <p:cNvPr id="18" name="Rectangle 17">
            <a:extLst xmlns:a="http://schemas.openxmlformats.org/drawingml/2006/main">
              <a:ext uri="{FF2B5EF4-FFF2-40B4-BE49-F238E27FC236}">
                <a16:creationId xmlns:a16="http://schemas.microsoft.com/office/drawing/2014/main" id="{E91505E6-4E87-4F2F-9412-FA897C3D79C8}"/>
              </a:ext>
            </a:extLst>
          </p:cNvPr>
          <p:cNvSpPr>
            <a:spLocks xmlns:a="http://schemas.openxmlformats.org/drawingml/2006/main" noGrp="1"/>
          </p:cNvSpPr>
          <p:nvPr/>
        </p:nvSpPr>
        <p:spPr>
          <a:xfrm xmlns:a="http://schemas.openxmlformats.org/drawingml/2006/main">
            <a:off x="1019175" y="24384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Sizing Methodology</a:t>
            </a:r>
          </a:p>
        </p:txBody>
      </p:sp>
      <p:pic>
        <p:nvPicPr>
          <p:cNvPr id="78" name="Picture 68"/>
          <p:cNvPicPr>
            <a:picLocks xmlns:a="http://schemas.openxmlformats.org/drawingml/2006/main" noChangeAspect="1"/>
          </p:cNvPicPr>
          <p:nvPr/>
        </p:nvPicPr>
        <p:blipFill>
          <a:blip xmlns:r="http://schemas.openxmlformats.org/officeDocument/2006/relationships" xmlns:a="http://schemas.openxmlformats.org/drawingml/2006/main" r:embed="Rc7e112c85195461c"/>
          <a:stretch xmlns:a="http://schemas.openxmlformats.org/drawingml/2006/main"/>
        </p:blipFill>
        <p:spPr>
          <a:xfrm xmlns:a="http://schemas.openxmlformats.org/drawingml/2006/main">
            <a:off x="600075" y="2779303"/>
            <a:ext cx="466725" cy="451669"/>
          </a:xfrm>
          <a:prstGeom xmlns:a="http://schemas.openxmlformats.org/drawingml/2006/main" prst="rect">
            <a:avLst/>
          </a:prstGeom>
        </p:spPr>
      </p:pic>
      <p:sp>
        <p:nvSpPr>
          <p:cNvPr id="20" name="Rectangle 19">
            <a:extLst xmlns:a="http://schemas.openxmlformats.org/drawingml/2006/main">
              <a:ext uri="{FF2B5EF4-FFF2-40B4-BE49-F238E27FC236}">
                <a16:creationId xmlns:a16="http://schemas.microsoft.com/office/drawing/2014/main" id="{42908386-5A93-4A58-A462-83A24A156EB4}"/>
              </a:ext>
            </a:extLst>
          </p:cNvPr>
          <p:cNvSpPr>
            <a:spLocks xmlns:a="http://schemas.openxmlformats.org/drawingml/2006/main" noGrp="1"/>
          </p:cNvSpPr>
          <p:nvPr/>
        </p:nvSpPr>
        <p:spPr>
          <a:xfrm xmlns:a="http://schemas.openxmlformats.org/drawingml/2006/main">
            <a:off x="1333500" y="2914650"/>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Data Source</a:t>
            </a:r>
          </a:p>
        </p:txBody>
      </p:sp>
      <p:sp>
        <p:nvSpPr>
          <p:cNvPr id="21" name="Straight Connector 20">
            <a:extLst xmlns:a="http://schemas.openxmlformats.org/drawingml/2006/main">
              <a:ext uri="{FF2B5EF4-FFF2-40B4-BE49-F238E27FC236}">
                <a16:creationId xmlns:a16="http://schemas.microsoft.com/office/drawing/2014/main" id="{74A58121-1B16-4F12-92B5-F259AF492CB0}"/>
              </a:ext>
            </a:extLst>
          </p:cNvPr>
          <p:cNvSpPr>
            <a:spLocks xmlns:a="http://schemas.openxmlformats.org/drawingml/2006/main" noGrp="1"/>
          </p:cNvSpPr>
          <p:nvPr/>
        </p:nvSpPr>
        <p:spPr>
          <a:xfrm xmlns:a="http://schemas.openxmlformats.org/drawingml/2006/main">
            <a:off x="3333750" y="2828925"/>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71D931CB-6DBE-4D20-B729-98885198EFAC}"/>
              </a:ext>
            </a:extLst>
          </p:cNvPr>
          <p:cNvSpPr>
            <a:spLocks xmlns:a="http://schemas.openxmlformats.org/drawingml/2006/main" noGrp="1"/>
          </p:cNvSpPr>
          <p:nvPr/>
        </p:nvSpPr>
        <p:spPr>
          <a:xfrm xmlns:a="http://schemas.openxmlformats.org/drawingml/2006/main">
            <a:off x="3676650" y="282892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RVTools export provided by the customer</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(Analysis Date: May 08, 2025)</a:t>
            </a:r>
          </a:p>
        </p:txBody>
      </p:sp>
      <p:sp>
        <p:nvSpPr>
          <p:cNvPr id="23" name="Straight Connector 22">
            <a:extLst xmlns:a="http://schemas.openxmlformats.org/drawingml/2006/main">
              <a:ext uri="{FF2B5EF4-FFF2-40B4-BE49-F238E27FC236}">
                <a16:creationId xmlns:a16="http://schemas.microsoft.com/office/drawing/2014/main" id="{23397379-0F76-4614-83F5-A13601AE9797}"/>
              </a:ext>
            </a:extLst>
          </p:cNvPr>
          <p:cNvSpPr>
            <a:spLocks xmlns:a="http://schemas.openxmlformats.org/drawingml/2006/main" noGrp="1"/>
          </p:cNvSpPr>
          <p:nvPr/>
        </p:nvSpPr>
        <p:spPr>
          <a:xfrm xmlns:a="http://schemas.openxmlformats.org/drawingml/2006/main">
            <a:off x="600075" y="3264218"/>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83" name="Picture 73"/>
          <p:cNvPicPr>
            <a:picLocks xmlns:a="http://schemas.openxmlformats.org/drawingml/2006/main" noChangeAspect="1"/>
          </p:cNvPicPr>
          <p:nvPr/>
        </p:nvPicPr>
        <p:blipFill>
          <a:blip xmlns:r="http://schemas.openxmlformats.org/officeDocument/2006/relationships" xmlns:a="http://schemas.openxmlformats.org/drawingml/2006/main" r:embed="R62de8fd0d7d340c9"/>
          <a:stretch xmlns:a="http://schemas.openxmlformats.org/drawingml/2006/main"/>
        </p:blipFill>
        <p:spPr>
          <a:xfrm xmlns:a="http://schemas.openxmlformats.org/drawingml/2006/main">
            <a:off x="600075" y="3309845"/>
            <a:ext cx="466725" cy="451669"/>
          </a:xfrm>
          <a:prstGeom xmlns:a="http://schemas.openxmlformats.org/drawingml/2006/main" prst="rect">
            <a:avLst/>
          </a:prstGeom>
        </p:spPr>
      </p:pic>
      <p:sp>
        <p:nvSpPr>
          <p:cNvPr id="25" name="Rectangle 24">
            <a:extLst xmlns:a="http://schemas.openxmlformats.org/drawingml/2006/main">
              <a:ext uri="{FF2B5EF4-FFF2-40B4-BE49-F238E27FC236}">
                <a16:creationId xmlns:a16="http://schemas.microsoft.com/office/drawing/2014/main" id="{DE8908F2-D896-472D-AF70-B94F25AE6292}"/>
              </a:ext>
            </a:extLst>
          </p:cNvPr>
          <p:cNvSpPr>
            <a:spLocks xmlns:a="http://schemas.openxmlformats.org/drawingml/2006/main" noGrp="1"/>
          </p:cNvSpPr>
          <p:nvPr/>
        </p:nvSpPr>
        <p:spPr>
          <a:xfrm xmlns:a="http://schemas.openxmlformats.org/drawingml/2006/main">
            <a:off x="1333500" y="3445193"/>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Sizing Approach</a:t>
            </a:r>
          </a:p>
        </p:txBody>
      </p:sp>
      <p:sp>
        <p:nvSpPr>
          <p:cNvPr id="26" name="Straight Connector 25">
            <a:extLst xmlns:a="http://schemas.openxmlformats.org/drawingml/2006/main">
              <a:ext uri="{FF2B5EF4-FFF2-40B4-BE49-F238E27FC236}">
                <a16:creationId xmlns:a16="http://schemas.microsoft.com/office/drawing/2014/main" id="{CFDEC23A-6F66-49D5-87D3-62C87F39D16D}"/>
              </a:ext>
            </a:extLst>
          </p:cNvPr>
          <p:cNvSpPr>
            <a:spLocks xmlns:a="http://schemas.openxmlformats.org/drawingml/2006/main" noGrp="1"/>
          </p:cNvSpPr>
          <p:nvPr/>
        </p:nvSpPr>
        <p:spPr>
          <a:xfrm xmlns:a="http://schemas.openxmlformats.org/drawingml/2006/main">
            <a:off x="3333750" y="3359468"/>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Rectangle 26">
            <a:extLst xmlns:a="http://schemas.openxmlformats.org/drawingml/2006/main">
              <a:ext uri="{FF2B5EF4-FFF2-40B4-BE49-F238E27FC236}">
                <a16:creationId xmlns:a16="http://schemas.microsoft.com/office/drawing/2014/main" id="{0ECE9441-9ABA-4D86-B0D0-CA3DF1A3EB96}"/>
              </a:ext>
            </a:extLst>
          </p:cNvPr>
          <p:cNvSpPr>
            <a:spLocks xmlns:a="http://schemas.openxmlformats.org/drawingml/2006/main" noGrp="1"/>
          </p:cNvSpPr>
          <p:nvPr/>
        </p:nvSpPr>
        <p:spPr>
          <a:xfrm xmlns:a="http://schemas.openxmlformats.org/drawingml/2006/main">
            <a:off x="3676650" y="3359468"/>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Capacity based on current utilization</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and projected growth</a:t>
            </a:r>
          </a:p>
        </p:txBody>
      </p:sp>
      <p:sp>
        <p:nvSpPr>
          <p:cNvPr id="28" name="Straight Connector 27">
            <a:extLst xmlns:a="http://schemas.openxmlformats.org/drawingml/2006/main">
              <a:ext uri="{FF2B5EF4-FFF2-40B4-BE49-F238E27FC236}">
                <a16:creationId xmlns:a16="http://schemas.microsoft.com/office/drawing/2014/main" id="{45CE46C6-B9C0-4849-A834-96BE06538FA8}"/>
              </a:ext>
            </a:extLst>
          </p:cNvPr>
          <p:cNvSpPr>
            <a:spLocks xmlns:a="http://schemas.openxmlformats.org/drawingml/2006/main" noGrp="1"/>
          </p:cNvSpPr>
          <p:nvPr/>
        </p:nvSpPr>
        <p:spPr>
          <a:xfrm xmlns:a="http://schemas.openxmlformats.org/drawingml/2006/main">
            <a:off x="600075" y="3794760"/>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88" name="Picture 78"/>
          <p:cNvPicPr>
            <a:picLocks xmlns:a="http://schemas.openxmlformats.org/drawingml/2006/main" noChangeAspect="1"/>
          </p:cNvPicPr>
          <p:nvPr/>
        </p:nvPicPr>
        <p:blipFill>
          <a:blip xmlns:r="http://schemas.openxmlformats.org/officeDocument/2006/relationships" xmlns:a="http://schemas.openxmlformats.org/drawingml/2006/main" r:embed="R822986c7e7f0435d"/>
          <a:stretch xmlns:a="http://schemas.openxmlformats.org/drawingml/2006/main"/>
        </p:blipFill>
        <p:spPr>
          <a:xfrm xmlns:a="http://schemas.openxmlformats.org/drawingml/2006/main">
            <a:off x="600075" y="3836686"/>
            <a:ext cx="466725" cy="459074"/>
          </a:xfrm>
          <a:prstGeom xmlns:a="http://schemas.openxmlformats.org/drawingml/2006/main" prst="rect">
            <a:avLst/>
          </a:prstGeom>
        </p:spPr>
      </p:pic>
      <p:sp>
        <p:nvSpPr>
          <p:cNvPr id="30" name="Rectangle 29">
            <a:extLst xmlns:a="http://schemas.openxmlformats.org/drawingml/2006/main">
              <a:ext uri="{FF2B5EF4-FFF2-40B4-BE49-F238E27FC236}">
                <a16:creationId xmlns:a16="http://schemas.microsoft.com/office/drawing/2014/main" id="{78085D01-F2D9-4FF8-AFE8-59DAD7CB0343}"/>
              </a:ext>
            </a:extLst>
          </p:cNvPr>
          <p:cNvSpPr>
            <a:spLocks xmlns:a="http://schemas.openxmlformats.org/drawingml/2006/main" noGrp="1"/>
          </p:cNvSpPr>
          <p:nvPr/>
        </p:nvSpPr>
        <p:spPr>
          <a:xfrm xmlns:a="http://schemas.openxmlformats.org/drawingml/2006/main">
            <a:off x="1333500" y="3975735"/>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CPU Contention Ratio</a:t>
            </a:r>
          </a:p>
        </p:txBody>
      </p:sp>
      <p:sp>
        <p:nvSpPr>
          <p:cNvPr id="31" name="Straight Connector 30">
            <a:extLst xmlns:a="http://schemas.openxmlformats.org/drawingml/2006/main">
              <a:ext uri="{FF2B5EF4-FFF2-40B4-BE49-F238E27FC236}">
                <a16:creationId xmlns:a16="http://schemas.microsoft.com/office/drawing/2014/main" id="{72944B4F-936E-4666-BCB5-19428C80B4D4}"/>
              </a:ext>
            </a:extLst>
          </p:cNvPr>
          <p:cNvSpPr>
            <a:spLocks xmlns:a="http://schemas.openxmlformats.org/drawingml/2006/main" noGrp="1"/>
          </p:cNvSpPr>
          <p:nvPr/>
        </p:nvSpPr>
        <p:spPr>
          <a:xfrm xmlns:a="http://schemas.openxmlformats.org/drawingml/2006/main">
            <a:off x="3333750" y="3890010"/>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editable-cpu-contention-ratio">
            <a:extLst xmlns:a="http://schemas.openxmlformats.org/drawingml/2006/main">
              <a:ext uri="{FF2B5EF4-FFF2-40B4-BE49-F238E27FC236}">
                <a16:creationId xmlns:a16="http://schemas.microsoft.com/office/drawing/2014/main" id="{4BB2C1F5-D562-49B2-9F9A-0CC0CC218F6B}"/>
              </a:ext>
            </a:extLst>
          </p:cNvPr>
          <p:cNvSpPr>
            <a:spLocks xmlns:a="http://schemas.openxmlformats.org/drawingml/2006/main" noGrp="1"/>
          </p:cNvSpPr>
          <p:nvPr/>
        </p:nvSpPr>
        <p:spPr>
          <a:xfrm xmlns:a="http://schemas.openxmlformats.org/drawingml/2006/main">
            <a:off x="3676650" y="389001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425" b="1" i="0">
                <a:solidFill>
                  <a:srgbClr val="111111"/>
                </a:solidFill>
                <a:latin typeface="Arial"/>
                <a:ea typeface="Arial"/>
                <a:cs typeface="Arial"/>
              </a:defRPr>
            </a:pPr>
            <a:r>
              <a:rPr sz="1425" b="1" i="0">
                <a:solidFill>
                  <a:srgbClr val="111111"/>
                </a:solidFill>
                <a:latin typeface="Arial"/>
                <a:ea typeface="Arial"/>
                <a:cs typeface="Arial"/>
              </a:rPr>
              <a:t>1:6</a:t>
            </a:r>
          </a:p>
        </p:txBody>
      </p:sp>
      <p:sp>
        <p:nvSpPr>
          <p:cNvPr id="33" name="Rectangle 32">
            <a:extLst xmlns:a="http://schemas.openxmlformats.org/drawingml/2006/main">
              <a:ext uri="{FF2B5EF4-FFF2-40B4-BE49-F238E27FC236}">
                <a16:creationId xmlns:a16="http://schemas.microsoft.com/office/drawing/2014/main" id="{C1010FD1-CF72-4430-AE27-159930A3A4CD}"/>
              </a:ext>
            </a:extLst>
          </p:cNvPr>
          <p:cNvSpPr>
            <a:spLocks xmlns:a="http://schemas.openxmlformats.org/drawingml/2006/main" noGrp="1"/>
          </p:cNvSpPr>
          <p:nvPr/>
        </p:nvSpPr>
        <p:spPr>
          <a:xfrm xmlns:a="http://schemas.openxmlformats.org/drawingml/2006/main">
            <a:off x="3676650" y="410908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(Industry standard for medium consolidation)</a:t>
            </a:r>
          </a:p>
        </p:txBody>
      </p:sp>
      <p:sp>
        <p:nvSpPr>
          <p:cNvPr id="34" name="Straight Connector 33">
            <a:extLst xmlns:a="http://schemas.openxmlformats.org/drawingml/2006/main">
              <a:ext uri="{FF2B5EF4-FFF2-40B4-BE49-F238E27FC236}">
                <a16:creationId xmlns:a16="http://schemas.microsoft.com/office/drawing/2014/main" id="{02CD068C-C8FC-47C9-BB57-3D4C64351CFA}"/>
              </a:ext>
            </a:extLst>
          </p:cNvPr>
          <p:cNvSpPr>
            <a:spLocks xmlns:a="http://schemas.openxmlformats.org/drawingml/2006/main" noGrp="1"/>
          </p:cNvSpPr>
          <p:nvPr/>
        </p:nvSpPr>
        <p:spPr>
          <a:xfrm xmlns:a="http://schemas.openxmlformats.org/drawingml/2006/main">
            <a:off x="600075" y="4325303"/>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94" name="Picture 84"/>
          <p:cNvPicPr>
            <a:picLocks xmlns:a="http://schemas.openxmlformats.org/drawingml/2006/main" noChangeAspect="1"/>
          </p:cNvPicPr>
          <p:nvPr/>
        </p:nvPicPr>
        <p:blipFill>
          <a:blip xmlns:r="http://schemas.openxmlformats.org/officeDocument/2006/relationships" xmlns:a="http://schemas.openxmlformats.org/drawingml/2006/main" r:embed="R106cebac349f4c23"/>
          <a:stretch xmlns:a="http://schemas.openxmlformats.org/drawingml/2006/main"/>
        </p:blipFill>
        <p:spPr>
          <a:xfrm xmlns:a="http://schemas.openxmlformats.org/drawingml/2006/main">
            <a:off x="600075" y="4367228"/>
            <a:ext cx="466725" cy="459074"/>
          </a:xfrm>
          <a:prstGeom xmlns:a="http://schemas.openxmlformats.org/drawingml/2006/main" prst="rect">
            <a:avLst/>
          </a:prstGeom>
        </p:spPr>
      </p:pic>
      <p:sp>
        <p:nvSpPr>
          <p:cNvPr id="36" name="Rectangle 35">
            <a:extLst xmlns:a="http://schemas.openxmlformats.org/drawingml/2006/main">
              <a:ext uri="{FF2B5EF4-FFF2-40B4-BE49-F238E27FC236}">
                <a16:creationId xmlns:a16="http://schemas.microsoft.com/office/drawing/2014/main" id="{35B0B338-2A00-4402-837C-6832FD369235}"/>
              </a:ext>
            </a:extLst>
          </p:cNvPr>
          <p:cNvSpPr>
            <a:spLocks xmlns:a="http://schemas.openxmlformats.org/drawingml/2006/main" noGrp="1"/>
          </p:cNvSpPr>
          <p:nvPr/>
        </p:nvSpPr>
        <p:spPr>
          <a:xfrm xmlns:a="http://schemas.openxmlformats.org/drawingml/2006/main">
            <a:off x="1333500" y="4506278"/>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Average Utilization</a:t>
            </a:r>
          </a:p>
        </p:txBody>
      </p:sp>
      <p:sp>
        <p:nvSpPr>
          <p:cNvPr id="37" name="Straight Connector 36">
            <a:extLst xmlns:a="http://schemas.openxmlformats.org/drawingml/2006/main">
              <a:ext uri="{FF2B5EF4-FFF2-40B4-BE49-F238E27FC236}">
                <a16:creationId xmlns:a16="http://schemas.microsoft.com/office/drawing/2014/main" id="{0004D49C-3CEF-4D64-8EE4-5C2EF19B65F0}"/>
              </a:ext>
            </a:extLst>
          </p:cNvPr>
          <p:cNvSpPr>
            <a:spLocks xmlns:a="http://schemas.openxmlformats.org/drawingml/2006/main" noGrp="1"/>
          </p:cNvSpPr>
          <p:nvPr/>
        </p:nvSpPr>
        <p:spPr>
          <a:xfrm xmlns:a="http://schemas.openxmlformats.org/drawingml/2006/main">
            <a:off x="3333750" y="4420553"/>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Rectangle 37">
            <a:extLst xmlns:a="http://schemas.openxmlformats.org/drawingml/2006/main">
              <a:ext uri="{FF2B5EF4-FFF2-40B4-BE49-F238E27FC236}">
                <a16:creationId xmlns:a16="http://schemas.microsoft.com/office/drawing/2014/main" id="{B09B219E-B635-42E5-8711-6CCAA05CC5BA}"/>
              </a:ext>
            </a:extLst>
          </p:cNvPr>
          <p:cNvSpPr>
            <a:spLocks xmlns:a="http://schemas.openxmlformats.org/drawingml/2006/main" noGrp="1"/>
          </p:cNvSpPr>
          <p:nvPr/>
        </p:nvSpPr>
        <p:spPr>
          <a:xfrm xmlns:a="http://schemas.openxmlformats.org/drawingml/2006/main">
            <a:off x="3676650" y="4420553"/>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vCPU: 50%</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vMEM: 60%</a:t>
            </a:r>
          </a:p>
        </p:txBody>
      </p:sp>
      <p:sp>
        <p:nvSpPr>
          <p:cNvPr id="39" name="Straight Connector 38">
            <a:extLst xmlns:a="http://schemas.openxmlformats.org/drawingml/2006/main">
              <a:ext uri="{FF2B5EF4-FFF2-40B4-BE49-F238E27FC236}">
                <a16:creationId xmlns:a16="http://schemas.microsoft.com/office/drawing/2014/main" id="{B5294845-2E5B-41F1-8CD4-A4D7AFAA9406}"/>
              </a:ext>
            </a:extLst>
          </p:cNvPr>
          <p:cNvSpPr>
            <a:spLocks xmlns:a="http://schemas.openxmlformats.org/drawingml/2006/main" noGrp="1"/>
          </p:cNvSpPr>
          <p:nvPr/>
        </p:nvSpPr>
        <p:spPr>
          <a:xfrm xmlns:a="http://schemas.openxmlformats.org/drawingml/2006/main">
            <a:off x="600075" y="4855845"/>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99" name="Picture 89"/>
          <p:cNvPicPr>
            <a:picLocks xmlns:a="http://schemas.openxmlformats.org/drawingml/2006/main" noChangeAspect="1"/>
          </p:cNvPicPr>
          <p:nvPr/>
        </p:nvPicPr>
        <p:blipFill>
          <a:blip xmlns:r="http://schemas.openxmlformats.org/officeDocument/2006/relationships" xmlns:a="http://schemas.openxmlformats.org/drawingml/2006/main" r:embed="R2f2bf18269c44fe1"/>
          <a:stretch xmlns:a="http://schemas.openxmlformats.org/drawingml/2006/main"/>
        </p:blipFill>
        <p:spPr>
          <a:xfrm xmlns:a="http://schemas.openxmlformats.org/drawingml/2006/main">
            <a:off x="600075" y="4897771"/>
            <a:ext cx="466725" cy="459074"/>
          </a:xfrm>
          <a:prstGeom xmlns:a="http://schemas.openxmlformats.org/drawingml/2006/main" prst="rect">
            <a:avLst/>
          </a:prstGeom>
        </p:spPr>
      </p:pic>
      <p:sp>
        <p:nvSpPr>
          <p:cNvPr id="41" name="Rectangle 40">
            <a:extLst xmlns:a="http://schemas.openxmlformats.org/drawingml/2006/main">
              <a:ext uri="{FF2B5EF4-FFF2-40B4-BE49-F238E27FC236}">
                <a16:creationId xmlns:a16="http://schemas.microsoft.com/office/drawing/2014/main" id="{3237AD7F-4836-4176-AF9D-C45EBA307DA5}"/>
              </a:ext>
            </a:extLst>
          </p:cNvPr>
          <p:cNvSpPr>
            <a:spLocks xmlns:a="http://schemas.openxmlformats.org/drawingml/2006/main" noGrp="1"/>
          </p:cNvSpPr>
          <p:nvPr/>
        </p:nvSpPr>
        <p:spPr>
          <a:xfrm xmlns:a="http://schemas.openxmlformats.org/drawingml/2006/main">
            <a:off x="1333500" y="5036820"/>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Target Utilization</a:t>
            </a:r>
          </a:p>
        </p:txBody>
      </p:sp>
      <p:sp>
        <p:nvSpPr>
          <p:cNvPr id="42" name="Straight Connector 41">
            <a:extLst xmlns:a="http://schemas.openxmlformats.org/drawingml/2006/main">
              <a:ext uri="{FF2B5EF4-FFF2-40B4-BE49-F238E27FC236}">
                <a16:creationId xmlns:a16="http://schemas.microsoft.com/office/drawing/2014/main" id="{4D9346C3-2665-41B0-99E5-1FA2EBA0C533}"/>
              </a:ext>
            </a:extLst>
          </p:cNvPr>
          <p:cNvSpPr>
            <a:spLocks xmlns:a="http://schemas.openxmlformats.org/drawingml/2006/main" noGrp="1"/>
          </p:cNvSpPr>
          <p:nvPr/>
        </p:nvSpPr>
        <p:spPr>
          <a:xfrm xmlns:a="http://schemas.openxmlformats.org/drawingml/2006/main">
            <a:off x="3333750" y="4951095"/>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Rectangle 42">
            <a:extLst xmlns:a="http://schemas.openxmlformats.org/drawingml/2006/main">
              <a:ext uri="{FF2B5EF4-FFF2-40B4-BE49-F238E27FC236}">
                <a16:creationId xmlns:a16="http://schemas.microsoft.com/office/drawing/2014/main" id="{DBC0D906-17E6-4658-8738-8B3675430291}"/>
              </a:ext>
            </a:extLst>
          </p:cNvPr>
          <p:cNvSpPr>
            <a:spLocks xmlns:a="http://schemas.openxmlformats.org/drawingml/2006/main" noGrp="1"/>
          </p:cNvSpPr>
          <p:nvPr/>
        </p:nvSpPr>
        <p:spPr>
          <a:xfrm xmlns:a="http://schemas.openxmlformats.org/drawingml/2006/main">
            <a:off x="3676650" y="495109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80%</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(For both vCPU and vMEM)</a:t>
            </a:r>
          </a:p>
        </p:txBody>
      </p:sp>
      <p:sp>
        <p:nvSpPr>
          <p:cNvPr id="44" name="Straight Connector 43">
            <a:extLst xmlns:a="http://schemas.openxmlformats.org/drawingml/2006/main">
              <a:ext uri="{FF2B5EF4-FFF2-40B4-BE49-F238E27FC236}">
                <a16:creationId xmlns:a16="http://schemas.microsoft.com/office/drawing/2014/main" id="{76C190DA-7557-4EF8-A3B4-C1CD1D532610}"/>
              </a:ext>
            </a:extLst>
          </p:cNvPr>
          <p:cNvSpPr>
            <a:spLocks xmlns:a="http://schemas.openxmlformats.org/drawingml/2006/main" noGrp="1"/>
          </p:cNvSpPr>
          <p:nvPr/>
        </p:nvSpPr>
        <p:spPr>
          <a:xfrm xmlns:a="http://schemas.openxmlformats.org/drawingml/2006/main">
            <a:off x="600075" y="5386388"/>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104" name="Picture 94"/>
          <p:cNvPicPr>
            <a:picLocks xmlns:a="http://schemas.openxmlformats.org/drawingml/2006/main" noChangeAspect="1"/>
          </p:cNvPicPr>
          <p:nvPr/>
        </p:nvPicPr>
        <p:blipFill>
          <a:blip xmlns:r="http://schemas.openxmlformats.org/officeDocument/2006/relationships" xmlns:a="http://schemas.openxmlformats.org/drawingml/2006/main" r:embed="Rb9b1ae724d0b480e"/>
          <a:stretch xmlns:a="http://schemas.openxmlformats.org/drawingml/2006/main"/>
        </p:blipFill>
        <p:spPr>
          <a:xfrm xmlns:a="http://schemas.openxmlformats.org/drawingml/2006/main">
            <a:off x="600075" y="5424488"/>
            <a:ext cx="466725" cy="466725"/>
          </a:xfrm>
          <a:prstGeom xmlns:a="http://schemas.openxmlformats.org/drawingml/2006/main" prst="rect">
            <a:avLst/>
          </a:prstGeom>
        </p:spPr>
      </p:pic>
      <p:sp>
        <p:nvSpPr>
          <p:cNvPr id="46" name="Rectangle 45">
            <a:extLst xmlns:a="http://schemas.openxmlformats.org/drawingml/2006/main">
              <a:ext uri="{FF2B5EF4-FFF2-40B4-BE49-F238E27FC236}">
                <a16:creationId xmlns:a16="http://schemas.microsoft.com/office/drawing/2014/main" id="{1AAF8FDE-50FC-4C3F-9F81-15310F8F98EE}"/>
              </a:ext>
            </a:extLst>
          </p:cNvPr>
          <p:cNvSpPr>
            <a:spLocks xmlns:a="http://schemas.openxmlformats.org/drawingml/2006/main" noGrp="1"/>
          </p:cNvSpPr>
          <p:nvPr/>
        </p:nvSpPr>
        <p:spPr>
          <a:xfrm xmlns:a="http://schemas.openxmlformats.org/drawingml/2006/main">
            <a:off x="1333500" y="5567363"/>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Storage Type</a:t>
            </a:r>
          </a:p>
        </p:txBody>
      </p:sp>
      <p:sp>
        <p:nvSpPr>
          <p:cNvPr id="47" name="Straight Connector 46">
            <a:extLst xmlns:a="http://schemas.openxmlformats.org/drawingml/2006/main">
              <a:ext uri="{FF2B5EF4-FFF2-40B4-BE49-F238E27FC236}">
                <a16:creationId xmlns:a16="http://schemas.microsoft.com/office/drawing/2014/main" id="{FFEF831B-5985-4EBD-83C8-50668461DF24}"/>
              </a:ext>
            </a:extLst>
          </p:cNvPr>
          <p:cNvSpPr>
            <a:spLocks xmlns:a="http://schemas.openxmlformats.org/drawingml/2006/main" noGrp="1"/>
          </p:cNvSpPr>
          <p:nvPr/>
        </p:nvSpPr>
        <p:spPr>
          <a:xfrm xmlns:a="http://schemas.openxmlformats.org/drawingml/2006/main">
            <a:off x="3333750" y="5481638"/>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editable-methodology-storage-type">
            <a:extLst xmlns:a="http://schemas.openxmlformats.org/drawingml/2006/main">
              <a:ext uri="{FF2B5EF4-FFF2-40B4-BE49-F238E27FC236}">
                <a16:creationId xmlns:a16="http://schemas.microsoft.com/office/drawing/2014/main" id="{FCCC5123-50EE-49F7-9C4E-AD8B5F15572B}"/>
              </a:ext>
            </a:extLst>
          </p:cNvPr>
          <p:cNvSpPr>
            <a:spLocks xmlns:a="http://schemas.openxmlformats.org/drawingml/2006/main" noGrp="1"/>
          </p:cNvSpPr>
          <p:nvPr/>
        </p:nvSpPr>
        <p:spPr>
          <a:xfrm xmlns:a="http://schemas.openxmlformats.org/drawingml/2006/main">
            <a:off x="3676650" y="5481638"/>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OCI Block Volume</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(Block Storage)</a:t>
            </a:r>
          </a:p>
        </p:txBody>
      </p:sp>
      <p:sp>
        <p:nvSpPr>
          <p:cNvPr id="49" name="Rectangle 48">
            <a:extLst xmlns:a="http://schemas.openxmlformats.org/drawingml/2006/main">
              <a:ext uri="{FF2B5EF4-FFF2-40B4-BE49-F238E27FC236}">
                <a16:creationId xmlns:a16="http://schemas.microsoft.com/office/drawing/2014/main" id="{16E4D860-FD45-4FE4-BDF9-3E6C0A6C9676}"/>
              </a:ext>
            </a:extLst>
          </p:cNvPr>
          <p:cNvSpPr>
            <a:spLocks xmlns:a="http://schemas.openxmlformats.org/drawingml/2006/main" noGrp="1"/>
          </p:cNvSpPr>
          <p:nvPr/>
        </p:nvSpPr>
        <p:spPr>
          <a:xfrm xmlns:a="http://schemas.openxmlformats.org/drawingml/2006/main">
            <a:off x="1133475" y="6553200"/>
            <a:ext cx="514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555555"/>
                </a:solidFill>
                <a:latin typeface="Arial"/>
                <a:ea typeface="Arial"/>
                <a:cs typeface="Arial"/>
              </a:defRPr>
            </a:pPr>
            <a:r>
              <a:rPr sz="675" b="0" i="0">
                <a:solidFill>
                  <a:srgbClr val="555555"/>
                </a:solidFill>
                <a:latin typeface="Arial"/>
                <a:ea typeface="Arial"/>
                <a:cs typeface="Arial"/>
              </a:rPr>
              <a:t>Copyright © 2026, Oracle and/or its affiliates | Confidential: Internal/Restricted/Highly Restricted</a:t>
            </a:r>
          </a:p>
        </p:txBody>
      </p:sp>
      <p:pic>
        <p:nvPicPr>
          <p:cNvPr id="109" name="Picture 99"/>
          <p:cNvPicPr>
            <a:picLocks xmlns:a="http://schemas.openxmlformats.org/drawingml/2006/main" noChangeAspect="1"/>
          </p:cNvPicPr>
          <p:nvPr/>
        </p:nvPicPr>
        <p:blipFill>
          <a:blip xmlns:r="http://schemas.openxmlformats.org/officeDocument/2006/relationships" xmlns:a="http://schemas.openxmlformats.org/drawingml/2006/main" r:embed="R26829f5851414a2b"/>
          <a:stretch xmlns:a="http://schemas.openxmlformats.org/drawingml/2006/main"/>
        </p:blipFill>
        <p:spPr>
          <a:xfrm xmlns:a="http://schemas.openxmlformats.org/drawingml/2006/main">
            <a:off x="11391900" y="6479151"/>
            <a:ext cx="400050" cy="329073"/>
          </a:xfrm>
          <a:prstGeom xmlns:a="http://schemas.openxmlformats.org/drawingml/2006/main" prst="rect">
            <a:avLst/>
          </a:prstGeom>
        </p:spPr>
      </p:pic>
    </p:spTree>
    <p:extLst>
      <p:ext uri="{BB962C8B-B14F-4D97-AF65-F5344CB8AC3E}">
        <p14:creationId xmlns:p14="http://schemas.microsoft.com/office/powerpoint/2010/main" val="948357235"/>
      </p:ext>
    </p:extLst>
  </p:cSld>
</p:sld>
</file>

<file path=ppt/slides/slide4.xml><?xml version="1.0" encoding="utf-8"?>
<p:sld xmlns:p="http://schemas.openxmlformats.org/presentationml/2006/main">
  <p:cSld>
    <p:bg>
      <p:bgPr>
        <a:solidFill xmlns:a="http://schemas.openxmlformats.org/drawingml/2006/main">
          <a:srgbClr val="FCFBFA"/>
        </a:solidFill>
      </p:bgPr>
    </p:bg>
    <p:spTree>
      <p:nvGrpSpPr>
        <p:cNvPr id="1" name=""/>
        <p:cNvGrpSpPr/>
        <p:nvPr/>
      </p:nvGrpSpPr>
      <p:grpSpPr>
        <a:xfrm xmlns:a="http://schemas.openxmlformats.org/drawingml/2006/main"/>
      </p:grpSpPr>
      <p:sp>
        <p:nvSpPr>
          <p:cNvPr id="75" name="Oval 74">
            <a:extLst xmlns:a="http://schemas.openxmlformats.org/drawingml/2006/main">
              <a:ext uri="{FF2B5EF4-FFF2-40B4-BE49-F238E27FC236}">
                <a16:creationId xmlns:a16="http://schemas.microsoft.com/office/drawing/2014/main" id="{21F0DC85-8080-41CB-9F08-90BF24F47782}"/>
              </a:ext>
            </a:extLst>
          </p:cNvPr>
          <p:cNvSpPr>
            <a:spLocks xmlns:a="http://schemas.openxmlformats.org/drawingml/2006/main" noGrp="1"/>
          </p:cNvSpPr>
          <p:nvPr/>
        </p:nvSpPr>
        <p:spPr>
          <a:xfrm xmlns:a="http://schemas.openxmlformats.org/drawingml/2006/main">
            <a:off x="219075" y="283845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2F83E7F2-4739-496D-AEA1-9C7E9AF7442A}"/>
              </a:ext>
            </a:extLst>
          </p:cNvPr>
          <p:cNvSpPr>
            <a:spLocks xmlns:a="http://schemas.openxmlformats.org/drawingml/2006/main" noGrp="1"/>
          </p:cNvSpPr>
          <p:nvPr/>
        </p:nvSpPr>
        <p:spPr>
          <a:xfrm xmlns:a="http://schemas.openxmlformats.org/drawingml/2006/main">
            <a:off x="5133975" y="5524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50365660-F790-4395-BCCA-A1B5A74443CB}"/>
              </a:ext>
            </a:extLst>
          </p:cNvPr>
          <p:cNvSpPr>
            <a:spLocks xmlns:a="http://schemas.openxmlformats.org/drawingml/2006/main" noGrp="1"/>
          </p:cNvSpPr>
          <p:nvPr/>
        </p:nvSpPr>
        <p:spPr>
          <a:xfrm xmlns:a="http://schemas.openxmlformats.org/drawingml/2006/main">
            <a:off x="5638800" y="9334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9375D8DC-CA5F-40B0-B7BF-056CF93CA4C9}"/>
              </a:ext>
            </a:extLst>
          </p:cNvPr>
          <p:cNvSpPr>
            <a:spLocks xmlns:a="http://schemas.openxmlformats.org/drawingml/2006/main" noGrp="1"/>
          </p:cNvSpPr>
          <p:nvPr/>
        </p:nvSpPr>
        <p:spPr>
          <a:xfrm xmlns:a="http://schemas.openxmlformats.org/drawingml/2006/main">
            <a:off x="5810250" y="552450"/>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9B4636DC-97BE-46CA-BEB6-6BF5B65A7B74}"/>
              </a:ext>
            </a:extLst>
          </p:cNvPr>
          <p:cNvSpPr>
            <a:spLocks xmlns:a="http://schemas.openxmlformats.org/drawingml/2006/main" noGrp="1"/>
          </p:cNvSpPr>
          <p:nvPr/>
        </p:nvSpPr>
        <p:spPr>
          <a:xfrm xmlns:a="http://schemas.openxmlformats.org/drawingml/2006/main">
            <a:off x="4505325" y="981075"/>
            <a:ext cx="57150" cy="5715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567805AE-F6C9-426B-897E-D76835211245}"/>
              </a:ext>
            </a:extLst>
          </p:cNvPr>
          <p:cNvSpPr>
            <a:spLocks xmlns:a="http://schemas.openxmlformats.org/drawingml/2006/main" noGrp="1"/>
          </p:cNvSpPr>
          <p:nvPr/>
        </p:nvSpPr>
        <p:spPr>
          <a:xfrm xmlns:a="http://schemas.openxmlformats.org/drawingml/2006/main">
            <a:off x="5705475" y="99060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B71CAA8A-0646-4E30-A41C-31D47C1744F5}"/>
              </a:ext>
            </a:extLst>
          </p:cNvPr>
          <p:cNvSpPr>
            <a:spLocks xmlns:a="http://schemas.openxmlformats.org/drawingml/2006/main" noGrp="1"/>
          </p:cNvSpPr>
          <p:nvPr/>
        </p:nvSpPr>
        <p:spPr>
          <a:xfrm xmlns:a="http://schemas.openxmlformats.org/drawingml/2006/main">
            <a:off x="6096000" y="11620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8004BEBF-6AFB-4C2C-929C-BF89C0BEE4CC}"/>
              </a:ext>
            </a:extLst>
          </p:cNvPr>
          <p:cNvSpPr>
            <a:spLocks xmlns:a="http://schemas.openxmlformats.org/drawingml/2006/main" noGrp="1"/>
          </p:cNvSpPr>
          <p:nvPr/>
        </p:nvSpPr>
        <p:spPr>
          <a:xfrm xmlns:a="http://schemas.openxmlformats.org/drawingml/2006/main">
            <a:off x="6753225" y="13049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971687F6-47A9-4150-89D4-7D270B8B3DC6}"/>
              </a:ext>
            </a:extLst>
          </p:cNvPr>
          <p:cNvSpPr>
            <a:spLocks xmlns:a="http://schemas.openxmlformats.org/drawingml/2006/main" noGrp="1"/>
          </p:cNvSpPr>
          <p:nvPr/>
        </p:nvSpPr>
        <p:spPr>
          <a:xfrm xmlns:a="http://schemas.openxmlformats.org/drawingml/2006/main">
            <a:off x="7239000" y="381000"/>
            <a:ext cx="66675" cy="666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22DB11DC-8AE3-4708-B895-9DCF02DCCDCD}"/>
              </a:ext>
            </a:extLst>
          </p:cNvPr>
          <p:cNvSpPr>
            <a:spLocks xmlns:a="http://schemas.openxmlformats.org/drawingml/2006/main" noGrp="1"/>
          </p:cNvSpPr>
          <p:nvPr/>
        </p:nvSpPr>
        <p:spPr>
          <a:xfrm xmlns:a="http://schemas.openxmlformats.org/drawingml/2006/main">
            <a:off x="8839200" y="79057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4170C531-2321-40E2-8044-BC5E8CA5BB58}"/>
              </a:ext>
            </a:extLst>
          </p:cNvPr>
          <p:cNvSpPr>
            <a:spLocks xmlns:a="http://schemas.openxmlformats.org/drawingml/2006/main" noGrp="1"/>
          </p:cNvSpPr>
          <p:nvPr/>
        </p:nvSpPr>
        <p:spPr>
          <a:xfrm xmlns:a="http://schemas.openxmlformats.org/drawingml/2006/main">
            <a:off x="9048750" y="14954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7A4DA6F0-0E7F-4975-91FC-B8833E1EF25E}"/>
              </a:ext>
            </a:extLst>
          </p:cNvPr>
          <p:cNvSpPr>
            <a:spLocks xmlns:a="http://schemas.openxmlformats.org/drawingml/2006/main" noGrp="1"/>
          </p:cNvSpPr>
          <p:nvPr/>
        </p:nvSpPr>
        <p:spPr>
          <a:xfrm xmlns:a="http://schemas.openxmlformats.org/drawingml/2006/main">
            <a:off x="9239250" y="16478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3" name="Oval 12">
            <a:extLst xmlns:a="http://schemas.openxmlformats.org/drawingml/2006/main">
              <a:ext uri="{FF2B5EF4-FFF2-40B4-BE49-F238E27FC236}">
                <a16:creationId xmlns:a16="http://schemas.microsoft.com/office/drawing/2014/main" id="{30D3E989-E565-43CA-B47B-51F6E2E6D5A5}"/>
              </a:ext>
            </a:extLst>
          </p:cNvPr>
          <p:cNvSpPr>
            <a:spLocks xmlns:a="http://schemas.openxmlformats.org/drawingml/2006/main" noGrp="1"/>
          </p:cNvSpPr>
          <p:nvPr/>
        </p:nvSpPr>
        <p:spPr>
          <a:xfrm xmlns:a="http://schemas.openxmlformats.org/drawingml/2006/main">
            <a:off x="9944100" y="207645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Oval 13">
            <a:extLst xmlns:a="http://schemas.openxmlformats.org/drawingml/2006/main">
              <a:ext uri="{FF2B5EF4-FFF2-40B4-BE49-F238E27FC236}">
                <a16:creationId xmlns:a16="http://schemas.microsoft.com/office/drawing/2014/main" id="{E90AC5F6-AD11-4372-9904-82389EC0DDD8}"/>
              </a:ext>
            </a:extLst>
          </p:cNvPr>
          <p:cNvSpPr>
            <a:spLocks xmlns:a="http://schemas.openxmlformats.org/drawingml/2006/main" noGrp="1"/>
          </p:cNvSpPr>
          <p:nvPr/>
        </p:nvSpPr>
        <p:spPr>
          <a:xfrm xmlns:a="http://schemas.openxmlformats.org/drawingml/2006/main">
            <a:off x="11258550" y="228600"/>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Oval 14">
            <a:extLst xmlns:a="http://schemas.openxmlformats.org/drawingml/2006/main">
              <a:ext uri="{FF2B5EF4-FFF2-40B4-BE49-F238E27FC236}">
                <a16:creationId xmlns:a16="http://schemas.microsoft.com/office/drawing/2014/main" id="{7B52B2D8-D6B9-4D4D-B2A5-2C8D8AA80805}"/>
              </a:ext>
            </a:extLst>
          </p:cNvPr>
          <p:cNvSpPr>
            <a:spLocks xmlns:a="http://schemas.openxmlformats.org/drawingml/2006/main" noGrp="1"/>
          </p:cNvSpPr>
          <p:nvPr/>
        </p:nvSpPr>
        <p:spPr>
          <a:xfrm xmlns:a="http://schemas.openxmlformats.org/drawingml/2006/main">
            <a:off x="11306175" y="466725"/>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69CE3ABD-20CA-492A-A395-49E29EFAB399}"/>
              </a:ext>
            </a:extLst>
          </p:cNvPr>
          <p:cNvSpPr>
            <a:spLocks xmlns:a="http://schemas.openxmlformats.org/drawingml/2006/main" noGrp="1"/>
          </p:cNvSpPr>
          <p:nvPr/>
        </p:nvSpPr>
        <p:spPr>
          <a:xfrm xmlns:a="http://schemas.openxmlformats.org/drawingml/2006/main">
            <a:off x="11811000" y="72390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B88F33C5-401C-4533-ABE2-633CA7C878A6}"/>
              </a:ext>
            </a:extLst>
          </p:cNvPr>
          <p:cNvSpPr>
            <a:spLocks xmlns:a="http://schemas.openxmlformats.org/drawingml/2006/main" noGrp="1"/>
          </p:cNvSpPr>
          <p:nvPr/>
        </p:nvSpPr>
        <p:spPr>
          <a:xfrm xmlns:a="http://schemas.openxmlformats.org/drawingml/2006/main">
            <a:off x="11991975" y="118110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81912CAD-A491-40CB-BE59-97E8CE401F65}"/>
              </a:ext>
            </a:extLst>
          </p:cNvPr>
          <p:cNvSpPr>
            <a:spLocks xmlns:a="http://schemas.openxmlformats.org/drawingml/2006/main" noGrp="1"/>
          </p:cNvSpPr>
          <p:nvPr/>
        </p:nvSpPr>
        <p:spPr>
          <a:xfrm xmlns:a="http://schemas.openxmlformats.org/drawingml/2006/main">
            <a:off x="0" y="3028950"/>
            <a:ext cx="1381125" cy="1219200"/>
          </a:xfrm>
          <a:prstGeom xmlns:a="http://schemas.openxmlformats.org/drawingml/2006/main" prst="ellipse">
            <a:avLst/>
          </a:prstGeom>
          <a:solidFill xmlns:a="http://schemas.openxmlformats.org/drawingml/2006/main">
            <a:srgbClr val="F5F8F6"/>
          </a:solidFill>
          <a:ln xmlns:a="http://schemas.openxmlformats.org/drawingml/2006/main" w="9525">
            <a:solidFill>
              <a:srgbClr val="E3E8E5"/>
            </a:solidFill>
            <a:prstDash val="dot"/>
          </a:ln>
        </p:spPr>
        <p:txBody>
          <a:bodyPr xmlns:a="http://schemas.openxmlformats.org/drawingml/2006/main"/>
          <a:lstStyle xmlns:a="http://schemas.openxmlformats.org/drawingml/2006/main"/>
          <a:p xmlns:a="http://schemas.openxmlformats.org/drawingml/2006/main">
            <a:endParaRPr/>
          </a:p>
        </p:txBody>
      </p:sp>
      <p:pic>
        <p:nvPicPr>
          <p:cNvPr id="107" name="Picture 93"/>
          <p:cNvPicPr>
            <a:picLocks xmlns:a="http://schemas.openxmlformats.org/drawingml/2006/main" noChangeAspect="1"/>
          </p:cNvPicPr>
          <p:nvPr/>
        </p:nvPicPr>
        <p:blipFill>
          <a:blip xmlns:r="http://schemas.openxmlformats.org/officeDocument/2006/relationships" xmlns:a="http://schemas.openxmlformats.org/drawingml/2006/main" r:embed="R75555876684f4f93"/>
          <a:stretch xmlns:a="http://schemas.openxmlformats.org/drawingml/2006/main"/>
        </p:blipFill>
        <p:spPr>
          <a:xfrm xmlns:a="http://schemas.openxmlformats.org/drawingml/2006/main">
            <a:off x="426149" y="276225"/>
            <a:ext cx="1824228" cy="542925"/>
          </a:xfrm>
          <a:prstGeom xmlns:a="http://schemas.openxmlformats.org/drawingml/2006/main" prst="rect">
            <a:avLst/>
          </a:prstGeom>
        </p:spPr>
      </p:pic>
      <p:sp>
        <p:nvSpPr>
          <p:cNvPr id="21" name="Rectangle 20">
            <a:extLst xmlns:a="http://schemas.openxmlformats.org/drawingml/2006/main">
              <a:ext uri="{FF2B5EF4-FFF2-40B4-BE49-F238E27FC236}">
                <a16:creationId xmlns:a16="http://schemas.microsoft.com/office/drawing/2014/main" id="{C287F6CF-5BDC-4BBA-BB60-B25AA48793ED}"/>
              </a:ext>
            </a:extLst>
          </p:cNvPr>
          <p:cNvSpPr>
            <a:spLocks xmlns:a="http://schemas.openxmlformats.org/drawingml/2006/main" noGrp="1"/>
          </p:cNvSpPr>
          <p:nvPr/>
        </p:nvSpPr>
        <p:spPr>
          <a:xfrm xmlns:a="http://schemas.openxmlformats.org/drawingml/2006/main">
            <a:off x="400050" y="111818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3150" b="1" i="0">
                <a:solidFill>
                  <a:srgbClr val="003B25"/>
                </a:solidFill>
                <a:latin typeface="Arial"/>
                <a:ea typeface="Arial"/>
                <a:cs typeface="Arial"/>
              </a:defRPr>
            </a:pPr>
            <a:r>
              <a:rPr sz="3150" b="1" i="0">
                <a:solidFill>
                  <a:srgbClr val="003B25"/>
                </a:solidFill>
                <a:latin typeface="Arial"/>
                <a:ea typeface="Arial"/>
                <a:cs typeface="Arial"/>
              </a:rPr>
              <a:t>Current Environment</a:t>
            </a:r>
          </a:p>
        </p:txBody>
      </p:sp>
      <p:sp>
        <p:nvSpPr>
          <p:cNvPr id="22" name="Rectangle 21">
            <a:extLst xmlns:a="http://schemas.openxmlformats.org/drawingml/2006/main">
              <a:ext uri="{FF2B5EF4-FFF2-40B4-BE49-F238E27FC236}">
                <a16:creationId xmlns:a16="http://schemas.microsoft.com/office/drawing/2014/main" id="{7181C17D-13DF-4692-BC64-FC2AD05459C9}"/>
              </a:ext>
            </a:extLst>
          </p:cNvPr>
          <p:cNvSpPr>
            <a:spLocks xmlns:a="http://schemas.openxmlformats.org/drawingml/2006/main" noGrp="1"/>
          </p:cNvSpPr>
          <p:nvPr/>
        </p:nvSpPr>
        <p:spPr>
          <a:xfrm xmlns:a="http://schemas.openxmlformats.org/drawingml/2006/main">
            <a:off x="400050" y="1704975"/>
            <a:ext cx="371475"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CF1157D8-7FA6-44EE-9ABA-8C1B2D76EB92}"/>
              </a:ext>
            </a:extLst>
          </p:cNvPr>
          <p:cNvSpPr>
            <a:spLocks xmlns:a="http://schemas.openxmlformats.org/drawingml/2006/main" noGrp="1"/>
          </p:cNvSpPr>
          <p:nvPr/>
        </p:nvSpPr>
        <p:spPr>
          <a:xfrm xmlns:a="http://schemas.openxmlformats.org/drawingml/2006/main">
            <a:off x="400050" y="1885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0" i="0">
                <a:solidFill>
                  <a:srgbClr val="111111"/>
                </a:solidFill>
                <a:latin typeface="Arial"/>
                <a:ea typeface="Arial"/>
                <a:cs typeface="Arial"/>
              </a:defRPr>
            </a:pPr>
            <a:r>
              <a:rPr sz="1200" b="0" i="0">
                <a:solidFill>
                  <a:srgbClr val="111111"/>
                </a:solidFill>
                <a:latin typeface="Arial"/>
                <a:ea typeface="Arial"/>
                <a:cs typeface="Arial"/>
              </a:rPr>
              <a:t>Analysis based on RVTools data shared by the customer.</a:t>
            </a:r>
          </a:p>
        </p:txBody>
      </p:sp>
      <p:sp>
        <p:nvSpPr>
          <p:cNvPr id="24" name="Rounded Rectangle 23">
            <a:extLst xmlns:a="http://schemas.openxmlformats.org/drawingml/2006/main">
              <a:ext uri="{FF2B5EF4-FFF2-40B4-BE49-F238E27FC236}">
                <a16:creationId xmlns:a16="http://schemas.microsoft.com/office/drawing/2014/main" id="{7742F759-7FA3-4F04-BD5F-BC22AB94CD82}"/>
              </a:ext>
            </a:extLst>
          </p:cNvPr>
          <p:cNvSpPr>
            <a:spLocks xmlns:a="http://schemas.openxmlformats.org/drawingml/2006/main" noGrp="1"/>
          </p:cNvSpPr>
          <p:nvPr/>
        </p:nvSpPr>
        <p:spPr>
          <a:xfrm xmlns:a="http://schemas.openxmlformats.org/drawingml/2006/main">
            <a:off x="400050" y="2181225"/>
            <a:ext cx="11334750" cy="2152650"/>
          </a:xfrm>
          <a:prstGeom xmlns:a="http://schemas.openxmlformats.org/drawingml/2006/main" prst="roundRect">
            <a:avLst>
              <a:gd name="adj" fmla="val 3097"/>
            </a:avLst>
          </a:prstGeom>
          <a:solidFill xmlns:a="http://schemas.openxmlformats.org/drawingml/2006/main">
            <a:srgbClr val="FFFFFF"/>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25" name="Rounded Rectangle 24">
            <a:extLst xmlns:a="http://schemas.openxmlformats.org/drawingml/2006/main">
              <a:ext uri="{FF2B5EF4-FFF2-40B4-BE49-F238E27FC236}">
                <a16:creationId xmlns:a16="http://schemas.microsoft.com/office/drawing/2014/main" id="{B404DBE3-517A-4268-99D5-24CDE97D5A55}"/>
              </a:ext>
            </a:extLst>
          </p:cNvPr>
          <p:cNvSpPr>
            <a:spLocks xmlns:a="http://schemas.openxmlformats.org/drawingml/2006/main" noGrp="1"/>
          </p:cNvSpPr>
          <p:nvPr/>
        </p:nvSpPr>
        <p:spPr>
          <a:xfrm xmlns:a="http://schemas.openxmlformats.org/drawingml/2006/main">
            <a:off x="400050" y="2181225"/>
            <a:ext cx="11334750" cy="419100"/>
          </a:xfrm>
          <a:prstGeom xmlns:a="http://schemas.openxmlformats.org/drawingml/2006/main" prst="roundRect">
            <a:avLst>
              <a:gd name="adj" fmla="val 15909"/>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F149E187-8D0C-45BD-B937-45018F857AE1}"/>
              </a:ext>
            </a:extLst>
          </p:cNvPr>
          <p:cNvSpPr>
            <a:spLocks xmlns:a="http://schemas.openxmlformats.org/drawingml/2006/main" noGrp="1"/>
          </p:cNvSpPr>
          <p:nvPr/>
        </p:nvSpPr>
        <p:spPr>
          <a:xfrm xmlns:a="http://schemas.openxmlformats.org/drawingml/2006/main">
            <a:off x="400050" y="2514600"/>
            <a:ext cx="11334750" cy="85725"/>
          </a:xfrm>
          <a:prstGeom xmlns:a="http://schemas.openxmlformats.org/drawingml/2006/main" prst="rect">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14" name="Picture 100"/>
          <p:cNvPicPr>
            <a:picLocks xmlns:a="http://schemas.openxmlformats.org/drawingml/2006/main" noChangeAspect="1"/>
          </p:cNvPicPr>
          <p:nvPr/>
        </p:nvPicPr>
        <p:blipFill>
          <a:blip xmlns:r="http://schemas.openxmlformats.org/officeDocument/2006/relationships" xmlns:a="http://schemas.openxmlformats.org/drawingml/2006/main" r:embed="Rc0007911ff2142eb"/>
          <a:stretch xmlns:a="http://schemas.openxmlformats.org/drawingml/2006/main"/>
        </p:blipFill>
        <p:spPr>
          <a:xfrm xmlns:a="http://schemas.openxmlformats.org/drawingml/2006/main">
            <a:off x="600075" y="2261185"/>
            <a:ext cx="285750" cy="278230"/>
          </a:xfrm>
          <a:prstGeom xmlns:a="http://schemas.openxmlformats.org/drawingml/2006/main" prst="rect">
            <a:avLst/>
          </a:prstGeom>
        </p:spPr>
      </p:pic>
      <p:sp>
        <p:nvSpPr>
          <p:cNvPr id="28" name="editable-current-datacenter">
            <a:extLst xmlns:a="http://schemas.openxmlformats.org/drawingml/2006/main">
              <a:ext uri="{FF2B5EF4-FFF2-40B4-BE49-F238E27FC236}">
                <a16:creationId xmlns:a16="http://schemas.microsoft.com/office/drawing/2014/main" id="{1FCDE930-188D-4EA2-8394-918FC60EA432}"/>
              </a:ext>
            </a:extLst>
          </p:cNvPr>
          <p:cNvSpPr>
            <a:spLocks xmlns:a="http://schemas.openxmlformats.org/drawingml/2006/main" noGrp="1"/>
          </p:cNvSpPr>
          <p:nvPr/>
        </p:nvSpPr>
        <p:spPr>
          <a:xfrm xmlns:a="http://schemas.openxmlformats.org/drawingml/2006/main">
            <a:off x="981075" y="23336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350" b="1" i="0">
                <a:solidFill>
                  <a:srgbClr val="FFFFFF"/>
                </a:solidFill>
                <a:latin typeface="Arial"/>
                <a:ea typeface="Arial"/>
                <a:cs typeface="Arial"/>
              </a:defRPr>
            </a:pPr>
            <a:r>
              <a:rPr sz="1350" b="1" i="0">
                <a:solidFill>
                  <a:srgbClr val="FFFFFF"/>
                </a:solidFill>
                <a:latin typeface="Arial"/>
                <a:ea typeface="Arial"/>
                <a:cs typeface="Arial"/>
              </a:rPr>
              <a:t>Datacenter 1 – CLIENT</a:t>
            </a:r>
          </a:p>
        </p:txBody>
      </p:sp>
      <p:sp>
        <p:nvSpPr>
          <p:cNvPr id="29" name="Straight Connector 28">
            <a:extLst xmlns:a="http://schemas.openxmlformats.org/drawingml/2006/main">
              <a:ext uri="{FF2B5EF4-FFF2-40B4-BE49-F238E27FC236}">
                <a16:creationId xmlns:a16="http://schemas.microsoft.com/office/drawing/2014/main" id="{073F4B3D-A689-436F-BCE6-8235406074F8}"/>
              </a:ext>
            </a:extLst>
          </p:cNvPr>
          <p:cNvSpPr>
            <a:spLocks xmlns:a="http://schemas.openxmlformats.org/drawingml/2006/main" noGrp="1"/>
          </p:cNvSpPr>
          <p:nvPr/>
        </p:nvSpPr>
        <p:spPr>
          <a:xfrm xmlns:a="http://schemas.openxmlformats.org/drawingml/2006/main">
            <a:off x="32004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traight Connector 29">
            <a:extLst xmlns:a="http://schemas.openxmlformats.org/drawingml/2006/main">
              <a:ext uri="{FF2B5EF4-FFF2-40B4-BE49-F238E27FC236}">
                <a16:creationId xmlns:a16="http://schemas.microsoft.com/office/drawing/2014/main" id="{FB60119E-4550-4C62-A1C7-2490DD52390F}"/>
              </a:ext>
            </a:extLst>
          </p:cNvPr>
          <p:cNvSpPr>
            <a:spLocks xmlns:a="http://schemas.openxmlformats.org/drawingml/2006/main" noGrp="1"/>
          </p:cNvSpPr>
          <p:nvPr/>
        </p:nvSpPr>
        <p:spPr>
          <a:xfrm xmlns:a="http://schemas.openxmlformats.org/drawingml/2006/main">
            <a:off x="59817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traight Connector 30">
            <a:extLst xmlns:a="http://schemas.openxmlformats.org/drawingml/2006/main">
              <a:ext uri="{FF2B5EF4-FFF2-40B4-BE49-F238E27FC236}">
                <a16:creationId xmlns:a16="http://schemas.microsoft.com/office/drawing/2014/main" id="{635B3C01-9C5E-4AA0-AC7B-F394D0687E36}"/>
              </a:ext>
            </a:extLst>
          </p:cNvPr>
          <p:cNvSpPr>
            <a:spLocks xmlns:a="http://schemas.openxmlformats.org/drawingml/2006/main" noGrp="1"/>
          </p:cNvSpPr>
          <p:nvPr/>
        </p:nvSpPr>
        <p:spPr>
          <a:xfrm xmlns:a="http://schemas.openxmlformats.org/drawingml/2006/main">
            <a:off x="87249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Rectangle 31">
            <a:extLst xmlns:a="http://schemas.openxmlformats.org/drawingml/2006/main">
              <a:ext uri="{FF2B5EF4-FFF2-40B4-BE49-F238E27FC236}">
                <a16:creationId xmlns:a16="http://schemas.microsoft.com/office/drawing/2014/main" id="{B59BC397-1AED-455B-BFE0-6D1460C9CD8C}"/>
              </a:ext>
            </a:extLst>
          </p:cNvPr>
          <p:cNvSpPr>
            <a:spLocks xmlns:a="http://schemas.openxmlformats.org/drawingml/2006/main" noGrp="1"/>
          </p:cNvSpPr>
          <p:nvPr/>
        </p:nvSpPr>
        <p:spPr>
          <a:xfrm xmlns:a="http://schemas.openxmlformats.org/drawingml/2006/main">
            <a:off x="11715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VMs</a:t>
            </a:r>
          </a:p>
        </p:txBody>
      </p:sp>
      <p:sp>
        <p:nvSpPr>
          <p:cNvPr id="33" name="editable-current-vms">
            <a:extLst xmlns:a="http://schemas.openxmlformats.org/drawingml/2006/main">
              <a:ext uri="{FF2B5EF4-FFF2-40B4-BE49-F238E27FC236}">
                <a16:creationId xmlns:a16="http://schemas.microsoft.com/office/drawing/2014/main" id="{127C50D5-D813-45E0-8A65-C431BD0456FE}"/>
              </a:ext>
            </a:extLst>
          </p:cNvPr>
          <p:cNvSpPr>
            <a:spLocks xmlns:a="http://schemas.openxmlformats.org/drawingml/2006/main" noGrp="1"/>
          </p:cNvSpPr>
          <p:nvPr/>
        </p:nvSpPr>
        <p:spPr>
          <a:xfrm xmlns:a="http://schemas.openxmlformats.org/drawingml/2006/main">
            <a:off x="11715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20,100</a:t>
            </a:r>
          </a:p>
        </p:txBody>
      </p:sp>
      <p:pic>
        <p:nvPicPr>
          <p:cNvPr id="121" name="Picture 107"/>
          <p:cNvPicPr>
            <a:picLocks xmlns:a="http://schemas.openxmlformats.org/drawingml/2006/main" noChangeAspect="1"/>
          </p:cNvPicPr>
          <p:nvPr/>
        </p:nvPicPr>
        <p:blipFill>
          <a:blip xmlns:r="http://schemas.openxmlformats.org/officeDocument/2006/relationships" xmlns:a="http://schemas.openxmlformats.org/drawingml/2006/main" r:embed="R8c9477d3628a429b"/>
          <a:stretch xmlns:a="http://schemas.openxmlformats.org/drawingml/2006/main"/>
        </p:blipFill>
        <p:spPr>
          <a:xfrm xmlns:a="http://schemas.openxmlformats.org/drawingml/2006/main">
            <a:off x="1590675" y="2781300"/>
            <a:ext cx="495300" cy="495300"/>
          </a:xfrm>
          <a:prstGeom xmlns:a="http://schemas.openxmlformats.org/drawingml/2006/main" prst="rect">
            <a:avLst/>
          </a:prstGeom>
        </p:spPr>
      </p:pic>
      <p:sp>
        <p:nvSpPr>
          <p:cNvPr id="35" name="Rectangle 34">
            <a:extLst xmlns:a="http://schemas.openxmlformats.org/drawingml/2006/main">
              <a:ext uri="{FF2B5EF4-FFF2-40B4-BE49-F238E27FC236}">
                <a16:creationId xmlns:a16="http://schemas.microsoft.com/office/drawing/2014/main" id="{CCA77633-015F-457C-984D-6673C096DB92}"/>
              </a:ext>
            </a:extLst>
          </p:cNvPr>
          <p:cNvSpPr>
            <a:spLocks xmlns:a="http://schemas.openxmlformats.org/drawingml/2006/main" noGrp="1"/>
          </p:cNvSpPr>
          <p:nvPr/>
        </p:nvSpPr>
        <p:spPr>
          <a:xfrm xmlns:a="http://schemas.openxmlformats.org/drawingml/2006/main">
            <a:off x="39528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vCPUs</a:t>
            </a:r>
          </a:p>
        </p:txBody>
      </p:sp>
      <p:sp>
        <p:nvSpPr>
          <p:cNvPr id="36" name="editable-current-vcpus">
            <a:extLst xmlns:a="http://schemas.openxmlformats.org/drawingml/2006/main">
              <a:ext uri="{FF2B5EF4-FFF2-40B4-BE49-F238E27FC236}">
                <a16:creationId xmlns:a16="http://schemas.microsoft.com/office/drawing/2014/main" id="{D3349B43-D610-4795-98E9-37BED54D9ECE}"/>
              </a:ext>
            </a:extLst>
          </p:cNvPr>
          <p:cNvSpPr>
            <a:spLocks xmlns:a="http://schemas.openxmlformats.org/drawingml/2006/main" noGrp="1"/>
          </p:cNvSpPr>
          <p:nvPr/>
        </p:nvSpPr>
        <p:spPr>
          <a:xfrm xmlns:a="http://schemas.openxmlformats.org/drawingml/2006/main">
            <a:off x="39528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a:t>
            </a:r>
          </a:p>
        </p:txBody>
      </p:sp>
      <p:pic>
        <p:nvPicPr>
          <p:cNvPr id="124" name="Picture 110"/>
          <p:cNvPicPr>
            <a:picLocks xmlns:a="http://schemas.openxmlformats.org/drawingml/2006/main" noChangeAspect="1"/>
          </p:cNvPicPr>
          <p:nvPr/>
        </p:nvPicPr>
        <p:blipFill>
          <a:blip xmlns:r="http://schemas.openxmlformats.org/officeDocument/2006/relationships" xmlns:a="http://schemas.openxmlformats.org/drawingml/2006/main" r:embed="Re3d799ce716f4c41"/>
          <a:stretch xmlns:a="http://schemas.openxmlformats.org/drawingml/2006/main"/>
        </p:blipFill>
        <p:spPr>
          <a:xfrm xmlns:a="http://schemas.openxmlformats.org/drawingml/2006/main">
            <a:off x="4371975" y="2781300"/>
            <a:ext cx="495300" cy="495300"/>
          </a:xfrm>
          <a:prstGeom xmlns:a="http://schemas.openxmlformats.org/drawingml/2006/main" prst="rect">
            <a:avLst/>
          </a:prstGeom>
        </p:spPr>
      </p:pic>
      <p:sp>
        <p:nvSpPr>
          <p:cNvPr id="38" name="Rectangle 37">
            <a:extLst xmlns:a="http://schemas.openxmlformats.org/drawingml/2006/main">
              <a:ext uri="{FF2B5EF4-FFF2-40B4-BE49-F238E27FC236}">
                <a16:creationId xmlns:a16="http://schemas.microsoft.com/office/drawing/2014/main" id="{52A61E4A-8FF4-4FA2-BD1B-74AD7A47DE93}"/>
              </a:ext>
            </a:extLst>
          </p:cNvPr>
          <p:cNvSpPr>
            <a:spLocks xmlns:a="http://schemas.openxmlformats.org/drawingml/2006/main" noGrp="1"/>
          </p:cNvSpPr>
          <p:nvPr/>
        </p:nvSpPr>
        <p:spPr>
          <a:xfrm xmlns:a="http://schemas.openxmlformats.org/drawingml/2006/main">
            <a:off x="66960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vRAM (GB)</a:t>
            </a:r>
          </a:p>
        </p:txBody>
      </p:sp>
      <p:sp>
        <p:nvSpPr>
          <p:cNvPr id="39" name="editable-current-vram">
            <a:extLst xmlns:a="http://schemas.openxmlformats.org/drawingml/2006/main">
              <a:ext uri="{FF2B5EF4-FFF2-40B4-BE49-F238E27FC236}">
                <a16:creationId xmlns:a16="http://schemas.microsoft.com/office/drawing/2014/main" id="{90A624D4-C31B-42AE-A588-376259BB8A49}"/>
              </a:ext>
            </a:extLst>
          </p:cNvPr>
          <p:cNvSpPr>
            <a:spLocks xmlns:a="http://schemas.openxmlformats.org/drawingml/2006/main" noGrp="1"/>
          </p:cNvSpPr>
          <p:nvPr/>
        </p:nvSpPr>
        <p:spPr>
          <a:xfrm xmlns:a="http://schemas.openxmlformats.org/drawingml/2006/main">
            <a:off x="66960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30,000</a:t>
            </a:r>
          </a:p>
        </p:txBody>
      </p:sp>
      <p:pic>
        <p:nvPicPr>
          <p:cNvPr id="127" name="Picture 113"/>
          <p:cNvPicPr>
            <a:picLocks xmlns:a="http://schemas.openxmlformats.org/drawingml/2006/main" noChangeAspect="1"/>
          </p:cNvPicPr>
          <p:nvPr/>
        </p:nvPicPr>
        <p:blipFill>
          <a:blip xmlns:r="http://schemas.openxmlformats.org/officeDocument/2006/relationships" xmlns:a="http://schemas.openxmlformats.org/drawingml/2006/main" r:embed="R9564296e9f7a47d4"/>
          <a:stretch xmlns:a="http://schemas.openxmlformats.org/drawingml/2006/main"/>
        </p:blipFill>
        <p:spPr>
          <a:xfrm xmlns:a="http://schemas.openxmlformats.org/drawingml/2006/main">
            <a:off x="7115175" y="2781300"/>
            <a:ext cx="495300" cy="495300"/>
          </a:xfrm>
          <a:prstGeom xmlns:a="http://schemas.openxmlformats.org/drawingml/2006/main" prst="rect">
            <a:avLst/>
          </a:prstGeom>
        </p:spPr>
      </p:pic>
      <p:sp>
        <p:nvSpPr>
          <p:cNvPr id="41" name="Rectangle 40">
            <a:extLst xmlns:a="http://schemas.openxmlformats.org/drawingml/2006/main">
              <a:ext uri="{FF2B5EF4-FFF2-40B4-BE49-F238E27FC236}">
                <a16:creationId xmlns:a16="http://schemas.microsoft.com/office/drawing/2014/main" id="{8F1EB62F-0498-4D60-9534-8F4AE5E5A7C5}"/>
              </a:ext>
            </a:extLst>
          </p:cNvPr>
          <p:cNvSpPr>
            <a:spLocks xmlns:a="http://schemas.openxmlformats.org/drawingml/2006/main" noGrp="1"/>
          </p:cNvSpPr>
          <p:nvPr/>
        </p:nvSpPr>
        <p:spPr>
          <a:xfrm xmlns:a="http://schemas.openxmlformats.org/drawingml/2006/main">
            <a:off x="9448800"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Storage (TB)</a:t>
            </a:r>
          </a:p>
        </p:txBody>
      </p:sp>
      <p:sp>
        <p:nvSpPr>
          <p:cNvPr id="42" name="editable-current-storage">
            <a:extLst xmlns:a="http://schemas.openxmlformats.org/drawingml/2006/main">
              <a:ext uri="{FF2B5EF4-FFF2-40B4-BE49-F238E27FC236}">
                <a16:creationId xmlns:a16="http://schemas.microsoft.com/office/drawing/2014/main" id="{84830E81-2535-4FE2-8239-D8779C43C1A8}"/>
              </a:ext>
            </a:extLst>
          </p:cNvPr>
          <p:cNvSpPr>
            <a:spLocks xmlns:a="http://schemas.openxmlformats.org/drawingml/2006/main" noGrp="1"/>
          </p:cNvSpPr>
          <p:nvPr/>
        </p:nvSpPr>
        <p:spPr>
          <a:xfrm xmlns:a="http://schemas.openxmlformats.org/drawingml/2006/main">
            <a:off x="9448800"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210</a:t>
            </a:r>
          </a:p>
        </p:txBody>
      </p:sp>
      <p:pic>
        <p:nvPicPr>
          <p:cNvPr id="130" name="Picture 116"/>
          <p:cNvPicPr>
            <a:picLocks xmlns:a="http://schemas.openxmlformats.org/drawingml/2006/main" noChangeAspect="1"/>
          </p:cNvPicPr>
          <p:nvPr/>
        </p:nvPicPr>
        <p:blipFill>
          <a:blip xmlns:r="http://schemas.openxmlformats.org/officeDocument/2006/relationships" xmlns:a="http://schemas.openxmlformats.org/drawingml/2006/main" r:embed="R3c44441077d541a2"/>
          <a:stretch xmlns:a="http://schemas.openxmlformats.org/drawingml/2006/main"/>
        </p:blipFill>
        <p:spPr>
          <a:xfrm xmlns:a="http://schemas.openxmlformats.org/drawingml/2006/main">
            <a:off x="9867900" y="2781300"/>
            <a:ext cx="495300" cy="495300"/>
          </a:xfrm>
          <a:prstGeom xmlns:a="http://schemas.openxmlformats.org/drawingml/2006/main" prst="rect">
            <a:avLst/>
          </a:prstGeom>
        </p:spPr>
      </p:pic>
      <p:sp>
        <p:nvSpPr>
          <p:cNvPr id="44" name="editable-current-powered-on">
            <a:extLst xmlns:a="http://schemas.openxmlformats.org/drawingml/2006/main">
              <a:ext uri="{FF2B5EF4-FFF2-40B4-BE49-F238E27FC236}">
                <a16:creationId xmlns:a16="http://schemas.microsoft.com/office/drawing/2014/main" id="{40B2A91E-AAE2-4FEB-AD52-D18E23D0EC0B}"/>
              </a:ext>
            </a:extLst>
          </p:cNvPr>
          <p:cNvSpPr>
            <a:spLocks xmlns:a="http://schemas.openxmlformats.org/drawingml/2006/main" noGrp="1"/>
          </p:cNvSpPr>
          <p:nvPr/>
        </p:nvSpPr>
        <p:spPr>
          <a:xfrm xmlns:a="http://schemas.openxmlformats.org/drawingml/2006/main">
            <a:off x="1323975" y="38766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18,400</a:t>
            </a:r>
          </a:p>
        </p:txBody>
      </p:sp>
      <p:sp>
        <p:nvSpPr>
          <p:cNvPr id="45" name="Rectangle 44">
            <a:extLst xmlns:a="http://schemas.openxmlformats.org/drawingml/2006/main">
              <a:ext uri="{FF2B5EF4-FFF2-40B4-BE49-F238E27FC236}">
                <a16:creationId xmlns:a16="http://schemas.microsoft.com/office/drawing/2014/main" id="{277AB89B-0977-4880-A97D-D7648C371A3B}"/>
              </a:ext>
            </a:extLst>
          </p:cNvPr>
          <p:cNvSpPr>
            <a:spLocks xmlns:a="http://schemas.openxmlformats.org/drawingml/2006/main" noGrp="1"/>
          </p:cNvSpPr>
          <p:nvPr/>
        </p:nvSpPr>
        <p:spPr>
          <a:xfrm xmlns:a="http://schemas.openxmlformats.org/drawingml/2006/main">
            <a:off x="1800225" y="3876675"/>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On</a:t>
            </a:r>
          </a:p>
        </p:txBody>
      </p:sp>
      <p:sp>
        <p:nvSpPr>
          <p:cNvPr id="46" name="editable-current-powered-off">
            <a:extLst xmlns:a="http://schemas.openxmlformats.org/drawingml/2006/main">
              <a:ext uri="{FF2B5EF4-FFF2-40B4-BE49-F238E27FC236}">
                <a16:creationId xmlns:a16="http://schemas.microsoft.com/office/drawing/2014/main" id="{F7F48385-3BC4-475A-A935-67C101D814FB}"/>
              </a:ext>
            </a:extLst>
          </p:cNvPr>
          <p:cNvSpPr>
            <a:spLocks xmlns:a="http://schemas.openxmlformats.org/drawingml/2006/main" noGrp="1"/>
          </p:cNvSpPr>
          <p:nvPr/>
        </p:nvSpPr>
        <p:spPr>
          <a:xfrm xmlns:a="http://schemas.openxmlformats.org/drawingml/2006/main">
            <a:off x="1323975" y="40671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1,700</a:t>
            </a:r>
          </a:p>
        </p:txBody>
      </p:sp>
      <p:sp>
        <p:nvSpPr>
          <p:cNvPr id="47" name="Rectangle 46">
            <a:extLst xmlns:a="http://schemas.openxmlformats.org/drawingml/2006/main">
              <a:ext uri="{FF2B5EF4-FFF2-40B4-BE49-F238E27FC236}">
                <a16:creationId xmlns:a16="http://schemas.microsoft.com/office/drawing/2014/main" id="{4F72CCE0-CF33-447A-9A99-12F0DB96E23B}"/>
              </a:ext>
            </a:extLst>
          </p:cNvPr>
          <p:cNvSpPr>
            <a:spLocks xmlns:a="http://schemas.openxmlformats.org/drawingml/2006/main" noGrp="1"/>
          </p:cNvSpPr>
          <p:nvPr/>
        </p:nvSpPr>
        <p:spPr>
          <a:xfrm xmlns:a="http://schemas.openxmlformats.org/drawingml/2006/main">
            <a:off x="1800225" y="4067175"/>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Off</a:t>
            </a:r>
          </a:p>
        </p:txBody>
      </p:sp>
      <p:sp>
        <p:nvSpPr>
          <p:cNvPr id="48" name="Rounded Rectangle 47">
            <a:extLst xmlns:a="http://schemas.openxmlformats.org/drawingml/2006/main">
              <a:ext uri="{FF2B5EF4-FFF2-40B4-BE49-F238E27FC236}">
                <a16:creationId xmlns:a16="http://schemas.microsoft.com/office/drawing/2014/main" id="{298F7E7A-D055-437F-B62D-B044692E6F88}"/>
              </a:ext>
            </a:extLst>
          </p:cNvPr>
          <p:cNvSpPr>
            <a:spLocks xmlns:a="http://schemas.openxmlformats.org/drawingml/2006/main" noGrp="1"/>
          </p:cNvSpPr>
          <p:nvPr/>
        </p:nvSpPr>
        <p:spPr>
          <a:xfrm xmlns:a="http://schemas.openxmlformats.org/drawingml/2006/main">
            <a:off x="400050" y="4486275"/>
            <a:ext cx="11334750" cy="1009650"/>
          </a:xfrm>
          <a:prstGeom xmlns:a="http://schemas.openxmlformats.org/drawingml/2006/main" prst="roundRect">
            <a:avLst>
              <a:gd name="adj" fmla="val 6604"/>
            </a:avLst>
          </a:prstGeom>
          <a:solidFill xmlns:a="http://schemas.openxmlformats.org/drawingml/2006/main">
            <a:srgbClr val="F3F7F5"/>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49" name="Rounded Rectangle 48">
            <a:extLst xmlns:a="http://schemas.openxmlformats.org/drawingml/2006/main">
              <a:ext uri="{FF2B5EF4-FFF2-40B4-BE49-F238E27FC236}">
                <a16:creationId xmlns:a16="http://schemas.microsoft.com/office/drawing/2014/main" id="{F92C2AB9-B877-4DDB-BCDD-C92BBFD94A50}"/>
              </a:ext>
            </a:extLst>
          </p:cNvPr>
          <p:cNvSpPr>
            <a:spLocks xmlns:a="http://schemas.openxmlformats.org/drawingml/2006/main" noGrp="1"/>
          </p:cNvSpPr>
          <p:nvPr/>
        </p:nvSpPr>
        <p:spPr>
          <a:xfrm xmlns:a="http://schemas.openxmlformats.org/drawingml/2006/main">
            <a:off x="400050" y="4486275"/>
            <a:ext cx="1819275" cy="1009650"/>
          </a:xfrm>
          <a:prstGeom xmlns:a="http://schemas.openxmlformats.org/drawingml/2006/main" prst="roundRect">
            <a:avLst>
              <a:gd name="adj" fmla="val 6604"/>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0" name="Rectangle 49">
            <a:extLst xmlns:a="http://schemas.openxmlformats.org/drawingml/2006/main">
              <a:ext uri="{FF2B5EF4-FFF2-40B4-BE49-F238E27FC236}">
                <a16:creationId xmlns:a16="http://schemas.microsoft.com/office/drawing/2014/main" id="{47D07B68-7D3B-4636-AEC8-6CB4A4FC4595}"/>
              </a:ext>
            </a:extLst>
          </p:cNvPr>
          <p:cNvSpPr>
            <a:spLocks xmlns:a="http://schemas.openxmlformats.org/drawingml/2006/main" noGrp="1"/>
          </p:cNvSpPr>
          <p:nvPr/>
        </p:nvSpPr>
        <p:spPr>
          <a:xfrm xmlns:a="http://schemas.openxmlformats.org/drawingml/2006/main">
            <a:off x="1447800" y="4486275"/>
            <a:ext cx="771525" cy="1009650"/>
          </a:xfrm>
          <a:prstGeom xmlns:a="http://schemas.openxmlformats.org/drawingml/2006/main" prst="rect">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38" name="Picture 124"/>
          <p:cNvPicPr>
            <a:picLocks xmlns:a="http://schemas.openxmlformats.org/drawingml/2006/main" noChangeAspect="1"/>
          </p:cNvPicPr>
          <p:nvPr/>
        </p:nvPicPr>
        <p:blipFill>
          <a:blip xmlns:r="http://schemas.openxmlformats.org/officeDocument/2006/relationships" xmlns:a="http://schemas.openxmlformats.org/drawingml/2006/main" r:embed="Rb31d3acf167b4e84"/>
          <a:stretch xmlns:a="http://schemas.openxmlformats.org/drawingml/2006/main"/>
        </p:blipFill>
        <p:spPr>
          <a:xfrm xmlns:a="http://schemas.openxmlformats.org/drawingml/2006/main">
            <a:off x="1076325" y="4671030"/>
            <a:ext cx="476250" cy="468690"/>
          </a:xfrm>
          <a:prstGeom xmlns:a="http://schemas.openxmlformats.org/drawingml/2006/main" prst="rect">
            <a:avLst/>
          </a:prstGeom>
        </p:spPr>
      </p:pic>
      <p:sp>
        <p:nvSpPr>
          <p:cNvPr id="52" name="Rectangle 51">
            <a:extLst xmlns:a="http://schemas.openxmlformats.org/drawingml/2006/main">
              <a:ext uri="{FF2B5EF4-FFF2-40B4-BE49-F238E27FC236}">
                <a16:creationId xmlns:a16="http://schemas.microsoft.com/office/drawing/2014/main" id="{7135EB0C-DEDC-471B-8F07-A8F41F1E2D6A}"/>
              </a:ext>
            </a:extLst>
          </p:cNvPr>
          <p:cNvSpPr>
            <a:spLocks xmlns:a="http://schemas.openxmlformats.org/drawingml/2006/main" noGrp="1"/>
          </p:cNvSpPr>
          <p:nvPr/>
        </p:nvSpPr>
        <p:spPr>
          <a:xfrm xmlns:a="http://schemas.openxmlformats.org/drawingml/2006/main">
            <a:off x="666750" y="516255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Total Environment</a:t>
            </a:r>
          </a:p>
        </p:txBody>
      </p:sp>
      <p:sp>
        <p:nvSpPr>
          <p:cNvPr id="53" name="Straight Connector 52">
            <a:extLst xmlns:a="http://schemas.openxmlformats.org/drawingml/2006/main">
              <a:ext uri="{FF2B5EF4-FFF2-40B4-BE49-F238E27FC236}">
                <a16:creationId xmlns:a16="http://schemas.microsoft.com/office/drawing/2014/main" id="{6A04919F-C898-4046-9165-502C7FD7BAF0}"/>
              </a:ext>
            </a:extLst>
          </p:cNvPr>
          <p:cNvSpPr>
            <a:spLocks xmlns:a="http://schemas.openxmlformats.org/drawingml/2006/main" noGrp="1"/>
          </p:cNvSpPr>
          <p:nvPr/>
        </p:nvSpPr>
        <p:spPr>
          <a:xfrm xmlns:a="http://schemas.openxmlformats.org/drawingml/2006/main">
            <a:off x="468630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Straight Connector 53">
            <a:extLst xmlns:a="http://schemas.openxmlformats.org/drawingml/2006/main">
              <a:ext uri="{FF2B5EF4-FFF2-40B4-BE49-F238E27FC236}">
                <a16:creationId xmlns:a16="http://schemas.microsoft.com/office/drawing/2014/main" id="{279DB36C-681C-4FD2-A588-9A4BF85211F2}"/>
              </a:ext>
            </a:extLst>
          </p:cNvPr>
          <p:cNvSpPr>
            <a:spLocks xmlns:a="http://schemas.openxmlformats.org/drawingml/2006/main" noGrp="1"/>
          </p:cNvSpPr>
          <p:nvPr/>
        </p:nvSpPr>
        <p:spPr>
          <a:xfrm xmlns:a="http://schemas.openxmlformats.org/drawingml/2006/main">
            <a:off x="702945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5" name="Straight Connector 54">
            <a:extLst xmlns:a="http://schemas.openxmlformats.org/drawingml/2006/main">
              <a:ext uri="{FF2B5EF4-FFF2-40B4-BE49-F238E27FC236}">
                <a16:creationId xmlns:a16="http://schemas.microsoft.com/office/drawing/2014/main" id="{C8F92710-B721-4F19-B1ED-A9D5B1B54C85}"/>
              </a:ext>
            </a:extLst>
          </p:cNvPr>
          <p:cNvSpPr>
            <a:spLocks xmlns:a="http://schemas.openxmlformats.org/drawingml/2006/main" noGrp="1"/>
          </p:cNvSpPr>
          <p:nvPr/>
        </p:nvSpPr>
        <p:spPr>
          <a:xfrm xmlns:a="http://schemas.openxmlformats.org/drawingml/2006/main">
            <a:off x="948690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6" name="Rectangle 55">
            <a:extLst xmlns:a="http://schemas.openxmlformats.org/drawingml/2006/main">
              <a:ext uri="{FF2B5EF4-FFF2-40B4-BE49-F238E27FC236}">
                <a16:creationId xmlns:a16="http://schemas.microsoft.com/office/drawing/2014/main" id="{347AE0DB-5FC1-4C08-A3B9-5D2E17AF0014}"/>
              </a:ext>
            </a:extLst>
          </p:cNvPr>
          <p:cNvSpPr>
            <a:spLocks xmlns:a="http://schemas.openxmlformats.org/drawingml/2006/main" noGrp="1"/>
          </p:cNvSpPr>
          <p:nvPr/>
        </p:nvSpPr>
        <p:spPr>
          <a:xfrm xmlns:a="http://schemas.openxmlformats.org/drawingml/2006/main">
            <a:off x="3343275" y="4714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VMs</a:t>
            </a:r>
          </a:p>
        </p:txBody>
      </p:sp>
      <p:sp>
        <p:nvSpPr>
          <p:cNvPr id="57" name="editable-total-vms">
            <a:extLst xmlns:a="http://schemas.openxmlformats.org/drawingml/2006/main">
              <a:ext uri="{FF2B5EF4-FFF2-40B4-BE49-F238E27FC236}">
                <a16:creationId xmlns:a16="http://schemas.microsoft.com/office/drawing/2014/main" id="{51D8B33B-988C-462B-91B7-386F22B8BCA6}"/>
              </a:ext>
            </a:extLst>
          </p:cNvPr>
          <p:cNvSpPr>
            <a:spLocks xmlns:a="http://schemas.openxmlformats.org/drawingml/2006/main" noGrp="1"/>
          </p:cNvSpPr>
          <p:nvPr/>
        </p:nvSpPr>
        <p:spPr>
          <a:xfrm xmlns:a="http://schemas.openxmlformats.org/drawingml/2006/main">
            <a:off x="3343275" y="4972050"/>
            <a:ext cx="114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20,100</a:t>
            </a:r>
          </a:p>
        </p:txBody>
      </p:sp>
      <p:pic>
        <p:nvPicPr>
          <p:cNvPr id="145" name="Picture 131"/>
          <p:cNvPicPr>
            <a:picLocks xmlns:a="http://schemas.openxmlformats.org/drawingml/2006/main" noChangeAspect="1"/>
          </p:cNvPicPr>
          <p:nvPr/>
        </p:nvPicPr>
        <p:blipFill>
          <a:blip xmlns:r="http://schemas.openxmlformats.org/officeDocument/2006/relationships" xmlns:a="http://schemas.openxmlformats.org/drawingml/2006/main" r:embed="R47b863582fab4ad6"/>
          <a:stretch xmlns:a="http://schemas.openxmlformats.org/drawingml/2006/main"/>
        </p:blipFill>
        <p:spPr>
          <a:xfrm xmlns:a="http://schemas.openxmlformats.org/drawingml/2006/main">
            <a:off x="2887742" y="4905375"/>
            <a:ext cx="396716" cy="323850"/>
          </a:xfrm>
          <a:prstGeom xmlns:a="http://schemas.openxmlformats.org/drawingml/2006/main" prst="rect">
            <a:avLst/>
          </a:prstGeom>
        </p:spPr>
      </p:pic>
      <p:sp>
        <p:nvSpPr>
          <p:cNvPr id="59" name="editable-total-powered-on">
            <a:extLst xmlns:a="http://schemas.openxmlformats.org/drawingml/2006/main">
              <a:ext uri="{FF2B5EF4-FFF2-40B4-BE49-F238E27FC236}">
                <a16:creationId xmlns:a16="http://schemas.microsoft.com/office/drawing/2014/main" id="{8DF81488-E310-4D2F-9D0F-A65D6E2C5976}"/>
              </a:ext>
            </a:extLst>
          </p:cNvPr>
          <p:cNvSpPr>
            <a:spLocks xmlns:a="http://schemas.openxmlformats.org/drawingml/2006/main" noGrp="1"/>
          </p:cNvSpPr>
          <p:nvPr/>
        </p:nvSpPr>
        <p:spPr>
          <a:xfrm xmlns:a="http://schemas.openxmlformats.org/drawingml/2006/main">
            <a:off x="3286125" y="5229225"/>
            <a:ext cx="1285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18,400 Powered On</a:t>
            </a:r>
          </a:p>
        </p:txBody>
      </p:sp>
      <p:sp>
        <p:nvSpPr>
          <p:cNvPr id="60" name="editable-total-powered-off">
            <a:extLst xmlns:a="http://schemas.openxmlformats.org/drawingml/2006/main">
              <a:ext uri="{FF2B5EF4-FFF2-40B4-BE49-F238E27FC236}">
                <a16:creationId xmlns:a16="http://schemas.microsoft.com/office/drawing/2014/main" id="{51FD95D0-64F2-4723-B4EF-3731265C852D}"/>
              </a:ext>
            </a:extLst>
          </p:cNvPr>
          <p:cNvSpPr>
            <a:spLocks xmlns:a="http://schemas.openxmlformats.org/drawingml/2006/main" noGrp="1"/>
          </p:cNvSpPr>
          <p:nvPr/>
        </p:nvSpPr>
        <p:spPr>
          <a:xfrm xmlns:a="http://schemas.openxmlformats.org/drawingml/2006/main">
            <a:off x="3286125" y="5391150"/>
            <a:ext cx="1285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1,700 Powered Off</a:t>
            </a:r>
          </a:p>
        </p:txBody>
      </p:sp>
      <p:sp>
        <p:nvSpPr>
          <p:cNvPr id="61" name="Rectangle 60">
            <a:extLst xmlns:a="http://schemas.openxmlformats.org/drawingml/2006/main">
              <a:ext uri="{FF2B5EF4-FFF2-40B4-BE49-F238E27FC236}">
                <a16:creationId xmlns:a16="http://schemas.microsoft.com/office/drawing/2014/main" id="{9F4CC3CC-C30D-4DD3-B648-2B2F6B76145C}"/>
              </a:ext>
            </a:extLst>
          </p:cNvPr>
          <p:cNvSpPr>
            <a:spLocks xmlns:a="http://schemas.openxmlformats.org/drawingml/2006/main" noGrp="1"/>
          </p:cNvSpPr>
          <p:nvPr/>
        </p:nvSpPr>
        <p:spPr>
          <a:xfrm xmlns:a="http://schemas.openxmlformats.org/drawingml/2006/main">
            <a:off x="5743575" y="4714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vCPUs</a:t>
            </a:r>
          </a:p>
        </p:txBody>
      </p:sp>
      <p:sp>
        <p:nvSpPr>
          <p:cNvPr id="62" name="editable-total-vcpus">
            <a:extLst xmlns:a="http://schemas.openxmlformats.org/drawingml/2006/main">
              <a:ext uri="{FF2B5EF4-FFF2-40B4-BE49-F238E27FC236}">
                <a16:creationId xmlns:a16="http://schemas.microsoft.com/office/drawing/2014/main" id="{E325BBAA-CE89-47A2-A7F4-5A715EE06FCB}"/>
              </a:ext>
            </a:extLst>
          </p:cNvPr>
          <p:cNvSpPr>
            <a:spLocks xmlns:a="http://schemas.openxmlformats.org/drawingml/2006/main" noGrp="1"/>
          </p:cNvSpPr>
          <p:nvPr/>
        </p:nvSpPr>
        <p:spPr>
          <a:xfrm xmlns:a="http://schemas.openxmlformats.org/drawingml/2006/main">
            <a:off x="5743575" y="4972050"/>
            <a:ext cx="114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a:t>
            </a:r>
          </a:p>
        </p:txBody>
      </p:sp>
      <p:pic>
        <p:nvPicPr>
          <p:cNvPr id="150" name="Picture 136"/>
          <p:cNvPicPr>
            <a:picLocks xmlns:a="http://schemas.openxmlformats.org/drawingml/2006/main" noChangeAspect="1"/>
          </p:cNvPicPr>
          <p:nvPr/>
        </p:nvPicPr>
        <p:blipFill>
          <a:blip xmlns:r="http://schemas.openxmlformats.org/officeDocument/2006/relationships" xmlns:a="http://schemas.openxmlformats.org/drawingml/2006/main" r:embed="Rf9e1a5908b7848fd"/>
          <a:stretch xmlns:a="http://schemas.openxmlformats.org/drawingml/2006/main"/>
        </p:blipFill>
        <p:spPr>
          <a:xfrm xmlns:a="http://schemas.openxmlformats.org/drawingml/2006/main">
            <a:off x="5190898" y="4905375"/>
            <a:ext cx="362404" cy="323850"/>
          </a:xfrm>
          <a:prstGeom xmlns:a="http://schemas.openxmlformats.org/drawingml/2006/main" prst="rect">
            <a:avLst/>
          </a:prstGeom>
        </p:spPr>
      </p:pic>
      <p:sp>
        <p:nvSpPr>
          <p:cNvPr id="64" name="Rectangle 63">
            <a:extLst xmlns:a="http://schemas.openxmlformats.org/drawingml/2006/main">
              <a:ext uri="{FF2B5EF4-FFF2-40B4-BE49-F238E27FC236}">
                <a16:creationId xmlns:a16="http://schemas.microsoft.com/office/drawing/2014/main" id="{E2B940B4-7B6B-4837-992C-0BD50611487D}"/>
              </a:ext>
            </a:extLst>
          </p:cNvPr>
          <p:cNvSpPr>
            <a:spLocks xmlns:a="http://schemas.openxmlformats.org/drawingml/2006/main" noGrp="1"/>
          </p:cNvSpPr>
          <p:nvPr/>
        </p:nvSpPr>
        <p:spPr>
          <a:xfrm xmlns:a="http://schemas.openxmlformats.org/drawingml/2006/main">
            <a:off x="8048625" y="47148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vRAM (GB)</a:t>
            </a:r>
          </a:p>
        </p:txBody>
      </p:sp>
      <p:sp>
        <p:nvSpPr>
          <p:cNvPr id="65" name="editable-total-vram">
            <a:extLst xmlns:a="http://schemas.openxmlformats.org/drawingml/2006/main">
              <a:ext uri="{FF2B5EF4-FFF2-40B4-BE49-F238E27FC236}">
                <a16:creationId xmlns:a16="http://schemas.microsoft.com/office/drawing/2014/main" id="{56B58190-EEA5-42BC-BCEE-C9F09864DABB}"/>
              </a:ext>
            </a:extLst>
          </p:cNvPr>
          <p:cNvSpPr>
            <a:spLocks xmlns:a="http://schemas.openxmlformats.org/drawingml/2006/main" noGrp="1"/>
          </p:cNvSpPr>
          <p:nvPr/>
        </p:nvSpPr>
        <p:spPr>
          <a:xfrm xmlns:a="http://schemas.openxmlformats.org/drawingml/2006/main">
            <a:off x="8048625" y="4972050"/>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30,000</a:t>
            </a:r>
          </a:p>
        </p:txBody>
      </p:sp>
      <p:pic>
        <p:nvPicPr>
          <p:cNvPr id="153" name="Picture 139"/>
          <p:cNvPicPr>
            <a:picLocks xmlns:a="http://schemas.openxmlformats.org/drawingml/2006/main" noChangeAspect="1"/>
          </p:cNvPicPr>
          <p:nvPr/>
        </p:nvPicPr>
        <p:blipFill>
          <a:blip xmlns:r="http://schemas.openxmlformats.org/officeDocument/2006/relationships" xmlns:a="http://schemas.openxmlformats.org/drawingml/2006/main" r:embed="R9731e012ba1c4012"/>
          <a:stretch xmlns:a="http://schemas.openxmlformats.org/drawingml/2006/main"/>
        </p:blipFill>
        <p:spPr>
          <a:xfrm xmlns:a="http://schemas.openxmlformats.org/drawingml/2006/main">
            <a:off x="7477125" y="4907280"/>
            <a:ext cx="400050" cy="320040"/>
          </a:xfrm>
          <a:prstGeom xmlns:a="http://schemas.openxmlformats.org/drawingml/2006/main" prst="rect">
            <a:avLst/>
          </a:prstGeom>
        </p:spPr>
      </p:pic>
      <p:sp>
        <p:nvSpPr>
          <p:cNvPr id="67" name="Rectangle 66">
            <a:extLst xmlns:a="http://schemas.openxmlformats.org/drawingml/2006/main">
              <a:ext uri="{FF2B5EF4-FFF2-40B4-BE49-F238E27FC236}">
                <a16:creationId xmlns:a16="http://schemas.microsoft.com/office/drawing/2014/main" id="{BA2E8F4D-19EC-4045-BD00-D33C490582FA}"/>
              </a:ext>
            </a:extLst>
          </p:cNvPr>
          <p:cNvSpPr>
            <a:spLocks xmlns:a="http://schemas.openxmlformats.org/drawingml/2006/main" noGrp="1"/>
          </p:cNvSpPr>
          <p:nvPr/>
        </p:nvSpPr>
        <p:spPr>
          <a:xfrm xmlns:a="http://schemas.openxmlformats.org/drawingml/2006/main">
            <a:off x="10306050" y="4714875"/>
            <a:ext cx="1504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Storage (TB)</a:t>
            </a:r>
          </a:p>
        </p:txBody>
      </p:sp>
      <p:sp>
        <p:nvSpPr>
          <p:cNvPr id="68" name="editable-total-storage">
            <a:extLst xmlns:a="http://schemas.openxmlformats.org/drawingml/2006/main">
              <a:ext uri="{FF2B5EF4-FFF2-40B4-BE49-F238E27FC236}">
                <a16:creationId xmlns:a16="http://schemas.microsoft.com/office/drawing/2014/main" id="{53CE7ECC-6CED-4750-B06E-332986EBDB45}"/>
              </a:ext>
            </a:extLst>
          </p:cNvPr>
          <p:cNvSpPr>
            <a:spLocks xmlns:a="http://schemas.openxmlformats.org/drawingml/2006/main" noGrp="1"/>
          </p:cNvSpPr>
          <p:nvPr/>
        </p:nvSpPr>
        <p:spPr>
          <a:xfrm xmlns:a="http://schemas.openxmlformats.org/drawingml/2006/main">
            <a:off x="10306050" y="4972050"/>
            <a:ext cx="1504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210</a:t>
            </a:r>
          </a:p>
        </p:txBody>
      </p:sp>
      <p:pic>
        <p:nvPicPr>
          <p:cNvPr id="156" name="Picture 142"/>
          <p:cNvPicPr>
            <a:picLocks xmlns:a="http://schemas.openxmlformats.org/drawingml/2006/main" noChangeAspect="1"/>
          </p:cNvPicPr>
          <p:nvPr/>
        </p:nvPicPr>
        <p:blipFill>
          <a:blip xmlns:r="http://schemas.openxmlformats.org/officeDocument/2006/relationships" xmlns:a="http://schemas.openxmlformats.org/drawingml/2006/main" r:embed="R86ec83feff81494d"/>
          <a:stretch xmlns:a="http://schemas.openxmlformats.org/drawingml/2006/main"/>
        </p:blipFill>
        <p:spPr>
          <a:xfrm xmlns:a="http://schemas.openxmlformats.org/drawingml/2006/main">
            <a:off x="9960531" y="4905375"/>
            <a:ext cx="348139" cy="323850"/>
          </a:xfrm>
          <a:prstGeom xmlns:a="http://schemas.openxmlformats.org/drawingml/2006/main" prst="rect">
            <a:avLst/>
          </a:prstGeom>
        </p:spPr>
      </p:pic>
      <p:sp>
        <p:nvSpPr>
          <p:cNvPr id="70" name="Rounded Rectangle 69">
            <a:extLst xmlns:a="http://schemas.openxmlformats.org/drawingml/2006/main">
              <a:ext uri="{FF2B5EF4-FFF2-40B4-BE49-F238E27FC236}">
                <a16:creationId xmlns:a16="http://schemas.microsoft.com/office/drawing/2014/main" id="{B6E9607F-C2EC-477A-BAF6-C5E067CAF87D}"/>
              </a:ext>
            </a:extLst>
          </p:cNvPr>
          <p:cNvSpPr>
            <a:spLocks xmlns:a="http://schemas.openxmlformats.org/drawingml/2006/main" noGrp="1"/>
          </p:cNvSpPr>
          <p:nvPr/>
        </p:nvSpPr>
        <p:spPr>
          <a:xfrm xmlns:a="http://schemas.openxmlformats.org/drawingml/2006/main">
            <a:off x="400050" y="5734050"/>
            <a:ext cx="11334750" cy="4762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9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158" name="Picture 144"/>
          <p:cNvPicPr>
            <a:picLocks xmlns:a="http://schemas.openxmlformats.org/drawingml/2006/main" noChangeAspect="1"/>
          </p:cNvPicPr>
          <p:nvPr/>
        </p:nvPicPr>
        <p:blipFill>
          <a:blip xmlns:r="http://schemas.openxmlformats.org/officeDocument/2006/relationships" xmlns:a="http://schemas.openxmlformats.org/drawingml/2006/main" r:embed="R04bbde16f92d48a5"/>
          <a:stretch xmlns:a="http://schemas.openxmlformats.org/drawingml/2006/main"/>
        </p:blipFill>
        <p:spPr>
          <a:xfrm xmlns:a="http://schemas.openxmlformats.org/drawingml/2006/main">
            <a:off x="632416" y="5838825"/>
            <a:ext cx="316319" cy="323850"/>
          </a:xfrm>
          <a:prstGeom xmlns:a="http://schemas.openxmlformats.org/drawingml/2006/main" prst="rect">
            <a:avLst/>
          </a:prstGeom>
        </p:spPr>
      </p:pic>
      <p:sp>
        <p:nvSpPr>
          <p:cNvPr id="72" name="Rectangle 71">
            <a:extLst xmlns:a="http://schemas.openxmlformats.org/drawingml/2006/main">
              <a:ext uri="{FF2B5EF4-FFF2-40B4-BE49-F238E27FC236}">
                <a16:creationId xmlns:a16="http://schemas.microsoft.com/office/drawing/2014/main" id="{C928459C-9AA2-4970-83C9-66B7F0DEE5BA}"/>
              </a:ext>
            </a:extLst>
          </p:cNvPr>
          <p:cNvSpPr>
            <a:spLocks xmlns:a="http://schemas.openxmlformats.org/drawingml/2006/main" noGrp="1"/>
          </p:cNvSpPr>
          <p:nvPr/>
        </p:nvSpPr>
        <p:spPr>
          <a:xfrm xmlns:a="http://schemas.openxmlformats.org/drawingml/2006/main">
            <a:off x="1085850" y="59340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0" i="0">
                <a:solidFill>
                  <a:srgbClr val="111111"/>
                </a:solidFill>
                <a:latin typeface="Arial"/>
                <a:ea typeface="Arial"/>
                <a:cs typeface="Arial"/>
              </a:defRPr>
            </a:pPr>
            <a:r>
              <a:rPr sz="1050" b="0" i="0">
                <a:solidFill>
                  <a:srgbClr val="111111"/>
                </a:solidFill>
                <a:latin typeface="Arial"/>
                <a:ea typeface="Arial"/>
                <a:cs typeface="Arial"/>
              </a:rPr>
              <a:t>This sizing is based on the information available at the time of analysis and should be validated during the detailed design phase.</a:t>
            </a:r>
          </a:p>
        </p:txBody>
      </p:sp>
      <p:sp>
        <p:nvSpPr>
          <p:cNvPr id="73" name="Rectangle 72">
            <a:extLst xmlns:a="http://schemas.openxmlformats.org/drawingml/2006/main">
              <a:ext uri="{FF2B5EF4-FFF2-40B4-BE49-F238E27FC236}">
                <a16:creationId xmlns:a16="http://schemas.microsoft.com/office/drawing/2014/main" id="{B0FDF0E8-75F0-4E20-AB65-98949A664606}"/>
              </a:ext>
            </a:extLst>
          </p:cNvPr>
          <p:cNvSpPr>
            <a:spLocks xmlns:a="http://schemas.openxmlformats.org/drawingml/2006/main" noGrp="1"/>
          </p:cNvSpPr>
          <p:nvPr/>
        </p:nvSpPr>
        <p:spPr>
          <a:xfrm xmlns:a="http://schemas.openxmlformats.org/drawingml/2006/main">
            <a:off x="1133475" y="655320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5E5E5E"/>
                </a:solidFill>
                <a:latin typeface="Arial"/>
                <a:ea typeface="Arial"/>
                <a:cs typeface="Arial"/>
              </a:defRPr>
            </a:pPr>
            <a:r>
              <a:rPr sz="675" b="0" i="0">
                <a:solidFill>
                  <a:srgbClr val="5E5E5E"/>
                </a:solidFill>
                <a:latin typeface="Arial"/>
                <a:ea typeface="Arial"/>
                <a:cs typeface="Arial"/>
              </a:rPr>
              <a:t>Copyright © 2026, Oracle and/or its affiliates | Confidential: Internal/Restricted/Highly Restricted</a:t>
            </a:r>
          </a:p>
        </p:txBody>
      </p:sp>
      <p:pic>
        <p:nvPicPr>
          <p:cNvPr id="161" name="Picture 147"/>
          <p:cNvPicPr>
            <a:picLocks xmlns:a="http://schemas.openxmlformats.org/drawingml/2006/main" noChangeAspect="1"/>
          </p:cNvPicPr>
          <p:nvPr/>
        </p:nvPicPr>
        <p:blipFill>
          <a:blip xmlns:r="http://schemas.openxmlformats.org/officeDocument/2006/relationships" xmlns:a="http://schemas.openxmlformats.org/drawingml/2006/main" r:embed="R3bafde2e92724ce3"/>
          <a:stretch xmlns:a="http://schemas.openxmlformats.org/drawingml/2006/main"/>
        </p:blipFill>
        <p:spPr>
          <a:xfrm xmlns:a="http://schemas.openxmlformats.org/drawingml/2006/main">
            <a:off x="11382375" y="6459855"/>
            <a:ext cx="419100" cy="396240"/>
          </a:xfrm>
          <a:prstGeom xmlns:a="http://schemas.openxmlformats.org/drawingml/2006/main" prst="rect">
            <a:avLst/>
          </a:prstGeom>
        </p:spPr>
      </p:pic>
    </p:spTree>
    <p:extLst>
      <p:ext uri="{BB962C8B-B14F-4D97-AF65-F5344CB8AC3E}">
        <p14:creationId xmlns:p14="http://schemas.microsoft.com/office/powerpoint/2010/main" val="1621222433"/>
      </p:ext>
    </p:extLst>
  </p:cSld>
</p:sld>
</file>

<file path=ppt/slides/slide5.xml><?xml version="1.0" encoding="utf-8"?>
<p:sld xmlns:p="http://schemas.openxmlformats.org/presentationml/2006/main">
  <p:cSld>
    <p:bg>
      <p:bgPr>
        <a:solidFill xmlns:a="http://schemas.openxmlformats.org/drawingml/2006/main">
          <a:srgbClr val="FCFCFC">
            <a:alpha val="96863"/>
          </a:srgbClr>
        </a:solidFill>
      </p:bgPr>
    </p:bg>
    <p:spTree>
      <p:nvGrpSpPr>
        <p:cNvPr id="1" name=""/>
        <p:cNvGrpSpPr/>
        <p:nvPr/>
      </p:nvGrpSpPr>
      <p:grpSpPr>
        <a:xfrm xmlns:a="http://schemas.openxmlformats.org/drawingml/2006/main"/>
      </p:grpSpPr>
      <p:sp>
        <p:nvSpPr>
          <p:cNvPr id="129" name="Oval 128">
            <a:extLst xmlns:a="http://schemas.openxmlformats.org/drawingml/2006/main">
              <a:ext uri="{FF2B5EF4-FFF2-40B4-BE49-F238E27FC236}">
                <a16:creationId xmlns:a16="http://schemas.microsoft.com/office/drawing/2014/main" id="{E3383242-23DA-46A6-B69A-C9B194F63597}"/>
              </a:ext>
            </a:extLst>
          </p:cNvPr>
          <p:cNvSpPr>
            <a:spLocks xmlns:a="http://schemas.openxmlformats.org/drawingml/2006/main" noGrp="1"/>
          </p:cNvSpPr>
          <p:nvPr/>
        </p:nvSpPr>
        <p:spPr>
          <a:xfrm xmlns:a="http://schemas.openxmlformats.org/drawingml/2006/main">
            <a:off x="323850" y="1095375"/>
            <a:ext cx="38100" cy="38100"/>
          </a:xfrm>
          <a:prstGeom xmlns:a="http://schemas.openxmlformats.org/drawingml/2006/main" prst="ellipse">
            <a:avLst/>
          </a:prstGeom>
          <a:solidFill xmlns:a="http://schemas.openxmlformats.org/drawingml/2006/main">
            <a:srgbClr val="ECEEE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D1AA4158-3819-4612-B178-D4C869ABECDD}"/>
              </a:ext>
            </a:extLst>
          </p:cNvPr>
          <p:cNvSpPr>
            <a:spLocks xmlns:a="http://schemas.openxmlformats.org/drawingml/2006/main" noGrp="1"/>
          </p:cNvSpPr>
          <p:nvPr/>
        </p:nvSpPr>
        <p:spPr>
          <a:xfrm xmlns:a="http://schemas.openxmlformats.org/drawingml/2006/main">
            <a:off x="4000500" y="762000"/>
            <a:ext cx="28575" cy="28575"/>
          </a:xfrm>
          <a:prstGeom xmlns:a="http://schemas.openxmlformats.org/drawingml/2006/main" prst="ellipse">
            <a:avLst/>
          </a:prstGeom>
          <a:solidFill xmlns:a="http://schemas.openxmlformats.org/drawingml/2006/main">
            <a:srgbClr val="ECEEE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1F78BA42-2E01-4C11-94BB-C3EEC896DC7D}"/>
              </a:ext>
            </a:extLst>
          </p:cNvPr>
          <p:cNvSpPr>
            <a:spLocks xmlns:a="http://schemas.openxmlformats.org/drawingml/2006/main" noGrp="1"/>
          </p:cNvSpPr>
          <p:nvPr/>
        </p:nvSpPr>
        <p:spPr>
          <a:xfrm xmlns:a="http://schemas.openxmlformats.org/drawingml/2006/main">
            <a:off x="6191250" y="1076325"/>
            <a:ext cx="28575" cy="28575"/>
          </a:xfrm>
          <a:prstGeom xmlns:a="http://schemas.openxmlformats.org/drawingml/2006/main" prst="ellipse">
            <a:avLst/>
          </a:prstGeom>
          <a:solidFill xmlns:a="http://schemas.openxmlformats.org/drawingml/2006/main">
            <a:srgbClr val="ECEEE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195BCA4D-76EE-4CB4-9F34-9212444DE05B}"/>
              </a:ext>
            </a:extLst>
          </p:cNvPr>
          <p:cNvSpPr>
            <a:spLocks xmlns:a="http://schemas.openxmlformats.org/drawingml/2006/main" noGrp="1"/>
          </p:cNvSpPr>
          <p:nvPr/>
        </p:nvSpPr>
        <p:spPr>
          <a:xfrm xmlns:a="http://schemas.openxmlformats.org/drawingml/2006/main">
            <a:off x="9382125" y="1133475"/>
            <a:ext cx="38100" cy="38100"/>
          </a:xfrm>
          <a:prstGeom xmlns:a="http://schemas.openxmlformats.org/drawingml/2006/main" prst="ellipse">
            <a:avLst/>
          </a:prstGeom>
          <a:solidFill xmlns:a="http://schemas.openxmlformats.org/drawingml/2006/main">
            <a:srgbClr val="ECEEE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A7A2BF83-A03F-455D-89F3-946DF6081949}"/>
              </a:ext>
            </a:extLst>
          </p:cNvPr>
          <p:cNvSpPr>
            <a:spLocks xmlns:a="http://schemas.openxmlformats.org/drawingml/2006/main" noGrp="1"/>
          </p:cNvSpPr>
          <p:nvPr/>
        </p:nvSpPr>
        <p:spPr>
          <a:xfrm xmlns:a="http://schemas.openxmlformats.org/drawingml/2006/main">
            <a:off x="11258550" y="762000"/>
            <a:ext cx="28575" cy="28575"/>
          </a:xfrm>
          <a:prstGeom xmlns:a="http://schemas.openxmlformats.org/drawingml/2006/main" prst="ellipse">
            <a:avLst/>
          </a:prstGeom>
          <a:solidFill xmlns:a="http://schemas.openxmlformats.org/drawingml/2006/main">
            <a:srgbClr val="ECEEE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C00AC448-2219-42D9-9279-8BA1776AA44D}"/>
              </a:ext>
            </a:extLst>
          </p:cNvPr>
          <p:cNvSpPr>
            <a:spLocks xmlns:a="http://schemas.openxmlformats.org/drawingml/2006/main" noGrp="1"/>
          </p:cNvSpPr>
          <p:nvPr/>
        </p:nvSpPr>
        <p:spPr>
          <a:xfrm xmlns:a="http://schemas.openxmlformats.org/drawingml/2006/main">
            <a:off x="11944350" y="1257300"/>
            <a:ext cx="38100" cy="38100"/>
          </a:xfrm>
          <a:prstGeom xmlns:a="http://schemas.openxmlformats.org/drawingml/2006/main" prst="ellipse">
            <a:avLst/>
          </a:prstGeom>
          <a:solidFill xmlns:a="http://schemas.openxmlformats.org/drawingml/2006/main">
            <a:srgbClr val="ECEEE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20708F08-7166-4CD8-BA7D-2CD39983DE39}"/>
              </a:ext>
            </a:extLst>
          </p:cNvPr>
          <p:cNvSpPr>
            <a:spLocks xmlns:a="http://schemas.openxmlformats.org/drawingml/2006/main" noGrp="1"/>
          </p:cNvSpPr>
          <p:nvPr/>
        </p:nvSpPr>
        <p:spPr>
          <a:xfrm xmlns:a="http://schemas.openxmlformats.org/drawingml/2006/main">
            <a:off x="12068175" y="5295900"/>
            <a:ext cx="28575" cy="28575"/>
          </a:xfrm>
          <a:prstGeom xmlns:a="http://schemas.openxmlformats.org/drawingml/2006/main" prst="ellipse">
            <a:avLst/>
          </a:prstGeom>
          <a:solidFill xmlns:a="http://schemas.openxmlformats.org/drawingml/2006/main">
            <a:srgbClr val="ECEEE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4DDA9D78-00AF-4A50-8213-78720BD73522}"/>
              </a:ext>
            </a:extLst>
          </p:cNvPr>
          <p:cNvSpPr>
            <a:spLocks xmlns:a="http://schemas.openxmlformats.org/drawingml/2006/main" noGrp="1"/>
          </p:cNvSpPr>
          <p:nvPr/>
        </p:nvSpPr>
        <p:spPr>
          <a:xfrm xmlns:a="http://schemas.openxmlformats.org/drawingml/2006/main">
            <a:off x="276225" y="409575"/>
            <a:ext cx="685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3225" b="1" i="0">
                <a:solidFill>
                  <a:srgbClr val="003B25"/>
                </a:solidFill>
                <a:latin typeface="Arial"/>
                <a:ea typeface="Arial"/>
                <a:cs typeface="Arial"/>
              </a:defRPr>
            </a:pPr>
            <a:r>
              <a:rPr sz="3225" b="1" i="0">
                <a:solidFill>
                  <a:srgbClr val="003B25"/>
                </a:solidFill>
                <a:latin typeface="Arial"/>
                <a:ea typeface="Arial"/>
                <a:cs typeface="Arial"/>
              </a:rPr>
              <a:t>Infrastructure Sizing Summary</a:t>
            </a:r>
          </a:p>
        </p:txBody>
      </p:sp>
      <p:sp>
        <p:nvSpPr>
          <p:cNvPr id="9" name="Rectangle 8">
            <a:extLst xmlns:a="http://schemas.openxmlformats.org/drawingml/2006/main">
              <a:ext uri="{FF2B5EF4-FFF2-40B4-BE49-F238E27FC236}">
                <a16:creationId xmlns:a16="http://schemas.microsoft.com/office/drawing/2014/main" id="{48D6B209-7E38-46B6-BCC3-9C9317B3DF18}"/>
              </a:ext>
            </a:extLst>
          </p:cNvPr>
          <p:cNvSpPr>
            <a:spLocks xmlns:a="http://schemas.openxmlformats.org/drawingml/2006/main" noGrp="1"/>
          </p:cNvSpPr>
          <p:nvPr/>
        </p:nvSpPr>
        <p:spPr>
          <a:xfrm xmlns:a="http://schemas.openxmlformats.org/drawingml/2006/main">
            <a:off x="257175" y="933450"/>
            <a:ext cx="428625"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71" name="Picture 137"/>
          <p:cNvPicPr>
            <a:picLocks xmlns:a="http://schemas.openxmlformats.org/drawingml/2006/main" noChangeAspect="1"/>
          </p:cNvPicPr>
          <p:nvPr/>
        </p:nvPicPr>
        <p:blipFill>
          <a:blip xmlns:r="http://schemas.openxmlformats.org/officeDocument/2006/relationships" xmlns:a="http://schemas.openxmlformats.org/drawingml/2006/main" r:embed="Re725cc715e914039"/>
          <a:stretch xmlns:a="http://schemas.openxmlformats.org/drawingml/2006/main"/>
        </p:blipFill>
        <p:spPr>
          <a:xfrm xmlns:a="http://schemas.openxmlformats.org/drawingml/2006/main">
            <a:off x="9662432" y="333375"/>
            <a:ext cx="2334986" cy="209550"/>
          </a:xfrm>
          <a:prstGeom xmlns:a="http://schemas.openxmlformats.org/drawingml/2006/main" prst="rect">
            <a:avLst/>
          </a:prstGeom>
        </p:spPr>
      </p:pic>
      <p:sp>
        <p:nvSpPr>
          <p:cNvPr id="11" name="Rounded Rectangle 10">
            <a:extLst xmlns:a="http://schemas.openxmlformats.org/drawingml/2006/main">
              <a:ext uri="{FF2B5EF4-FFF2-40B4-BE49-F238E27FC236}">
                <a16:creationId xmlns:a16="http://schemas.microsoft.com/office/drawing/2014/main" id="{B69065D6-8CB3-4402-8FBE-F2A2518B05C7}"/>
              </a:ext>
            </a:extLst>
          </p:cNvPr>
          <p:cNvSpPr>
            <a:spLocks xmlns:a="http://schemas.openxmlformats.org/drawingml/2006/main" noGrp="1"/>
          </p:cNvSpPr>
          <p:nvPr/>
        </p:nvSpPr>
        <p:spPr>
          <a:xfrm xmlns:a="http://schemas.openxmlformats.org/drawingml/2006/main">
            <a:off x="257175" y="1266825"/>
            <a:ext cx="4648200" cy="3638550"/>
          </a:xfrm>
          <a:prstGeom xmlns:a="http://schemas.openxmlformats.org/drawingml/2006/main" prst="roundRect">
            <a:avLst>
              <a:gd name="adj" fmla="val 1832"/>
            </a:avLst>
          </a:prstGeom>
          <a:solidFill xmlns:a="http://schemas.openxmlformats.org/drawingml/2006/main">
            <a:srgbClr val="FFFFFF"/>
          </a:solidFill>
          <a:ln xmlns:a="http://schemas.openxmlformats.org/drawingml/2006/main" w="9525">
            <a:solidFill>
              <a:srgbClr val="DADF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2" name="Rounded Rectangle 11">
            <a:extLst xmlns:a="http://schemas.openxmlformats.org/drawingml/2006/main">
              <a:ext uri="{FF2B5EF4-FFF2-40B4-BE49-F238E27FC236}">
                <a16:creationId xmlns:a16="http://schemas.microsoft.com/office/drawing/2014/main" id="{21F971BB-E25C-4381-8570-9230EFB629A9}"/>
              </a:ext>
            </a:extLst>
          </p:cNvPr>
          <p:cNvSpPr>
            <a:spLocks xmlns:a="http://schemas.openxmlformats.org/drawingml/2006/main" noGrp="1"/>
          </p:cNvSpPr>
          <p:nvPr/>
        </p:nvSpPr>
        <p:spPr>
          <a:xfrm xmlns:a="http://schemas.openxmlformats.org/drawingml/2006/main">
            <a:off x="257175" y="1266825"/>
            <a:ext cx="4648200" cy="381000"/>
          </a:xfrm>
          <a:prstGeom xmlns:a="http://schemas.openxmlformats.org/drawingml/2006/main" prst="roundRect">
            <a:avLst>
              <a:gd name="adj" fmla="val 17500"/>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2B6A5798-28A6-4413-942A-4467D978F9C7}"/>
              </a:ext>
            </a:extLst>
          </p:cNvPr>
          <p:cNvSpPr>
            <a:spLocks xmlns:a="http://schemas.openxmlformats.org/drawingml/2006/main" noGrp="1"/>
          </p:cNvSpPr>
          <p:nvPr/>
        </p:nvSpPr>
        <p:spPr>
          <a:xfrm xmlns:a="http://schemas.openxmlformats.org/drawingml/2006/main">
            <a:off x="257175" y="1571625"/>
            <a:ext cx="4648200" cy="76200"/>
          </a:xfrm>
          <a:prstGeom xmlns:a="http://schemas.openxmlformats.org/drawingml/2006/main" prst="rect">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Oval 13">
            <a:extLst xmlns:a="http://schemas.openxmlformats.org/drawingml/2006/main">
              <a:ext uri="{FF2B5EF4-FFF2-40B4-BE49-F238E27FC236}">
                <a16:creationId xmlns:a16="http://schemas.microsoft.com/office/drawing/2014/main" id="{3A0CFA90-F275-4D04-8EA8-E9AFF77CDC5A}"/>
              </a:ext>
            </a:extLst>
          </p:cNvPr>
          <p:cNvSpPr>
            <a:spLocks xmlns:a="http://schemas.openxmlformats.org/drawingml/2006/main" noGrp="1"/>
          </p:cNvSpPr>
          <p:nvPr/>
        </p:nvSpPr>
        <p:spPr>
          <a:xfrm xmlns:a="http://schemas.openxmlformats.org/drawingml/2006/main">
            <a:off x="419100" y="1343025"/>
            <a:ext cx="238125" cy="23812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A2B78E39-37AC-42D5-9E98-C853A9A0CCEA}"/>
              </a:ext>
            </a:extLst>
          </p:cNvPr>
          <p:cNvSpPr>
            <a:spLocks xmlns:a="http://schemas.openxmlformats.org/drawingml/2006/main" noGrp="1"/>
          </p:cNvSpPr>
          <p:nvPr/>
        </p:nvSpPr>
        <p:spPr>
          <a:xfrm xmlns:a="http://schemas.openxmlformats.org/drawingml/2006/main">
            <a:off x="476250" y="1371600"/>
            <a:ext cx="1238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003B25"/>
                </a:solidFill>
                <a:latin typeface="Arial"/>
                <a:ea typeface="Arial"/>
                <a:cs typeface="Arial"/>
              </a:defRPr>
            </a:pPr>
            <a:r>
              <a:rPr sz="1050" b="1" i="0">
                <a:solidFill>
                  <a:srgbClr val="003B25"/>
                </a:solidFill>
                <a:latin typeface="Arial"/>
                <a:ea typeface="Arial"/>
                <a:cs typeface="Arial"/>
              </a:rPr>
              <a:t>1</a:t>
            </a:r>
          </a:p>
        </p:txBody>
      </p:sp>
      <p:sp>
        <p:nvSpPr>
          <p:cNvPr id="16" name="Rectangle 15">
            <a:extLst xmlns:a="http://schemas.openxmlformats.org/drawingml/2006/main">
              <a:ext uri="{FF2B5EF4-FFF2-40B4-BE49-F238E27FC236}">
                <a16:creationId xmlns:a16="http://schemas.microsoft.com/office/drawing/2014/main" id="{CC08DF18-6DE6-4FCA-A0C0-0C82C0B7F802}"/>
              </a:ext>
            </a:extLst>
          </p:cNvPr>
          <p:cNvSpPr>
            <a:spLocks xmlns:a="http://schemas.openxmlformats.org/drawingml/2006/main" noGrp="1"/>
          </p:cNvSpPr>
          <p:nvPr/>
        </p:nvSpPr>
        <p:spPr>
          <a:xfrm xmlns:a="http://schemas.openxmlformats.org/drawingml/2006/main">
            <a:off x="771525" y="13906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ORACLE CLOUD VMWARE SOLUTION (OCVS)</a:t>
            </a:r>
          </a:p>
        </p:txBody>
      </p:sp>
      <p:pic>
        <p:nvPicPr>
          <p:cNvPr id="178" name="Picture 144"/>
          <p:cNvPicPr>
            <a:picLocks xmlns:a="http://schemas.openxmlformats.org/drawingml/2006/main" noChangeAspect="1"/>
          </p:cNvPicPr>
          <p:nvPr/>
        </p:nvPicPr>
        <p:blipFill>
          <a:blip xmlns:r="http://schemas.openxmlformats.org/officeDocument/2006/relationships" xmlns:a="http://schemas.openxmlformats.org/drawingml/2006/main" r:embed="R406e174dbd964d8b"/>
          <a:stretch xmlns:a="http://schemas.openxmlformats.org/drawingml/2006/main"/>
        </p:blipFill>
        <p:spPr>
          <a:xfrm xmlns:a="http://schemas.openxmlformats.org/drawingml/2006/main">
            <a:off x="473242" y="1885950"/>
            <a:ext cx="272716" cy="304800"/>
          </a:xfrm>
          <a:prstGeom xmlns:a="http://schemas.openxmlformats.org/drawingml/2006/main" prst="rect">
            <a:avLst/>
          </a:prstGeom>
        </p:spPr>
      </p:pic>
      <p:sp>
        <p:nvSpPr>
          <p:cNvPr id="18" name="Rectangle 17">
            <a:extLst xmlns:a="http://schemas.openxmlformats.org/drawingml/2006/main">
              <a:ext uri="{FF2B5EF4-FFF2-40B4-BE49-F238E27FC236}">
                <a16:creationId xmlns:a16="http://schemas.microsoft.com/office/drawing/2014/main" id="{4A5BA3EA-A339-462A-B284-EFB9B5A22B56}"/>
              </a:ext>
            </a:extLst>
          </p:cNvPr>
          <p:cNvSpPr>
            <a:spLocks xmlns:a="http://schemas.openxmlformats.org/drawingml/2006/main" noGrp="1"/>
          </p:cNvSpPr>
          <p:nvPr/>
        </p:nvSpPr>
        <p:spPr>
          <a:xfrm xmlns:a="http://schemas.openxmlformats.org/drawingml/2006/main">
            <a:off x="885825" y="1952625"/>
            <a:ext cx="1238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111111"/>
                </a:solidFill>
                <a:latin typeface="Arial"/>
                <a:ea typeface="Arial"/>
                <a:cs typeface="Arial"/>
              </a:defRPr>
            </a:pPr>
            <a:r>
              <a:rPr sz="1200" b="1" i="0">
                <a:solidFill>
                  <a:srgbClr val="111111"/>
                </a:solidFill>
                <a:latin typeface="Arial"/>
                <a:ea typeface="Arial"/>
                <a:cs typeface="Arial"/>
              </a:rPr>
              <a:t>SDDCs</a:t>
            </a:r>
          </a:p>
        </p:txBody>
      </p:sp>
      <p:sp>
        <p:nvSpPr>
          <p:cNvPr id="19" name="editable-ocvs-sddcs">
            <a:extLst xmlns:a="http://schemas.openxmlformats.org/drawingml/2006/main">
              <a:ext uri="{FF2B5EF4-FFF2-40B4-BE49-F238E27FC236}">
                <a16:creationId xmlns:a16="http://schemas.microsoft.com/office/drawing/2014/main" id="{108ACD2F-EA65-448D-A447-C5A15E3D9F27}"/>
              </a:ext>
            </a:extLst>
          </p:cNvPr>
          <p:cNvSpPr>
            <a:spLocks xmlns:a="http://schemas.openxmlformats.org/drawingml/2006/main" noGrp="1"/>
          </p:cNvSpPr>
          <p:nvPr/>
        </p:nvSpPr>
        <p:spPr>
          <a:xfrm xmlns:a="http://schemas.openxmlformats.org/drawingml/2006/main">
            <a:off x="2000250" y="195262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111111"/>
                </a:solidFill>
                <a:latin typeface="Arial"/>
                <a:ea typeface="Arial"/>
                <a:cs typeface="Arial"/>
              </a:defRPr>
            </a:pPr>
            <a:r>
              <a:rPr sz="1125" b="1" i="0">
                <a:solidFill>
                  <a:srgbClr val="111111"/>
                </a:solidFill>
                <a:latin typeface="Arial"/>
                <a:ea typeface="Arial"/>
                <a:cs typeface="Arial"/>
              </a:rPr>
              <a:t>1</a:t>
            </a:r>
          </a:p>
        </p:txBody>
      </p:sp>
      <p:pic>
        <p:nvPicPr>
          <p:cNvPr id="181" name="Picture 147"/>
          <p:cNvPicPr>
            <a:picLocks xmlns:a="http://schemas.openxmlformats.org/drawingml/2006/main" noChangeAspect="1"/>
          </p:cNvPicPr>
          <p:nvPr/>
        </p:nvPicPr>
        <p:blipFill>
          <a:blip xmlns:r="http://schemas.openxmlformats.org/officeDocument/2006/relationships" xmlns:a="http://schemas.openxmlformats.org/drawingml/2006/main" r:embed="Rd434e6025911429e"/>
          <a:stretch xmlns:a="http://schemas.openxmlformats.org/drawingml/2006/main"/>
        </p:blipFill>
        <p:spPr>
          <a:xfrm xmlns:a="http://schemas.openxmlformats.org/drawingml/2006/main">
            <a:off x="457200" y="2402807"/>
            <a:ext cx="304800" cy="280737"/>
          </a:xfrm>
          <a:prstGeom xmlns:a="http://schemas.openxmlformats.org/drawingml/2006/main" prst="rect">
            <a:avLst/>
          </a:prstGeom>
        </p:spPr>
      </p:pic>
      <p:sp>
        <p:nvSpPr>
          <p:cNvPr id="21" name="Rectangle 20">
            <a:extLst xmlns:a="http://schemas.openxmlformats.org/drawingml/2006/main">
              <a:ext uri="{FF2B5EF4-FFF2-40B4-BE49-F238E27FC236}">
                <a16:creationId xmlns:a16="http://schemas.microsoft.com/office/drawing/2014/main" id="{AB32466A-E288-4430-A88B-C54CD9CC05E7}"/>
              </a:ext>
            </a:extLst>
          </p:cNvPr>
          <p:cNvSpPr>
            <a:spLocks xmlns:a="http://schemas.openxmlformats.org/drawingml/2006/main" noGrp="1"/>
          </p:cNvSpPr>
          <p:nvPr/>
        </p:nvSpPr>
        <p:spPr>
          <a:xfrm xmlns:a="http://schemas.openxmlformats.org/drawingml/2006/main">
            <a:off x="885825" y="2457450"/>
            <a:ext cx="1238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111111"/>
                </a:solidFill>
                <a:latin typeface="Arial"/>
                <a:ea typeface="Arial"/>
                <a:cs typeface="Arial"/>
              </a:defRPr>
            </a:pPr>
            <a:r>
              <a:rPr sz="1200" b="1" i="0">
                <a:solidFill>
                  <a:srgbClr val="111111"/>
                </a:solidFill>
                <a:latin typeface="Arial"/>
                <a:ea typeface="Arial"/>
                <a:cs typeface="Arial"/>
              </a:rPr>
              <a:t>Clusters</a:t>
            </a:r>
          </a:p>
        </p:txBody>
      </p:sp>
      <p:sp>
        <p:nvSpPr>
          <p:cNvPr id="22" name="editable-ocvs-clusters">
            <a:extLst xmlns:a="http://schemas.openxmlformats.org/drawingml/2006/main">
              <a:ext uri="{FF2B5EF4-FFF2-40B4-BE49-F238E27FC236}">
                <a16:creationId xmlns:a16="http://schemas.microsoft.com/office/drawing/2014/main" id="{B4977F52-CA26-412B-BC66-C11945AE22E1}"/>
              </a:ext>
            </a:extLst>
          </p:cNvPr>
          <p:cNvSpPr>
            <a:spLocks xmlns:a="http://schemas.openxmlformats.org/drawingml/2006/main" noGrp="1"/>
          </p:cNvSpPr>
          <p:nvPr/>
        </p:nvSpPr>
        <p:spPr>
          <a:xfrm xmlns:a="http://schemas.openxmlformats.org/drawingml/2006/main">
            <a:off x="2000250" y="2457450"/>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111111"/>
                </a:solidFill>
                <a:latin typeface="Arial"/>
                <a:ea typeface="Arial"/>
                <a:cs typeface="Arial"/>
              </a:defRPr>
            </a:pPr>
            <a:r>
              <a:rPr sz="1125" b="1" i="0">
                <a:solidFill>
                  <a:srgbClr val="111111"/>
                </a:solidFill>
                <a:latin typeface="Arial"/>
                <a:ea typeface="Arial"/>
                <a:cs typeface="Arial"/>
              </a:rPr>
              <a:t>1</a:t>
            </a:r>
          </a:p>
        </p:txBody>
      </p:sp>
      <p:pic>
        <p:nvPicPr>
          <p:cNvPr id="184" name="Picture 150"/>
          <p:cNvPicPr>
            <a:picLocks xmlns:a="http://schemas.openxmlformats.org/drawingml/2006/main" noChangeAspect="1"/>
          </p:cNvPicPr>
          <p:nvPr/>
        </p:nvPicPr>
        <p:blipFill>
          <a:blip xmlns:r="http://schemas.openxmlformats.org/officeDocument/2006/relationships" xmlns:a="http://schemas.openxmlformats.org/drawingml/2006/main" r:embed="R7e36f9deba6745d7"/>
          <a:stretch xmlns:a="http://schemas.openxmlformats.org/drawingml/2006/main"/>
        </p:blipFill>
        <p:spPr>
          <a:xfrm xmlns:a="http://schemas.openxmlformats.org/drawingml/2006/main">
            <a:off x="457200" y="2908300"/>
            <a:ext cx="304800" cy="279400"/>
          </a:xfrm>
          <a:prstGeom xmlns:a="http://schemas.openxmlformats.org/drawingml/2006/main" prst="rect">
            <a:avLst/>
          </a:prstGeom>
        </p:spPr>
      </p:pic>
      <p:sp>
        <p:nvSpPr>
          <p:cNvPr id="24" name="Rectangle 23">
            <a:extLst xmlns:a="http://schemas.openxmlformats.org/drawingml/2006/main">
              <a:ext uri="{FF2B5EF4-FFF2-40B4-BE49-F238E27FC236}">
                <a16:creationId xmlns:a16="http://schemas.microsoft.com/office/drawing/2014/main" id="{36988E29-D073-4DB8-86EF-131BF3B43367}"/>
              </a:ext>
            </a:extLst>
          </p:cNvPr>
          <p:cNvSpPr>
            <a:spLocks xmlns:a="http://schemas.openxmlformats.org/drawingml/2006/main" noGrp="1"/>
          </p:cNvSpPr>
          <p:nvPr/>
        </p:nvSpPr>
        <p:spPr>
          <a:xfrm xmlns:a="http://schemas.openxmlformats.org/drawingml/2006/main">
            <a:off x="885825" y="2962275"/>
            <a:ext cx="1238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111111"/>
                </a:solidFill>
                <a:latin typeface="Arial"/>
                <a:ea typeface="Arial"/>
                <a:cs typeface="Arial"/>
              </a:defRPr>
            </a:pPr>
            <a:r>
              <a:rPr sz="1200" b="1" i="0">
                <a:solidFill>
                  <a:srgbClr val="111111"/>
                </a:solidFill>
                <a:latin typeface="Arial"/>
                <a:ea typeface="Arial"/>
                <a:cs typeface="Arial"/>
              </a:rPr>
              <a:t>Hosts</a:t>
            </a:r>
          </a:p>
        </p:txBody>
      </p:sp>
      <p:sp>
        <p:nvSpPr>
          <p:cNvPr id="25" name="editable-ocvs-hosts">
            <a:extLst xmlns:a="http://schemas.openxmlformats.org/drawingml/2006/main">
              <a:ext uri="{FF2B5EF4-FFF2-40B4-BE49-F238E27FC236}">
                <a16:creationId xmlns:a16="http://schemas.microsoft.com/office/drawing/2014/main" id="{97429B91-1412-4346-BB3D-53706DDC1642}"/>
              </a:ext>
            </a:extLst>
          </p:cNvPr>
          <p:cNvSpPr>
            <a:spLocks xmlns:a="http://schemas.openxmlformats.org/drawingml/2006/main" noGrp="1"/>
          </p:cNvSpPr>
          <p:nvPr/>
        </p:nvSpPr>
        <p:spPr>
          <a:xfrm xmlns:a="http://schemas.openxmlformats.org/drawingml/2006/main">
            <a:off x="2000250" y="29622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111111"/>
                </a:solidFill>
                <a:latin typeface="Arial"/>
                <a:ea typeface="Arial"/>
                <a:cs typeface="Arial"/>
              </a:defRPr>
            </a:pPr>
            <a:r>
              <a:rPr sz="1125" b="1" i="0">
                <a:solidFill>
                  <a:srgbClr val="111111"/>
                </a:solidFill>
                <a:latin typeface="Arial"/>
                <a:ea typeface="Arial"/>
                <a:cs typeface="Arial"/>
              </a:rPr>
              <a:t>4</a:t>
            </a:r>
          </a:p>
        </p:txBody>
      </p:sp>
      <p:pic>
        <p:nvPicPr>
          <p:cNvPr id="187" name="Picture 153"/>
          <p:cNvPicPr>
            <a:picLocks xmlns:a="http://schemas.openxmlformats.org/drawingml/2006/main" noChangeAspect="1"/>
          </p:cNvPicPr>
          <p:nvPr/>
        </p:nvPicPr>
        <p:blipFill>
          <a:blip xmlns:r="http://schemas.openxmlformats.org/officeDocument/2006/relationships" xmlns:a="http://schemas.openxmlformats.org/drawingml/2006/main" r:embed="Rb1a0db9b14aa4e92"/>
          <a:stretch xmlns:a="http://schemas.openxmlformats.org/drawingml/2006/main"/>
        </p:blipFill>
        <p:spPr>
          <a:xfrm xmlns:a="http://schemas.openxmlformats.org/drawingml/2006/main">
            <a:off x="481263" y="3381375"/>
            <a:ext cx="256674" cy="304800"/>
          </a:xfrm>
          <a:prstGeom xmlns:a="http://schemas.openxmlformats.org/drawingml/2006/main" prst="rect">
            <a:avLst/>
          </a:prstGeom>
        </p:spPr>
      </p:pic>
      <p:sp>
        <p:nvSpPr>
          <p:cNvPr id="27" name="Rectangle 26">
            <a:extLst xmlns:a="http://schemas.openxmlformats.org/drawingml/2006/main">
              <a:ext uri="{FF2B5EF4-FFF2-40B4-BE49-F238E27FC236}">
                <a16:creationId xmlns:a16="http://schemas.microsoft.com/office/drawing/2014/main" id="{E3ACB4E7-0CE8-4B20-98F7-6BDA6BB1797B}"/>
              </a:ext>
            </a:extLst>
          </p:cNvPr>
          <p:cNvSpPr>
            <a:spLocks xmlns:a="http://schemas.openxmlformats.org/drawingml/2006/main" noGrp="1"/>
          </p:cNvSpPr>
          <p:nvPr/>
        </p:nvSpPr>
        <p:spPr>
          <a:xfrm xmlns:a="http://schemas.openxmlformats.org/drawingml/2006/main">
            <a:off x="885825" y="3448050"/>
            <a:ext cx="1238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111111"/>
                </a:solidFill>
                <a:latin typeface="Arial"/>
                <a:ea typeface="Arial"/>
                <a:cs typeface="Arial"/>
              </a:defRPr>
            </a:pPr>
            <a:r>
              <a:rPr sz="1200" b="1" i="0">
                <a:solidFill>
                  <a:srgbClr val="111111"/>
                </a:solidFill>
                <a:latin typeface="Arial"/>
                <a:ea typeface="Arial"/>
                <a:cs typeface="Arial"/>
              </a:rPr>
              <a:t>Shape</a:t>
            </a:r>
          </a:p>
        </p:txBody>
      </p:sp>
      <p:sp>
        <p:nvSpPr>
          <p:cNvPr id="28" name="editable-ocvs-shape">
            <a:extLst xmlns:a="http://schemas.openxmlformats.org/drawingml/2006/main">
              <a:ext uri="{FF2B5EF4-FFF2-40B4-BE49-F238E27FC236}">
                <a16:creationId xmlns:a16="http://schemas.microsoft.com/office/drawing/2014/main" id="{9D8CC9D9-1807-4F26-8DA1-415E07951845}"/>
              </a:ext>
            </a:extLst>
          </p:cNvPr>
          <p:cNvSpPr>
            <a:spLocks xmlns:a="http://schemas.openxmlformats.org/drawingml/2006/main" noGrp="1"/>
          </p:cNvSpPr>
          <p:nvPr/>
        </p:nvSpPr>
        <p:spPr>
          <a:xfrm xmlns:a="http://schemas.openxmlformats.org/drawingml/2006/main">
            <a:off x="2000250" y="3448050"/>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111111"/>
                </a:solidFill>
                <a:latin typeface="Arial"/>
                <a:ea typeface="Arial"/>
                <a:cs typeface="Arial"/>
              </a:defRPr>
            </a:pPr>
            <a:r>
              <a:rPr sz="1125" b="1" i="0">
                <a:solidFill>
                  <a:srgbClr val="111111"/>
                </a:solidFill>
                <a:latin typeface="Arial"/>
                <a:ea typeface="Arial"/>
                <a:cs typeface="Arial"/>
              </a:rPr>
              <a:t>AMD E4</a:t>
            </a:r>
          </a:p>
        </p:txBody>
      </p:sp>
      <p:pic>
        <p:nvPicPr>
          <p:cNvPr id="190" name="Picture 156"/>
          <p:cNvPicPr>
            <a:picLocks xmlns:a="http://schemas.openxmlformats.org/drawingml/2006/main" noChangeAspect="1"/>
          </p:cNvPicPr>
          <p:nvPr/>
        </p:nvPicPr>
        <p:blipFill>
          <a:blip xmlns:r="http://schemas.openxmlformats.org/officeDocument/2006/relationships" xmlns:a="http://schemas.openxmlformats.org/drawingml/2006/main" r:embed="Rb076077c916a4c24"/>
          <a:stretch xmlns:a="http://schemas.openxmlformats.org/drawingml/2006/main"/>
        </p:blipFill>
        <p:spPr>
          <a:xfrm xmlns:a="http://schemas.openxmlformats.org/drawingml/2006/main">
            <a:off x="476738" y="3886200"/>
            <a:ext cx="265723" cy="304800"/>
          </a:xfrm>
          <a:prstGeom xmlns:a="http://schemas.openxmlformats.org/drawingml/2006/main" prst="rect">
            <a:avLst/>
          </a:prstGeom>
        </p:spPr>
      </p:pic>
      <p:sp>
        <p:nvSpPr>
          <p:cNvPr id="30" name="Rectangle 29">
            <a:extLst xmlns:a="http://schemas.openxmlformats.org/drawingml/2006/main">
              <a:ext uri="{FF2B5EF4-FFF2-40B4-BE49-F238E27FC236}">
                <a16:creationId xmlns:a16="http://schemas.microsoft.com/office/drawing/2014/main" id="{EC6FC190-6BB8-4C0B-BAF8-7BB7B70C669D}"/>
              </a:ext>
            </a:extLst>
          </p:cNvPr>
          <p:cNvSpPr>
            <a:spLocks xmlns:a="http://schemas.openxmlformats.org/drawingml/2006/main" noGrp="1"/>
          </p:cNvSpPr>
          <p:nvPr/>
        </p:nvSpPr>
        <p:spPr>
          <a:xfrm xmlns:a="http://schemas.openxmlformats.org/drawingml/2006/main">
            <a:off x="885825" y="3952875"/>
            <a:ext cx="1238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111111"/>
                </a:solidFill>
                <a:latin typeface="Arial"/>
                <a:ea typeface="Arial"/>
                <a:cs typeface="Arial"/>
              </a:defRPr>
            </a:pPr>
            <a:r>
              <a:rPr sz="1200" b="1" i="0">
                <a:solidFill>
                  <a:srgbClr val="111111"/>
                </a:solidFill>
                <a:latin typeface="Arial"/>
                <a:ea typeface="Arial"/>
                <a:cs typeface="Arial"/>
              </a:rPr>
              <a:t>Storage</a:t>
            </a:r>
          </a:p>
        </p:txBody>
      </p:sp>
      <p:sp>
        <p:nvSpPr>
          <p:cNvPr id="31" name="editable-ocvs-storage">
            <a:extLst xmlns:a="http://schemas.openxmlformats.org/drawingml/2006/main">
              <a:ext uri="{FF2B5EF4-FFF2-40B4-BE49-F238E27FC236}">
                <a16:creationId xmlns:a16="http://schemas.microsoft.com/office/drawing/2014/main" id="{264E04E7-218E-483C-9381-5207BBDC43F8}"/>
              </a:ext>
            </a:extLst>
          </p:cNvPr>
          <p:cNvSpPr>
            <a:spLocks xmlns:a="http://schemas.openxmlformats.org/drawingml/2006/main" noGrp="1"/>
          </p:cNvSpPr>
          <p:nvPr/>
        </p:nvSpPr>
        <p:spPr>
          <a:xfrm xmlns:a="http://schemas.openxmlformats.org/drawingml/2006/main">
            <a:off x="2000250" y="3952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111111"/>
                </a:solidFill>
                <a:latin typeface="Arial"/>
                <a:ea typeface="Arial"/>
                <a:cs typeface="Arial"/>
              </a:defRPr>
            </a:pPr>
            <a:r>
              <a:rPr sz="1125" b="1" i="0">
                <a:solidFill>
                  <a:srgbClr val="111111"/>
                </a:solidFill>
                <a:latin typeface="Arial"/>
                <a:ea typeface="Arial"/>
                <a:cs typeface="Arial"/>
              </a:rPr>
              <a:t>200 TB</a:t>
            </a:r>
          </a:p>
        </p:txBody>
      </p:sp>
      <p:pic>
        <p:nvPicPr>
          <p:cNvPr id="193" name="Picture 159"/>
          <p:cNvPicPr>
            <a:picLocks xmlns:a="http://schemas.openxmlformats.org/drawingml/2006/main" noChangeAspect="1"/>
          </p:cNvPicPr>
          <p:nvPr/>
        </p:nvPicPr>
        <p:blipFill>
          <a:blip xmlns:r="http://schemas.openxmlformats.org/officeDocument/2006/relationships" xmlns:a="http://schemas.openxmlformats.org/drawingml/2006/main" r:embed="R121bbcf8b5154676"/>
          <a:stretch xmlns:a="http://schemas.openxmlformats.org/drawingml/2006/main"/>
        </p:blipFill>
        <p:spPr>
          <a:xfrm xmlns:a="http://schemas.openxmlformats.org/drawingml/2006/main">
            <a:off x="457200" y="4429125"/>
            <a:ext cx="304800" cy="228600"/>
          </a:xfrm>
          <a:prstGeom xmlns:a="http://schemas.openxmlformats.org/drawingml/2006/main" prst="rect">
            <a:avLst/>
          </a:prstGeom>
        </p:spPr>
      </p:pic>
      <p:sp>
        <p:nvSpPr>
          <p:cNvPr id="33" name="Rectangle 32">
            <a:extLst xmlns:a="http://schemas.openxmlformats.org/drawingml/2006/main">
              <a:ext uri="{FF2B5EF4-FFF2-40B4-BE49-F238E27FC236}">
                <a16:creationId xmlns:a16="http://schemas.microsoft.com/office/drawing/2014/main" id="{F6E44B37-31DD-462F-A08C-A4F05588620E}"/>
              </a:ext>
            </a:extLst>
          </p:cNvPr>
          <p:cNvSpPr>
            <a:spLocks xmlns:a="http://schemas.openxmlformats.org/drawingml/2006/main" noGrp="1"/>
          </p:cNvSpPr>
          <p:nvPr/>
        </p:nvSpPr>
        <p:spPr>
          <a:xfrm xmlns:a="http://schemas.openxmlformats.org/drawingml/2006/main">
            <a:off x="885825" y="4457700"/>
            <a:ext cx="1238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111111"/>
                </a:solidFill>
                <a:latin typeface="Arial"/>
                <a:ea typeface="Arial"/>
                <a:cs typeface="Arial"/>
              </a:defRPr>
            </a:pPr>
            <a:r>
              <a:rPr sz="1200" b="1" i="0">
                <a:solidFill>
                  <a:srgbClr val="111111"/>
                </a:solidFill>
                <a:latin typeface="Arial"/>
                <a:ea typeface="Arial"/>
                <a:cs typeface="Arial"/>
              </a:rPr>
              <a:t>Storage Type</a:t>
            </a:r>
          </a:p>
        </p:txBody>
      </p:sp>
      <p:sp>
        <p:nvSpPr>
          <p:cNvPr id="34" name="editable-ocvs-storage-type">
            <a:extLst xmlns:a="http://schemas.openxmlformats.org/drawingml/2006/main">
              <a:ext uri="{FF2B5EF4-FFF2-40B4-BE49-F238E27FC236}">
                <a16:creationId xmlns:a16="http://schemas.microsoft.com/office/drawing/2014/main" id="{79F817C3-62F6-4BF8-BAC5-06DF7F72BFCA}"/>
              </a:ext>
            </a:extLst>
          </p:cNvPr>
          <p:cNvSpPr>
            <a:spLocks xmlns:a="http://schemas.openxmlformats.org/drawingml/2006/main" noGrp="1"/>
          </p:cNvSpPr>
          <p:nvPr/>
        </p:nvSpPr>
        <p:spPr>
          <a:xfrm xmlns:a="http://schemas.openxmlformats.org/drawingml/2006/main">
            <a:off x="1914525" y="4457700"/>
            <a:ext cx="914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88" b="1" i="0">
                <a:solidFill>
                  <a:srgbClr val="111111"/>
                </a:solidFill>
                <a:latin typeface="Arial"/>
                <a:ea typeface="Arial"/>
                <a:cs typeface="Arial"/>
              </a:defRPr>
            </a:pPr>
            <a:r>
              <a:rPr sz="788" b="1" i="0">
                <a:solidFill>
                  <a:srgbClr val="111111"/>
                </a:solidFill>
                <a:latin typeface="Arial"/>
                <a:ea typeface="Arial"/>
                <a:cs typeface="Arial"/>
              </a:rPr>
              <a:t>OCI Block Volume</a:t>
            </a:r>
          </a:p>
        </p:txBody>
      </p:sp>
      <p:sp>
        <p:nvSpPr>
          <p:cNvPr id="35" name="Straight Connector 34">
            <a:extLst xmlns:a="http://schemas.openxmlformats.org/drawingml/2006/main">
              <a:ext uri="{FF2B5EF4-FFF2-40B4-BE49-F238E27FC236}">
                <a16:creationId xmlns:a16="http://schemas.microsoft.com/office/drawing/2014/main" id="{C197FF50-63FB-4B6D-B77D-6204FCE76B21}"/>
              </a:ext>
            </a:extLst>
          </p:cNvPr>
          <p:cNvSpPr>
            <a:spLocks xmlns:a="http://schemas.openxmlformats.org/drawingml/2006/main" noGrp="1"/>
          </p:cNvSpPr>
          <p:nvPr/>
        </p:nvSpPr>
        <p:spPr>
          <a:xfrm xmlns:a="http://schemas.openxmlformats.org/drawingml/2006/main">
            <a:off x="390525" y="2257425"/>
            <a:ext cx="2181225" cy="0"/>
          </a:xfrm>
          <a:prstGeom xmlns:a="http://schemas.openxmlformats.org/drawingml/2006/main" prst="line">
            <a:avLst/>
          </a:prstGeom>
          <a:noFill xmlns:a="http://schemas.openxmlformats.org/drawingml/2006/main"/>
          <a:ln xmlns:a="http://schemas.openxmlformats.org/drawingml/2006/main" w="9525">
            <a:solidFill>
              <a:srgbClr val="D9DCD9"/>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traight Connector 35">
            <a:extLst xmlns:a="http://schemas.openxmlformats.org/drawingml/2006/main">
              <a:ext uri="{FF2B5EF4-FFF2-40B4-BE49-F238E27FC236}">
                <a16:creationId xmlns:a16="http://schemas.microsoft.com/office/drawing/2014/main" id="{B28D0112-A8AB-4A99-B93E-872754D4FA88}"/>
              </a:ext>
            </a:extLst>
          </p:cNvPr>
          <p:cNvSpPr>
            <a:spLocks xmlns:a="http://schemas.openxmlformats.org/drawingml/2006/main" noGrp="1"/>
          </p:cNvSpPr>
          <p:nvPr/>
        </p:nvSpPr>
        <p:spPr>
          <a:xfrm xmlns:a="http://schemas.openxmlformats.org/drawingml/2006/main">
            <a:off x="390525" y="2771775"/>
            <a:ext cx="2181225" cy="0"/>
          </a:xfrm>
          <a:prstGeom xmlns:a="http://schemas.openxmlformats.org/drawingml/2006/main" prst="line">
            <a:avLst/>
          </a:prstGeom>
          <a:noFill xmlns:a="http://schemas.openxmlformats.org/drawingml/2006/main"/>
          <a:ln xmlns:a="http://schemas.openxmlformats.org/drawingml/2006/main" w="9525">
            <a:solidFill>
              <a:srgbClr val="D9DCD9"/>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Straight Connector 36">
            <a:extLst xmlns:a="http://schemas.openxmlformats.org/drawingml/2006/main">
              <a:ext uri="{FF2B5EF4-FFF2-40B4-BE49-F238E27FC236}">
                <a16:creationId xmlns:a16="http://schemas.microsoft.com/office/drawing/2014/main" id="{9961825F-CA09-40FD-9CD8-AAB82DC5F340}"/>
              </a:ext>
            </a:extLst>
          </p:cNvPr>
          <p:cNvSpPr>
            <a:spLocks xmlns:a="http://schemas.openxmlformats.org/drawingml/2006/main" noGrp="1"/>
          </p:cNvSpPr>
          <p:nvPr/>
        </p:nvSpPr>
        <p:spPr>
          <a:xfrm xmlns:a="http://schemas.openxmlformats.org/drawingml/2006/main">
            <a:off x="390525" y="3257550"/>
            <a:ext cx="2181225" cy="0"/>
          </a:xfrm>
          <a:prstGeom xmlns:a="http://schemas.openxmlformats.org/drawingml/2006/main" prst="line">
            <a:avLst/>
          </a:prstGeom>
          <a:noFill xmlns:a="http://schemas.openxmlformats.org/drawingml/2006/main"/>
          <a:ln xmlns:a="http://schemas.openxmlformats.org/drawingml/2006/main" w="9525">
            <a:solidFill>
              <a:srgbClr val="D9DCD9"/>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Straight Connector 37">
            <a:extLst xmlns:a="http://schemas.openxmlformats.org/drawingml/2006/main">
              <a:ext uri="{FF2B5EF4-FFF2-40B4-BE49-F238E27FC236}">
                <a16:creationId xmlns:a16="http://schemas.microsoft.com/office/drawing/2014/main" id="{B72F7F8F-3A5A-466B-B5F8-A65543CCB43E}"/>
              </a:ext>
            </a:extLst>
          </p:cNvPr>
          <p:cNvSpPr>
            <a:spLocks xmlns:a="http://schemas.openxmlformats.org/drawingml/2006/main" noGrp="1"/>
          </p:cNvSpPr>
          <p:nvPr/>
        </p:nvSpPr>
        <p:spPr>
          <a:xfrm xmlns:a="http://schemas.openxmlformats.org/drawingml/2006/main">
            <a:off x="390525" y="3752850"/>
            <a:ext cx="2181225" cy="0"/>
          </a:xfrm>
          <a:prstGeom xmlns:a="http://schemas.openxmlformats.org/drawingml/2006/main" prst="line">
            <a:avLst/>
          </a:prstGeom>
          <a:noFill xmlns:a="http://schemas.openxmlformats.org/drawingml/2006/main"/>
          <a:ln xmlns:a="http://schemas.openxmlformats.org/drawingml/2006/main" w="9525">
            <a:solidFill>
              <a:srgbClr val="D9DCD9"/>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Straight Connector 38">
            <a:extLst xmlns:a="http://schemas.openxmlformats.org/drawingml/2006/main">
              <a:ext uri="{FF2B5EF4-FFF2-40B4-BE49-F238E27FC236}">
                <a16:creationId xmlns:a16="http://schemas.microsoft.com/office/drawing/2014/main" id="{5E16E59D-882D-43E4-819A-56C8F12F8556}"/>
              </a:ext>
            </a:extLst>
          </p:cNvPr>
          <p:cNvSpPr>
            <a:spLocks xmlns:a="http://schemas.openxmlformats.org/drawingml/2006/main" noGrp="1"/>
          </p:cNvSpPr>
          <p:nvPr/>
        </p:nvSpPr>
        <p:spPr>
          <a:xfrm xmlns:a="http://schemas.openxmlformats.org/drawingml/2006/main">
            <a:off x="390525" y="4248150"/>
            <a:ext cx="2181225" cy="0"/>
          </a:xfrm>
          <a:prstGeom xmlns:a="http://schemas.openxmlformats.org/drawingml/2006/main" prst="line">
            <a:avLst/>
          </a:prstGeom>
          <a:noFill xmlns:a="http://schemas.openxmlformats.org/drawingml/2006/main"/>
          <a:ln xmlns:a="http://schemas.openxmlformats.org/drawingml/2006/main" w="9525">
            <a:solidFill>
              <a:srgbClr val="D9DCD9"/>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Straight Connector 39">
            <a:extLst xmlns:a="http://schemas.openxmlformats.org/drawingml/2006/main">
              <a:ext uri="{FF2B5EF4-FFF2-40B4-BE49-F238E27FC236}">
                <a16:creationId xmlns:a16="http://schemas.microsoft.com/office/drawing/2014/main" id="{3FC90F95-5B03-46B4-845E-024322625A9B}"/>
              </a:ext>
            </a:extLst>
          </p:cNvPr>
          <p:cNvSpPr>
            <a:spLocks xmlns:a="http://schemas.openxmlformats.org/drawingml/2006/main" noGrp="1"/>
          </p:cNvSpPr>
          <p:nvPr/>
        </p:nvSpPr>
        <p:spPr>
          <a:xfrm xmlns:a="http://schemas.openxmlformats.org/drawingml/2006/main">
            <a:off x="2714625" y="1838325"/>
            <a:ext cx="0" cy="2438400"/>
          </a:xfrm>
          <a:prstGeom xmlns:a="http://schemas.openxmlformats.org/drawingml/2006/main" prst="line">
            <a:avLst/>
          </a:prstGeom>
          <a:noFill xmlns:a="http://schemas.openxmlformats.org/drawingml/2006/main"/>
          <a:ln xmlns:a="http://schemas.openxmlformats.org/drawingml/2006/main" w="9525">
            <a:solidFill>
              <a:srgbClr val="D9DCD9"/>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Rounded Rectangle 40">
            <a:extLst xmlns:a="http://schemas.openxmlformats.org/drawingml/2006/main">
              <a:ext uri="{FF2B5EF4-FFF2-40B4-BE49-F238E27FC236}">
                <a16:creationId xmlns:a16="http://schemas.microsoft.com/office/drawing/2014/main" id="{F6CE366C-D087-43B3-90C5-DAD72FE37A9B}"/>
              </a:ext>
            </a:extLst>
          </p:cNvPr>
          <p:cNvSpPr>
            <a:spLocks xmlns:a="http://schemas.openxmlformats.org/drawingml/2006/main" noGrp="1"/>
          </p:cNvSpPr>
          <p:nvPr/>
        </p:nvSpPr>
        <p:spPr>
          <a:xfrm xmlns:a="http://schemas.openxmlformats.org/drawingml/2006/main">
            <a:off x="2838450" y="2076450"/>
            <a:ext cx="1914525" cy="2571750"/>
          </a:xfrm>
          <a:prstGeom xmlns:a="http://schemas.openxmlformats.org/drawingml/2006/main" prst="roundRect">
            <a:avLst>
              <a:gd name="adj" fmla="val 3483"/>
            </a:avLst>
          </a:prstGeom>
          <a:solidFill xmlns:a="http://schemas.openxmlformats.org/drawingml/2006/main">
            <a:srgbClr val="FFFFFF"/>
          </a:solidFill>
          <a:ln xmlns:a="http://schemas.openxmlformats.org/drawingml/2006/main" w="9525">
            <a:solidFill>
              <a:srgbClr val="DADF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42" name="Rectangle 41">
            <a:extLst xmlns:a="http://schemas.openxmlformats.org/drawingml/2006/main">
              <a:ext uri="{FF2B5EF4-FFF2-40B4-BE49-F238E27FC236}">
                <a16:creationId xmlns:a16="http://schemas.microsoft.com/office/drawing/2014/main" id="{9161F9CC-7F5C-48DB-B4A8-3A4D3F7FD66D}"/>
              </a:ext>
            </a:extLst>
          </p:cNvPr>
          <p:cNvSpPr>
            <a:spLocks xmlns:a="http://schemas.openxmlformats.org/drawingml/2006/main" noGrp="1"/>
          </p:cNvSpPr>
          <p:nvPr/>
        </p:nvSpPr>
        <p:spPr>
          <a:xfrm xmlns:a="http://schemas.openxmlformats.org/drawingml/2006/main">
            <a:off x="2838450" y="2076450"/>
            <a:ext cx="1914525" cy="752475"/>
          </a:xfrm>
          <a:prstGeom xmlns:a="http://schemas.openxmlformats.org/drawingml/2006/main" prst="rect">
            <a:avLst/>
          </a:prstGeom>
          <a:solidFill xmlns:a="http://schemas.openxmlformats.org/drawingml/2006/main">
            <a:srgbClr val="F5F8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204" name="Picture 170"/>
          <p:cNvPicPr>
            <a:picLocks xmlns:a="http://schemas.openxmlformats.org/drawingml/2006/main" noChangeAspect="1"/>
          </p:cNvPicPr>
          <p:nvPr/>
        </p:nvPicPr>
        <p:blipFill>
          <a:blip xmlns:r="http://schemas.openxmlformats.org/officeDocument/2006/relationships" xmlns:a="http://schemas.openxmlformats.org/drawingml/2006/main" r:embed="Rc18c872d48e6410d"/>
          <a:stretch xmlns:a="http://schemas.openxmlformats.org/drawingml/2006/main"/>
        </p:blipFill>
        <p:spPr>
          <a:xfrm xmlns:a="http://schemas.openxmlformats.org/drawingml/2006/main">
            <a:off x="3067050" y="2267177"/>
            <a:ext cx="485775" cy="447221"/>
          </a:xfrm>
          <a:prstGeom xmlns:a="http://schemas.openxmlformats.org/drawingml/2006/main" prst="rect">
            <a:avLst/>
          </a:prstGeom>
        </p:spPr>
      </p:pic>
      <p:sp>
        <p:nvSpPr>
          <p:cNvPr id="44" name="Rectangle 43">
            <a:extLst xmlns:a="http://schemas.openxmlformats.org/drawingml/2006/main">
              <a:ext uri="{FF2B5EF4-FFF2-40B4-BE49-F238E27FC236}">
                <a16:creationId xmlns:a16="http://schemas.microsoft.com/office/drawing/2014/main" id="{DD75D5C0-715E-494B-ABEC-61EC7FD8939D}"/>
              </a:ext>
            </a:extLst>
          </p:cNvPr>
          <p:cNvSpPr>
            <a:spLocks xmlns:a="http://schemas.openxmlformats.org/drawingml/2006/main" noGrp="1"/>
          </p:cNvSpPr>
          <p:nvPr/>
        </p:nvSpPr>
        <p:spPr>
          <a:xfrm xmlns:a="http://schemas.openxmlformats.org/drawingml/2006/main">
            <a:off x="3590925" y="2371725"/>
            <a:ext cx="1047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Production</a:t>
            </a:r>
          </a:p>
        </p:txBody>
      </p:sp>
      <p:sp>
        <p:nvSpPr>
          <p:cNvPr id="45" name="Straight Connector 44">
            <a:extLst xmlns:a="http://schemas.openxmlformats.org/drawingml/2006/main">
              <a:ext uri="{FF2B5EF4-FFF2-40B4-BE49-F238E27FC236}">
                <a16:creationId xmlns:a16="http://schemas.microsoft.com/office/drawing/2014/main" id="{CD778414-D3CC-4345-BF48-350750048399}"/>
              </a:ext>
            </a:extLst>
          </p:cNvPr>
          <p:cNvSpPr>
            <a:spLocks xmlns:a="http://schemas.openxmlformats.org/drawingml/2006/main" noGrp="1"/>
          </p:cNvSpPr>
          <p:nvPr/>
        </p:nvSpPr>
        <p:spPr>
          <a:xfrm xmlns:a="http://schemas.openxmlformats.org/drawingml/2006/main">
            <a:off x="2990850" y="3638550"/>
            <a:ext cx="1619250" cy="0"/>
          </a:xfrm>
          <a:prstGeom xmlns:a="http://schemas.openxmlformats.org/drawingml/2006/main" prst="line">
            <a:avLst/>
          </a:prstGeom>
          <a:noFill xmlns:a="http://schemas.openxmlformats.org/drawingml/2006/main"/>
          <a:ln xmlns:a="http://schemas.openxmlformats.org/drawingml/2006/main" w="9525">
            <a:solidFill>
              <a:srgbClr val="D9DCD9"/>
            </a:solidFill>
            <a:prstDash val="solid"/>
          </a:ln>
        </p:spPr>
        <p:txBody>
          <a:bodyPr xmlns:a="http://schemas.openxmlformats.org/drawingml/2006/main"/>
          <a:lstStyle xmlns:a="http://schemas.openxmlformats.org/drawingml/2006/main"/>
          <a:p xmlns:a="http://schemas.openxmlformats.org/drawingml/2006/main">
            <a:endParaRPr/>
          </a:p>
        </p:txBody>
      </p:sp>
      <p:pic>
        <p:nvPicPr>
          <p:cNvPr id="207" name="Picture 173"/>
          <p:cNvPicPr>
            <a:picLocks xmlns:a="http://schemas.openxmlformats.org/drawingml/2006/main" noChangeAspect="1"/>
          </p:cNvPicPr>
          <p:nvPr/>
        </p:nvPicPr>
        <p:blipFill>
          <a:blip xmlns:r="http://schemas.openxmlformats.org/officeDocument/2006/relationships" xmlns:a="http://schemas.openxmlformats.org/drawingml/2006/main" r:embed="R947eaa0bbb7e4eb1"/>
          <a:stretch xmlns:a="http://schemas.openxmlformats.org/drawingml/2006/main"/>
        </p:blipFill>
        <p:spPr>
          <a:xfrm xmlns:a="http://schemas.openxmlformats.org/drawingml/2006/main">
            <a:off x="3104523" y="3124200"/>
            <a:ext cx="306053" cy="314325"/>
          </a:xfrm>
          <a:prstGeom xmlns:a="http://schemas.openxmlformats.org/drawingml/2006/main" prst="rect">
            <a:avLst/>
          </a:prstGeom>
        </p:spPr>
      </p:pic>
      <p:sp>
        <p:nvSpPr>
          <p:cNvPr id="47" name="editable-ocvs-production-hosts">
            <a:extLst xmlns:a="http://schemas.openxmlformats.org/drawingml/2006/main">
              <a:ext uri="{FF2B5EF4-FFF2-40B4-BE49-F238E27FC236}">
                <a16:creationId xmlns:a16="http://schemas.microsoft.com/office/drawing/2014/main" id="{153739E1-D282-4997-8700-0644C2EE1628}"/>
              </a:ext>
            </a:extLst>
          </p:cNvPr>
          <p:cNvSpPr>
            <a:spLocks xmlns:a="http://schemas.openxmlformats.org/drawingml/2006/main" noGrp="1"/>
          </p:cNvSpPr>
          <p:nvPr/>
        </p:nvSpPr>
        <p:spPr>
          <a:xfrm xmlns:a="http://schemas.openxmlformats.org/drawingml/2006/main">
            <a:off x="3581400" y="3114675"/>
            <a:ext cx="28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400" b="1" i="0">
                <a:solidFill>
                  <a:srgbClr val="003B25"/>
                </a:solidFill>
                <a:latin typeface="Arial"/>
                <a:ea typeface="Arial"/>
                <a:cs typeface="Arial"/>
              </a:defRPr>
            </a:pPr>
            <a:r>
              <a:rPr sz="2400" b="1" i="0">
                <a:solidFill>
                  <a:srgbClr val="003B25"/>
                </a:solidFill>
                <a:latin typeface="Arial"/>
                <a:ea typeface="Arial"/>
                <a:cs typeface="Arial"/>
              </a:rPr>
              <a:t>4</a:t>
            </a:r>
          </a:p>
        </p:txBody>
      </p:sp>
      <p:sp>
        <p:nvSpPr>
          <p:cNvPr id="48" name="editable-ocvs-production-shape">
            <a:extLst xmlns:a="http://schemas.openxmlformats.org/drawingml/2006/main">
              <a:ext uri="{FF2B5EF4-FFF2-40B4-BE49-F238E27FC236}">
                <a16:creationId xmlns:a16="http://schemas.microsoft.com/office/drawing/2014/main" id="{2D752749-72B7-4308-9C2E-6221F3185F24}"/>
              </a:ext>
            </a:extLst>
          </p:cNvPr>
          <p:cNvSpPr>
            <a:spLocks xmlns:a="http://schemas.openxmlformats.org/drawingml/2006/main" noGrp="1"/>
          </p:cNvSpPr>
          <p:nvPr/>
        </p:nvSpPr>
        <p:spPr>
          <a:xfrm xmlns:a="http://schemas.openxmlformats.org/drawingml/2006/main">
            <a:off x="3857625" y="3219450"/>
            <a:ext cx="914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1" i="0">
                <a:solidFill>
                  <a:srgbClr val="111111"/>
                </a:solidFill>
                <a:latin typeface="Arial"/>
                <a:ea typeface="Arial"/>
                <a:cs typeface="Arial"/>
              </a:defRPr>
            </a:pPr>
            <a:r>
              <a:rPr sz="675" b="1" i="0">
                <a:solidFill>
                  <a:srgbClr val="111111"/>
                </a:solidFill>
                <a:latin typeface="Arial"/>
                <a:ea typeface="Arial"/>
                <a:cs typeface="Arial"/>
              </a:rPr>
              <a:t>x AMD E4</a:t>
            </a:r>
          </a:p>
        </p:txBody>
      </p:sp>
      <p:pic>
        <p:nvPicPr>
          <p:cNvPr id="210" name="Picture 176"/>
          <p:cNvPicPr>
            <a:picLocks xmlns:a="http://schemas.openxmlformats.org/drawingml/2006/main" noChangeAspect="1"/>
          </p:cNvPicPr>
          <p:nvPr/>
        </p:nvPicPr>
        <p:blipFill>
          <a:blip xmlns:r="http://schemas.openxmlformats.org/officeDocument/2006/relationships" xmlns:a="http://schemas.openxmlformats.org/drawingml/2006/main" r:embed="Ra27052b520964a61"/>
          <a:stretch xmlns:a="http://schemas.openxmlformats.org/drawingml/2006/main"/>
        </p:blipFill>
        <p:spPr>
          <a:xfrm xmlns:a="http://schemas.openxmlformats.org/drawingml/2006/main">
            <a:off x="3102429" y="3838575"/>
            <a:ext cx="310243" cy="342900"/>
          </a:xfrm>
          <a:prstGeom xmlns:a="http://schemas.openxmlformats.org/drawingml/2006/main" prst="rect">
            <a:avLst/>
          </a:prstGeom>
        </p:spPr>
      </p:pic>
      <p:sp>
        <p:nvSpPr>
          <p:cNvPr id="50" name="editable-ocvs-production-storage">
            <a:extLst xmlns:a="http://schemas.openxmlformats.org/drawingml/2006/main">
              <a:ext uri="{FF2B5EF4-FFF2-40B4-BE49-F238E27FC236}">
                <a16:creationId xmlns:a16="http://schemas.microsoft.com/office/drawing/2014/main" id="{B08E00B8-C961-4DB8-8F94-7798E5E36E4B}"/>
              </a:ext>
            </a:extLst>
          </p:cNvPr>
          <p:cNvSpPr>
            <a:spLocks xmlns:a="http://schemas.openxmlformats.org/drawingml/2006/main" noGrp="1"/>
          </p:cNvSpPr>
          <p:nvPr/>
        </p:nvSpPr>
        <p:spPr>
          <a:xfrm xmlns:a="http://schemas.openxmlformats.org/drawingml/2006/main">
            <a:off x="3581400" y="3876675"/>
            <a:ext cx="609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325" b="1" i="0">
                <a:solidFill>
                  <a:srgbClr val="003B25"/>
                </a:solidFill>
                <a:latin typeface="Arial"/>
                <a:ea typeface="Arial"/>
                <a:cs typeface="Arial"/>
              </a:defRPr>
            </a:pPr>
            <a:r>
              <a:rPr sz="2325" b="1" i="0">
                <a:solidFill>
                  <a:srgbClr val="003B25"/>
                </a:solidFill>
                <a:latin typeface="Arial"/>
                <a:ea typeface="Arial"/>
                <a:cs typeface="Arial"/>
              </a:rPr>
              <a:t>200</a:t>
            </a:r>
          </a:p>
        </p:txBody>
      </p:sp>
      <p:sp>
        <p:nvSpPr>
          <p:cNvPr id="51" name="Rectangle 50">
            <a:extLst xmlns:a="http://schemas.openxmlformats.org/drawingml/2006/main">
              <a:ext uri="{FF2B5EF4-FFF2-40B4-BE49-F238E27FC236}">
                <a16:creationId xmlns:a16="http://schemas.microsoft.com/office/drawing/2014/main" id="{89559894-4175-4B25-B193-6D9AFE70F6A6}"/>
              </a:ext>
            </a:extLst>
          </p:cNvPr>
          <p:cNvSpPr>
            <a:spLocks xmlns:a="http://schemas.openxmlformats.org/drawingml/2006/main" noGrp="1"/>
          </p:cNvSpPr>
          <p:nvPr/>
        </p:nvSpPr>
        <p:spPr>
          <a:xfrm xmlns:a="http://schemas.openxmlformats.org/drawingml/2006/main">
            <a:off x="4171950" y="4000500"/>
            <a:ext cx="33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111111"/>
                </a:solidFill>
                <a:latin typeface="Arial"/>
                <a:ea typeface="Arial"/>
                <a:cs typeface="Arial"/>
              </a:defRPr>
            </a:pPr>
            <a:r>
              <a:rPr sz="1200" b="1" i="0">
                <a:solidFill>
                  <a:srgbClr val="111111"/>
                </a:solidFill>
                <a:latin typeface="Arial"/>
                <a:ea typeface="Arial"/>
                <a:cs typeface="Arial"/>
              </a:rPr>
              <a:t>TB</a:t>
            </a:r>
          </a:p>
        </p:txBody>
      </p:sp>
      <p:sp>
        <p:nvSpPr>
          <p:cNvPr id="52" name="Rounded Rectangle 51">
            <a:extLst xmlns:a="http://schemas.openxmlformats.org/drawingml/2006/main">
              <a:ext uri="{FF2B5EF4-FFF2-40B4-BE49-F238E27FC236}">
                <a16:creationId xmlns:a16="http://schemas.microsoft.com/office/drawing/2014/main" id="{D644F21A-4920-4D9F-A1B5-31F0394B5AC0}"/>
              </a:ext>
            </a:extLst>
          </p:cNvPr>
          <p:cNvSpPr>
            <a:spLocks xmlns:a="http://schemas.openxmlformats.org/drawingml/2006/main" noGrp="1"/>
          </p:cNvSpPr>
          <p:nvPr/>
        </p:nvSpPr>
        <p:spPr>
          <a:xfrm xmlns:a="http://schemas.openxmlformats.org/drawingml/2006/main">
            <a:off x="5086350" y="1266825"/>
            <a:ext cx="6858000" cy="3638550"/>
          </a:xfrm>
          <a:prstGeom xmlns:a="http://schemas.openxmlformats.org/drawingml/2006/main" prst="roundRect">
            <a:avLst>
              <a:gd name="adj" fmla="val 1832"/>
            </a:avLst>
          </a:prstGeom>
          <a:solidFill xmlns:a="http://schemas.openxmlformats.org/drawingml/2006/main">
            <a:srgbClr val="FFFFFF"/>
          </a:solidFill>
          <a:ln xmlns:a="http://schemas.openxmlformats.org/drawingml/2006/main" w="9525">
            <a:solidFill>
              <a:srgbClr val="DADF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53" name="Rounded Rectangle 52">
            <a:extLst xmlns:a="http://schemas.openxmlformats.org/drawingml/2006/main">
              <a:ext uri="{FF2B5EF4-FFF2-40B4-BE49-F238E27FC236}">
                <a16:creationId xmlns:a16="http://schemas.microsoft.com/office/drawing/2014/main" id="{0C997474-1DF4-460F-8BF0-7A008FE3B30A}"/>
              </a:ext>
            </a:extLst>
          </p:cNvPr>
          <p:cNvSpPr>
            <a:spLocks xmlns:a="http://schemas.openxmlformats.org/drawingml/2006/main" noGrp="1"/>
          </p:cNvSpPr>
          <p:nvPr/>
        </p:nvSpPr>
        <p:spPr>
          <a:xfrm xmlns:a="http://schemas.openxmlformats.org/drawingml/2006/main">
            <a:off x="5086350" y="1266825"/>
            <a:ext cx="6858000" cy="381000"/>
          </a:xfrm>
          <a:prstGeom xmlns:a="http://schemas.openxmlformats.org/drawingml/2006/main" prst="roundRect">
            <a:avLst>
              <a:gd name="adj" fmla="val 17500"/>
            </a:avLst>
          </a:prstGeom>
          <a:gradFill xmlns:a="http://schemas.openxmlformats.org/drawingml/2006/main">
            <a:gsLst>
              <a:gs pos="0">
                <a:srgbClr val="A02D00"/>
              </a:gs>
              <a:gs pos="100000">
                <a:srgbClr val="B13A06"/>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4" name="Rectangle 53">
            <a:extLst xmlns:a="http://schemas.openxmlformats.org/drawingml/2006/main">
              <a:ext uri="{FF2B5EF4-FFF2-40B4-BE49-F238E27FC236}">
                <a16:creationId xmlns:a16="http://schemas.microsoft.com/office/drawing/2014/main" id="{696DEA9E-E988-48BA-9993-599F32A7448B}"/>
              </a:ext>
            </a:extLst>
          </p:cNvPr>
          <p:cNvSpPr>
            <a:spLocks xmlns:a="http://schemas.openxmlformats.org/drawingml/2006/main" noGrp="1"/>
          </p:cNvSpPr>
          <p:nvPr/>
        </p:nvSpPr>
        <p:spPr>
          <a:xfrm xmlns:a="http://schemas.openxmlformats.org/drawingml/2006/main">
            <a:off x="5086350" y="1571625"/>
            <a:ext cx="6858000" cy="76200"/>
          </a:xfrm>
          <a:prstGeom xmlns:a="http://schemas.openxmlformats.org/drawingml/2006/main" prst="rect">
            <a:avLst/>
          </a:prstGeom>
          <a:gradFill xmlns:a="http://schemas.openxmlformats.org/drawingml/2006/main">
            <a:gsLst>
              <a:gs pos="0">
                <a:srgbClr val="A02D00"/>
              </a:gs>
              <a:gs pos="100000">
                <a:srgbClr val="B13A06"/>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5" name="Oval 54">
            <a:extLst xmlns:a="http://schemas.openxmlformats.org/drawingml/2006/main">
              <a:ext uri="{FF2B5EF4-FFF2-40B4-BE49-F238E27FC236}">
                <a16:creationId xmlns:a16="http://schemas.microsoft.com/office/drawing/2014/main" id="{74AF5286-CDB5-4473-BF3C-D19AE3E6C2AA}"/>
              </a:ext>
            </a:extLst>
          </p:cNvPr>
          <p:cNvSpPr>
            <a:spLocks xmlns:a="http://schemas.openxmlformats.org/drawingml/2006/main" noGrp="1"/>
          </p:cNvSpPr>
          <p:nvPr/>
        </p:nvSpPr>
        <p:spPr>
          <a:xfrm xmlns:a="http://schemas.openxmlformats.org/drawingml/2006/main">
            <a:off x="5248275" y="1343025"/>
            <a:ext cx="238125" cy="23812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6" name="Rectangle 55">
            <a:extLst xmlns:a="http://schemas.openxmlformats.org/drawingml/2006/main">
              <a:ext uri="{FF2B5EF4-FFF2-40B4-BE49-F238E27FC236}">
                <a16:creationId xmlns:a16="http://schemas.microsoft.com/office/drawing/2014/main" id="{6DE92BEA-1F17-4E47-AEED-6432F8DF4EB1}"/>
              </a:ext>
            </a:extLst>
          </p:cNvPr>
          <p:cNvSpPr>
            <a:spLocks xmlns:a="http://schemas.openxmlformats.org/drawingml/2006/main" noGrp="1"/>
          </p:cNvSpPr>
          <p:nvPr/>
        </p:nvSpPr>
        <p:spPr>
          <a:xfrm xmlns:a="http://schemas.openxmlformats.org/drawingml/2006/main">
            <a:off x="5305425" y="1371600"/>
            <a:ext cx="1238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E5430A"/>
                </a:solidFill>
                <a:latin typeface="Arial"/>
                <a:ea typeface="Arial"/>
                <a:cs typeface="Arial"/>
              </a:defRPr>
            </a:pPr>
            <a:r>
              <a:rPr sz="1050" b="1" i="0">
                <a:solidFill>
                  <a:srgbClr val="E5430A"/>
                </a:solidFill>
                <a:latin typeface="Arial"/>
                <a:ea typeface="Arial"/>
                <a:cs typeface="Arial"/>
              </a:rPr>
              <a:t>2</a:t>
            </a:r>
          </a:p>
        </p:txBody>
      </p:sp>
      <p:sp>
        <p:nvSpPr>
          <p:cNvPr id="57" name="Rectangle 56">
            <a:extLst xmlns:a="http://schemas.openxmlformats.org/drawingml/2006/main">
              <a:ext uri="{FF2B5EF4-FFF2-40B4-BE49-F238E27FC236}">
                <a16:creationId xmlns:a16="http://schemas.microsoft.com/office/drawing/2014/main" id="{3E814451-93A6-48E5-ABEA-3C84883478AF}"/>
              </a:ext>
            </a:extLst>
          </p:cNvPr>
          <p:cNvSpPr>
            <a:spLocks xmlns:a="http://schemas.openxmlformats.org/drawingml/2006/main" noGrp="1"/>
          </p:cNvSpPr>
          <p:nvPr/>
        </p:nvSpPr>
        <p:spPr>
          <a:xfrm xmlns:a="http://schemas.openxmlformats.org/drawingml/2006/main">
            <a:off x="5619750" y="1390650"/>
            <a:ext cx="6019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OCI COMPUTE</a:t>
            </a:r>
          </a:p>
        </p:txBody>
      </p:sp>
      <p:sp>
        <p:nvSpPr>
          <p:cNvPr id="58" name="Rounded Rectangle 57">
            <a:extLst xmlns:a="http://schemas.openxmlformats.org/drawingml/2006/main">
              <a:ext uri="{FF2B5EF4-FFF2-40B4-BE49-F238E27FC236}">
                <a16:creationId xmlns:a16="http://schemas.microsoft.com/office/drawing/2014/main" id="{5FF01164-FED5-4456-B43B-3F9E13A8E2DE}"/>
              </a:ext>
            </a:extLst>
          </p:cNvPr>
          <p:cNvSpPr>
            <a:spLocks xmlns:a="http://schemas.openxmlformats.org/drawingml/2006/main" noGrp="1"/>
          </p:cNvSpPr>
          <p:nvPr/>
        </p:nvSpPr>
        <p:spPr>
          <a:xfrm xmlns:a="http://schemas.openxmlformats.org/drawingml/2006/main">
            <a:off x="5143500" y="2076450"/>
            <a:ext cx="2762250" cy="2590800"/>
          </a:xfrm>
          <a:prstGeom xmlns:a="http://schemas.openxmlformats.org/drawingml/2006/main" prst="roundRect">
            <a:avLst>
              <a:gd name="adj" fmla="val 2206"/>
            </a:avLst>
          </a:prstGeom>
          <a:solidFill xmlns:a="http://schemas.openxmlformats.org/drawingml/2006/main">
            <a:srgbClr val="FFFFFF"/>
          </a:solidFill>
          <a:ln xmlns:a="http://schemas.openxmlformats.org/drawingml/2006/main" w="9525">
            <a:solidFill>
              <a:srgbClr val="EAEC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pic>
        <p:nvPicPr>
          <p:cNvPr id="220" name="Picture 186"/>
          <p:cNvPicPr>
            <a:picLocks xmlns:a="http://schemas.openxmlformats.org/drawingml/2006/main" noChangeAspect="1"/>
          </p:cNvPicPr>
          <p:nvPr/>
        </p:nvPicPr>
        <p:blipFill>
          <a:blip xmlns:r="http://schemas.openxmlformats.org/officeDocument/2006/relationships" xmlns:a="http://schemas.openxmlformats.org/drawingml/2006/main" r:embed="Rfd69537d22274de4"/>
          <a:stretch xmlns:a="http://schemas.openxmlformats.org/drawingml/2006/main"/>
        </p:blipFill>
        <p:spPr>
          <a:xfrm xmlns:a="http://schemas.openxmlformats.org/drawingml/2006/main">
            <a:off x="5279448" y="1895475"/>
            <a:ext cx="242455" cy="266700"/>
          </a:xfrm>
          <a:prstGeom xmlns:a="http://schemas.openxmlformats.org/drawingml/2006/main" prst="rect">
            <a:avLst/>
          </a:prstGeom>
        </p:spPr>
      </p:pic>
      <p:sp>
        <p:nvSpPr>
          <p:cNvPr id="60" name="Rectangle 59">
            <a:extLst xmlns:a="http://schemas.openxmlformats.org/drawingml/2006/main">
              <a:ext uri="{FF2B5EF4-FFF2-40B4-BE49-F238E27FC236}">
                <a16:creationId xmlns:a16="http://schemas.microsoft.com/office/drawing/2014/main" id="{DBEB7FE6-B4C5-4DA3-AEF0-C7FC0E2B0937}"/>
              </a:ext>
            </a:extLst>
          </p:cNvPr>
          <p:cNvSpPr>
            <a:spLocks xmlns:a="http://schemas.openxmlformats.org/drawingml/2006/main" noGrp="1"/>
          </p:cNvSpPr>
          <p:nvPr/>
        </p:nvSpPr>
        <p:spPr>
          <a:xfrm xmlns:a="http://schemas.openxmlformats.org/drawingml/2006/main">
            <a:off x="5629275" y="197167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1" i="0">
                <a:solidFill>
                  <a:srgbClr val="E5430A"/>
                </a:solidFill>
                <a:latin typeface="Arial"/>
                <a:ea typeface="Arial"/>
                <a:cs typeface="Arial"/>
              </a:defRPr>
            </a:pPr>
            <a:r>
              <a:rPr sz="1050" b="1" i="0">
                <a:solidFill>
                  <a:srgbClr val="E5430A"/>
                </a:solidFill>
                <a:latin typeface="Arial"/>
                <a:ea typeface="Arial"/>
                <a:cs typeface="Arial"/>
              </a:rPr>
              <a:t>Compute Mix (by Shape)</a:t>
            </a:r>
          </a:p>
        </p:txBody>
      </p:sp>
      <p:sp>
        <p:nvSpPr>
          <p:cNvPr id="61" name="Rectangle 60">
            <a:extLst xmlns:a="http://schemas.openxmlformats.org/drawingml/2006/main">
              <a:ext uri="{FF2B5EF4-FFF2-40B4-BE49-F238E27FC236}">
                <a16:creationId xmlns:a16="http://schemas.microsoft.com/office/drawing/2014/main" id="{1CCCE576-D07F-4F28-85A8-A33E41C52407}"/>
              </a:ext>
            </a:extLst>
          </p:cNvPr>
          <p:cNvSpPr>
            <a:spLocks xmlns:a="http://schemas.openxmlformats.org/drawingml/2006/main" noGrp="1"/>
          </p:cNvSpPr>
          <p:nvPr/>
        </p:nvSpPr>
        <p:spPr>
          <a:xfrm xmlns:a="http://schemas.openxmlformats.org/drawingml/2006/main">
            <a:off x="5257800" y="2476500"/>
            <a:ext cx="112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Compute Shape</a:t>
            </a:r>
          </a:p>
        </p:txBody>
      </p:sp>
      <p:sp>
        <p:nvSpPr>
          <p:cNvPr id="62" name="Rectangle 61">
            <a:extLst xmlns:a="http://schemas.openxmlformats.org/drawingml/2006/main">
              <a:ext uri="{FF2B5EF4-FFF2-40B4-BE49-F238E27FC236}">
                <a16:creationId xmlns:a16="http://schemas.microsoft.com/office/drawing/2014/main" id="{E6CB4E4C-6DD5-44D7-A895-77CDC75CF42E}"/>
              </a:ext>
            </a:extLst>
          </p:cNvPr>
          <p:cNvSpPr>
            <a:spLocks xmlns:a="http://schemas.openxmlformats.org/drawingml/2006/main" noGrp="1"/>
          </p:cNvSpPr>
          <p:nvPr/>
        </p:nvSpPr>
        <p:spPr>
          <a:xfrm xmlns:a="http://schemas.openxmlformats.org/drawingml/2006/main">
            <a:off x="6572250" y="24765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VMs</a:t>
            </a:r>
          </a:p>
        </p:txBody>
      </p:sp>
      <p:sp>
        <p:nvSpPr>
          <p:cNvPr id="63" name="Rectangle 62">
            <a:extLst xmlns:a="http://schemas.openxmlformats.org/drawingml/2006/main">
              <a:ext uri="{FF2B5EF4-FFF2-40B4-BE49-F238E27FC236}">
                <a16:creationId xmlns:a16="http://schemas.microsoft.com/office/drawing/2014/main" id="{7B3D3916-5537-4E10-AEC7-D7E1D47D5235}"/>
              </a:ext>
            </a:extLst>
          </p:cNvPr>
          <p:cNvSpPr>
            <a:spLocks xmlns:a="http://schemas.openxmlformats.org/drawingml/2006/main" noGrp="1"/>
          </p:cNvSpPr>
          <p:nvPr/>
        </p:nvSpPr>
        <p:spPr>
          <a:xfrm xmlns:a="http://schemas.openxmlformats.org/drawingml/2006/main">
            <a:off x="7000875" y="24765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OCPU</a:t>
            </a:r>
          </a:p>
        </p:txBody>
      </p:sp>
      <p:sp>
        <p:nvSpPr>
          <p:cNvPr id="64" name="Rectangle 63">
            <a:extLst xmlns:a="http://schemas.openxmlformats.org/drawingml/2006/main">
              <a:ext uri="{FF2B5EF4-FFF2-40B4-BE49-F238E27FC236}">
                <a16:creationId xmlns:a16="http://schemas.microsoft.com/office/drawing/2014/main" id="{E6759F27-75F5-4FE8-BFFB-331FEFF14815}"/>
              </a:ext>
            </a:extLst>
          </p:cNvPr>
          <p:cNvSpPr>
            <a:spLocks xmlns:a="http://schemas.openxmlformats.org/drawingml/2006/main" noGrp="1"/>
          </p:cNvSpPr>
          <p:nvPr/>
        </p:nvSpPr>
        <p:spPr>
          <a:xfrm xmlns:a="http://schemas.openxmlformats.org/drawingml/2006/main">
            <a:off x="7429500" y="24765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RAM</a:t>
            </a:r>
          </a:p>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(GB)</a:t>
            </a:r>
          </a:p>
        </p:txBody>
      </p:sp>
      <p:sp>
        <p:nvSpPr>
          <p:cNvPr id="65" name="Straight Connector 64">
            <a:extLst xmlns:a="http://schemas.openxmlformats.org/drawingml/2006/main">
              <a:ext uri="{FF2B5EF4-FFF2-40B4-BE49-F238E27FC236}">
                <a16:creationId xmlns:a16="http://schemas.microsoft.com/office/drawing/2014/main" id="{3838E4EC-B6EC-4304-8775-C12B43ACFF71}"/>
              </a:ext>
            </a:extLst>
          </p:cNvPr>
          <p:cNvSpPr>
            <a:spLocks xmlns:a="http://schemas.openxmlformats.org/drawingml/2006/main" noGrp="1"/>
          </p:cNvSpPr>
          <p:nvPr/>
        </p:nvSpPr>
        <p:spPr>
          <a:xfrm xmlns:a="http://schemas.openxmlformats.org/drawingml/2006/main">
            <a:off x="5238750" y="2743200"/>
            <a:ext cx="2571750" cy="0"/>
          </a:xfrm>
          <a:prstGeom xmlns:a="http://schemas.openxmlformats.org/drawingml/2006/main" prst="line">
            <a:avLst/>
          </a:prstGeom>
          <a:noFill xmlns:a="http://schemas.openxmlformats.org/drawingml/2006/main"/>
          <a:ln xmlns:a="http://schemas.openxmlformats.org/drawingml/2006/main" w="9525">
            <a:solidFill>
              <a:srgbClr val="D9DCD9"/>
            </a:solidFill>
            <a:prstDash val="solid"/>
          </a:ln>
        </p:spPr>
        <p:txBody>
          <a:bodyPr xmlns:a="http://schemas.openxmlformats.org/drawingml/2006/main"/>
          <a:lstStyle xmlns:a="http://schemas.openxmlformats.org/drawingml/2006/main"/>
          <a:p xmlns:a="http://schemas.openxmlformats.org/drawingml/2006/main">
            <a:endParaRPr/>
          </a:p>
        </p:txBody>
      </p:sp>
      <p:sp>
        <p:nvSpPr>
          <p:cNvPr id="66" name="Straight Connector 65">
            <a:extLst xmlns:a="http://schemas.openxmlformats.org/drawingml/2006/main">
              <a:ext uri="{FF2B5EF4-FFF2-40B4-BE49-F238E27FC236}">
                <a16:creationId xmlns:a16="http://schemas.microsoft.com/office/drawing/2014/main" id="{25F80F50-3B5C-4B5C-8FC6-337C4F742160}"/>
              </a:ext>
            </a:extLst>
          </p:cNvPr>
          <p:cNvSpPr>
            <a:spLocks xmlns:a="http://schemas.openxmlformats.org/drawingml/2006/main" noGrp="1"/>
          </p:cNvSpPr>
          <p:nvPr/>
        </p:nvSpPr>
        <p:spPr>
          <a:xfrm xmlns:a="http://schemas.openxmlformats.org/drawingml/2006/main">
            <a:off x="5238750" y="3228975"/>
            <a:ext cx="2571750" cy="0"/>
          </a:xfrm>
          <a:prstGeom xmlns:a="http://schemas.openxmlformats.org/drawingml/2006/main" prst="line">
            <a:avLst/>
          </a:prstGeom>
          <a:noFill xmlns:a="http://schemas.openxmlformats.org/drawingml/2006/main"/>
          <a:ln xmlns:a="http://schemas.openxmlformats.org/drawingml/2006/main" w="9525">
            <a:solidFill>
              <a:srgbClr val="D9DCD9"/>
            </a:solidFill>
            <a:prstDash val="solid"/>
          </a:ln>
        </p:spPr>
        <p:txBody>
          <a:bodyPr xmlns:a="http://schemas.openxmlformats.org/drawingml/2006/main"/>
          <a:lstStyle xmlns:a="http://schemas.openxmlformats.org/drawingml/2006/main"/>
          <a:p xmlns:a="http://schemas.openxmlformats.org/drawingml/2006/main">
            <a:endParaRPr/>
          </a:p>
        </p:txBody>
      </p:sp>
      <p:sp>
        <p:nvSpPr>
          <p:cNvPr id="67" name="Straight Connector 66">
            <a:extLst xmlns:a="http://schemas.openxmlformats.org/drawingml/2006/main">
              <a:ext uri="{FF2B5EF4-FFF2-40B4-BE49-F238E27FC236}">
                <a16:creationId xmlns:a16="http://schemas.microsoft.com/office/drawing/2014/main" id="{0BB0F498-31CD-4C5C-9878-AC29D650265E}"/>
              </a:ext>
            </a:extLst>
          </p:cNvPr>
          <p:cNvSpPr>
            <a:spLocks xmlns:a="http://schemas.openxmlformats.org/drawingml/2006/main" noGrp="1"/>
          </p:cNvSpPr>
          <p:nvPr/>
        </p:nvSpPr>
        <p:spPr>
          <a:xfrm xmlns:a="http://schemas.openxmlformats.org/drawingml/2006/main">
            <a:off x="5238750" y="3724275"/>
            <a:ext cx="2571750" cy="0"/>
          </a:xfrm>
          <a:prstGeom xmlns:a="http://schemas.openxmlformats.org/drawingml/2006/main" prst="line">
            <a:avLst/>
          </a:prstGeom>
          <a:noFill xmlns:a="http://schemas.openxmlformats.org/drawingml/2006/main"/>
          <a:ln xmlns:a="http://schemas.openxmlformats.org/drawingml/2006/main" w="9525">
            <a:solidFill>
              <a:srgbClr val="D9DCD9"/>
            </a:solidFill>
            <a:prstDash val="solid"/>
          </a:ln>
        </p:spPr>
        <p:txBody>
          <a:bodyPr xmlns:a="http://schemas.openxmlformats.org/drawingml/2006/main"/>
          <a:lstStyle xmlns:a="http://schemas.openxmlformats.org/drawingml/2006/main"/>
          <a:p xmlns:a="http://schemas.openxmlformats.org/drawingml/2006/main">
            <a:endParaRPr/>
          </a:p>
        </p:txBody>
      </p:sp>
      <p:sp>
        <p:nvSpPr>
          <p:cNvPr id="68" name="Straight Connector 67">
            <a:extLst xmlns:a="http://schemas.openxmlformats.org/drawingml/2006/main">
              <a:ext uri="{FF2B5EF4-FFF2-40B4-BE49-F238E27FC236}">
                <a16:creationId xmlns:a16="http://schemas.microsoft.com/office/drawing/2014/main" id="{20C5CAFF-42CE-4024-AF7C-6D4CA9EC54E5}"/>
              </a:ext>
            </a:extLst>
          </p:cNvPr>
          <p:cNvSpPr>
            <a:spLocks xmlns:a="http://schemas.openxmlformats.org/drawingml/2006/main" noGrp="1"/>
          </p:cNvSpPr>
          <p:nvPr/>
        </p:nvSpPr>
        <p:spPr>
          <a:xfrm xmlns:a="http://schemas.openxmlformats.org/drawingml/2006/main">
            <a:off x="5238750" y="4210050"/>
            <a:ext cx="2571750" cy="0"/>
          </a:xfrm>
          <a:prstGeom xmlns:a="http://schemas.openxmlformats.org/drawingml/2006/main" prst="line">
            <a:avLst/>
          </a:prstGeom>
          <a:noFill xmlns:a="http://schemas.openxmlformats.org/drawingml/2006/main"/>
          <a:ln xmlns:a="http://schemas.openxmlformats.org/drawingml/2006/main" w="9525">
            <a:solidFill>
              <a:srgbClr val="D9DCD9"/>
            </a:solidFill>
            <a:prstDash val="solid"/>
          </a:ln>
        </p:spPr>
        <p:txBody>
          <a:bodyPr xmlns:a="http://schemas.openxmlformats.org/drawingml/2006/main"/>
          <a:lstStyle xmlns:a="http://schemas.openxmlformats.org/drawingml/2006/main"/>
          <a:p xmlns:a="http://schemas.openxmlformats.org/drawingml/2006/main">
            <a:endParaRPr/>
          </a:p>
        </p:txBody>
      </p:sp>
      <p:sp>
        <p:nvSpPr>
          <p:cNvPr id="69" name="editable-hybrid-native-shape-row-1">
            <a:extLst xmlns:a="http://schemas.openxmlformats.org/drawingml/2006/main">
              <a:ext uri="{FF2B5EF4-FFF2-40B4-BE49-F238E27FC236}">
                <a16:creationId xmlns:a16="http://schemas.microsoft.com/office/drawing/2014/main" id="{9803761B-9BD8-4445-B776-EC460DCD1ABC}"/>
              </a:ext>
            </a:extLst>
          </p:cNvPr>
          <p:cNvSpPr>
            <a:spLocks xmlns:a="http://schemas.openxmlformats.org/drawingml/2006/main" noGrp="1"/>
          </p:cNvSpPr>
          <p:nvPr/>
        </p:nvSpPr>
        <p:spPr>
          <a:xfrm xmlns:a="http://schemas.openxmlformats.org/drawingml/2006/main">
            <a:off x="5257800" y="29527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5000"/>
              </a:lnSpc>
              <a:buNone/>
              <a:defRPr sz="825" b="1" i="0">
                <a:solidFill>
                  <a:srgbClr val="111111"/>
                </a:solidFill>
                <a:latin typeface="Arial"/>
                <a:ea typeface="Arial"/>
                <a:cs typeface="Arial"/>
              </a:defRPr>
            </a:pPr>
            <a:r>
              <a:rPr sz="825" b="1" i="0">
                <a:solidFill>
                  <a:srgbClr val="111111"/>
                </a:solidFill>
                <a:latin typeface="Arial"/>
                <a:ea typeface="Arial"/>
                <a:cs typeface="Arial"/>
              </a:rPr>
              <a:t>VM.Standard.E5.Flex</a:t>
            </a:r>
          </a:p>
        </p:txBody>
      </p:sp>
      <p:sp>
        <p:nvSpPr>
          <p:cNvPr id="70" name="editable-hybrid-native-shape-vms-row-1">
            <a:extLst xmlns:a="http://schemas.openxmlformats.org/drawingml/2006/main">
              <a:ext uri="{FF2B5EF4-FFF2-40B4-BE49-F238E27FC236}">
                <a16:creationId xmlns:a16="http://schemas.microsoft.com/office/drawing/2014/main" id="{3AFB897A-6A66-4C93-B2BD-69832F2FC989}"/>
              </a:ext>
            </a:extLst>
          </p:cNvPr>
          <p:cNvSpPr>
            <a:spLocks xmlns:a="http://schemas.openxmlformats.org/drawingml/2006/main" noGrp="1"/>
          </p:cNvSpPr>
          <p:nvPr/>
        </p:nvSpPr>
        <p:spPr>
          <a:xfrm xmlns:a="http://schemas.openxmlformats.org/drawingml/2006/main">
            <a:off x="6572250" y="29527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825" b="1" i="0">
                <a:solidFill>
                  <a:srgbClr val="111111"/>
                </a:solidFill>
                <a:latin typeface="Arial"/>
                <a:ea typeface="Arial"/>
                <a:cs typeface="Arial"/>
              </a:defRPr>
            </a:pPr>
            <a:r>
              <a:rPr sz="825" b="1" i="0">
                <a:solidFill>
                  <a:srgbClr val="111111"/>
                </a:solidFill>
                <a:latin typeface="Arial"/>
                <a:ea typeface="Arial"/>
                <a:cs typeface="Arial"/>
              </a:rPr>
              <a:t>32</a:t>
            </a:r>
          </a:p>
        </p:txBody>
      </p:sp>
      <p:sp>
        <p:nvSpPr>
          <p:cNvPr id="71" name="editable-hybrid-native-shape-ocpus-row-1">
            <a:extLst xmlns:a="http://schemas.openxmlformats.org/drawingml/2006/main">
              <a:ext uri="{FF2B5EF4-FFF2-40B4-BE49-F238E27FC236}">
                <a16:creationId xmlns:a16="http://schemas.microsoft.com/office/drawing/2014/main" id="{9AE49294-204D-4E6A-A9DD-7817CD6761F9}"/>
              </a:ext>
            </a:extLst>
          </p:cNvPr>
          <p:cNvSpPr>
            <a:spLocks xmlns:a="http://schemas.openxmlformats.org/drawingml/2006/main" noGrp="1"/>
          </p:cNvSpPr>
          <p:nvPr/>
        </p:nvSpPr>
        <p:spPr>
          <a:xfrm xmlns:a="http://schemas.openxmlformats.org/drawingml/2006/main">
            <a:off x="7000875" y="29527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825" b="1" i="0">
                <a:solidFill>
                  <a:srgbClr val="111111"/>
                </a:solidFill>
                <a:latin typeface="Arial"/>
                <a:ea typeface="Arial"/>
                <a:cs typeface="Arial"/>
              </a:defRPr>
            </a:pPr>
            <a:r>
              <a:rPr sz="825" b="1" i="0">
                <a:solidFill>
                  <a:srgbClr val="111111"/>
                </a:solidFill>
                <a:latin typeface="Arial"/>
                <a:ea typeface="Arial"/>
                <a:cs typeface="Arial"/>
              </a:rPr>
              <a:t>128</a:t>
            </a:r>
          </a:p>
        </p:txBody>
      </p:sp>
      <p:sp>
        <p:nvSpPr>
          <p:cNvPr id="72" name="editable-hybrid-native-shape-ram-row-1">
            <a:extLst xmlns:a="http://schemas.openxmlformats.org/drawingml/2006/main">
              <a:ext uri="{FF2B5EF4-FFF2-40B4-BE49-F238E27FC236}">
                <a16:creationId xmlns:a16="http://schemas.microsoft.com/office/drawing/2014/main" id="{145695A3-AF09-4C91-B1EE-E1AC33A98B07}"/>
              </a:ext>
            </a:extLst>
          </p:cNvPr>
          <p:cNvSpPr>
            <a:spLocks xmlns:a="http://schemas.openxmlformats.org/drawingml/2006/main" noGrp="1"/>
          </p:cNvSpPr>
          <p:nvPr/>
        </p:nvSpPr>
        <p:spPr>
          <a:xfrm xmlns:a="http://schemas.openxmlformats.org/drawingml/2006/main">
            <a:off x="7429500" y="29527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5000"/>
              </a:lnSpc>
              <a:buNone/>
              <a:defRPr sz="825" b="1" i="0">
                <a:solidFill>
                  <a:srgbClr val="111111"/>
                </a:solidFill>
                <a:latin typeface="Arial"/>
                <a:ea typeface="Arial"/>
                <a:cs typeface="Arial"/>
              </a:defRPr>
            </a:pPr>
            <a:r>
              <a:rPr sz="825" b="1" i="0">
                <a:solidFill>
                  <a:srgbClr val="111111"/>
                </a:solidFill>
                <a:latin typeface="Arial"/>
                <a:ea typeface="Arial"/>
                <a:cs typeface="Arial"/>
              </a:rPr>
              <a:t>512 GB</a:t>
            </a:r>
          </a:p>
        </p:txBody>
      </p:sp>
      <p:sp>
        <p:nvSpPr>
          <p:cNvPr id="73" name="editable-hybrid-native-shape-row-2">
            <a:extLst xmlns:a="http://schemas.openxmlformats.org/drawingml/2006/main">
              <a:ext uri="{FF2B5EF4-FFF2-40B4-BE49-F238E27FC236}">
                <a16:creationId xmlns:a16="http://schemas.microsoft.com/office/drawing/2014/main" id="{3057996B-8CB8-4B54-A528-F56135DF9E4A}"/>
              </a:ext>
            </a:extLst>
          </p:cNvPr>
          <p:cNvSpPr>
            <a:spLocks xmlns:a="http://schemas.openxmlformats.org/drawingml/2006/main" noGrp="1"/>
          </p:cNvSpPr>
          <p:nvPr/>
        </p:nvSpPr>
        <p:spPr>
          <a:xfrm xmlns:a="http://schemas.openxmlformats.org/drawingml/2006/main">
            <a:off x="5257800" y="34480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5000"/>
              </a:lnSpc>
              <a:buNone/>
              <a:defRPr sz="825" b="1" i="0">
                <a:solidFill>
                  <a:srgbClr val="111111"/>
                </a:solidFill>
                <a:latin typeface="Arial"/>
                <a:ea typeface="Arial"/>
                <a:cs typeface="Arial"/>
              </a:defRPr>
            </a:pPr>
            <a:r>
              <a:rPr sz="825" b="1" i="0">
                <a:solidFill>
                  <a:srgbClr val="111111"/>
                </a:solidFill>
                <a:latin typeface="Arial"/>
                <a:ea typeface="Arial"/>
                <a:cs typeface="Arial"/>
              </a:rPr>
              <a:t>VM.Standard.E6.Flex</a:t>
            </a:r>
          </a:p>
        </p:txBody>
      </p:sp>
      <p:sp>
        <p:nvSpPr>
          <p:cNvPr id="74" name="editable-hybrid-native-shape-vms-row-2">
            <a:extLst xmlns:a="http://schemas.openxmlformats.org/drawingml/2006/main">
              <a:ext uri="{FF2B5EF4-FFF2-40B4-BE49-F238E27FC236}">
                <a16:creationId xmlns:a16="http://schemas.microsoft.com/office/drawing/2014/main" id="{3A488583-839A-4E85-8825-D065C1BC9E7E}"/>
              </a:ext>
            </a:extLst>
          </p:cNvPr>
          <p:cNvSpPr>
            <a:spLocks xmlns:a="http://schemas.openxmlformats.org/drawingml/2006/main" noGrp="1"/>
          </p:cNvSpPr>
          <p:nvPr/>
        </p:nvSpPr>
        <p:spPr>
          <a:xfrm xmlns:a="http://schemas.openxmlformats.org/drawingml/2006/main">
            <a:off x="6572250" y="3448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825" b="1" i="0">
                <a:solidFill>
                  <a:srgbClr val="111111"/>
                </a:solidFill>
                <a:latin typeface="Arial"/>
                <a:ea typeface="Arial"/>
                <a:cs typeface="Arial"/>
              </a:defRPr>
            </a:pPr>
            <a:r>
              <a:rPr sz="825" b="1" i="0">
                <a:solidFill>
                  <a:srgbClr val="111111"/>
                </a:solidFill>
                <a:latin typeface="Arial"/>
                <a:ea typeface="Arial"/>
                <a:cs typeface="Arial"/>
              </a:rPr>
              <a:t>24</a:t>
            </a:r>
          </a:p>
        </p:txBody>
      </p:sp>
      <p:sp>
        <p:nvSpPr>
          <p:cNvPr id="75" name="editable-hybrid-native-shape-ocpus-row-2">
            <a:extLst xmlns:a="http://schemas.openxmlformats.org/drawingml/2006/main">
              <a:ext uri="{FF2B5EF4-FFF2-40B4-BE49-F238E27FC236}">
                <a16:creationId xmlns:a16="http://schemas.microsoft.com/office/drawing/2014/main" id="{9E7C63A7-253C-4398-AFDB-640B0EB85CD9}"/>
              </a:ext>
            </a:extLst>
          </p:cNvPr>
          <p:cNvSpPr>
            <a:spLocks xmlns:a="http://schemas.openxmlformats.org/drawingml/2006/main" noGrp="1"/>
          </p:cNvSpPr>
          <p:nvPr/>
        </p:nvSpPr>
        <p:spPr>
          <a:xfrm xmlns:a="http://schemas.openxmlformats.org/drawingml/2006/main">
            <a:off x="7000875" y="34480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825" b="1" i="0">
                <a:solidFill>
                  <a:srgbClr val="111111"/>
                </a:solidFill>
                <a:latin typeface="Arial"/>
                <a:ea typeface="Arial"/>
                <a:cs typeface="Arial"/>
              </a:defRPr>
            </a:pPr>
            <a:r>
              <a:rPr sz="825" b="1" i="0">
                <a:solidFill>
                  <a:srgbClr val="111111"/>
                </a:solidFill>
                <a:latin typeface="Arial"/>
                <a:ea typeface="Arial"/>
                <a:cs typeface="Arial"/>
              </a:rPr>
              <a:t>96</a:t>
            </a:r>
          </a:p>
        </p:txBody>
      </p:sp>
      <p:sp>
        <p:nvSpPr>
          <p:cNvPr id="76" name="editable-hybrid-native-shape-ram-row-2">
            <a:extLst xmlns:a="http://schemas.openxmlformats.org/drawingml/2006/main">
              <a:ext uri="{FF2B5EF4-FFF2-40B4-BE49-F238E27FC236}">
                <a16:creationId xmlns:a16="http://schemas.microsoft.com/office/drawing/2014/main" id="{FEB50766-AC2F-4AEA-BA42-AC95B400FFFD}"/>
              </a:ext>
            </a:extLst>
          </p:cNvPr>
          <p:cNvSpPr>
            <a:spLocks xmlns:a="http://schemas.openxmlformats.org/drawingml/2006/main" noGrp="1"/>
          </p:cNvSpPr>
          <p:nvPr/>
        </p:nvSpPr>
        <p:spPr>
          <a:xfrm xmlns:a="http://schemas.openxmlformats.org/drawingml/2006/main">
            <a:off x="7429500" y="34480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5000"/>
              </a:lnSpc>
              <a:buNone/>
              <a:defRPr sz="825" b="1" i="0">
                <a:solidFill>
                  <a:srgbClr val="111111"/>
                </a:solidFill>
                <a:latin typeface="Arial"/>
                <a:ea typeface="Arial"/>
                <a:cs typeface="Arial"/>
              </a:defRPr>
            </a:pPr>
            <a:r>
              <a:rPr sz="825" b="1" i="0">
                <a:solidFill>
                  <a:srgbClr val="111111"/>
                </a:solidFill>
                <a:latin typeface="Arial"/>
                <a:ea typeface="Arial"/>
                <a:cs typeface="Arial"/>
              </a:rPr>
              <a:t>384 GB</a:t>
            </a:r>
          </a:p>
        </p:txBody>
      </p:sp>
      <p:sp>
        <p:nvSpPr>
          <p:cNvPr id="77" name="editable-hybrid-native-shape-row-3">
            <a:extLst xmlns:a="http://schemas.openxmlformats.org/drawingml/2006/main">
              <a:ext uri="{FF2B5EF4-FFF2-40B4-BE49-F238E27FC236}">
                <a16:creationId xmlns:a16="http://schemas.microsoft.com/office/drawing/2014/main" id="{F23B112C-727A-4A85-8C2A-AC3FB13A0BA8}"/>
              </a:ext>
            </a:extLst>
          </p:cNvPr>
          <p:cNvSpPr>
            <a:spLocks xmlns:a="http://schemas.openxmlformats.org/drawingml/2006/main" noGrp="1"/>
          </p:cNvSpPr>
          <p:nvPr/>
        </p:nvSpPr>
        <p:spPr>
          <a:xfrm xmlns:a="http://schemas.openxmlformats.org/drawingml/2006/main">
            <a:off x="5257800" y="39433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5000"/>
              </a:lnSpc>
              <a:buNone/>
              <a:defRPr sz="825" b="1" i="0">
                <a:solidFill>
                  <a:srgbClr val="111111"/>
                </a:solidFill>
                <a:latin typeface="Arial"/>
                <a:ea typeface="Arial"/>
                <a:cs typeface="Arial"/>
              </a:defRPr>
            </a:pPr>
            <a:r>
              <a:rPr sz="825" b="1" i="0">
                <a:solidFill>
                  <a:srgbClr val="111111"/>
                </a:solidFill>
                <a:latin typeface="Arial"/>
                <a:ea typeface="Arial"/>
                <a:cs typeface="Arial"/>
              </a:rPr>
              <a:t>BM.DenseIO.E5</a:t>
            </a:r>
          </a:p>
        </p:txBody>
      </p:sp>
      <p:sp>
        <p:nvSpPr>
          <p:cNvPr id="78" name="editable-hybrid-native-shape-vms-row-3">
            <a:extLst xmlns:a="http://schemas.openxmlformats.org/drawingml/2006/main">
              <a:ext uri="{FF2B5EF4-FFF2-40B4-BE49-F238E27FC236}">
                <a16:creationId xmlns:a16="http://schemas.microsoft.com/office/drawing/2014/main" id="{15335A08-C111-4040-8456-C5F10660EDD2}"/>
              </a:ext>
            </a:extLst>
          </p:cNvPr>
          <p:cNvSpPr>
            <a:spLocks xmlns:a="http://schemas.openxmlformats.org/drawingml/2006/main" noGrp="1"/>
          </p:cNvSpPr>
          <p:nvPr/>
        </p:nvSpPr>
        <p:spPr>
          <a:xfrm xmlns:a="http://schemas.openxmlformats.org/drawingml/2006/main">
            <a:off x="6572250" y="39433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825" b="1" i="0">
                <a:solidFill>
                  <a:srgbClr val="111111"/>
                </a:solidFill>
                <a:latin typeface="Arial"/>
                <a:ea typeface="Arial"/>
                <a:cs typeface="Arial"/>
              </a:defRPr>
            </a:pPr>
            <a:r>
              <a:rPr sz="825" b="1" i="0">
                <a:solidFill>
                  <a:srgbClr val="111111"/>
                </a:solidFill>
                <a:latin typeface="Arial"/>
                <a:ea typeface="Arial"/>
                <a:cs typeface="Arial"/>
              </a:rPr>
              <a:t>14</a:t>
            </a:r>
          </a:p>
        </p:txBody>
      </p:sp>
      <p:sp>
        <p:nvSpPr>
          <p:cNvPr id="79" name="editable-hybrid-native-shape-ocpus-row-3">
            <a:extLst xmlns:a="http://schemas.openxmlformats.org/drawingml/2006/main">
              <a:ext uri="{FF2B5EF4-FFF2-40B4-BE49-F238E27FC236}">
                <a16:creationId xmlns:a16="http://schemas.microsoft.com/office/drawing/2014/main" id="{CA25CCC6-A307-4477-BD08-70EE693F3206}"/>
              </a:ext>
            </a:extLst>
          </p:cNvPr>
          <p:cNvSpPr>
            <a:spLocks xmlns:a="http://schemas.openxmlformats.org/drawingml/2006/main" noGrp="1"/>
          </p:cNvSpPr>
          <p:nvPr/>
        </p:nvSpPr>
        <p:spPr>
          <a:xfrm xmlns:a="http://schemas.openxmlformats.org/drawingml/2006/main">
            <a:off x="7000875" y="39433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825" b="1" i="0">
                <a:solidFill>
                  <a:srgbClr val="111111"/>
                </a:solidFill>
                <a:latin typeface="Arial"/>
                <a:ea typeface="Arial"/>
                <a:cs typeface="Arial"/>
              </a:defRPr>
            </a:pPr>
            <a:r>
              <a:rPr sz="825" b="1" i="0">
                <a:solidFill>
                  <a:srgbClr val="111111"/>
                </a:solidFill>
                <a:latin typeface="Arial"/>
                <a:ea typeface="Arial"/>
                <a:cs typeface="Arial"/>
              </a:rPr>
              <a:t>56</a:t>
            </a:r>
          </a:p>
        </p:txBody>
      </p:sp>
      <p:sp>
        <p:nvSpPr>
          <p:cNvPr id="80" name="editable-hybrid-native-shape-ram-row-3">
            <a:extLst xmlns:a="http://schemas.openxmlformats.org/drawingml/2006/main">
              <a:ext uri="{FF2B5EF4-FFF2-40B4-BE49-F238E27FC236}">
                <a16:creationId xmlns:a16="http://schemas.microsoft.com/office/drawing/2014/main" id="{05203F4D-0B89-4BEF-9D71-8D5166313635}"/>
              </a:ext>
            </a:extLst>
          </p:cNvPr>
          <p:cNvSpPr>
            <a:spLocks xmlns:a="http://schemas.openxmlformats.org/drawingml/2006/main" noGrp="1"/>
          </p:cNvSpPr>
          <p:nvPr/>
        </p:nvSpPr>
        <p:spPr>
          <a:xfrm xmlns:a="http://schemas.openxmlformats.org/drawingml/2006/main">
            <a:off x="7429500" y="3943350"/>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5000"/>
              </a:lnSpc>
              <a:buNone/>
              <a:defRPr sz="825" b="1" i="0">
                <a:solidFill>
                  <a:srgbClr val="111111"/>
                </a:solidFill>
                <a:latin typeface="Arial"/>
                <a:ea typeface="Arial"/>
                <a:cs typeface="Arial"/>
              </a:defRPr>
            </a:pPr>
            <a:r>
              <a:rPr sz="825" b="1" i="0">
                <a:solidFill>
                  <a:srgbClr val="111111"/>
                </a:solidFill>
                <a:latin typeface="Arial"/>
                <a:ea typeface="Arial"/>
                <a:cs typeface="Arial"/>
              </a:rPr>
              <a:t>224 GB</a:t>
            </a:r>
          </a:p>
        </p:txBody>
      </p:sp>
      <p:sp>
        <p:nvSpPr>
          <p:cNvPr id="81" name="Rectangle 80">
            <a:extLst xmlns:a="http://schemas.openxmlformats.org/drawingml/2006/main">
              <a:ext uri="{FF2B5EF4-FFF2-40B4-BE49-F238E27FC236}">
                <a16:creationId xmlns:a16="http://schemas.microsoft.com/office/drawing/2014/main" id="{5083A207-E5ED-47FB-B8C8-778F16AD8FB8}"/>
              </a:ext>
            </a:extLst>
          </p:cNvPr>
          <p:cNvSpPr>
            <a:spLocks xmlns:a="http://schemas.openxmlformats.org/drawingml/2006/main" noGrp="1"/>
          </p:cNvSpPr>
          <p:nvPr/>
        </p:nvSpPr>
        <p:spPr>
          <a:xfrm xmlns:a="http://schemas.openxmlformats.org/drawingml/2006/main">
            <a:off x="5143500" y="4276725"/>
            <a:ext cx="2762250" cy="390525"/>
          </a:xfrm>
          <a:prstGeom xmlns:a="http://schemas.openxmlformats.org/drawingml/2006/main" prst="rect">
            <a:avLst/>
          </a:prstGeom>
          <a:solidFill xmlns:a="http://schemas.openxmlformats.org/drawingml/2006/main">
            <a:srgbClr val="FFF0E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2" name="Rectangle 81">
            <a:extLst xmlns:a="http://schemas.openxmlformats.org/drawingml/2006/main">
              <a:ext uri="{FF2B5EF4-FFF2-40B4-BE49-F238E27FC236}">
                <a16:creationId xmlns:a16="http://schemas.microsoft.com/office/drawing/2014/main" id="{273316F4-07C2-4DE9-8EC5-4DF6FFA5A170}"/>
              </a:ext>
            </a:extLst>
          </p:cNvPr>
          <p:cNvSpPr>
            <a:spLocks xmlns:a="http://schemas.openxmlformats.org/drawingml/2006/main" noGrp="1"/>
          </p:cNvSpPr>
          <p:nvPr/>
        </p:nvSpPr>
        <p:spPr>
          <a:xfrm xmlns:a="http://schemas.openxmlformats.org/drawingml/2006/main">
            <a:off x="5257800" y="4429125"/>
            <a:ext cx="704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1050" b="1" i="0">
                <a:solidFill>
                  <a:srgbClr val="E5430A"/>
                </a:solidFill>
                <a:latin typeface="Arial"/>
                <a:ea typeface="Arial"/>
                <a:cs typeface="Arial"/>
              </a:defRPr>
            </a:pPr>
            <a:r>
              <a:rPr sz="1050" b="1" i="0">
                <a:solidFill>
                  <a:srgbClr val="E5430A"/>
                </a:solidFill>
                <a:latin typeface="Arial"/>
                <a:ea typeface="Arial"/>
                <a:cs typeface="Arial"/>
              </a:rPr>
              <a:t>TOTAL</a:t>
            </a:r>
          </a:p>
        </p:txBody>
      </p:sp>
      <p:sp>
        <p:nvSpPr>
          <p:cNvPr id="83" name="editable-native-vms">
            <a:extLst xmlns:a="http://schemas.openxmlformats.org/drawingml/2006/main">
              <a:ext uri="{FF2B5EF4-FFF2-40B4-BE49-F238E27FC236}">
                <a16:creationId xmlns:a16="http://schemas.microsoft.com/office/drawing/2014/main" id="{44DED275-2C77-4DCE-9E55-A809999377DA}"/>
              </a:ext>
            </a:extLst>
          </p:cNvPr>
          <p:cNvSpPr>
            <a:spLocks xmlns:a="http://schemas.openxmlformats.org/drawingml/2006/main" noGrp="1"/>
          </p:cNvSpPr>
          <p:nvPr/>
        </p:nvSpPr>
        <p:spPr>
          <a:xfrm xmlns:a="http://schemas.openxmlformats.org/drawingml/2006/main">
            <a:off x="6572250" y="4429125"/>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975" b="1" i="0">
                <a:solidFill>
                  <a:srgbClr val="E5430A"/>
                </a:solidFill>
                <a:latin typeface="Arial"/>
                <a:ea typeface="Arial"/>
                <a:cs typeface="Arial"/>
              </a:defRPr>
            </a:pPr>
            <a:r>
              <a:rPr sz="975" b="1" i="0">
                <a:solidFill>
                  <a:srgbClr val="E5430A"/>
                </a:solidFill>
                <a:latin typeface="Arial"/>
                <a:ea typeface="Arial"/>
                <a:cs typeface="Arial"/>
              </a:rPr>
              <a:t>70</a:t>
            </a:r>
          </a:p>
        </p:txBody>
      </p:sp>
      <p:sp>
        <p:nvSpPr>
          <p:cNvPr id="84" name="editable-native-ocpus">
            <a:extLst xmlns:a="http://schemas.openxmlformats.org/drawingml/2006/main">
              <a:ext uri="{FF2B5EF4-FFF2-40B4-BE49-F238E27FC236}">
                <a16:creationId xmlns:a16="http://schemas.microsoft.com/office/drawing/2014/main" id="{DFE3945B-9EF7-4688-8FAF-B6C66131BB2E}"/>
              </a:ext>
            </a:extLst>
          </p:cNvPr>
          <p:cNvSpPr>
            <a:spLocks xmlns:a="http://schemas.openxmlformats.org/drawingml/2006/main" noGrp="1"/>
          </p:cNvSpPr>
          <p:nvPr/>
        </p:nvSpPr>
        <p:spPr>
          <a:xfrm xmlns:a="http://schemas.openxmlformats.org/drawingml/2006/main">
            <a:off x="7000875" y="44291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975" b="1" i="0">
                <a:solidFill>
                  <a:srgbClr val="E5430A"/>
                </a:solidFill>
                <a:latin typeface="Arial"/>
                <a:ea typeface="Arial"/>
                <a:cs typeface="Arial"/>
              </a:defRPr>
            </a:pPr>
            <a:r>
              <a:rPr sz="975" b="1" i="0">
                <a:solidFill>
                  <a:srgbClr val="E5430A"/>
                </a:solidFill>
                <a:latin typeface="Arial"/>
                <a:ea typeface="Arial"/>
                <a:cs typeface="Arial"/>
              </a:rPr>
              <a:t>280</a:t>
            </a:r>
          </a:p>
        </p:txBody>
      </p:sp>
      <p:sp>
        <p:nvSpPr>
          <p:cNvPr id="85" name="editable-native-vram">
            <a:extLst xmlns:a="http://schemas.openxmlformats.org/drawingml/2006/main">
              <a:ext uri="{FF2B5EF4-FFF2-40B4-BE49-F238E27FC236}">
                <a16:creationId xmlns:a16="http://schemas.microsoft.com/office/drawing/2014/main" id="{7F3FE297-47A2-492E-9FF6-D82350488D5D}"/>
              </a:ext>
            </a:extLst>
          </p:cNvPr>
          <p:cNvSpPr>
            <a:spLocks xmlns:a="http://schemas.openxmlformats.org/drawingml/2006/main" noGrp="1"/>
          </p:cNvSpPr>
          <p:nvPr/>
        </p:nvSpPr>
        <p:spPr>
          <a:xfrm xmlns:a="http://schemas.openxmlformats.org/drawingml/2006/main">
            <a:off x="7410450" y="442912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5000"/>
              </a:lnSpc>
              <a:buNone/>
              <a:defRPr sz="975" b="1" i="0">
                <a:solidFill>
                  <a:srgbClr val="E5430A"/>
                </a:solidFill>
                <a:latin typeface="Arial"/>
                <a:ea typeface="Arial"/>
                <a:cs typeface="Arial"/>
              </a:defRPr>
            </a:pPr>
            <a:r>
              <a:rPr sz="975" b="1" i="0">
                <a:solidFill>
                  <a:srgbClr val="E5430A"/>
                </a:solidFill>
                <a:latin typeface="Arial"/>
                <a:ea typeface="Arial"/>
                <a:cs typeface="Arial"/>
              </a:rPr>
              <a:t>1.12 TB</a:t>
            </a:r>
          </a:p>
        </p:txBody>
      </p:sp>
      <p:sp>
        <p:nvSpPr>
          <p:cNvPr id="86" name="Rounded Rectangle 85">
            <a:extLst xmlns:a="http://schemas.openxmlformats.org/drawingml/2006/main">
              <a:ext uri="{FF2B5EF4-FFF2-40B4-BE49-F238E27FC236}">
                <a16:creationId xmlns:a16="http://schemas.microsoft.com/office/drawing/2014/main" id="{5312FDA9-C15A-4830-833B-38371EE64A72}"/>
              </a:ext>
            </a:extLst>
          </p:cNvPr>
          <p:cNvSpPr>
            <a:spLocks xmlns:a="http://schemas.openxmlformats.org/drawingml/2006/main" noGrp="1"/>
          </p:cNvSpPr>
          <p:nvPr/>
        </p:nvSpPr>
        <p:spPr>
          <a:xfrm xmlns:a="http://schemas.openxmlformats.org/drawingml/2006/main">
            <a:off x="8039100" y="2076450"/>
            <a:ext cx="3857625" cy="2590800"/>
          </a:xfrm>
          <a:prstGeom xmlns:a="http://schemas.openxmlformats.org/drawingml/2006/main" prst="roundRect">
            <a:avLst>
              <a:gd name="adj" fmla="val 2206"/>
            </a:avLst>
          </a:prstGeom>
          <a:solidFill xmlns:a="http://schemas.openxmlformats.org/drawingml/2006/main">
            <a:srgbClr val="FFFFFF"/>
          </a:solidFill>
          <a:ln xmlns:a="http://schemas.openxmlformats.org/drawingml/2006/main" w="9525">
            <a:solidFill>
              <a:srgbClr val="EAECE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pic>
        <p:nvPicPr>
          <p:cNvPr id="248" name="Picture 214"/>
          <p:cNvPicPr>
            <a:picLocks xmlns:a="http://schemas.openxmlformats.org/drawingml/2006/main" noChangeAspect="1"/>
          </p:cNvPicPr>
          <p:nvPr/>
        </p:nvPicPr>
        <p:blipFill>
          <a:blip xmlns:r="http://schemas.openxmlformats.org/officeDocument/2006/relationships" xmlns:a="http://schemas.openxmlformats.org/drawingml/2006/main" r:embed="R2af69f407ac24fba"/>
          <a:stretch xmlns:a="http://schemas.openxmlformats.org/drawingml/2006/main"/>
        </p:blipFill>
        <p:spPr>
          <a:xfrm xmlns:a="http://schemas.openxmlformats.org/drawingml/2006/main">
            <a:off x="8229099" y="1885950"/>
            <a:ext cx="210553" cy="285750"/>
          </a:xfrm>
          <a:prstGeom xmlns:a="http://schemas.openxmlformats.org/drawingml/2006/main" prst="rect">
            <a:avLst/>
          </a:prstGeom>
        </p:spPr>
      </p:pic>
      <p:sp>
        <p:nvSpPr>
          <p:cNvPr id="88" name="Rectangle 87">
            <a:extLst xmlns:a="http://schemas.openxmlformats.org/drawingml/2006/main">
              <a:ext uri="{FF2B5EF4-FFF2-40B4-BE49-F238E27FC236}">
                <a16:creationId xmlns:a16="http://schemas.microsoft.com/office/drawing/2014/main" id="{75D6CD2C-D5FC-4F72-8C37-51E375030357}"/>
              </a:ext>
            </a:extLst>
          </p:cNvPr>
          <p:cNvSpPr>
            <a:spLocks xmlns:a="http://schemas.openxmlformats.org/drawingml/2006/main" noGrp="1"/>
          </p:cNvSpPr>
          <p:nvPr/>
        </p:nvSpPr>
        <p:spPr>
          <a:xfrm xmlns:a="http://schemas.openxmlformats.org/drawingml/2006/main">
            <a:off x="8582025" y="19716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1" i="0">
                <a:solidFill>
                  <a:srgbClr val="E5430A"/>
                </a:solidFill>
                <a:latin typeface="Arial"/>
                <a:ea typeface="Arial"/>
                <a:cs typeface="Arial"/>
              </a:defRPr>
            </a:pPr>
            <a:r>
              <a:rPr sz="1050" b="1" i="0">
                <a:solidFill>
                  <a:srgbClr val="E5430A"/>
                </a:solidFill>
                <a:latin typeface="Arial"/>
                <a:ea typeface="Arial"/>
                <a:cs typeface="Arial"/>
              </a:rPr>
              <a:t>Storage Mix (by VPU)</a:t>
            </a:r>
          </a:p>
        </p:txBody>
      </p:sp>
      <p:sp>
        <p:nvSpPr>
          <p:cNvPr id="89" name="Rectangle 88">
            <a:extLst xmlns:a="http://schemas.openxmlformats.org/drawingml/2006/main">
              <a:ext uri="{FF2B5EF4-FFF2-40B4-BE49-F238E27FC236}">
                <a16:creationId xmlns:a16="http://schemas.microsoft.com/office/drawing/2014/main" id="{AEE4DA82-5460-46E1-9DC4-AD419C6C4CDE}"/>
              </a:ext>
            </a:extLst>
          </p:cNvPr>
          <p:cNvSpPr>
            <a:spLocks xmlns:a="http://schemas.openxmlformats.org/drawingml/2006/main" noGrp="1"/>
          </p:cNvSpPr>
          <p:nvPr/>
        </p:nvSpPr>
        <p:spPr>
          <a:xfrm xmlns:a="http://schemas.openxmlformats.org/drawingml/2006/main">
            <a:off x="8162925" y="2476500"/>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675" b="1" i="0">
                <a:solidFill>
                  <a:srgbClr val="111111"/>
                </a:solidFill>
                <a:latin typeface="Arial"/>
                <a:ea typeface="Arial"/>
                <a:cs typeface="Arial"/>
              </a:defRPr>
            </a:pPr>
            <a:r>
              <a:rPr sz="675" b="1" i="0">
                <a:solidFill>
                  <a:srgbClr val="111111"/>
                </a:solidFill>
                <a:latin typeface="Arial"/>
                <a:ea typeface="Arial"/>
                <a:cs typeface="Arial"/>
              </a:rPr>
              <a:t>VPU Range (per VM)</a:t>
            </a:r>
          </a:p>
        </p:txBody>
      </p:sp>
      <p:sp>
        <p:nvSpPr>
          <p:cNvPr id="90" name="Rectangle 89">
            <a:extLst xmlns:a="http://schemas.openxmlformats.org/drawingml/2006/main">
              <a:ext uri="{FF2B5EF4-FFF2-40B4-BE49-F238E27FC236}">
                <a16:creationId xmlns:a16="http://schemas.microsoft.com/office/drawing/2014/main" id="{EBAF7888-3E2E-4270-A0E1-1FC6F2480AE2}"/>
              </a:ext>
            </a:extLst>
          </p:cNvPr>
          <p:cNvSpPr>
            <a:spLocks xmlns:a="http://schemas.openxmlformats.org/drawingml/2006/main" noGrp="1"/>
          </p:cNvSpPr>
          <p:nvPr/>
        </p:nvSpPr>
        <p:spPr>
          <a:xfrm xmlns:a="http://schemas.openxmlformats.org/drawingml/2006/main">
            <a:off x="9296400" y="2371725"/>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0000"/>
              </a:lnSpc>
              <a:buNone/>
              <a:defRPr sz="675" b="1" i="0">
                <a:solidFill>
                  <a:srgbClr val="111111"/>
                </a:solidFill>
                <a:latin typeface="Arial"/>
                <a:ea typeface="Arial"/>
                <a:cs typeface="Arial"/>
              </a:defRPr>
            </a:pPr>
            <a:r>
              <a:rPr sz="675" b="1" i="0">
                <a:solidFill>
                  <a:srgbClr val="111111"/>
                </a:solidFill>
                <a:latin typeface="Arial"/>
                <a:ea typeface="Arial"/>
                <a:cs typeface="Arial"/>
              </a:rPr>
              <a:t>Performance Tier</a:t>
            </a:r>
          </a:p>
          <a:p xmlns:a="http://schemas.openxmlformats.org/drawingml/2006/main">
            <a:pPr algn="ctr">
              <a:lnSpc>
                <a:spcPct val="100000"/>
              </a:lnSpc>
              <a:buNone/>
              <a:defRPr sz="675" b="1" i="0">
                <a:solidFill>
                  <a:srgbClr val="111111"/>
                </a:solidFill>
                <a:latin typeface="Arial"/>
                <a:ea typeface="Arial"/>
                <a:cs typeface="Arial"/>
              </a:defRPr>
            </a:pPr>
            <a:r>
              <a:rPr sz="675" b="1" i="0">
                <a:solidFill>
                  <a:srgbClr val="111111"/>
                </a:solidFill>
                <a:latin typeface="Arial"/>
                <a:ea typeface="Arial"/>
                <a:cs typeface="Arial"/>
              </a:rPr>
              <a:t>(IOPS)</a:t>
            </a:r>
          </a:p>
        </p:txBody>
      </p:sp>
      <p:sp>
        <p:nvSpPr>
          <p:cNvPr id="91" name="Rectangle 90">
            <a:extLst xmlns:a="http://schemas.openxmlformats.org/drawingml/2006/main">
              <a:ext uri="{FF2B5EF4-FFF2-40B4-BE49-F238E27FC236}">
                <a16:creationId xmlns:a16="http://schemas.microsoft.com/office/drawing/2014/main" id="{DE3D75F0-78B8-46F5-8B52-83F968BF35EB}"/>
              </a:ext>
            </a:extLst>
          </p:cNvPr>
          <p:cNvSpPr>
            <a:spLocks xmlns:a="http://schemas.openxmlformats.org/drawingml/2006/main" noGrp="1"/>
          </p:cNvSpPr>
          <p:nvPr/>
        </p:nvSpPr>
        <p:spPr>
          <a:xfrm xmlns:a="http://schemas.openxmlformats.org/drawingml/2006/main">
            <a:off x="10306050" y="24765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675" b="1" i="0">
                <a:solidFill>
                  <a:srgbClr val="111111"/>
                </a:solidFill>
                <a:latin typeface="Arial"/>
                <a:ea typeface="Arial"/>
                <a:cs typeface="Arial"/>
              </a:defRPr>
            </a:pPr>
            <a:r>
              <a:rPr sz="675" b="1" i="0">
                <a:solidFill>
                  <a:srgbClr val="111111"/>
                </a:solidFill>
                <a:latin typeface="Arial"/>
                <a:ea typeface="Arial"/>
                <a:cs typeface="Arial"/>
              </a:rPr>
              <a:t>Total VMs</a:t>
            </a:r>
          </a:p>
        </p:txBody>
      </p:sp>
      <p:sp>
        <p:nvSpPr>
          <p:cNvPr id="92" name="Rectangle 91">
            <a:extLst xmlns:a="http://schemas.openxmlformats.org/drawingml/2006/main">
              <a:ext uri="{FF2B5EF4-FFF2-40B4-BE49-F238E27FC236}">
                <a16:creationId xmlns:a16="http://schemas.microsoft.com/office/drawing/2014/main" id="{E79ED864-ABA8-4EBF-A835-E44E21D1E335}"/>
              </a:ext>
            </a:extLst>
          </p:cNvPr>
          <p:cNvSpPr>
            <a:spLocks xmlns:a="http://schemas.openxmlformats.org/drawingml/2006/main" noGrp="1"/>
          </p:cNvSpPr>
          <p:nvPr/>
        </p:nvSpPr>
        <p:spPr>
          <a:xfrm xmlns:a="http://schemas.openxmlformats.org/drawingml/2006/main">
            <a:off x="10858500" y="24765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675" b="1" i="0">
                <a:solidFill>
                  <a:srgbClr val="111111"/>
                </a:solidFill>
                <a:latin typeface="Arial"/>
                <a:ea typeface="Arial"/>
                <a:cs typeface="Arial"/>
              </a:defRPr>
            </a:pPr>
            <a:r>
              <a:rPr sz="675" b="1" i="0">
                <a:solidFill>
                  <a:srgbClr val="111111"/>
                </a:solidFill>
                <a:latin typeface="Arial"/>
                <a:ea typeface="Arial"/>
                <a:cs typeface="Arial"/>
              </a:rPr>
              <a:t>Total VPU</a:t>
            </a:r>
          </a:p>
        </p:txBody>
      </p:sp>
      <p:sp>
        <p:nvSpPr>
          <p:cNvPr id="93" name="Rectangle 92">
            <a:extLst xmlns:a="http://schemas.openxmlformats.org/drawingml/2006/main">
              <a:ext uri="{FF2B5EF4-FFF2-40B4-BE49-F238E27FC236}">
                <a16:creationId xmlns:a16="http://schemas.microsoft.com/office/drawing/2014/main" id="{E68EB8E9-A3D5-4C1C-A67B-DEF913B1AC07}"/>
              </a:ext>
            </a:extLst>
          </p:cNvPr>
          <p:cNvSpPr>
            <a:spLocks xmlns:a="http://schemas.openxmlformats.org/drawingml/2006/main" noGrp="1"/>
          </p:cNvSpPr>
          <p:nvPr/>
        </p:nvSpPr>
        <p:spPr>
          <a:xfrm xmlns:a="http://schemas.openxmlformats.org/drawingml/2006/main">
            <a:off x="11420475" y="24765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675" b="1" i="0">
                <a:solidFill>
                  <a:srgbClr val="111111"/>
                </a:solidFill>
                <a:latin typeface="Arial"/>
                <a:ea typeface="Arial"/>
                <a:cs typeface="Arial"/>
              </a:defRPr>
            </a:pPr>
            <a:r>
              <a:rPr sz="675" b="1" i="0">
                <a:solidFill>
                  <a:srgbClr val="111111"/>
                </a:solidFill>
                <a:latin typeface="Arial"/>
                <a:ea typeface="Arial"/>
                <a:cs typeface="Arial"/>
              </a:rPr>
              <a:t>Capacity</a:t>
            </a:r>
          </a:p>
        </p:txBody>
      </p:sp>
      <p:sp>
        <p:nvSpPr>
          <p:cNvPr id="94" name="Straight Connector 93">
            <a:extLst xmlns:a="http://schemas.openxmlformats.org/drawingml/2006/main">
              <a:ext uri="{FF2B5EF4-FFF2-40B4-BE49-F238E27FC236}">
                <a16:creationId xmlns:a16="http://schemas.microsoft.com/office/drawing/2014/main" id="{21686307-8643-43E5-B34D-F876D3170A8F}"/>
              </a:ext>
            </a:extLst>
          </p:cNvPr>
          <p:cNvSpPr>
            <a:spLocks xmlns:a="http://schemas.openxmlformats.org/drawingml/2006/main" noGrp="1"/>
          </p:cNvSpPr>
          <p:nvPr/>
        </p:nvSpPr>
        <p:spPr>
          <a:xfrm xmlns:a="http://schemas.openxmlformats.org/drawingml/2006/main">
            <a:off x="8153400" y="2743200"/>
            <a:ext cx="3629025" cy="0"/>
          </a:xfrm>
          <a:prstGeom xmlns:a="http://schemas.openxmlformats.org/drawingml/2006/main" prst="line">
            <a:avLst/>
          </a:prstGeom>
          <a:noFill xmlns:a="http://schemas.openxmlformats.org/drawingml/2006/main"/>
          <a:ln xmlns:a="http://schemas.openxmlformats.org/drawingml/2006/main" w="9525">
            <a:solidFill>
              <a:srgbClr val="D9DCD9"/>
            </a:solidFill>
            <a:prstDash val="solid"/>
          </a:ln>
        </p:spPr>
        <p:txBody>
          <a:bodyPr xmlns:a="http://schemas.openxmlformats.org/drawingml/2006/main"/>
          <a:lstStyle xmlns:a="http://schemas.openxmlformats.org/drawingml/2006/main"/>
          <a:p xmlns:a="http://schemas.openxmlformats.org/drawingml/2006/main">
            <a:endParaRPr/>
          </a:p>
        </p:txBody>
      </p:sp>
      <p:sp>
        <p:nvSpPr>
          <p:cNvPr id="95" name="Straight Connector 94">
            <a:extLst xmlns:a="http://schemas.openxmlformats.org/drawingml/2006/main">
              <a:ext uri="{FF2B5EF4-FFF2-40B4-BE49-F238E27FC236}">
                <a16:creationId xmlns:a16="http://schemas.microsoft.com/office/drawing/2014/main" id="{2ECAE0F2-EF88-4A98-B771-D7BB18971454}"/>
              </a:ext>
            </a:extLst>
          </p:cNvPr>
          <p:cNvSpPr>
            <a:spLocks xmlns:a="http://schemas.openxmlformats.org/drawingml/2006/main" noGrp="1"/>
          </p:cNvSpPr>
          <p:nvPr/>
        </p:nvSpPr>
        <p:spPr>
          <a:xfrm xmlns:a="http://schemas.openxmlformats.org/drawingml/2006/main">
            <a:off x="8153400" y="3228975"/>
            <a:ext cx="3629025" cy="0"/>
          </a:xfrm>
          <a:prstGeom xmlns:a="http://schemas.openxmlformats.org/drawingml/2006/main" prst="line">
            <a:avLst/>
          </a:prstGeom>
          <a:noFill xmlns:a="http://schemas.openxmlformats.org/drawingml/2006/main"/>
          <a:ln xmlns:a="http://schemas.openxmlformats.org/drawingml/2006/main" w="9525">
            <a:solidFill>
              <a:srgbClr val="D9DCD9"/>
            </a:solidFill>
            <a:prstDash val="solid"/>
          </a:ln>
        </p:spPr>
        <p:txBody>
          <a:bodyPr xmlns:a="http://schemas.openxmlformats.org/drawingml/2006/main"/>
          <a:lstStyle xmlns:a="http://schemas.openxmlformats.org/drawingml/2006/main"/>
          <a:p xmlns:a="http://schemas.openxmlformats.org/drawingml/2006/main">
            <a:endParaRPr/>
          </a:p>
        </p:txBody>
      </p:sp>
      <p:sp>
        <p:nvSpPr>
          <p:cNvPr id="96" name="Straight Connector 95">
            <a:extLst xmlns:a="http://schemas.openxmlformats.org/drawingml/2006/main">
              <a:ext uri="{FF2B5EF4-FFF2-40B4-BE49-F238E27FC236}">
                <a16:creationId xmlns:a16="http://schemas.microsoft.com/office/drawing/2014/main" id="{404B08FB-074A-48C4-813C-39DFC64DB7B2}"/>
              </a:ext>
            </a:extLst>
          </p:cNvPr>
          <p:cNvSpPr>
            <a:spLocks xmlns:a="http://schemas.openxmlformats.org/drawingml/2006/main" noGrp="1"/>
          </p:cNvSpPr>
          <p:nvPr/>
        </p:nvSpPr>
        <p:spPr>
          <a:xfrm xmlns:a="http://schemas.openxmlformats.org/drawingml/2006/main">
            <a:off x="8153400" y="3724275"/>
            <a:ext cx="3629025" cy="0"/>
          </a:xfrm>
          <a:prstGeom xmlns:a="http://schemas.openxmlformats.org/drawingml/2006/main" prst="line">
            <a:avLst/>
          </a:prstGeom>
          <a:noFill xmlns:a="http://schemas.openxmlformats.org/drawingml/2006/main"/>
          <a:ln xmlns:a="http://schemas.openxmlformats.org/drawingml/2006/main" w="9525">
            <a:solidFill>
              <a:srgbClr val="D9DCD9"/>
            </a:solidFill>
            <a:prstDash val="solid"/>
          </a:ln>
        </p:spPr>
        <p:txBody>
          <a:bodyPr xmlns:a="http://schemas.openxmlformats.org/drawingml/2006/main"/>
          <a:lstStyle xmlns:a="http://schemas.openxmlformats.org/drawingml/2006/main"/>
          <a:p xmlns:a="http://schemas.openxmlformats.org/drawingml/2006/main">
            <a:endParaRPr/>
          </a:p>
        </p:txBody>
      </p:sp>
      <p:sp>
        <p:nvSpPr>
          <p:cNvPr id="97" name="Straight Connector 96">
            <a:extLst xmlns:a="http://schemas.openxmlformats.org/drawingml/2006/main">
              <a:ext uri="{FF2B5EF4-FFF2-40B4-BE49-F238E27FC236}">
                <a16:creationId xmlns:a16="http://schemas.microsoft.com/office/drawing/2014/main" id="{C9A607F0-BB33-4318-A9D2-C343406883EE}"/>
              </a:ext>
            </a:extLst>
          </p:cNvPr>
          <p:cNvSpPr>
            <a:spLocks xmlns:a="http://schemas.openxmlformats.org/drawingml/2006/main" noGrp="1"/>
          </p:cNvSpPr>
          <p:nvPr/>
        </p:nvSpPr>
        <p:spPr>
          <a:xfrm xmlns:a="http://schemas.openxmlformats.org/drawingml/2006/main">
            <a:off x="8153400" y="4210050"/>
            <a:ext cx="3629025" cy="0"/>
          </a:xfrm>
          <a:prstGeom xmlns:a="http://schemas.openxmlformats.org/drawingml/2006/main" prst="line">
            <a:avLst/>
          </a:prstGeom>
          <a:noFill xmlns:a="http://schemas.openxmlformats.org/drawingml/2006/main"/>
          <a:ln xmlns:a="http://schemas.openxmlformats.org/drawingml/2006/main" w="9525">
            <a:solidFill>
              <a:srgbClr val="D9DCD9"/>
            </a:solidFill>
            <a:prstDash val="solid"/>
          </a:ln>
        </p:spPr>
        <p:txBody>
          <a:bodyPr xmlns:a="http://schemas.openxmlformats.org/drawingml/2006/main"/>
          <a:lstStyle xmlns:a="http://schemas.openxmlformats.org/drawingml/2006/main"/>
          <a:p xmlns:a="http://schemas.openxmlformats.org/drawingml/2006/main">
            <a:endParaRPr/>
          </a:p>
        </p:txBody>
      </p:sp>
      <p:sp>
        <p:nvSpPr>
          <p:cNvPr id="98" name="editable-hybrid-native-vpu-label-row-1">
            <a:extLst xmlns:a="http://schemas.openxmlformats.org/drawingml/2006/main">
              <a:ext uri="{FF2B5EF4-FFF2-40B4-BE49-F238E27FC236}">
                <a16:creationId xmlns:a16="http://schemas.microsoft.com/office/drawing/2014/main" id="{25C3354F-E633-4187-9F32-C65FF7EB7FD1}"/>
              </a:ext>
            </a:extLst>
          </p:cNvPr>
          <p:cNvSpPr>
            <a:spLocks xmlns:a="http://schemas.openxmlformats.org/drawingml/2006/main" noGrp="1"/>
          </p:cNvSpPr>
          <p:nvPr/>
        </p:nvSpPr>
        <p:spPr>
          <a:xfrm xmlns:a="http://schemas.openxmlformats.org/drawingml/2006/main">
            <a:off x="8162925" y="2914650"/>
            <a:ext cx="1000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0 - 20 VPU</a:t>
            </a:r>
          </a:p>
        </p:txBody>
      </p:sp>
      <p:sp>
        <p:nvSpPr>
          <p:cNvPr id="99" name="Rectangle 98">
            <a:extLst xmlns:a="http://schemas.openxmlformats.org/drawingml/2006/main">
              <a:ext uri="{FF2B5EF4-FFF2-40B4-BE49-F238E27FC236}">
                <a16:creationId xmlns:a16="http://schemas.microsoft.com/office/drawing/2014/main" id="{12FA3CEF-1D61-4241-A05C-2352A195FA48}"/>
              </a:ext>
            </a:extLst>
          </p:cNvPr>
          <p:cNvSpPr>
            <a:spLocks xmlns:a="http://schemas.openxmlformats.org/drawingml/2006/main" noGrp="1"/>
          </p:cNvSpPr>
          <p:nvPr/>
        </p:nvSpPr>
        <p:spPr>
          <a:xfrm xmlns:a="http://schemas.openxmlformats.org/drawingml/2006/main">
            <a:off x="9296400" y="291465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0000"/>
              </a:lnSpc>
              <a:buNone/>
              <a:defRPr sz="675" b="1" i="0">
                <a:solidFill>
                  <a:srgbClr val="111111"/>
                </a:solidFill>
                <a:latin typeface="Arial"/>
                <a:ea typeface="Arial"/>
                <a:cs typeface="Arial"/>
              </a:defRPr>
            </a:pPr>
            <a:r>
              <a:rPr sz="675" b="1" i="0">
                <a:solidFill>
                  <a:srgbClr val="111111"/>
                </a:solidFill>
                <a:latin typeface="Arial"/>
                <a:ea typeface="Arial"/>
                <a:cs typeface="Arial"/>
              </a:rPr>
              <a:t>Balanced</a:t>
            </a:r>
          </a:p>
          <a:p xmlns:a="http://schemas.openxmlformats.org/drawingml/2006/main">
            <a:pPr algn="ctr">
              <a:lnSpc>
                <a:spcPct val="100000"/>
              </a:lnSpc>
              <a:buNone/>
              <a:defRPr sz="675" b="1" i="0">
                <a:solidFill>
                  <a:srgbClr val="111111"/>
                </a:solidFill>
                <a:latin typeface="Arial"/>
                <a:ea typeface="Arial"/>
                <a:cs typeface="Arial"/>
              </a:defRPr>
            </a:pPr>
            <a:r>
              <a:rPr sz="675" b="1" i="0">
                <a:solidFill>
                  <a:srgbClr val="111111"/>
                </a:solidFill>
                <a:latin typeface="Arial"/>
                <a:ea typeface="Arial"/>
                <a:cs typeface="Arial"/>
              </a:rPr>
              <a:t>(10K IOPS)</a:t>
            </a:r>
          </a:p>
        </p:txBody>
      </p:sp>
      <p:sp>
        <p:nvSpPr>
          <p:cNvPr id="100" name="editable-hybrid-native-vpu-vms-row-1">
            <a:extLst xmlns:a="http://schemas.openxmlformats.org/drawingml/2006/main">
              <a:ext uri="{FF2B5EF4-FFF2-40B4-BE49-F238E27FC236}">
                <a16:creationId xmlns:a16="http://schemas.microsoft.com/office/drawing/2014/main" id="{BF0A28B6-E37E-4C9B-9A16-D2272E8F04EA}"/>
              </a:ext>
            </a:extLst>
          </p:cNvPr>
          <p:cNvSpPr>
            <a:spLocks xmlns:a="http://schemas.openxmlformats.org/drawingml/2006/main" noGrp="1"/>
          </p:cNvSpPr>
          <p:nvPr/>
        </p:nvSpPr>
        <p:spPr>
          <a:xfrm xmlns:a="http://schemas.openxmlformats.org/drawingml/2006/main">
            <a:off x="10306050" y="29527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30</a:t>
            </a:r>
          </a:p>
        </p:txBody>
      </p:sp>
      <p:sp>
        <p:nvSpPr>
          <p:cNvPr id="101" name="editable-hybrid-native-vpu-total-row-1">
            <a:extLst xmlns:a="http://schemas.openxmlformats.org/drawingml/2006/main">
              <a:ext uri="{FF2B5EF4-FFF2-40B4-BE49-F238E27FC236}">
                <a16:creationId xmlns:a16="http://schemas.microsoft.com/office/drawing/2014/main" id="{2708FD68-FBD3-40B5-80FB-F30F340C191C}"/>
              </a:ext>
            </a:extLst>
          </p:cNvPr>
          <p:cNvSpPr>
            <a:spLocks xmlns:a="http://schemas.openxmlformats.org/drawingml/2006/main" noGrp="1"/>
          </p:cNvSpPr>
          <p:nvPr/>
        </p:nvSpPr>
        <p:spPr>
          <a:xfrm xmlns:a="http://schemas.openxmlformats.org/drawingml/2006/main">
            <a:off x="10858500" y="2952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180</a:t>
            </a:r>
          </a:p>
        </p:txBody>
      </p:sp>
      <p:sp>
        <p:nvSpPr>
          <p:cNvPr id="102" name="editable-hybrid-native-vpu-storage-row-1">
            <a:extLst xmlns:a="http://schemas.openxmlformats.org/drawingml/2006/main">
              <a:ext uri="{FF2B5EF4-FFF2-40B4-BE49-F238E27FC236}">
                <a16:creationId xmlns:a16="http://schemas.microsoft.com/office/drawing/2014/main" id="{6F30D965-4536-4263-8F7D-B74AA743D96F}"/>
              </a:ext>
            </a:extLst>
          </p:cNvPr>
          <p:cNvSpPr>
            <a:spLocks xmlns:a="http://schemas.openxmlformats.org/drawingml/2006/main" noGrp="1"/>
          </p:cNvSpPr>
          <p:nvPr/>
        </p:nvSpPr>
        <p:spPr>
          <a:xfrm xmlns:a="http://schemas.openxmlformats.org/drawingml/2006/main">
            <a:off x="11420475" y="29527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5.4 TB</a:t>
            </a:r>
          </a:p>
        </p:txBody>
      </p:sp>
      <p:sp>
        <p:nvSpPr>
          <p:cNvPr id="103" name="editable-hybrid-native-vpu-label-row-2">
            <a:extLst xmlns:a="http://schemas.openxmlformats.org/drawingml/2006/main">
              <a:ext uri="{FF2B5EF4-FFF2-40B4-BE49-F238E27FC236}">
                <a16:creationId xmlns:a16="http://schemas.microsoft.com/office/drawing/2014/main" id="{2416F431-22CA-4893-B534-F222A79C2470}"/>
              </a:ext>
            </a:extLst>
          </p:cNvPr>
          <p:cNvSpPr>
            <a:spLocks xmlns:a="http://schemas.openxmlformats.org/drawingml/2006/main" noGrp="1"/>
          </p:cNvSpPr>
          <p:nvPr/>
        </p:nvSpPr>
        <p:spPr>
          <a:xfrm xmlns:a="http://schemas.openxmlformats.org/drawingml/2006/main">
            <a:off x="8162925" y="3409950"/>
            <a:ext cx="1000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21 - 80 VPU</a:t>
            </a:r>
          </a:p>
        </p:txBody>
      </p:sp>
      <p:sp>
        <p:nvSpPr>
          <p:cNvPr id="104" name="Rectangle 103">
            <a:extLst xmlns:a="http://schemas.openxmlformats.org/drawingml/2006/main">
              <a:ext uri="{FF2B5EF4-FFF2-40B4-BE49-F238E27FC236}">
                <a16:creationId xmlns:a16="http://schemas.microsoft.com/office/drawing/2014/main" id="{B431360A-20A5-4F47-A0EE-97FE502D8527}"/>
              </a:ext>
            </a:extLst>
          </p:cNvPr>
          <p:cNvSpPr>
            <a:spLocks xmlns:a="http://schemas.openxmlformats.org/drawingml/2006/main" noGrp="1"/>
          </p:cNvSpPr>
          <p:nvPr/>
        </p:nvSpPr>
        <p:spPr>
          <a:xfrm xmlns:a="http://schemas.openxmlformats.org/drawingml/2006/main">
            <a:off x="9296400" y="340995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0000"/>
              </a:lnSpc>
              <a:buNone/>
              <a:defRPr sz="675" b="1" i="0">
                <a:solidFill>
                  <a:srgbClr val="111111"/>
                </a:solidFill>
                <a:latin typeface="Arial"/>
                <a:ea typeface="Arial"/>
                <a:cs typeface="Arial"/>
              </a:defRPr>
            </a:pPr>
            <a:r>
              <a:rPr sz="675" b="1" i="0">
                <a:solidFill>
                  <a:srgbClr val="111111"/>
                </a:solidFill>
                <a:latin typeface="Arial"/>
                <a:ea typeface="Arial"/>
                <a:cs typeface="Arial"/>
              </a:rPr>
              <a:t>Balanced</a:t>
            </a:r>
          </a:p>
          <a:p xmlns:a="http://schemas.openxmlformats.org/drawingml/2006/main">
            <a:pPr algn="ctr">
              <a:lnSpc>
                <a:spcPct val="100000"/>
              </a:lnSpc>
              <a:buNone/>
              <a:defRPr sz="675" b="1" i="0">
                <a:solidFill>
                  <a:srgbClr val="111111"/>
                </a:solidFill>
                <a:latin typeface="Arial"/>
                <a:ea typeface="Arial"/>
                <a:cs typeface="Arial"/>
              </a:defRPr>
            </a:pPr>
            <a:r>
              <a:rPr sz="675" b="1" i="0">
                <a:solidFill>
                  <a:srgbClr val="111111"/>
                </a:solidFill>
                <a:latin typeface="Arial"/>
                <a:ea typeface="Arial"/>
                <a:cs typeface="Arial"/>
              </a:rPr>
              <a:t>(20K IOPS)</a:t>
            </a:r>
          </a:p>
        </p:txBody>
      </p:sp>
      <p:sp>
        <p:nvSpPr>
          <p:cNvPr id="105" name="editable-hybrid-native-vpu-vms-row-2">
            <a:extLst xmlns:a="http://schemas.openxmlformats.org/drawingml/2006/main">
              <a:ext uri="{FF2B5EF4-FFF2-40B4-BE49-F238E27FC236}">
                <a16:creationId xmlns:a16="http://schemas.microsoft.com/office/drawing/2014/main" id="{15CB0212-6134-4E7D-AFEE-62EFB0DF248F}"/>
              </a:ext>
            </a:extLst>
          </p:cNvPr>
          <p:cNvSpPr>
            <a:spLocks xmlns:a="http://schemas.openxmlformats.org/drawingml/2006/main" noGrp="1"/>
          </p:cNvSpPr>
          <p:nvPr/>
        </p:nvSpPr>
        <p:spPr>
          <a:xfrm xmlns:a="http://schemas.openxmlformats.org/drawingml/2006/main">
            <a:off x="10306050" y="34480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30</a:t>
            </a:r>
          </a:p>
        </p:txBody>
      </p:sp>
      <p:sp>
        <p:nvSpPr>
          <p:cNvPr id="106" name="editable-hybrid-native-vpu-total-row-2">
            <a:extLst xmlns:a="http://schemas.openxmlformats.org/drawingml/2006/main">
              <a:ext uri="{FF2B5EF4-FFF2-40B4-BE49-F238E27FC236}">
                <a16:creationId xmlns:a16="http://schemas.microsoft.com/office/drawing/2014/main" id="{BAF4A5E7-8562-4B8B-9E24-6EA59D7E4547}"/>
              </a:ext>
            </a:extLst>
          </p:cNvPr>
          <p:cNvSpPr>
            <a:spLocks xmlns:a="http://schemas.openxmlformats.org/drawingml/2006/main" noGrp="1"/>
          </p:cNvSpPr>
          <p:nvPr/>
        </p:nvSpPr>
        <p:spPr>
          <a:xfrm xmlns:a="http://schemas.openxmlformats.org/drawingml/2006/main">
            <a:off x="10858500" y="34480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1,200</a:t>
            </a:r>
          </a:p>
        </p:txBody>
      </p:sp>
      <p:sp>
        <p:nvSpPr>
          <p:cNvPr id="107" name="editable-hybrid-native-vpu-storage-row-2">
            <a:extLst xmlns:a="http://schemas.openxmlformats.org/drawingml/2006/main">
              <a:ext uri="{FF2B5EF4-FFF2-40B4-BE49-F238E27FC236}">
                <a16:creationId xmlns:a16="http://schemas.microsoft.com/office/drawing/2014/main" id="{83308A4F-420E-484D-91FB-ED13DE3A7DD0}"/>
              </a:ext>
            </a:extLst>
          </p:cNvPr>
          <p:cNvSpPr>
            <a:spLocks xmlns:a="http://schemas.openxmlformats.org/drawingml/2006/main" noGrp="1"/>
          </p:cNvSpPr>
          <p:nvPr/>
        </p:nvSpPr>
        <p:spPr>
          <a:xfrm xmlns:a="http://schemas.openxmlformats.org/drawingml/2006/main">
            <a:off x="11420475" y="34480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12.0 TB</a:t>
            </a:r>
          </a:p>
        </p:txBody>
      </p:sp>
      <p:sp>
        <p:nvSpPr>
          <p:cNvPr id="108" name="editable-hybrid-native-vpu-label-row-3">
            <a:extLst xmlns:a="http://schemas.openxmlformats.org/drawingml/2006/main">
              <a:ext uri="{FF2B5EF4-FFF2-40B4-BE49-F238E27FC236}">
                <a16:creationId xmlns:a16="http://schemas.microsoft.com/office/drawing/2014/main" id="{8B0EB316-EEB8-4D16-BB5E-1122D66F4545}"/>
              </a:ext>
            </a:extLst>
          </p:cNvPr>
          <p:cNvSpPr>
            <a:spLocks xmlns:a="http://schemas.openxmlformats.org/drawingml/2006/main" noGrp="1"/>
          </p:cNvSpPr>
          <p:nvPr/>
        </p:nvSpPr>
        <p:spPr>
          <a:xfrm xmlns:a="http://schemas.openxmlformats.org/drawingml/2006/main">
            <a:off x="8162925" y="3905250"/>
            <a:ext cx="1000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81 - 1200 VPU</a:t>
            </a:r>
          </a:p>
        </p:txBody>
      </p:sp>
      <p:sp>
        <p:nvSpPr>
          <p:cNvPr id="109" name="Rectangle 108">
            <a:extLst xmlns:a="http://schemas.openxmlformats.org/drawingml/2006/main">
              <a:ext uri="{FF2B5EF4-FFF2-40B4-BE49-F238E27FC236}">
                <a16:creationId xmlns:a16="http://schemas.microsoft.com/office/drawing/2014/main" id="{87E70FA7-EFFD-43A8-9258-B23DAA007EC4}"/>
              </a:ext>
            </a:extLst>
          </p:cNvPr>
          <p:cNvSpPr>
            <a:spLocks xmlns:a="http://schemas.openxmlformats.org/drawingml/2006/main" noGrp="1"/>
          </p:cNvSpPr>
          <p:nvPr/>
        </p:nvSpPr>
        <p:spPr>
          <a:xfrm xmlns:a="http://schemas.openxmlformats.org/drawingml/2006/main">
            <a:off x="9296400" y="390525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0000"/>
              </a:lnSpc>
              <a:buNone/>
              <a:defRPr sz="675" b="1" i="0">
                <a:solidFill>
                  <a:srgbClr val="111111"/>
                </a:solidFill>
                <a:latin typeface="Arial"/>
                <a:ea typeface="Arial"/>
                <a:cs typeface="Arial"/>
              </a:defRPr>
            </a:pPr>
            <a:r>
              <a:rPr sz="675" b="1" i="0">
                <a:solidFill>
                  <a:srgbClr val="111111"/>
                </a:solidFill>
                <a:latin typeface="Arial"/>
                <a:ea typeface="Arial"/>
                <a:cs typeface="Arial"/>
              </a:rPr>
              <a:t>High Performance</a:t>
            </a:r>
          </a:p>
          <a:p xmlns:a="http://schemas.openxmlformats.org/drawingml/2006/main">
            <a:pPr algn="ctr">
              <a:lnSpc>
                <a:spcPct val="100000"/>
              </a:lnSpc>
              <a:buNone/>
              <a:defRPr sz="675" b="1" i="0">
                <a:solidFill>
                  <a:srgbClr val="111111"/>
                </a:solidFill>
                <a:latin typeface="Arial"/>
                <a:ea typeface="Arial"/>
                <a:cs typeface="Arial"/>
              </a:defRPr>
            </a:pPr>
            <a:r>
              <a:rPr sz="675" b="1" i="0">
                <a:solidFill>
                  <a:srgbClr val="111111"/>
                </a:solidFill>
                <a:latin typeface="Arial"/>
                <a:ea typeface="Arial"/>
                <a:cs typeface="Arial"/>
              </a:rPr>
              <a:t>(60K IOPS)</a:t>
            </a:r>
          </a:p>
        </p:txBody>
      </p:sp>
      <p:sp>
        <p:nvSpPr>
          <p:cNvPr id="110" name="editable-hybrid-native-vpu-vms-row-3">
            <a:extLst xmlns:a="http://schemas.openxmlformats.org/drawingml/2006/main">
              <a:ext uri="{FF2B5EF4-FFF2-40B4-BE49-F238E27FC236}">
                <a16:creationId xmlns:a16="http://schemas.microsoft.com/office/drawing/2014/main" id="{D20149C7-B506-4F88-A929-31F6366D8F4C}"/>
              </a:ext>
            </a:extLst>
          </p:cNvPr>
          <p:cNvSpPr>
            <a:spLocks xmlns:a="http://schemas.openxmlformats.org/drawingml/2006/main" noGrp="1"/>
          </p:cNvSpPr>
          <p:nvPr/>
        </p:nvSpPr>
        <p:spPr>
          <a:xfrm xmlns:a="http://schemas.openxmlformats.org/drawingml/2006/main">
            <a:off x="10306050" y="39433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10</a:t>
            </a:r>
          </a:p>
        </p:txBody>
      </p:sp>
      <p:sp>
        <p:nvSpPr>
          <p:cNvPr id="111" name="editable-hybrid-native-vpu-total-row-3">
            <a:extLst xmlns:a="http://schemas.openxmlformats.org/drawingml/2006/main">
              <a:ext uri="{FF2B5EF4-FFF2-40B4-BE49-F238E27FC236}">
                <a16:creationId xmlns:a16="http://schemas.microsoft.com/office/drawing/2014/main" id="{4FC60CAE-904B-4957-B2D3-93A265FF4FC5}"/>
              </a:ext>
            </a:extLst>
          </p:cNvPr>
          <p:cNvSpPr>
            <a:spLocks xmlns:a="http://schemas.openxmlformats.org/drawingml/2006/main" noGrp="1"/>
          </p:cNvSpPr>
          <p:nvPr/>
        </p:nvSpPr>
        <p:spPr>
          <a:xfrm xmlns:a="http://schemas.openxmlformats.org/drawingml/2006/main">
            <a:off x="10858500" y="39433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600</a:t>
            </a:r>
          </a:p>
        </p:txBody>
      </p:sp>
      <p:sp>
        <p:nvSpPr>
          <p:cNvPr id="112" name="editable-hybrid-native-vpu-storage-row-3">
            <a:extLst xmlns:a="http://schemas.openxmlformats.org/drawingml/2006/main">
              <a:ext uri="{FF2B5EF4-FFF2-40B4-BE49-F238E27FC236}">
                <a16:creationId xmlns:a16="http://schemas.microsoft.com/office/drawing/2014/main" id="{7254FA70-035F-4BA6-89CD-D5A2870401E4}"/>
              </a:ext>
            </a:extLst>
          </p:cNvPr>
          <p:cNvSpPr>
            <a:spLocks xmlns:a="http://schemas.openxmlformats.org/drawingml/2006/main" noGrp="1"/>
          </p:cNvSpPr>
          <p:nvPr/>
        </p:nvSpPr>
        <p:spPr>
          <a:xfrm xmlns:a="http://schemas.openxmlformats.org/drawingml/2006/main">
            <a:off x="11420475" y="39433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5000"/>
              </a:lnSpc>
              <a:buNone/>
              <a:defRPr sz="750" b="1" i="0">
                <a:solidFill>
                  <a:srgbClr val="111111"/>
                </a:solidFill>
                <a:latin typeface="Arial"/>
                <a:ea typeface="Arial"/>
                <a:cs typeface="Arial"/>
              </a:defRPr>
            </a:pPr>
            <a:r>
              <a:rPr sz="750" b="1" i="0">
                <a:solidFill>
                  <a:srgbClr val="111111"/>
                </a:solidFill>
                <a:latin typeface="Arial"/>
                <a:ea typeface="Arial"/>
                <a:cs typeface="Arial"/>
              </a:rPr>
              <a:t>6.0 TB</a:t>
            </a:r>
          </a:p>
        </p:txBody>
      </p:sp>
      <p:sp>
        <p:nvSpPr>
          <p:cNvPr id="113" name="Rectangle 112">
            <a:extLst xmlns:a="http://schemas.openxmlformats.org/drawingml/2006/main">
              <a:ext uri="{FF2B5EF4-FFF2-40B4-BE49-F238E27FC236}">
                <a16:creationId xmlns:a16="http://schemas.microsoft.com/office/drawing/2014/main" id="{79402B0F-5394-4841-928D-B5977A313F91}"/>
              </a:ext>
            </a:extLst>
          </p:cNvPr>
          <p:cNvSpPr>
            <a:spLocks xmlns:a="http://schemas.openxmlformats.org/drawingml/2006/main" noGrp="1"/>
          </p:cNvSpPr>
          <p:nvPr/>
        </p:nvSpPr>
        <p:spPr>
          <a:xfrm xmlns:a="http://schemas.openxmlformats.org/drawingml/2006/main">
            <a:off x="8039100" y="4276725"/>
            <a:ext cx="3857625" cy="390525"/>
          </a:xfrm>
          <a:prstGeom xmlns:a="http://schemas.openxmlformats.org/drawingml/2006/main" prst="rect">
            <a:avLst/>
          </a:prstGeom>
          <a:solidFill xmlns:a="http://schemas.openxmlformats.org/drawingml/2006/main">
            <a:srgbClr val="FFF0E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4" name="Rectangle 113">
            <a:extLst xmlns:a="http://schemas.openxmlformats.org/drawingml/2006/main">
              <a:ext uri="{FF2B5EF4-FFF2-40B4-BE49-F238E27FC236}">
                <a16:creationId xmlns:a16="http://schemas.microsoft.com/office/drawing/2014/main" id="{FB8DF613-E128-4044-92F1-A7D6288B087E}"/>
              </a:ext>
            </a:extLst>
          </p:cNvPr>
          <p:cNvSpPr>
            <a:spLocks xmlns:a="http://schemas.openxmlformats.org/drawingml/2006/main" noGrp="1"/>
          </p:cNvSpPr>
          <p:nvPr/>
        </p:nvSpPr>
        <p:spPr>
          <a:xfrm xmlns:a="http://schemas.openxmlformats.org/drawingml/2006/main">
            <a:off x="8162925" y="4429125"/>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1050" b="1" i="0">
                <a:solidFill>
                  <a:srgbClr val="E5430A"/>
                </a:solidFill>
                <a:latin typeface="Arial"/>
                <a:ea typeface="Arial"/>
                <a:cs typeface="Arial"/>
              </a:defRPr>
            </a:pPr>
            <a:r>
              <a:rPr sz="1050" b="1" i="0">
                <a:solidFill>
                  <a:srgbClr val="E5430A"/>
                </a:solidFill>
                <a:latin typeface="Arial"/>
                <a:ea typeface="Arial"/>
                <a:cs typeface="Arial"/>
              </a:rPr>
              <a:t>TOTAL</a:t>
            </a:r>
          </a:p>
        </p:txBody>
      </p:sp>
      <p:sp>
        <p:nvSpPr>
          <p:cNvPr id="115" name="editable-native-storage-vm-count">
            <a:extLst xmlns:a="http://schemas.openxmlformats.org/drawingml/2006/main">
              <a:ext uri="{FF2B5EF4-FFF2-40B4-BE49-F238E27FC236}">
                <a16:creationId xmlns:a16="http://schemas.microsoft.com/office/drawing/2014/main" id="{24F5FD53-9571-4C47-8CA6-45C9DDE34E6B}"/>
              </a:ext>
            </a:extLst>
          </p:cNvPr>
          <p:cNvSpPr>
            <a:spLocks xmlns:a="http://schemas.openxmlformats.org/drawingml/2006/main" noGrp="1"/>
          </p:cNvSpPr>
          <p:nvPr/>
        </p:nvSpPr>
        <p:spPr>
          <a:xfrm xmlns:a="http://schemas.openxmlformats.org/drawingml/2006/main">
            <a:off x="10306050" y="44291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975" b="1" i="0">
                <a:solidFill>
                  <a:srgbClr val="E5430A"/>
                </a:solidFill>
                <a:latin typeface="Arial"/>
                <a:ea typeface="Arial"/>
                <a:cs typeface="Arial"/>
              </a:defRPr>
            </a:pPr>
            <a:r>
              <a:rPr sz="975" b="1" i="0">
                <a:solidFill>
                  <a:srgbClr val="E5430A"/>
                </a:solidFill>
                <a:latin typeface="Arial"/>
                <a:ea typeface="Arial"/>
                <a:cs typeface="Arial"/>
              </a:rPr>
              <a:t>70</a:t>
            </a:r>
          </a:p>
        </p:txBody>
      </p:sp>
      <p:sp>
        <p:nvSpPr>
          <p:cNvPr id="116" name="editable-native-total-vpus">
            <a:extLst xmlns:a="http://schemas.openxmlformats.org/drawingml/2006/main">
              <a:ext uri="{FF2B5EF4-FFF2-40B4-BE49-F238E27FC236}">
                <a16:creationId xmlns:a16="http://schemas.microsoft.com/office/drawing/2014/main" id="{BBFFC1D0-E0C2-4D26-A2BE-51D4A4958B51}"/>
              </a:ext>
            </a:extLst>
          </p:cNvPr>
          <p:cNvSpPr>
            <a:spLocks xmlns:a="http://schemas.openxmlformats.org/drawingml/2006/main" noGrp="1"/>
          </p:cNvSpPr>
          <p:nvPr/>
        </p:nvSpPr>
        <p:spPr>
          <a:xfrm xmlns:a="http://schemas.openxmlformats.org/drawingml/2006/main">
            <a:off x="10858500" y="4429125"/>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5000"/>
              </a:lnSpc>
              <a:buNone/>
              <a:defRPr sz="975" b="1" i="0">
                <a:solidFill>
                  <a:srgbClr val="E5430A"/>
                </a:solidFill>
                <a:latin typeface="Arial"/>
                <a:ea typeface="Arial"/>
                <a:cs typeface="Arial"/>
              </a:defRPr>
            </a:pPr>
            <a:r>
              <a:rPr sz="975" b="1" i="0">
                <a:solidFill>
                  <a:srgbClr val="E5430A"/>
                </a:solidFill>
                <a:latin typeface="Arial"/>
                <a:ea typeface="Arial"/>
                <a:cs typeface="Arial"/>
              </a:rPr>
              <a:t>1,980</a:t>
            </a:r>
          </a:p>
        </p:txBody>
      </p:sp>
      <p:sp>
        <p:nvSpPr>
          <p:cNvPr id="117" name="editable-native-total-storage">
            <a:extLst xmlns:a="http://schemas.openxmlformats.org/drawingml/2006/main">
              <a:ext uri="{FF2B5EF4-FFF2-40B4-BE49-F238E27FC236}">
                <a16:creationId xmlns:a16="http://schemas.microsoft.com/office/drawing/2014/main" id="{BB6E9373-F627-4B2A-9103-11BB1194A9B6}"/>
              </a:ext>
            </a:extLst>
          </p:cNvPr>
          <p:cNvSpPr>
            <a:spLocks xmlns:a="http://schemas.openxmlformats.org/drawingml/2006/main" noGrp="1"/>
          </p:cNvSpPr>
          <p:nvPr/>
        </p:nvSpPr>
        <p:spPr>
          <a:xfrm xmlns:a="http://schemas.openxmlformats.org/drawingml/2006/main">
            <a:off x="11401425" y="4429125"/>
            <a:ext cx="5429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5000"/>
              </a:lnSpc>
              <a:buNone/>
              <a:defRPr sz="975" b="1" i="0">
                <a:solidFill>
                  <a:srgbClr val="E5430A"/>
                </a:solidFill>
                <a:latin typeface="Arial"/>
                <a:ea typeface="Arial"/>
                <a:cs typeface="Arial"/>
              </a:defRPr>
            </a:pPr>
            <a:r>
              <a:rPr sz="975" b="1" i="0">
                <a:solidFill>
                  <a:srgbClr val="E5430A"/>
                </a:solidFill>
                <a:latin typeface="Arial"/>
                <a:ea typeface="Arial"/>
                <a:cs typeface="Arial"/>
              </a:rPr>
              <a:t>23.4 TB</a:t>
            </a:r>
          </a:p>
        </p:txBody>
      </p:sp>
      <p:sp>
        <p:nvSpPr>
          <p:cNvPr id="118" name="Rectangle 117">
            <a:extLst xmlns:a="http://schemas.openxmlformats.org/drawingml/2006/main">
              <a:ext uri="{FF2B5EF4-FFF2-40B4-BE49-F238E27FC236}">
                <a16:creationId xmlns:a16="http://schemas.microsoft.com/office/drawing/2014/main" id="{091AB91C-E78E-4238-A9A3-6AED6B6AA0EA}"/>
              </a:ext>
            </a:extLst>
          </p:cNvPr>
          <p:cNvSpPr>
            <a:spLocks xmlns:a="http://schemas.openxmlformats.org/drawingml/2006/main" noGrp="1"/>
          </p:cNvSpPr>
          <p:nvPr/>
        </p:nvSpPr>
        <p:spPr>
          <a:xfrm xmlns:a="http://schemas.openxmlformats.org/drawingml/2006/main">
            <a:off x="4905375" y="3248025"/>
            <a:ext cx="3619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2700" b="1" i="0">
                <a:solidFill>
                  <a:srgbClr val="111111"/>
                </a:solidFill>
                <a:latin typeface="Arial"/>
                <a:ea typeface="Arial"/>
                <a:cs typeface="Arial"/>
              </a:defRPr>
            </a:pPr>
            <a:r>
              <a:rPr sz="2700" b="1" i="0">
                <a:solidFill>
                  <a:srgbClr val="111111"/>
                </a:solidFill>
                <a:latin typeface="Arial"/>
                <a:ea typeface="Arial"/>
                <a:cs typeface="Arial"/>
              </a:rPr>
              <a:t>+</a:t>
            </a:r>
          </a:p>
        </p:txBody>
      </p:sp>
      <p:sp>
        <p:nvSpPr>
          <p:cNvPr id="119" name="Rounded Rectangle 118">
            <a:extLst xmlns:a="http://schemas.openxmlformats.org/drawingml/2006/main">
              <a:ext uri="{FF2B5EF4-FFF2-40B4-BE49-F238E27FC236}">
                <a16:creationId xmlns:a16="http://schemas.microsoft.com/office/drawing/2014/main" id="{DB9D683C-0A1B-482C-8553-831C7F193AD2}"/>
              </a:ext>
            </a:extLst>
          </p:cNvPr>
          <p:cNvSpPr>
            <a:spLocks xmlns:a="http://schemas.openxmlformats.org/drawingml/2006/main" noGrp="1"/>
          </p:cNvSpPr>
          <p:nvPr/>
        </p:nvSpPr>
        <p:spPr>
          <a:xfrm xmlns:a="http://schemas.openxmlformats.org/drawingml/2006/main">
            <a:off x="257175" y="5095875"/>
            <a:ext cx="11677650" cy="771525"/>
          </a:xfrm>
          <a:prstGeom xmlns:a="http://schemas.openxmlformats.org/drawingml/2006/main" prst="roundRect">
            <a:avLst>
              <a:gd name="adj" fmla="val 8642"/>
            </a:avLst>
          </a:prstGeom>
          <a:solidFill xmlns:a="http://schemas.openxmlformats.org/drawingml/2006/main">
            <a:srgbClr val="FFFFFF"/>
          </a:solidFill>
          <a:ln xmlns:a="http://schemas.openxmlformats.org/drawingml/2006/main" w="9525">
            <a:solidFill>
              <a:srgbClr val="DADFDA"/>
            </a:solidFill>
            <a:prstDash val="solid"/>
          </a:ln>
        </p:spPr>
        <p:txBody>
          <a:bodyPr xmlns:a="http://schemas.openxmlformats.org/drawingml/2006/main"/>
          <a:lstStyle xmlns:a="http://schemas.openxmlformats.org/drawingml/2006/main"/>
          <a:p xmlns:a="http://schemas.openxmlformats.org/drawingml/2006/main">
            <a:endParaRPr/>
          </a:p>
        </p:txBody>
      </p:sp>
      <p:pic>
        <p:nvPicPr>
          <p:cNvPr id="281" name="Picture 247"/>
          <p:cNvPicPr>
            <a:picLocks xmlns:a="http://schemas.openxmlformats.org/drawingml/2006/main" noChangeAspect="1"/>
          </p:cNvPicPr>
          <p:nvPr/>
        </p:nvPicPr>
        <p:blipFill>
          <a:blip xmlns:r="http://schemas.openxmlformats.org/officeDocument/2006/relationships" xmlns:a="http://schemas.openxmlformats.org/drawingml/2006/main" r:embed="R82bc89e0fa5e4370"/>
          <a:stretch xmlns:a="http://schemas.openxmlformats.org/drawingml/2006/main"/>
        </p:blipFill>
        <p:spPr>
          <a:xfrm xmlns:a="http://schemas.openxmlformats.org/drawingml/2006/main">
            <a:off x="504296" y="5191125"/>
            <a:ext cx="582083" cy="476250"/>
          </a:xfrm>
          <a:prstGeom xmlns:a="http://schemas.openxmlformats.org/drawingml/2006/main" prst="rect">
            <a:avLst/>
          </a:prstGeom>
        </p:spPr>
      </p:pic>
      <p:sp>
        <p:nvSpPr>
          <p:cNvPr id="121" name="Rectangle 120">
            <a:extLst xmlns:a="http://schemas.openxmlformats.org/drawingml/2006/main">
              <a:ext uri="{FF2B5EF4-FFF2-40B4-BE49-F238E27FC236}">
                <a16:creationId xmlns:a16="http://schemas.microsoft.com/office/drawing/2014/main" id="{20461CF4-C8D2-435C-AD5B-52510A9B71E1}"/>
              </a:ext>
            </a:extLst>
          </p:cNvPr>
          <p:cNvSpPr>
            <a:spLocks xmlns:a="http://schemas.openxmlformats.org/drawingml/2006/main" noGrp="1"/>
          </p:cNvSpPr>
          <p:nvPr/>
        </p:nvSpPr>
        <p:spPr>
          <a:xfrm xmlns:a="http://schemas.openxmlformats.org/drawingml/2006/main">
            <a:off x="1409700" y="5257800"/>
            <a:ext cx="2076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425" b="0" i="1">
                <a:solidFill>
                  <a:srgbClr val="111111"/>
                </a:solidFill>
                <a:latin typeface="Arial"/>
                <a:ea typeface="Arial"/>
                <a:cs typeface="Arial"/>
              </a:defRPr>
            </a:pPr>
            <a:r>
              <a:rPr sz="1425" b="0" i="1">
                <a:solidFill>
                  <a:srgbClr val="111111"/>
                </a:solidFill>
                <a:latin typeface="Arial"/>
                <a:ea typeface="Arial"/>
                <a:cs typeface="Arial"/>
              </a:rPr>
              <a:t>Run VMware workloads on</a:t>
            </a:r>
          </a:p>
        </p:txBody>
      </p:sp>
      <p:sp>
        <p:nvSpPr>
          <p:cNvPr id="122" name="Rectangle 121">
            <a:extLst xmlns:a="http://schemas.openxmlformats.org/drawingml/2006/main">
              <a:ext uri="{FF2B5EF4-FFF2-40B4-BE49-F238E27FC236}">
                <a16:creationId xmlns:a16="http://schemas.microsoft.com/office/drawing/2014/main" id="{02C29380-F970-4094-BD66-949BBD8B616B}"/>
              </a:ext>
            </a:extLst>
          </p:cNvPr>
          <p:cNvSpPr>
            <a:spLocks xmlns:a="http://schemas.openxmlformats.org/drawingml/2006/main" noGrp="1"/>
          </p:cNvSpPr>
          <p:nvPr/>
        </p:nvSpPr>
        <p:spPr>
          <a:xfrm xmlns:a="http://schemas.openxmlformats.org/drawingml/2006/main">
            <a:off x="3638550" y="525780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425" b="1" i="1">
                <a:solidFill>
                  <a:srgbClr val="003B25"/>
                </a:solidFill>
                <a:latin typeface="Arial"/>
                <a:ea typeface="Arial"/>
                <a:cs typeface="Arial"/>
              </a:defRPr>
            </a:pPr>
            <a:r>
              <a:rPr sz="1425" b="1" i="1">
                <a:solidFill>
                  <a:srgbClr val="003B25"/>
                </a:solidFill>
                <a:latin typeface="Arial"/>
                <a:ea typeface="Arial"/>
                <a:cs typeface="Arial"/>
              </a:rPr>
              <a:t>OCVS</a:t>
            </a:r>
          </a:p>
        </p:txBody>
      </p:sp>
      <p:sp>
        <p:nvSpPr>
          <p:cNvPr id="123" name="Rectangle 122">
            <a:extLst xmlns:a="http://schemas.openxmlformats.org/drawingml/2006/main">
              <a:ext uri="{FF2B5EF4-FFF2-40B4-BE49-F238E27FC236}">
                <a16:creationId xmlns:a16="http://schemas.microsoft.com/office/drawing/2014/main" id="{26E3A4CB-A191-4116-9E6C-034FF0183445}"/>
              </a:ext>
            </a:extLst>
          </p:cNvPr>
          <p:cNvSpPr>
            <a:spLocks xmlns:a="http://schemas.openxmlformats.org/drawingml/2006/main" noGrp="1"/>
          </p:cNvSpPr>
          <p:nvPr/>
        </p:nvSpPr>
        <p:spPr>
          <a:xfrm xmlns:a="http://schemas.openxmlformats.org/drawingml/2006/main">
            <a:off x="4171950" y="52578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425" b="0" i="1">
                <a:solidFill>
                  <a:srgbClr val="111111"/>
                </a:solidFill>
                <a:latin typeface="Arial"/>
                <a:ea typeface="Arial"/>
                <a:cs typeface="Arial"/>
              </a:defRPr>
            </a:pPr>
            <a:r>
              <a:rPr sz="1425" b="0" i="1">
                <a:solidFill>
                  <a:srgbClr val="111111"/>
                </a:solidFill>
                <a:latin typeface="Arial"/>
                <a:ea typeface="Arial"/>
                <a:cs typeface="Arial"/>
              </a:rPr>
              <a:t>while modernizing at your own pace with</a:t>
            </a:r>
          </a:p>
        </p:txBody>
      </p:sp>
      <p:sp>
        <p:nvSpPr>
          <p:cNvPr id="124" name="Rectangle 123">
            <a:extLst xmlns:a="http://schemas.openxmlformats.org/drawingml/2006/main">
              <a:ext uri="{FF2B5EF4-FFF2-40B4-BE49-F238E27FC236}">
                <a16:creationId xmlns:a16="http://schemas.microsoft.com/office/drawing/2014/main" id="{E3CB548F-20CB-4AE6-95D1-70C28FD67522}"/>
              </a:ext>
            </a:extLst>
          </p:cNvPr>
          <p:cNvSpPr>
            <a:spLocks xmlns:a="http://schemas.openxmlformats.org/drawingml/2006/main" noGrp="1"/>
          </p:cNvSpPr>
          <p:nvPr/>
        </p:nvSpPr>
        <p:spPr>
          <a:xfrm xmlns:a="http://schemas.openxmlformats.org/drawingml/2006/main">
            <a:off x="7524750" y="5257800"/>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425" b="1" i="1">
                <a:solidFill>
                  <a:srgbClr val="E5430A"/>
                </a:solidFill>
                <a:latin typeface="Arial"/>
                <a:ea typeface="Arial"/>
                <a:cs typeface="Arial"/>
              </a:defRPr>
            </a:pPr>
            <a:r>
              <a:rPr sz="1425" b="1" i="1">
                <a:solidFill>
                  <a:srgbClr val="E5430A"/>
                </a:solidFill>
                <a:latin typeface="Arial"/>
                <a:ea typeface="Arial"/>
                <a:cs typeface="Arial"/>
              </a:rPr>
              <a:t>OCI Compute.</a:t>
            </a:r>
          </a:p>
        </p:txBody>
      </p:sp>
      <p:sp>
        <p:nvSpPr>
          <p:cNvPr id="125" name="Rectangle 124">
            <a:extLst xmlns:a="http://schemas.openxmlformats.org/drawingml/2006/main">
              <a:ext uri="{FF2B5EF4-FFF2-40B4-BE49-F238E27FC236}">
                <a16:creationId xmlns:a16="http://schemas.microsoft.com/office/drawing/2014/main" id="{BE8F7415-3E16-4AE8-B14C-D74162B1EEAC}"/>
              </a:ext>
            </a:extLst>
          </p:cNvPr>
          <p:cNvSpPr>
            <a:spLocks xmlns:a="http://schemas.openxmlformats.org/drawingml/2006/main" noGrp="1"/>
          </p:cNvSpPr>
          <p:nvPr/>
        </p:nvSpPr>
        <p:spPr>
          <a:xfrm xmlns:a="http://schemas.openxmlformats.org/drawingml/2006/main">
            <a:off x="1409700" y="5524500"/>
            <a:ext cx="609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350" b="0" i="1">
                <a:solidFill>
                  <a:srgbClr val="111111"/>
                </a:solidFill>
                <a:latin typeface="Arial"/>
                <a:ea typeface="Arial"/>
                <a:cs typeface="Arial"/>
              </a:defRPr>
            </a:pPr>
            <a:r>
              <a:rPr sz="1350" b="0" i="1">
                <a:solidFill>
                  <a:srgbClr val="111111"/>
                </a:solidFill>
                <a:latin typeface="Arial"/>
                <a:ea typeface="Arial"/>
                <a:cs typeface="Arial"/>
              </a:rPr>
              <a:t>A flexible hybrid approach to optimize costs, performance, and innovation.</a:t>
            </a:r>
          </a:p>
        </p:txBody>
      </p:sp>
      <p:sp>
        <p:nvSpPr>
          <p:cNvPr id="126" name="Straight Connector 125">
            <a:extLst xmlns:a="http://schemas.openxmlformats.org/drawingml/2006/main">
              <a:ext uri="{FF2B5EF4-FFF2-40B4-BE49-F238E27FC236}">
                <a16:creationId xmlns:a16="http://schemas.microsoft.com/office/drawing/2014/main" id="{C0B2847E-8269-445B-87CC-57F01CEF7D6F}"/>
              </a:ext>
            </a:extLst>
          </p:cNvPr>
          <p:cNvSpPr>
            <a:spLocks xmlns:a="http://schemas.openxmlformats.org/drawingml/2006/main" noGrp="1"/>
          </p:cNvSpPr>
          <p:nvPr/>
        </p:nvSpPr>
        <p:spPr>
          <a:xfrm xmlns:a="http://schemas.openxmlformats.org/drawingml/2006/main">
            <a:off x="257175" y="6096000"/>
            <a:ext cx="11677650" cy="0"/>
          </a:xfrm>
          <a:prstGeom xmlns:a="http://schemas.openxmlformats.org/drawingml/2006/main" prst="line">
            <a:avLst/>
          </a:prstGeom>
          <a:noFill xmlns:a="http://schemas.openxmlformats.org/drawingml/2006/main"/>
          <a:ln xmlns:a="http://schemas.openxmlformats.org/drawingml/2006/main" w="9525">
            <a:solidFill>
              <a:srgbClr val="E52323"/>
            </a:solidFill>
            <a:prstDash val="dot"/>
          </a:ln>
        </p:spPr>
        <p:txBody>
          <a:bodyPr xmlns:a="http://schemas.openxmlformats.org/drawingml/2006/main"/>
          <a:lstStyle xmlns:a="http://schemas.openxmlformats.org/drawingml/2006/main"/>
          <a:p xmlns:a="http://schemas.openxmlformats.org/drawingml/2006/main">
            <a:endParaRPr/>
          </a:p>
        </p:txBody>
      </p:sp>
      <p:sp>
        <p:nvSpPr>
          <p:cNvPr id="127" name="Rectangle 126">
            <a:extLst xmlns:a="http://schemas.openxmlformats.org/drawingml/2006/main">
              <a:ext uri="{FF2B5EF4-FFF2-40B4-BE49-F238E27FC236}">
                <a16:creationId xmlns:a16="http://schemas.microsoft.com/office/drawing/2014/main" id="{4885774E-B9A4-4502-AEA1-323DCFF9EB75}"/>
              </a:ext>
            </a:extLst>
          </p:cNvPr>
          <p:cNvSpPr>
            <a:spLocks xmlns:a="http://schemas.openxmlformats.org/drawingml/2006/main" noGrp="1"/>
          </p:cNvSpPr>
          <p:nvPr/>
        </p:nvSpPr>
        <p:spPr>
          <a:xfrm xmlns:a="http://schemas.openxmlformats.org/drawingml/2006/main">
            <a:off x="257175" y="6400800"/>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50" b="0" i="0">
                <a:solidFill>
                  <a:srgbClr val="4F4F4F"/>
                </a:solidFill>
                <a:latin typeface="Arial"/>
                <a:ea typeface="Arial"/>
                <a:cs typeface="Arial"/>
              </a:defRPr>
            </a:pPr>
            <a:r>
              <a:rPr sz="750" b="0" i="0">
                <a:solidFill>
                  <a:srgbClr val="4F4F4F"/>
                </a:solidFill>
                <a:latin typeface="Arial"/>
                <a:ea typeface="Arial"/>
                <a:cs typeface="Arial"/>
              </a:rPr>
              <a:t>Copyright © 2026, Oracle and/or its affiliates</a:t>
            </a:r>
          </a:p>
        </p:txBody>
      </p:sp>
      <p:pic>
        <p:nvPicPr>
          <p:cNvPr id="289" name="Picture 255"/>
          <p:cNvPicPr>
            <a:picLocks xmlns:a="http://schemas.openxmlformats.org/drawingml/2006/main" noChangeAspect="1"/>
          </p:cNvPicPr>
          <p:nvPr/>
        </p:nvPicPr>
        <p:blipFill>
          <a:blip xmlns:r="http://schemas.openxmlformats.org/officeDocument/2006/relationships" xmlns:a="http://schemas.openxmlformats.org/drawingml/2006/main" r:embed="R45dac6d3b5e34125"/>
          <a:stretch xmlns:a="http://schemas.openxmlformats.org/drawingml/2006/main"/>
        </p:blipFill>
        <p:spPr>
          <a:xfrm xmlns:a="http://schemas.openxmlformats.org/drawingml/2006/main">
            <a:off x="11410950" y="6204706"/>
            <a:ext cx="476250" cy="506488"/>
          </a:xfrm>
          <a:prstGeom xmlns:a="http://schemas.openxmlformats.org/drawingml/2006/main" prst="rect">
            <a:avLst/>
          </a:prstGeom>
        </p:spPr>
      </p:pic>
      <p:sp>
        <p:nvSpPr>
          <p:cNvPr id="144" name="editable-hybrid-ram-unit-row-1">
            <a:extLst xmlns:a="http://schemas.openxmlformats.org/drawingml/2006/main">
              <a:ext uri="{FF2B5EF4-FFF2-40B4-BE49-F238E27FC236}">
                <a16:creationId xmlns:a16="http://schemas.microsoft.com/office/drawing/2014/main" id="{B233D795-BF55-430F-B423-F11CE791C575}"/>
              </a:ext>
            </a:extLst>
          </p:cNvPr>
          <p:cNvSpPr>
            <a:spLocks xmlns:a="http://schemas.openxmlformats.org/drawingml/2006/main" noGrp="1"/>
          </p:cNvSpPr>
          <p:nvPr/>
        </p:nvSpPr>
        <p:spPr>
          <a:xfrm xmlns:a="http://schemas.openxmlformats.org/drawingml/2006/main">
            <a:off x="7429500" y="3181350"/>
            <a:ext cx="419100"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00">
                <a:solidFill>
                  <a:srgbClr val="333333"/>
                </a:solidFill>
                <a:latin typeface="Arial"/>
                <a:ea typeface="Arial"/>
                <a:cs typeface="Arial"/>
              </a:defRPr>
            </a:pPr>
            <a:r>
              <a:rPr sz="600">
                <a:solidFill>
                  <a:srgbClr val="333333"/>
                </a:solidFill>
                <a:latin typeface="Arial"/>
                <a:ea typeface="Arial"/>
                <a:cs typeface="Arial"/>
              </a:rPr>
              <a:t>GB</a:t>
            </a:r>
          </a:p>
        </p:txBody>
      </p:sp>
      <p:sp>
        <p:nvSpPr>
          <p:cNvPr id="145" name="editable-hybrid-ram-unit-row-2">
            <a:extLst xmlns:a="http://schemas.openxmlformats.org/drawingml/2006/main">
              <a:ext uri="{FF2B5EF4-FFF2-40B4-BE49-F238E27FC236}">
                <a16:creationId xmlns:a16="http://schemas.microsoft.com/office/drawing/2014/main" id="{1EB64F69-942A-43E0-8F12-BFE11B69CC1E}"/>
              </a:ext>
            </a:extLst>
          </p:cNvPr>
          <p:cNvSpPr>
            <a:spLocks xmlns:a="http://schemas.openxmlformats.org/drawingml/2006/main" noGrp="1"/>
          </p:cNvSpPr>
          <p:nvPr/>
        </p:nvSpPr>
        <p:spPr>
          <a:xfrm xmlns:a="http://schemas.openxmlformats.org/drawingml/2006/main">
            <a:off x="7429500" y="3676650"/>
            <a:ext cx="419100"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00">
                <a:solidFill>
                  <a:srgbClr val="333333"/>
                </a:solidFill>
                <a:latin typeface="Arial"/>
                <a:ea typeface="Arial"/>
                <a:cs typeface="Arial"/>
              </a:defRPr>
            </a:pPr>
            <a:r>
              <a:rPr sz="600">
                <a:solidFill>
                  <a:srgbClr val="333333"/>
                </a:solidFill>
                <a:latin typeface="Arial"/>
                <a:ea typeface="Arial"/>
                <a:cs typeface="Arial"/>
              </a:rPr>
              <a:t>GB</a:t>
            </a:r>
          </a:p>
        </p:txBody>
      </p:sp>
      <p:sp>
        <p:nvSpPr>
          <p:cNvPr id="146" name="editable-hybrid-ram-unit-row-3">
            <a:extLst xmlns:a="http://schemas.openxmlformats.org/drawingml/2006/main">
              <a:ext uri="{FF2B5EF4-FFF2-40B4-BE49-F238E27FC236}">
                <a16:creationId xmlns:a16="http://schemas.microsoft.com/office/drawing/2014/main" id="{B12215EF-9BCC-4D85-86B6-B4E2D41E547B}"/>
              </a:ext>
            </a:extLst>
          </p:cNvPr>
          <p:cNvSpPr>
            <a:spLocks xmlns:a="http://schemas.openxmlformats.org/drawingml/2006/main" noGrp="1"/>
          </p:cNvSpPr>
          <p:nvPr/>
        </p:nvSpPr>
        <p:spPr>
          <a:xfrm xmlns:a="http://schemas.openxmlformats.org/drawingml/2006/main">
            <a:off x="7429500" y="4171950"/>
            <a:ext cx="419100"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00">
                <a:solidFill>
                  <a:srgbClr val="333333"/>
                </a:solidFill>
                <a:latin typeface="Arial"/>
                <a:ea typeface="Arial"/>
                <a:cs typeface="Arial"/>
              </a:defRPr>
            </a:pPr>
            <a:r>
              <a:rPr sz="600">
                <a:solidFill>
                  <a:srgbClr val="333333"/>
                </a:solidFill>
                <a:latin typeface="Arial"/>
                <a:ea typeface="Arial"/>
                <a:cs typeface="Arial"/>
              </a:rPr>
              <a:t>GB</a:t>
            </a:r>
          </a:p>
        </p:txBody>
      </p:sp>
      <p:sp>
        <p:nvSpPr>
          <p:cNvPr id="147" name="editable-hybrid-ram-unit-total">
            <a:extLst xmlns:a="http://schemas.openxmlformats.org/drawingml/2006/main">
              <a:ext uri="{FF2B5EF4-FFF2-40B4-BE49-F238E27FC236}">
                <a16:creationId xmlns:a16="http://schemas.microsoft.com/office/drawing/2014/main" id="{7F164871-9B6D-4724-855D-B9F455AA582E}"/>
              </a:ext>
            </a:extLst>
          </p:cNvPr>
          <p:cNvSpPr>
            <a:spLocks xmlns:a="http://schemas.openxmlformats.org/drawingml/2006/main" noGrp="1"/>
          </p:cNvSpPr>
          <p:nvPr/>
        </p:nvSpPr>
        <p:spPr>
          <a:xfrm xmlns:a="http://schemas.openxmlformats.org/drawingml/2006/main">
            <a:off x="7429500" y="4638675"/>
            <a:ext cx="419100"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600">
                <a:solidFill>
                  <a:srgbClr val="333333"/>
                </a:solidFill>
                <a:latin typeface="Arial"/>
                <a:ea typeface="Arial"/>
                <a:cs typeface="Arial"/>
              </a:defRPr>
            </a:pPr>
            <a:r>
              <a:rPr sz="600">
                <a:solidFill>
                  <a:srgbClr val="333333"/>
                </a:solidFill>
                <a:latin typeface="Arial"/>
                <a:ea typeface="Arial"/>
                <a:cs typeface="Arial"/>
              </a:rPr>
              <a:t>GB</a:t>
            </a:r>
          </a:p>
        </p:txBody>
      </p:sp>
    </p:spTree>
    <p:extLst>
      <p:ext uri="{BB962C8B-B14F-4D97-AF65-F5344CB8AC3E}">
        <p14:creationId xmlns:p14="http://schemas.microsoft.com/office/powerpoint/2010/main" val="1335566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Tree>
    <p:extLst>
      <p:ext uri="{BB962C8B-B14F-4D97-AF65-F5344CB8AC3E}">
        <p14:creationId xmlns:p14="http://schemas.microsoft.com/office/powerpoint/2010/main" val="39575864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2026-08-18T10:20:41.2080000Z</dcterms:created>
  <dcterms:modified xsi:type="dcterms:W3CDTF">2026-08-18T10:20:41.2080000Z</dcterms:modified>
</coreProperties>
</file>